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Compass. A permission-aware way to ask years of grant knowledge one question. I'll give you the problem as I see it, what I'd need to learn before building, the system end to end, the risks, what I'd cut from v1, and how I'd run it. About seven minutes,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Programs asked for one way to ask questions of five years of grant reports and internal notes. That material is spread across these four systems and there's no single source of truth. Today people ask the longest-tenured colleague or dig through Drive. For a thesis-driven funder that runs portfolio-wide questions all the time, that's a real 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I'd bring: this is a retrieval, permissioning and citation problem, not a chatbot problem. The value is in connecting and cleaning four sources, joining them to the same grants, and enforcing permissions. The language model is the last and least risky piece. And the bar is set by their brand — measurement rigor — so it can never invent a number or surface a candid note to the wrong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designing anything I'd spend the first weeks on discovery, in four areas: the users and the decisions this serves; the content itself, especially the sensitive material; the access and permission constraints per system; and — Round 0 — every place grant knowledge actually lives, because the four named systems are the starting point, not the boundary. I trace three real past decisions to every place they were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to end: connectors pull each source behind one interface. A data-quality layer cleans, de-duplicates across systems, and reconciles against the grant list so gaps are visible, not silent. Everything resolves to the same grants and orgs. Retrieval is hybrid and then filtered to the caller's permissions — that filter is the security boundary, and restricted content is never in the index at all. Answers are grounded, cited to the exact passage, and honest about coverage. A gold set gates every release, including permission-leak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interaction. A short answer, every claim linked to the exact passage. A coverage line — what it searched, what it couldn't see, what it set aside. Confidence describes the evidence, not the model's certainty — here it's medium because two sources give a different wage figure, and Compass shows both rather than picking one. And a Deep dive panel: what's missing, who to ask based on who actually worked the grant, a draft email, and where this grant is in its own reporting cycle. Every name and number on this slide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to trust the design is that it's built and tested. It's running at a live URL you can open right now, and every answer goes through the real server-side permission filter; the persona switch in the demo is a real sign-in. Forty-six gold Q&amp;A cases with a permission-leak test, run in memory and through a SQL WHERE clause, plus twenty-five more against a synthetic five-year corpus built from public research on the Foundation. A red-team suite with fifteen planted injection documents, seventeen adversarial cases. A hundred and twenty-six unit tests. Real OIDC, a tamper-evident audit log, rate limits, a kill switch. All of it in a promotion gate where a leak is a hard stop, and the hosted demo redeploys on every green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failures that matter most. A fabricated or stale impact number — handled with mandatory citations, date-and-model stamping, and refusal. Permission leakage — the retrieval-time filter, restricted content kept out of the index entirely, and a scheduled red-team. Trust collapse from one bad answer — ship narrow first and measure trust. Zoom privacy — deferred. And silent data loss or double-counting — full accounting, reconciliation against the grant list, and reversible de-dupe.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I'd cut from v1, and why each is safe to cut. Zoom Chat — deferred entirely. Any write-back — read-only first. The full backfill — start with three years. Fine-tuning — retrieval only. Org-wide access — 3 to 5 design partners first. And I wouldn't rebuild their impact dashboard; that's what Tableau is for. Every one of these removes risk without touching the core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compliance are a first-class pillar, not a later phase, because Compass concentrates everything sensitive into one place. Access is per-person with SSO and MFA, and the retrieval-time filter is the boundary — restricted content never even enters the index. The LLM runs under a zero-retention enterprise agreement and only ever sees the retrieved passages. Everything is audit-logged with a kill switch. Controls map from day one to NIST, SOC 2, the AI RMF, and the privacy regimes of all three grantee geographies.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run this as steps, not a calendar. Four phases, each done when its exit criteria pass. Discovery and access first. Then a permissioned vertical slice on about thirty grants, shipped early to a few design partners with the security controls already in place. Then hardening and expanding to five years. Then additional surfaces, documentation, and handoff to a named internal owner — because it's a six-month fellowship into a team with no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I'd actually do in week one: interview the people whose work this improves, lock in design partners, inventory every source including the shadow ones, get the data owner to agree the corpus and the tiers, and start the gold set and the LLM agreement. And where it goes: the Foundation is building toward knowledge products for the sector — Compass is that shape, and could become something the advisory side offers other funders.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83218"/>
        </a:solidFill>
      </p:bgPr>
    </p:bg>
    <p:spTree>
      <p:nvGrpSpPr>
        <p:cNvPr id="1" name=""/>
        <p:cNvGrpSpPr/>
        <p:nvPr/>
      </p:nvGrpSpPr>
      <p:grpSpPr>
        <a:xfrm>
          <a:off x="0" y="0"/>
          <a:ext cx="0" cy="0"/>
          <a:chOff x="0" y="0"/>
          <a:chExt cx="0" cy="0"/>
        </a:xfrm>
      </p:grpSpPr>
      <p:sp>
        <p:nvSpPr>
          <p:cNvPr id="2" name="Shape 0"/>
          <p:cNvSpPr/>
          <p:nvPr/>
        </p:nvSpPr>
        <p:spPr>
          <a:xfrm>
            <a:off x="914400" y="914400"/>
            <a:ext cx="566928" cy="510235"/>
          </a:xfrm>
          <a:prstGeom prst="triangle">
            <a:avLst/>
          </a:prstGeom>
          <a:solidFill>
            <a:srgbClr val="FFFFFF"/>
          </a:solidFill>
          <a:ln/>
        </p:spPr>
      </p:sp>
      <p:sp>
        <p:nvSpPr>
          <p:cNvPr id="3" name="Shape 1"/>
          <p:cNvSpPr/>
          <p:nvPr/>
        </p:nvSpPr>
        <p:spPr>
          <a:xfrm rot="18000000">
            <a:off x="602590" y="1073140"/>
            <a:ext cx="453542" cy="408188"/>
          </a:xfrm>
          <a:prstGeom prst="triangle">
            <a:avLst/>
          </a:prstGeom>
          <a:solidFill>
            <a:srgbClr val="FFFFFF"/>
          </a:solidFill>
          <a:ln/>
        </p:spPr>
      </p:sp>
      <p:sp>
        <p:nvSpPr>
          <p:cNvPr id="4" name="Shape 2"/>
          <p:cNvSpPr/>
          <p:nvPr/>
        </p:nvSpPr>
        <p:spPr>
          <a:xfrm rot="3600000">
            <a:off x="1339596" y="1073140"/>
            <a:ext cx="453542" cy="408188"/>
          </a:xfrm>
          <a:prstGeom prst="triangle">
            <a:avLst/>
          </a:prstGeom>
          <a:solidFill>
            <a:srgbClr val="FFFFFF"/>
          </a:solidFill>
          <a:ln/>
        </p:spPr>
      </p:sp>
      <p:sp>
        <p:nvSpPr>
          <p:cNvPr id="5" name="Shape 3"/>
          <p:cNvSpPr/>
          <p:nvPr/>
        </p:nvSpPr>
        <p:spPr>
          <a:xfrm>
            <a:off x="1152510" y="1367942"/>
            <a:ext cx="90708" cy="311810"/>
          </a:xfrm>
          <a:prstGeom prst="rect">
            <a:avLst/>
          </a:prstGeom>
          <a:solidFill>
            <a:srgbClr val="FFFFFF"/>
          </a:solidFill>
          <a:ln/>
        </p:spPr>
      </p:sp>
      <p:sp>
        <p:nvSpPr>
          <p:cNvPr id="6" name="Text 4"/>
          <p:cNvSpPr txBox="1"/>
          <p:nvPr/>
        </p:nvSpPr>
        <p:spPr>
          <a:xfrm>
            <a:off x="822960" y="2148840"/>
            <a:ext cx="8686800" cy="1188720"/>
          </a:xfrm>
          <a:prstGeom prst="rect">
            <a:avLst/>
          </a:prstGeom>
          <a:noFill/>
          <a:ln/>
        </p:spPr>
        <p:txBody>
          <a:bodyPr wrap="square" lIns="0" tIns="0" rIns="0" bIns="0" rtlCol="0" anchor="ctr"/>
          <a:lstStyle/>
          <a:p>
            <a:pPr indent="0" marL="0">
              <a:buNone/>
            </a:pPr>
            <a:r>
              <a:rPr lang="en-US" sz="6600" b="1" dirty="0">
                <a:solidFill>
                  <a:srgbClr val="FFFFFF"/>
                </a:solidFill>
                <a:latin typeface="Arial" pitchFamily="34" charset="0"/>
                <a:ea typeface="Arial" pitchFamily="34" charset="-122"/>
                <a:cs typeface="Arial" pitchFamily="34" charset="-120"/>
              </a:rPr>
              <a:t>Compass</a:t>
            </a:r>
            <a:endParaRPr lang="en-US" sz="6600" dirty="0"/>
          </a:p>
        </p:txBody>
      </p:sp>
      <p:sp>
        <p:nvSpPr>
          <p:cNvPr id="7" name="Text 5"/>
          <p:cNvSpPr txBox="1"/>
          <p:nvPr/>
        </p:nvSpPr>
        <p:spPr>
          <a:xfrm>
            <a:off x="822960" y="3383280"/>
            <a:ext cx="8778240" cy="822960"/>
          </a:xfrm>
          <a:prstGeom prst="rect">
            <a:avLst/>
          </a:prstGeom>
          <a:noFill/>
          <a:ln/>
        </p:spPr>
        <p:txBody>
          <a:bodyPr wrap="square" lIns="0" tIns="0" rIns="0" bIns="0" rtlCol="0" anchor="ctr"/>
          <a:lstStyle/>
          <a:p>
            <a:pPr indent="0" marL="0">
              <a:buNone/>
            </a:pPr>
            <a:r>
              <a:rPr lang="en-US" sz="2000" dirty="0">
                <a:solidFill>
                  <a:srgbClr val="F4D9CF"/>
                </a:solidFill>
                <a:latin typeface="Arial" pitchFamily="34" charset="0"/>
                <a:ea typeface="Arial" pitchFamily="34" charset="-122"/>
                <a:cs typeface="Arial" pitchFamily="34" charset="-120"/>
              </a:rPr>
              <a:t>A permission-aware way to ask years of grant knowledge one question.</a:t>
            </a:r>
            <a:endParaRPr lang="en-US" sz="2000" dirty="0"/>
          </a:p>
        </p:txBody>
      </p:sp>
      <p:sp>
        <p:nvSpPr>
          <p:cNvPr id="8" name="Text 6"/>
          <p:cNvSpPr txBox="1"/>
          <p:nvPr/>
        </p:nvSpPr>
        <p:spPr>
          <a:xfrm>
            <a:off x="822960" y="4937760"/>
            <a:ext cx="8229600" cy="1097280"/>
          </a:xfrm>
          <a:prstGeom prst="rect">
            <a:avLst/>
          </a:prstGeom>
          <a:noFill/>
          <a:ln/>
        </p:spPr>
        <p:txBody>
          <a:bodyPr wrap="square" lIns="0" tIns="0" rIns="0" bIns="0" rtlCol="0" anchor="ctr"/>
          <a:lstStyle/>
          <a:p>
            <a:pPr indent="0" marL="0">
              <a:lnSpc>
                <a:spcPct val="135000"/>
              </a:lnSpc>
              <a:buNone/>
            </a:pPr>
            <a:r>
              <a:rPr lang="en-US" sz="1400" dirty="0">
                <a:solidFill>
                  <a:srgbClr val="F0C7B8"/>
                </a:solidFill>
                <a:latin typeface="Arial" pitchFamily="34" charset="0"/>
                <a:ea typeface="Arial" pitchFamily="34" charset="-122"/>
                <a:cs typeface="Arial" pitchFamily="34" charset="-120"/>
              </a:rPr>
              <a:t>Applied AI Fellow · Skills demonstration</a:t>
            </a:r>
            <a:pPr indent="0" marL="0">
              <a:lnSpc>
                <a:spcPct val="135000"/>
              </a:lnSpc>
              <a:buNone/>
            </a:pPr>
            <a:endParaRPr lang="en-US" sz="1400" dirty="0"/>
          </a:p>
          <a:p>
            <a:pPr indent="0" marL="0">
              <a:lnSpc>
                <a:spcPct val="135000"/>
              </a:lnSpc>
              <a:buNone/>
            </a:pPr>
            <a:r>
              <a:rPr lang="en-US" sz="1400" b="1" dirty="0">
                <a:solidFill>
                  <a:srgbClr val="FFFFFF"/>
                </a:solidFill>
                <a:latin typeface="Arial" pitchFamily="34" charset="0"/>
                <a:ea typeface="Arial" pitchFamily="34" charset="-122"/>
                <a:cs typeface="Arial" pitchFamily="34" charset="-120"/>
              </a:rPr>
              <a:t>Jessenia Cintron</a:t>
            </a:r>
            <a:endParaRPr lang="en-US" sz="1400" dirty="0"/>
          </a:p>
          <a:p>
            <a:pPr indent="0" marL="0">
              <a:lnSpc>
                <a:spcPct val="135000"/>
              </a:lnSpc>
              <a:buNone/>
            </a:pPr>
            <a:endParaRPr lang="en-US" sz="1400" dirty="0"/>
          </a:p>
          <a:p>
            <a:pPr indent="0" marL="0">
              <a:lnSpc>
                <a:spcPct val="135000"/>
              </a:lnSpc>
              <a:buNone/>
            </a:pPr>
            <a:r>
              <a:rPr lang="en-US" sz="1400" dirty="0">
                <a:solidFill>
                  <a:srgbClr val="F0C7B8"/>
                </a:solidFill>
                <a:latin typeface="Arial" pitchFamily="34" charset="0"/>
                <a:ea typeface="Arial" pitchFamily="34" charset="-122"/>
                <a:cs typeface="Arial" pitchFamily="34" charset="-120"/>
              </a:rPr>
              <a:t>Live demo: compass-demo-gwk4.onrender.com</a:t>
            </a:r>
            <a:endParaRPr lang="en-US" sz="1400" dirty="0"/>
          </a:p>
        </p:txBody>
      </p:sp>
      <p:sp>
        <p:nvSpPr>
          <p:cNvPr id="9" name="Text 7"/>
          <p:cNvSpPr txBox="1"/>
          <p:nvPr/>
        </p:nvSpPr>
        <p:spPr>
          <a:xfrm>
            <a:off x="822960" y="5806440"/>
            <a:ext cx="10515600" cy="731520"/>
          </a:xfrm>
          <a:prstGeom prst="rect">
            <a:avLst/>
          </a:prstGeom>
          <a:noFill/>
          <a:ln/>
        </p:spPr>
        <p:txBody>
          <a:bodyPr wrap="square" lIns="0" tIns="0" rIns="0" bIns="0" rtlCol="0" anchor="ctr"/>
          <a:lstStyle/>
          <a:p>
            <a:pPr indent="0" marL="0">
              <a:buNone/>
            </a:pPr>
            <a:r>
              <a:rPr lang="en-US" sz="1100" i="1" dirty="0">
                <a:solidFill>
                  <a:srgbClr val="E7B6A6"/>
                </a:solidFill>
                <a:latin typeface="Arial" pitchFamily="34" charset="0"/>
                <a:ea typeface="Arial" pitchFamily="34" charset="-122"/>
                <a:cs typeface="Arial" pitchFamily="34" charset="-120"/>
              </a:rPr>
              <a:t>“The North Star tells the team where to go. Compass helps them navigate the five years of</a:t>
            </a:r>
            <a:endParaRPr lang="en-US" sz="1100" dirty="0"/>
          </a:p>
          <a:p>
            <a:pPr indent="0" marL="0">
              <a:buNone/>
            </a:pPr>
            <a:r>
              <a:rPr lang="en-US" sz="1100" i="1" dirty="0">
                <a:solidFill>
                  <a:srgbClr val="E7B6A6"/>
                </a:solidFill>
                <a:latin typeface="Arial" pitchFamily="34" charset="0"/>
                <a:ea typeface="Arial" pitchFamily="34" charset="-122"/>
                <a:cs typeface="Arial" pitchFamily="34" charset="-120"/>
              </a:rPr>
              <a:t>reports, notes and decisions that show how far along the way they already are.”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5486400" cy="274320"/>
          </a:xfrm>
          <a:prstGeom prst="rect">
            <a:avLst/>
          </a:prstGeom>
          <a:noFill/>
          <a:ln/>
        </p:spPr>
        <p:txBody>
          <a:bodyPr wrap="square" lIns="0" tIns="0" rIns="0" bIns="0" rtlCol="0" anchor="ctr"/>
          <a:lstStyle/>
          <a:p>
            <a:pPr indent="0" marL="0">
              <a:buNone/>
            </a:pPr>
            <a:r>
              <a:rPr lang="en-US" sz="1100" b="1" spc="300" kern="0" dirty="0">
                <a:solidFill>
                  <a:srgbClr val="DF4329"/>
                </a:solidFill>
                <a:latin typeface="Arial" pitchFamily="34" charset="0"/>
                <a:ea typeface="Arial" pitchFamily="34" charset="-122"/>
                <a:cs typeface="Arial" pitchFamily="34" charset="-120"/>
              </a:rPr>
              <a:t>THE PROBLEM</a:t>
            </a:r>
            <a:endParaRPr lang="en-US" sz="1100" dirty="0"/>
          </a:p>
        </p:txBody>
      </p:sp>
      <p:sp>
        <p:nvSpPr>
          <p:cNvPr id="3" name="Text 1"/>
          <p:cNvSpPr txBox="1"/>
          <p:nvPr/>
        </p:nvSpPr>
        <p:spPr>
          <a:xfrm>
            <a:off x="822960" y="960120"/>
            <a:ext cx="10424160" cy="1371600"/>
          </a:xfrm>
          <a:prstGeom prst="rect">
            <a:avLst/>
          </a:prstGeom>
          <a:noFill/>
          <a:ln/>
        </p:spPr>
        <p:txBody>
          <a:bodyPr wrap="square" lIns="0" tIns="0" rIns="0" bIns="0" rtlCol="0" anchor="ctr"/>
          <a:lstStyle/>
          <a:p>
            <a:pPr indent="0" marL="0">
              <a:lnSpc>
                <a:spcPct val="105000"/>
              </a:lnSpc>
              <a:buNone/>
            </a:pPr>
            <a:r>
              <a:rPr lang="en-US" sz="3000" b="1" dirty="0">
                <a:solidFill>
                  <a:srgbClr val="1E1712"/>
                </a:solidFill>
                <a:latin typeface="Arial" pitchFamily="34" charset="0"/>
                <a:ea typeface="Arial" pitchFamily="34" charset="-122"/>
                <a:cs typeface="Arial" pitchFamily="34" charset="-120"/>
              </a:rPr>
              <a:t>Five years of grant knowledge. Four systems. No single source of truth.</a:t>
            </a:r>
            <a:endParaRPr lang="en-US" sz="3000" dirty="0"/>
          </a:p>
        </p:txBody>
      </p:sp>
      <p:sp>
        <p:nvSpPr>
          <p:cNvPr id="4" name="Shape 2"/>
          <p:cNvSpPr/>
          <p:nvPr/>
        </p:nvSpPr>
        <p:spPr>
          <a:xfrm>
            <a:off x="822960" y="2651760"/>
            <a:ext cx="2430704" cy="2743200"/>
          </a:xfrm>
          <a:prstGeom prst="roundRect">
            <a:avLst>
              <a:gd name="adj" fmla="val 3009"/>
            </a:avLst>
          </a:prstGeom>
          <a:solidFill>
            <a:srgbClr val="FBEEE9"/>
          </a:solidFill>
          <a:ln w="12700">
            <a:solidFill>
              <a:srgbClr val="F0D9CF"/>
            </a:solidFill>
            <a:prstDash val="solid"/>
          </a:ln>
        </p:spPr>
      </p:sp>
      <p:sp>
        <p:nvSpPr>
          <p:cNvPr id="5" name="Text 3"/>
          <p:cNvSpPr txBox="1"/>
          <p:nvPr/>
        </p:nvSpPr>
        <p:spPr>
          <a:xfrm>
            <a:off x="1024128" y="2852928"/>
            <a:ext cx="2028368" cy="365760"/>
          </a:xfrm>
          <a:prstGeom prst="rect">
            <a:avLst/>
          </a:prstGeom>
          <a:noFill/>
          <a:ln/>
        </p:spPr>
        <p:txBody>
          <a:bodyPr wrap="square" lIns="0" tIns="0" rIns="0" bIns="0" rtlCol="0" anchor="ctr"/>
          <a:lstStyle/>
          <a:p>
            <a:pPr indent="0" marL="0">
              <a:buNone/>
            </a:pPr>
            <a:r>
              <a:rPr lang="en-US" sz="1500" b="1" dirty="0">
                <a:solidFill>
                  <a:srgbClr val="A83218"/>
                </a:solidFill>
                <a:latin typeface="Arial" pitchFamily="34" charset="0"/>
                <a:ea typeface="Arial" pitchFamily="34" charset="-122"/>
                <a:cs typeface="Arial" pitchFamily="34" charset="-120"/>
              </a:rPr>
              <a:t>Google Drive</a:t>
            </a:r>
            <a:endParaRPr lang="en-US" sz="1500" dirty="0"/>
          </a:p>
        </p:txBody>
      </p:sp>
      <p:sp>
        <p:nvSpPr>
          <p:cNvPr id="6" name="Text 4"/>
          <p:cNvSpPr txBox="1"/>
          <p:nvPr/>
        </p:nvSpPr>
        <p:spPr>
          <a:xfrm>
            <a:off x="1024128" y="3291840"/>
            <a:ext cx="2028368" cy="1920240"/>
          </a:xfrm>
          <a:prstGeom prst="rect">
            <a:avLst/>
          </a:prstGeom>
          <a:noFill/>
          <a:ln/>
        </p:spPr>
        <p:txBody>
          <a:bodyPr wrap="square" lIns="0" tIns="0" rIns="0" bIns="0" rtlCol="0" anchor="ctr"/>
          <a:lstStyle/>
          <a:p>
            <a:pPr indent="0" marL="0">
              <a:lnSpc>
                <a:spcPct val="125000"/>
              </a:lnSpc>
              <a:buNone/>
            </a:pPr>
            <a:r>
              <a:rPr lang="en-US" sz="1150" dirty="0">
                <a:solidFill>
                  <a:srgbClr val="3D352F"/>
                </a:solidFill>
                <a:latin typeface="Arial" pitchFamily="34" charset="0"/>
                <a:ea typeface="Arial" pitchFamily="34" charset="-122"/>
                <a:cs typeface="Arial" pitchFamily="34" charset="-120"/>
              </a:rPr>
              <a:t>Proposals, reports, diligence memos, board decks, impact models</a:t>
            </a:r>
            <a:endParaRPr lang="en-US" sz="1150" dirty="0"/>
          </a:p>
        </p:txBody>
      </p:sp>
      <p:sp>
        <p:nvSpPr>
          <p:cNvPr id="7" name="Shape 5"/>
          <p:cNvSpPr/>
          <p:nvPr/>
        </p:nvSpPr>
        <p:spPr>
          <a:xfrm>
            <a:off x="3527984" y="2651760"/>
            <a:ext cx="2430704" cy="2743200"/>
          </a:xfrm>
          <a:prstGeom prst="roundRect">
            <a:avLst>
              <a:gd name="adj" fmla="val 3009"/>
            </a:avLst>
          </a:prstGeom>
          <a:solidFill>
            <a:srgbClr val="FBEEE9"/>
          </a:solidFill>
          <a:ln w="12700">
            <a:solidFill>
              <a:srgbClr val="F0D9CF"/>
            </a:solidFill>
            <a:prstDash val="solid"/>
          </a:ln>
        </p:spPr>
      </p:sp>
      <p:sp>
        <p:nvSpPr>
          <p:cNvPr id="8" name="Text 6"/>
          <p:cNvSpPr txBox="1"/>
          <p:nvPr/>
        </p:nvSpPr>
        <p:spPr>
          <a:xfrm>
            <a:off x="3729152" y="2852928"/>
            <a:ext cx="2028368" cy="365760"/>
          </a:xfrm>
          <a:prstGeom prst="rect">
            <a:avLst/>
          </a:prstGeom>
          <a:noFill/>
          <a:ln/>
        </p:spPr>
        <p:txBody>
          <a:bodyPr wrap="square" lIns="0" tIns="0" rIns="0" bIns="0" rtlCol="0" anchor="ctr"/>
          <a:lstStyle/>
          <a:p>
            <a:pPr indent="0" marL="0">
              <a:buNone/>
            </a:pPr>
            <a:r>
              <a:rPr lang="en-US" sz="1500" b="1" dirty="0">
                <a:solidFill>
                  <a:srgbClr val="A83218"/>
                </a:solidFill>
                <a:latin typeface="Arial" pitchFamily="34" charset="0"/>
                <a:ea typeface="Arial" pitchFamily="34" charset="-122"/>
                <a:cs typeface="Arial" pitchFamily="34" charset="-120"/>
              </a:rPr>
              <a:t>GivingData</a:t>
            </a:r>
            <a:endParaRPr lang="en-US" sz="1500" dirty="0"/>
          </a:p>
        </p:txBody>
      </p:sp>
      <p:sp>
        <p:nvSpPr>
          <p:cNvPr id="9" name="Text 7"/>
          <p:cNvSpPr txBox="1"/>
          <p:nvPr/>
        </p:nvSpPr>
        <p:spPr>
          <a:xfrm>
            <a:off x="3729152" y="3291840"/>
            <a:ext cx="2028368" cy="1920240"/>
          </a:xfrm>
          <a:prstGeom prst="rect">
            <a:avLst/>
          </a:prstGeom>
          <a:noFill/>
          <a:ln/>
        </p:spPr>
        <p:txBody>
          <a:bodyPr wrap="square" lIns="0" tIns="0" rIns="0" bIns="0" rtlCol="0" anchor="ctr"/>
          <a:lstStyle/>
          <a:p>
            <a:pPr indent="0" marL="0">
              <a:lnSpc>
                <a:spcPct val="125000"/>
              </a:lnSpc>
              <a:buNone/>
            </a:pPr>
            <a:r>
              <a:rPr lang="en-US" sz="1150" dirty="0">
                <a:solidFill>
                  <a:srgbClr val="3D352F"/>
                </a:solidFill>
                <a:latin typeface="Arial" pitchFamily="34" charset="0"/>
                <a:ea typeface="Arial" pitchFamily="34" charset="-122"/>
                <a:cs typeface="Arial" pitchFamily="34" charset="-120"/>
              </a:rPr>
              <a:t>Grant records, projected vs. reported outcomes, requirements, review scores</a:t>
            </a:r>
            <a:endParaRPr lang="en-US" sz="1150" dirty="0"/>
          </a:p>
        </p:txBody>
      </p:sp>
      <p:sp>
        <p:nvSpPr>
          <p:cNvPr id="10" name="Shape 8"/>
          <p:cNvSpPr/>
          <p:nvPr/>
        </p:nvSpPr>
        <p:spPr>
          <a:xfrm>
            <a:off x="6233008" y="2651760"/>
            <a:ext cx="2430704" cy="2743200"/>
          </a:xfrm>
          <a:prstGeom prst="roundRect">
            <a:avLst>
              <a:gd name="adj" fmla="val 3009"/>
            </a:avLst>
          </a:prstGeom>
          <a:solidFill>
            <a:srgbClr val="FBEEE9"/>
          </a:solidFill>
          <a:ln w="12700">
            <a:solidFill>
              <a:srgbClr val="F0D9CF"/>
            </a:solidFill>
            <a:prstDash val="solid"/>
          </a:ln>
        </p:spPr>
      </p:sp>
      <p:sp>
        <p:nvSpPr>
          <p:cNvPr id="11" name="Text 9"/>
          <p:cNvSpPr txBox="1"/>
          <p:nvPr/>
        </p:nvSpPr>
        <p:spPr>
          <a:xfrm>
            <a:off x="6434176" y="2852928"/>
            <a:ext cx="2028368" cy="365760"/>
          </a:xfrm>
          <a:prstGeom prst="rect">
            <a:avLst/>
          </a:prstGeom>
          <a:noFill/>
          <a:ln/>
        </p:spPr>
        <p:txBody>
          <a:bodyPr wrap="square" lIns="0" tIns="0" rIns="0" bIns="0" rtlCol="0" anchor="ctr"/>
          <a:lstStyle/>
          <a:p>
            <a:pPr indent="0" marL="0">
              <a:buNone/>
            </a:pPr>
            <a:r>
              <a:rPr lang="en-US" sz="1500" b="1" dirty="0">
                <a:solidFill>
                  <a:srgbClr val="A83218"/>
                </a:solidFill>
                <a:latin typeface="Arial" pitchFamily="34" charset="0"/>
                <a:ea typeface="Arial" pitchFamily="34" charset="-122"/>
                <a:cs typeface="Arial" pitchFamily="34" charset="-120"/>
              </a:rPr>
              <a:t>Airtable</a:t>
            </a:r>
            <a:endParaRPr lang="en-US" sz="1500" dirty="0"/>
          </a:p>
        </p:txBody>
      </p:sp>
      <p:sp>
        <p:nvSpPr>
          <p:cNvPr id="12" name="Text 10"/>
          <p:cNvSpPr txBox="1"/>
          <p:nvPr/>
        </p:nvSpPr>
        <p:spPr>
          <a:xfrm>
            <a:off x="6434176" y="3291840"/>
            <a:ext cx="2028368" cy="1920240"/>
          </a:xfrm>
          <a:prstGeom prst="rect">
            <a:avLst/>
          </a:prstGeom>
          <a:noFill/>
          <a:ln/>
        </p:spPr>
        <p:txBody>
          <a:bodyPr wrap="square" lIns="0" tIns="0" rIns="0" bIns="0" rtlCol="0" anchor="ctr"/>
          <a:lstStyle/>
          <a:p>
            <a:pPr indent="0" marL="0">
              <a:lnSpc>
                <a:spcPct val="125000"/>
              </a:lnSpc>
              <a:buNone/>
            </a:pPr>
            <a:r>
              <a:rPr lang="en-US" sz="1150" dirty="0">
                <a:solidFill>
                  <a:srgbClr val="3D352F"/>
                </a:solidFill>
                <a:latin typeface="Arial" pitchFamily="34" charset="0"/>
                <a:ea typeface="Arial" pitchFamily="34" charset="-122"/>
                <a:cs typeface="Arial" pitchFamily="34" charset="-120"/>
              </a:rPr>
              <a:t>Organizations, contacts, pipeline, the interaction log</a:t>
            </a:r>
            <a:endParaRPr lang="en-US" sz="1150" dirty="0"/>
          </a:p>
        </p:txBody>
      </p:sp>
      <p:sp>
        <p:nvSpPr>
          <p:cNvPr id="13" name="Shape 11"/>
          <p:cNvSpPr/>
          <p:nvPr/>
        </p:nvSpPr>
        <p:spPr>
          <a:xfrm>
            <a:off x="8938031" y="2651760"/>
            <a:ext cx="2430704" cy="2743200"/>
          </a:xfrm>
          <a:prstGeom prst="roundRect">
            <a:avLst>
              <a:gd name="adj" fmla="val 3009"/>
            </a:avLst>
          </a:prstGeom>
          <a:solidFill>
            <a:srgbClr val="FBEEE9"/>
          </a:solidFill>
          <a:ln w="12700">
            <a:solidFill>
              <a:srgbClr val="F0D9CF"/>
            </a:solidFill>
            <a:prstDash val="solid"/>
          </a:ln>
        </p:spPr>
      </p:sp>
      <p:sp>
        <p:nvSpPr>
          <p:cNvPr id="14" name="Text 12"/>
          <p:cNvSpPr txBox="1"/>
          <p:nvPr/>
        </p:nvSpPr>
        <p:spPr>
          <a:xfrm>
            <a:off x="9139199" y="2852928"/>
            <a:ext cx="2028368" cy="365760"/>
          </a:xfrm>
          <a:prstGeom prst="rect">
            <a:avLst/>
          </a:prstGeom>
          <a:noFill/>
          <a:ln/>
        </p:spPr>
        <p:txBody>
          <a:bodyPr wrap="square" lIns="0" tIns="0" rIns="0" bIns="0" rtlCol="0" anchor="ctr"/>
          <a:lstStyle/>
          <a:p>
            <a:pPr indent="0" marL="0">
              <a:buNone/>
            </a:pPr>
            <a:r>
              <a:rPr lang="en-US" sz="1500" b="1" dirty="0">
                <a:solidFill>
                  <a:srgbClr val="A83218"/>
                </a:solidFill>
                <a:latin typeface="Arial" pitchFamily="34" charset="0"/>
                <a:ea typeface="Arial" pitchFamily="34" charset="-122"/>
                <a:cs typeface="Arial" pitchFamily="34" charset="-120"/>
              </a:rPr>
              <a:t>Zoom Chat</a:t>
            </a:r>
            <a:endParaRPr lang="en-US" sz="1500" dirty="0"/>
          </a:p>
        </p:txBody>
      </p:sp>
      <p:sp>
        <p:nvSpPr>
          <p:cNvPr id="15" name="Text 13"/>
          <p:cNvSpPr txBox="1"/>
          <p:nvPr/>
        </p:nvSpPr>
        <p:spPr>
          <a:xfrm>
            <a:off x="9139199" y="3291840"/>
            <a:ext cx="2028368" cy="1920240"/>
          </a:xfrm>
          <a:prstGeom prst="rect">
            <a:avLst/>
          </a:prstGeom>
          <a:noFill/>
          <a:ln/>
        </p:spPr>
        <p:txBody>
          <a:bodyPr wrap="square" lIns="0" tIns="0" rIns="0" bIns="0" rtlCol="0" anchor="ctr"/>
          <a:lstStyle/>
          <a:p>
            <a:pPr indent="0" marL="0">
              <a:lnSpc>
                <a:spcPct val="125000"/>
              </a:lnSpc>
              <a:buNone/>
            </a:pPr>
            <a:r>
              <a:rPr lang="en-US" sz="1150" dirty="0">
                <a:solidFill>
                  <a:srgbClr val="3D352F"/>
                </a:solidFill>
                <a:latin typeface="Arial" pitchFamily="34" charset="0"/>
                <a:ea typeface="Arial" pitchFamily="34" charset="-122"/>
                <a:cs typeface="Arial" pitchFamily="34" charset="-120"/>
              </a:rPr>
              <a:t>Decisions and context made in a channel and never written up</a:t>
            </a:r>
            <a:endParaRPr lang="en-US" sz="1150" dirty="0"/>
          </a:p>
        </p:txBody>
      </p:sp>
      <p:sp>
        <p:nvSpPr>
          <p:cNvPr id="16" name="Text 14"/>
          <p:cNvSpPr txBox="1"/>
          <p:nvPr/>
        </p:nvSpPr>
        <p:spPr>
          <a:xfrm>
            <a:off x="822960" y="5623560"/>
            <a:ext cx="10515600" cy="822960"/>
          </a:xfrm>
          <a:prstGeom prst="rect">
            <a:avLst/>
          </a:prstGeom>
          <a:noFill/>
          <a:ln/>
        </p:spPr>
        <p:txBody>
          <a:bodyPr wrap="square" lIns="0" tIns="0" rIns="0" bIns="0" rtlCol="0" anchor="ctr"/>
          <a:lstStyle/>
          <a:p>
            <a:pPr indent="0" marL="0">
              <a:lnSpc>
                <a:spcPct val="130000"/>
              </a:lnSpc>
              <a:buNone/>
            </a:pPr>
            <a:r>
              <a:rPr lang="en-US" sz="1250" dirty="0">
                <a:solidFill>
                  <a:srgbClr val="7A716A"/>
                </a:solidFill>
                <a:latin typeface="Arial" pitchFamily="34" charset="0"/>
                <a:ea typeface="Arial" pitchFamily="34" charset="-122"/>
                <a:cs typeface="Arial" pitchFamily="34" charset="-120"/>
              </a:rPr>
              <a:t>Today the answer lives in someone's memory, a folder of PDFs, or a year-old thread. A thesis-driven funder runs portfolio-wide questions constantly — and re-derives the answer each time.</a:t>
            </a:r>
            <a:endParaRPr lang="en-US" sz="1250" dirty="0"/>
          </a:p>
        </p:txBody>
      </p:sp>
      <p:sp>
        <p:nvSpPr>
          <p:cNvPr id="17" name="Text 15"/>
          <p:cNvSpPr txBox="1"/>
          <p:nvPr/>
        </p:nvSpPr>
        <p:spPr>
          <a:xfrm>
            <a:off x="11551615" y="6355080"/>
            <a:ext cx="365760" cy="274320"/>
          </a:xfrm>
          <a:prstGeom prst="rect">
            <a:avLst/>
          </a:prstGeom>
          <a:noFill/>
          <a:ln/>
        </p:spPr>
        <p:txBody>
          <a:bodyPr wrap="square" lIns="0" tIns="0" rIns="0" bIns="0" rtlCol="0" anchor="ctr"/>
          <a:lstStyle/>
          <a:p>
            <a:pPr algn="r" indent="0" marL="0">
              <a:buNone/>
            </a:pPr>
            <a:r>
              <a:rPr lang="en-US" sz="900" dirty="0">
                <a:solidFill>
                  <a:srgbClr val="7A716A"/>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1712"/>
        </a:solidFill>
      </p:bgPr>
    </p:bg>
    <p:spTree>
      <p:nvGrpSpPr>
        <p:cNvPr id="1" name=""/>
        <p:cNvGrpSpPr/>
        <p:nvPr/>
      </p:nvGrpSpPr>
      <p:grpSpPr>
        <a:xfrm>
          <a:off x="0" y="0"/>
          <a:ext cx="0" cy="0"/>
          <a:chOff x="0" y="0"/>
          <a:chExt cx="0" cy="0"/>
        </a:xfrm>
      </p:grpSpPr>
      <p:sp>
        <p:nvSpPr>
          <p:cNvPr id="2" name="Text 0"/>
          <p:cNvSpPr txBox="1"/>
          <p:nvPr/>
        </p:nvSpPr>
        <p:spPr>
          <a:xfrm>
            <a:off x="822960" y="731520"/>
            <a:ext cx="5486400" cy="274320"/>
          </a:xfrm>
          <a:prstGeom prst="rect">
            <a:avLst/>
          </a:prstGeom>
          <a:noFill/>
          <a:ln/>
        </p:spPr>
        <p:txBody>
          <a:bodyPr wrap="square" lIns="0" tIns="0" rIns="0" bIns="0" rtlCol="0" anchor="ctr"/>
          <a:lstStyle/>
          <a:p>
            <a:pPr indent="0" marL="0">
              <a:buNone/>
            </a:pPr>
            <a:r>
              <a:rPr lang="en-US" sz="1100" b="1" spc="300" kern="0" dirty="0">
                <a:solidFill>
                  <a:srgbClr val="E8A33D"/>
                </a:solidFill>
                <a:latin typeface="Arial" pitchFamily="34" charset="0"/>
                <a:ea typeface="Arial" pitchFamily="34" charset="-122"/>
                <a:cs typeface="Arial" pitchFamily="34" charset="-120"/>
              </a:rPr>
              <a:t>THE REFRAME</a:t>
            </a:r>
            <a:endParaRPr lang="en-US" sz="1100" dirty="0"/>
          </a:p>
        </p:txBody>
      </p:sp>
      <p:sp>
        <p:nvSpPr>
          <p:cNvPr id="3" name="Text 1"/>
          <p:cNvSpPr txBox="1"/>
          <p:nvPr/>
        </p:nvSpPr>
        <p:spPr>
          <a:xfrm>
            <a:off x="822960" y="1188720"/>
            <a:ext cx="10515600" cy="1737360"/>
          </a:xfrm>
          <a:prstGeom prst="rect">
            <a:avLst/>
          </a:prstGeom>
          <a:noFill/>
          <a:ln/>
        </p:spPr>
        <p:txBody>
          <a:bodyPr wrap="square" lIns="0" tIns="0" rIns="0" bIns="0" rtlCol="0" anchor="ctr"/>
          <a:lstStyle/>
          <a:p>
            <a:pPr indent="0" marL="0">
              <a:lnSpc>
                <a:spcPct val="110000"/>
              </a:lnSpc>
              <a:buNone/>
            </a:pPr>
            <a:r>
              <a:rPr lang="en-US" sz="3000" b="1" dirty="0">
                <a:solidFill>
                  <a:srgbClr val="D9D0C8"/>
                </a:solidFill>
                <a:latin typeface="Arial" pitchFamily="34" charset="0"/>
                <a:ea typeface="Arial" pitchFamily="34" charset="-122"/>
                <a:cs typeface="Arial" pitchFamily="34" charset="-120"/>
              </a:rPr>
              <a:t>This is a </a:t>
            </a:r>
            <a:pPr indent="0" marL="0">
              <a:lnSpc>
                <a:spcPct val="110000"/>
              </a:lnSpc>
              <a:buNone/>
            </a:pPr>
            <a:r>
              <a:rPr lang="en-US" sz="3000" b="1" dirty="0">
                <a:solidFill>
                  <a:srgbClr val="FFFFFF"/>
                </a:solidFill>
                <a:latin typeface="Arial" pitchFamily="34" charset="0"/>
                <a:ea typeface="Arial" pitchFamily="34" charset="-122"/>
                <a:cs typeface="Arial" pitchFamily="34" charset="-120"/>
              </a:rPr>
              <a:t>retrieval, permissioning and citation</a:t>
            </a:r>
            <a:pPr indent="0" marL="0">
              <a:lnSpc>
                <a:spcPct val="110000"/>
              </a:lnSpc>
              <a:buNone/>
            </a:pPr>
            <a:r>
              <a:rPr lang="en-US" sz="3000" b="1" dirty="0">
                <a:solidFill>
                  <a:srgbClr val="D9D0C8"/>
                </a:solidFill>
                <a:latin typeface="Arial" pitchFamily="34" charset="0"/>
                <a:ea typeface="Arial" pitchFamily="34" charset="-122"/>
                <a:cs typeface="Arial" pitchFamily="34" charset="-120"/>
              </a:rPr>
              <a:t> problem —</a:t>
            </a:r>
            <a:endParaRPr lang="en-US" sz="3000" dirty="0"/>
          </a:p>
          <a:p>
            <a:pPr indent="0" marL="0">
              <a:lnSpc>
                <a:spcPct val="110000"/>
              </a:lnSpc>
              <a:buNone/>
            </a:pPr>
            <a:r>
              <a:rPr lang="en-US" sz="3000" b="1" dirty="0">
                <a:solidFill>
                  <a:srgbClr val="D9D0C8"/>
                </a:solidFill>
                <a:latin typeface="Arial" pitchFamily="34" charset="0"/>
                <a:ea typeface="Arial" pitchFamily="34" charset="-122"/>
                <a:cs typeface="Arial" pitchFamily="34" charset="-120"/>
              </a:rPr>
              <a:t>not a chatbot problem.</a:t>
            </a:r>
            <a:endParaRPr lang="en-US" sz="3000" dirty="0"/>
          </a:p>
        </p:txBody>
      </p:sp>
      <p:sp>
        <p:nvSpPr>
          <p:cNvPr id="4" name="Shape 2"/>
          <p:cNvSpPr/>
          <p:nvPr/>
        </p:nvSpPr>
        <p:spPr>
          <a:xfrm>
            <a:off x="822960" y="3255264"/>
            <a:ext cx="128016" cy="128016"/>
          </a:xfrm>
          <a:prstGeom prst="rect">
            <a:avLst/>
          </a:prstGeom>
          <a:solidFill>
            <a:srgbClr val="DF4329"/>
          </a:solidFill>
          <a:ln/>
        </p:spPr>
      </p:sp>
      <p:sp>
        <p:nvSpPr>
          <p:cNvPr id="5" name="Text 3"/>
          <p:cNvSpPr txBox="1"/>
          <p:nvPr/>
        </p:nvSpPr>
        <p:spPr>
          <a:xfrm>
            <a:off x="1143000" y="3200400"/>
            <a:ext cx="3108960" cy="822960"/>
          </a:xfrm>
          <a:prstGeom prst="rect">
            <a:avLst/>
          </a:prstGeom>
          <a:noFill/>
          <a:ln/>
        </p:spPr>
        <p:txBody>
          <a:bodyPr wrap="square" lIns="0" tIns="0" rIns="0" bIns="0" rtlCol="0" anchor="ctr"/>
          <a:lstStyle/>
          <a:p>
            <a:pPr indent="0" marL="0">
              <a:buNone/>
            </a:pPr>
            <a:r>
              <a:rPr lang="en-US" sz="1400" b="1" dirty="0">
                <a:solidFill>
                  <a:srgbClr val="E8A33D"/>
                </a:solidFill>
                <a:latin typeface="Arial" pitchFamily="34" charset="0"/>
                <a:ea typeface="Arial" pitchFamily="34" charset="-122"/>
                <a:cs typeface="Arial" pitchFamily="34" charset="-120"/>
              </a:rPr>
              <a:t>The hard parts</a:t>
            </a:r>
            <a:endParaRPr lang="en-US" sz="1400" dirty="0"/>
          </a:p>
        </p:txBody>
      </p:sp>
      <p:sp>
        <p:nvSpPr>
          <p:cNvPr id="6" name="Text 4"/>
          <p:cNvSpPr txBox="1"/>
          <p:nvPr/>
        </p:nvSpPr>
        <p:spPr>
          <a:xfrm>
            <a:off x="4389120" y="3182112"/>
            <a:ext cx="6949440" cy="1005840"/>
          </a:xfrm>
          <a:prstGeom prst="rect">
            <a:avLst/>
          </a:prstGeom>
          <a:noFill/>
          <a:ln/>
        </p:spPr>
        <p:txBody>
          <a:bodyPr wrap="square" lIns="0" tIns="0" rIns="0" bIns="0" rtlCol="0" anchor="ctr"/>
          <a:lstStyle/>
          <a:p>
            <a:pPr indent="0" marL="0">
              <a:lnSpc>
                <a:spcPct val="128000"/>
              </a:lnSpc>
              <a:buNone/>
            </a:pPr>
            <a:r>
              <a:rPr lang="en-US" sz="1200" dirty="0">
                <a:solidFill>
                  <a:srgbClr val="CFC6BD"/>
                </a:solidFill>
                <a:latin typeface="Arial" pitchFamily="34" charset="0"/>
                <a:ea typeface="Arial" pitchFamily="34" charset="-122"/>
                <a:cs typeface="Arial" pitchFamily="34" charset="-120"/>
              </a:rPr>
              <a:t>Connecting four messy sources, cleaning and de-duplicating so nothing is missed or double-counted, resolving everything to the same grants and orgs, and enforcing who may see what.</a:t>
            </a:r>
            <a:endParaRPr lang="en-US" sz="1200" dirty="0"/>
          </a:p>
        </p:txBody>
      </p:sp>
      <p:sp>
        <p:nvSpPr>
          <p:cNvPr id="7" name="Shape 5"/>
          <p:cNvSpPr/>
          <p:nvPr/>
        </p:nvSpPr>
        <p:spPr>
          <a:xfrm>
            <a:off x="822960" y="4398264"/>
            <a:ext cx="128016" cy="128016"/>
          </a:xfrm>
          <a:prstGeom prst="rect">
            <a:avLst/>
          </a:prstGeom>
          <a:solidFill>
            <a:srgbClr val="DF4329"/>
          </a:solidFill>
          <a:ln/>
        </p:spPr>
      </p:sp>
      <p:sp>
        <p:nvSpPr>
          <p:cNvPr id="8" name="Text 6"/>
          <p:cNvSpPr txBox="1"/>
          <p:nvPr/>
        </p:nvSpPr>
        <p:spPr>
          <a:xfrm>
            <a:off x="1143000" y="4343400"/>
            <a:ext cx="3108960" cy="822960"/>
          </a:xfrm>
          <a:prstGeom prst="rect">
            <a:avLst/>
          </a:prstGeom>
          <a:noFill/>
          <a:ln/>
        </p:spPr>
        <p:txBody>
          <a:bodyPr wrap="square" lIns="0" tIns="0" rIns="0" bIns="0" rtlCol="0" anchor="ctr"/>
          <a:lstStyle/>
          <a:p>
            <a:pPr indent="0" marL="0">
              <a:buNone/>
            </a:pPr>
            <a:r>
              <a:rPr lang="en-US" sz="1400" b="1" dirty="0">
                <a:solidFill>
                  <a:srgbClr val="E8A33D"/>
                </a:solidFill>
                <a:latin typeface="Arial" pitchFamily="34" charset="0"/>
                <a:ea typeface="Arial" pitchFamily="34" charset="-122"/>
                <a:cs typeface="Arial" pitchFamily="34" charset="-120"/>
              </a:rPr>
              <a:t>The model is last</a:t>
            </a:r>
            <a:endParaRPr lang="en-US" sz="1400" dirty="0"/>
          </a:p>
        </p:txBody>
      </p:sp>
      <p:sp>
        <p:nvSpPr>
          <p:cNvPr id="9" name="Text 7"/>
          <p:cNvSpPr txBox="1"/>
          <p:nvPr/>
        </p:nvSpPr>
        <p:spPr>
          <a:xfrm>
            <a:off x="4389120" y="4325112"/>
            <a:ext cx="6949440" cy="1005840"/>
          </a:xfrm>
          <a:prstGeom prst="rect">
            <a:avLst/>
          </a:prstGeom>
          <a:noFill/>
          <a:ln/>
        </p:spPr>
        <p:txBody>
          <a:bodyPr wrap="square" lIns="0" tIns="0" rIns="0" bIns="0" rtlCol="0" anchor="ctr"/>
          <a:lstStyle/>
          <a:p>
            <a:pPr indent="0" marL="0">
              <a:lnSpc>
                <a:spcPct val="128000"/>
              </a:lnSpc>
              <a:buNone/>
            </a:pPr>
            <a:r>
              <a:rPr lang="en-US" sz="1200" dirty="0">
                <a:solidFill>
                  <a:srgbClr val="CFC6BD"/>
                </a:solidFill>
                <a:latin typeface="Arial" pitchFamily="34" charset="0"/>
                <a:ea typeface="Arial" pitchFamily="34" charset="-122"/>
                <a:cs typeface="Arial" pitchFamily="34" charset="-120"/>
              </a:rPr>
              <a:t>Generation is the smallest, lowest-risk component. It sits on top of retrieval — it is not the product.</a:t>
            </a:r>
            <a:endParaRPr lang="en-US" sz="1200" dirty="0"/>
          </a:p>
        </p:txBody>
      </p:sp>
      <p:sp>
        <p:nvSpPr>
          <p:cNvPr id="10" name="Shape 8"/>
          <p:cNvSpPr/>
          <p:nvPr/>
        </p:nvSpPr>
        <p:spPr>
          <a:xfrm>
            <a:off x="822960" y="5541264"/>
            <a:ext cx="128016" cy="128016"/>
          </a:xfrm>
          <a:prstGeom prst="rect">
            <a:avLst/>
          </a:prstGeom>
          <a:solidFill>
            <a:srgbClr val="DF4329"/>
          </a:solidFill>
          <a:ln/>
        </p:spPr>
      </p:sp>
      <p:sp>
        <p:nvSpPr>
          <p:cNvPr id="11" name="Text 9"/>
          <p:cNvSpPr txBox="1"/>
          <p:nvPr/>
        </p:nvSpPr>
        <p:spPr>
          <a:xfrm>
            <a:off x="1143000" y="5486400"/>
            <a:ext cx="3108960" cy="822960"/>
          </a:xfrm>
          <a:prstGeom prst="rect">
            <a:avLst/>
          </a:prstGeom>
          <a:noFill/>
          <a:ln/>
        </p:spPr>
        <p:txBody>
          <a:bodyPr wrap="square" lIns="0" tIns="0" rIns="0" bIns="0" rtlCol="0" anchor="ctr"/>
          <a:lstStyle/>
          <a:p>
            <a:pPr indent="0" marL="0">
              <a:buNone/>
            </a:pPr>
            <a:r>
              <a:rPr lang="en-US" sz="1400" b="1" dirty="0">
                <a:solidFill>
                  <a:srgbClr val="E8A33D"/>
                </a:solidFill>
                <a:latin typeface="Arial" pitchFamily="34" charset="0"/>
                <a:ea typeface="Arial" pitchFamily="34" charset="-122"/>
                <a:cs typeface="Arial" pitchFamily="34" charset="-120"/>
              </a:rPr>
              <a:t>The bar is set by the brand</a:t>
            </a:r>
            <a:endParaRPr lang="en-US" sz="1400" dirty="0"/>
          </a:p>
        </p:txBody>
      </p:sp>
      <p:sp>
        <p:nvSpPr>
          <p:cNvPr id="12" name="Text 10"/>
          <p:cNvSpPr txBox="1"/>
          <p:nvPr/>
        </p:nvSpPr>
        <p:spPr>
          <a:xfrm>
            <a:off x="4389120" y="5468112"/>
            <a:ext cx="6949440" cy="1005840"/>
          </a:xfrm>
          <a:prstGeom prst="rect">
            <a:avLst/>
          </a:prstGeom>
          <a:noFill/>
          <a:ln/>
        </p:spPr>
        <p:txBody>
          <a:bodyPr wrap="square" lIns="0" tIns="0" rIns="0" bIns="0" rtlCol="0" anchor="ctr"/>
          <a:lstStyle/>
          <a:p>
            <a:pPr indent="0" marL="0">
              <a:lnSpc>
                <a:spcPct val="128000"/>
              </a:lnSpc>
              <a:buNone/>
            </a:pPr>
            <a:r>
              <a:rPr lang="en-US" sz="1200" dirty="0">
                <a:solidFill>
                  <a:srgbClr val="CFC6BD"/>
                </a:solidFill>
                <a:latin typeface="Arial" pitchFamily="34" charset="0"/>
                <a:ea typeface="Arial" pitchFamily="34" charset="-122"/>
                <a:cs typeface="Arial" pitchFamily="34" charset="-120"/>
              </a:rPr>
              <a:t>Their Handbook names the anti-pattern: “juicing our models … hiding negative outcomes.” Compass must make cherry-picking a number hard and negative results easy to see — via citations, date/model stamps and refusal.</a:t>
            </a:r>
            <a:endParaRPr lang="en-US" sz="1200" dirty="0"/>
          </a:p>
        </p:txBody>
      </p:sp>
      <p:sp>
        <p:nvSpPr>
          <p:cNvPr id="13" name="Text 11"/>
          <p:cNvSpPr txBox="1"/>
          <p:nvPr/>
        </p:nvSpPr>
        <p:spPr>
          <a:xfrm>
            <a:off x="11551615" y="6355080"/>
            <a:ext cx="365760" cy="274320"/>
          </a:xfrm>
          <a:prstGeom prst="rect">
            <a:avLst/>
          </a:prstGeom>
          <a:noFill/>
          <a:ln/>
        </p:spPr>
        <p:txBody>
          <a:bodyPr wrap="square" lIns="0" tIns="0" rIns="0" bIns="0" rtlCol="0" anchor="ctr"/>
          <a:lstStyle/>
          <a:p>
            <a:pPr algn="r" indent="0" marL="0">
              <a:buNone/>
            </a:pPr>
            <a:r>
              <a:rPr lang="en-US" sz="900" dirty="0">
                <a:solidFill>
                  <a:srgbClr val="7A716A"/>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566928"/>
            <a:ext cx="384048" cy="384048"/>
          </a:xfrm>
          <a:prstGeom prst="ellipse">
            <a:avLst/>
          </a:prstGeom>
          <a:solidFill>
            <a:srgbClr val="DF4329"/>
          </a:solidFill>
          <a:ln/>
        </p:spPr>
      </p:sp>
      <p:sp>
        <p:nvSpPr>
          <p:cNvPr id="3" name="Text 1"/>
          <p:cNvSpPr txBox="1"/>
          <p:nvPr/>
        </p:nvSpPr>
        <p:spPr>
          <a:xfrm>
            <a:off x="822960" y="557784"/>
            <a:ext cx="38404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4" name="Text 2"/>
          <p:cNvSpPr txBox="1"/>
          <p:nvPr/>
        </p:nvSpPr>
        <p:spPr>
          <a:xfrm>
            <a:off x="1371600" y="548640"/>
            <a:ext cx="10058400" cy="502920"/>
          </a:xfrm>
          <a:prstGeom prst="rect">
            <a:avLst/>
          </a:prstGeom>
          <a:noFill/>
          <a:ln/>
        </p:spPr>
        <p:txBody>
          <a:bodyPr wrap="square" lIns="0" tIns="0" rIns="0" bIns="0" rtlCol="0" anchor="ctr"/>
          <a:lstStyle/>
          <a:p>
            <a:pPr indent="0" marL="0">
              <a:buNone/>
            </a:pPr>
            <a:r>
              <a:rPr lang="en-US" sz="2100" b="1" dirty="0">
                <a:solidFill>
                  <a:srgbClr val="1E1712"/>
                </a:solidFill>
                <a:latin typeface="Arial" pitchFamily="34" charset="0"/>
                <a:ea typeface="Arial" pitchFamily="34" charset="-122"/>
                <a:cs typeface="Arial" pitchFamily="34" charset="-120"/>
              </a:rPr>
              <a:t>Context — what I need to know before designing anything</a:t>
            </a:r>
            <a:endParaRPr lang="en-US" sz="2100" dirty="0"/>
          </a:p>
        </p:txBody>
      </p:sp>
      <p:sp>
        <p:nvSpPr>
          <p:cNvPr id="5" name="Shape 3"/>
          <p:cNvSpPr/>
          <p:nvPr/>
        </p:nvSpPr>
        <p:spPr>
          <a:xfrm>
            <a:off x="822960" y="1417320"/>
            <a:ext cx="5090008" cy="2286000"/>
          </a:xfrm>
          <a:prstGeom prst="roundRect">
            <a:avLst>
              <a:gd name="adj" fmla="val 2400"/>
            </a:avLst>
          </a:prstGeom>
          <a:solidFill>
            <a:srgbClr val="FCFAF8"/>
          </a:solidFill>
          <a:ln w="12700">
            <a:solidFill>
              <a:srgbClr val="F0D9CF"/>
            </a:solidFill>
            <a:prstDash val="solid"/>
          </a:ln>
        </p:spPr>
      </p:sp>
      <p:sp>
        <p:nvSpPr>
          <p:cNvPr id="6" name="Text 4"/>
          <p:cNvSpPr txBox="1"/>
          <p:nvPr/>
        </p:nvSpPr>
        <p:spPr>
          <a:xfrm>
            <a:off x="1078992" y="1618488"/>
            <a:ext cx="4577944" cy="365760"/>
          </a:xfrm>
          <a:prstGeom prst="rect">
            <a:avLst/>
          </a:prstGeom>
          <a:noFill/>
          <a:ln/>
        </p:spPr>
        <p:txBody>
          <a:bodyPr wrap="square" lIns="0" tIns="0" rIns="0" bIns="0" rtlCol="0" anchor="ctr"/>
          <a:lstStyle/>
          <a:p>
            <a:pPr indent="0" marL="0">
              <a:buNone/>
            </a:pPr>
            <a:r>
              <a:rPr lang="en-US" sz="1400" b="1" dirty="0">
                <a:solidFill>
                  <a:srgbClr val="A83218"/>
                </a:solidFill>
                <a:latin typeface="Arial" pitchFamily="34" charset="0"/>
                <a:ea typeface="Arial" pitchFamily="34" charset="-122"/>
                <a:cs typeface="Arial" pitchFamily="34" charset="-120"/>
              </a:rPr>
              <a:t>Users &amp; decisions</a:t>
            </a:r>
            <a:endParaRPr lang="en-US" sz="1400" dirty="0"/>
          </a:p>
        </p:txBody>
      </p:sp>
      <p:sp>
        <p:nvSpPr>
          <p:cNvPr id="7" name="Text 5"/>
          <p:cNvSpPr txBox="1"/>
          <p:nvPr/>
        </p:nvSpPr>
        <p:spPr>
          <a:xfrm>
            <a:off x="1078992" y="2039112"/>
            <a:ext cx="4577944" cy="1463040"/>
          </a:xfrm>
          <a:prstGeom prst="rect">
            <a:avLst/>
          </a:prstGeom>
          <a:noFill/>
          <a:ln/>
        </p:spPr>
        <p:txBody>
          <a:bodyPr wrap="square" lIns="0" tIns="0" rIns="0" bIns="0" rtlCol="0" anchor="ctr"/>
          <a:lstStyle/>
          <a:p>
            <a:pPr indent="0" marL="0">
              <a:lnSpc>
                <a:spcPct val="124000"/>
              </a:lnSpc>
              <a:buNone/>
            </a:pPr>
            <a:r>
              <a:rPr lang="en-US" sz="1100" dirty="0">
                <a:solidFill>
                  <a:srgbClr val="3D352F"/>
                </a:solidFill>
                <a:latin typeface="Arial" pitchFamily="34" charset="0"/>
                <a:ea typeface="Arial" pitchFamily="34" charset="-122"/>
                <a:cs typeface="Arial" pitchFamily="34" charset="-120"/>
              </a:rPr>
              <a:t>Who exactly is “the team”? Which decisions — renewal, sourcing, thesis, board prep, onboarding? Cost of a wrong answer per decision. What's the workaround today.</a:t>
            </a:r>
            <a:endParaRPr lang="en-US" sz="1100" dirty="0"/>
          </a:p>
        </p:txBody>
      </p:sp>
      <p:sp>
        <p:nvSpPr>
          <p:cNvPr id="8" name="Shape 6"/>
          <p:cNvSpPr/>
          <p:nvPr/>
        </p:nvSpPr>
        <p:spPr>
          <a:xfrm>
            <a:off x="6278728" y="1417320"/>
            <a:ext cx="5090008" cy="2286000"/>
          </a:xfrm>
          <a:prstGeom prst="roundRect">
            <a:avLst>
              <a:gd name="adj" fmla="val 2400"/>
            </a:avLst>
          </a:prstGeom>
          <a:solidFill>
            <a:srgbClr val="FCFAF8"/>
          </a:solidFill>
          <a:ln w="12700">
            <a:solidFill>
              <a:srgbClr val="F0D9CF"/>
            </a:solidFill>
            <a:prstDash val="solid"/>
          </a:ln>
        </p:spPr>
      </p:sp>
      <p:sp>
        <p:nvSpPr>
          <p:cNvPr id="9" name="Text 7"/>
          <p:cNvSpPr txBox="1"/>
          <p:nvPr/>
        </p:nvSpPr>
        <p:spPr>
          <a:xfrm>
            <a:off x="6534760" y="1618488"/>
            <a:ext cx="4577944" cy="365760"/>
          </a:xfrm>
          <a:prstGeom prst="rect">
            <a:avLst/>
          </a:prstGeom>
          <a:noFill/>
          <a:ln/>
        </p:spPr>
        <p:txBody>
          <a:bodyPr wrap="square" lIns="0" tIns="0" rIns="0" bIns="0" rtlCol="0" anchor="ctr"/>
          <a:lstStyle/>
          <a:p>
            <a:pPr indent="0" marL="0">
              <a:buNone/>
            </a:pPr>
            <a:r>
              <a:rPr lang="en-US" sz="1400" b="1" dirty="0">
                <a:solidFill>
                  <a:srgbClr val="A83218"/>
                </a:solidFill>
                <a:latin typeface="Arial" pitchFamily="34" charset="0"/>
                <a:ea typeface="Arial" pitchFamily="34" charset="-122"/>
                <a:cs typeface="Arial" pitchFamily="34" charset="-120"/>
              </a:rPr>
              <a:t>The content</a:t>
            </a:r>
            <a:endParaRPr lang="en-US" sz="1400" dirty="0"/>
          </a:p>
        </p:txBody>
      </p:sp>
      <p:sp>
        <p:nvSpPr>
          <p:cNvPr id="10" name="Text 8"/>
          <p:cNvSpPr txBox="1"/>
          <p:nvPr/>
        </p:nvSpPr>
        <p:spPr>
          <a:xfrm>
            <a:off x="6534760" y="2039112"/>
            <a:ext cx="4577944" cy="1463040"/>
          </a:xfrm>
          <a:prstGeom prst="rect">
            <a:avLst/>
          </a:prstGeom>
          <a:noFill/>
          <a:ln/>
        </p:spPr>
        <p:txBody>
          <a:bodyPr wrap="square" lIns="0" tIns="0" rIns="0" bIns="0" rtlCol="0" anchor="ctr"/>
          <a:lstStyle/>
          <a:p>
            <a:pPr indent="0" marL="0">
              <a:lnSpc>
                <a:spcPct val="124000"/>
              </a:lnSpc>
              <a:buNone/>
            </a:pPr>
            <a:r>
              <a:rPr lang="en-US" sz="1100" dirty="0">
                <a:solidFill>
                  <a:srgbClr val="3D352F"/>
                </a:solidFill>
                <a:latin typeface="Arial" pitchFamily="34" charset="0"/>
                <a:ea typeface="Arial" pitchFamily="34" charset="-122"/>
                <a:cs typeface="Arial" pitchFamily="34" charset="-120"/>
              </a:rPr>
              <a:t>Volume and formats. Duplication and versioning. Sensitive material: participant PII, candid assessments, board and comp. Consistency over 5 years. Spanish-language reports.</a:t>
            </a:r>
            <a:endParaRPr lang="en-US" sz="1100" dirty="0"/>
          </a:p>
        </p:txBody>
      </p:sp>
      <p:sp>
        <p:nvSpPr>
          <p:cNvPr id="11" name="Shape 9"/>
          <p:cNvSpPr/>
          <p:nvPr/>
        </p:nvSpPr>
        <p:spPr>
          <a:xfrm>
            <a:off x="822960" y="4023360"/>
            <a:ext cx="5090008" cy="2286000"/>
          </a:xfrm>
          <a:prstGeom prst="roundRect">
            <a:avLst>
              <a:gd name="adj" fmla="val 2400"/>
            </a:avLst>
          </a:prstGeom>
          <a:solidFill>
            <a:srgbClr val="FCFAF8"/>
          </a:solidFill>
          <a:ln w="12700">
            <a:solidFill>
              <a:srgbClr val="F0D9CF"/>
            </a:solidFill>
            <a:prstDash val="solid"/>
          </a:ln>
        </p:spPr>
      </p:sp>
      <p:sp>
        <p:nvSpPr>
          <p:cNvPr id="12" name="Text 10"/>
          <p:cNvSpPr txBox="1"/>
          <p:nvPr/>
        </p:nvSpPr>
        <p:spPr>
          <a:xfrm>
            <a:off x="1078992" y="4224528"/>
            <a:ext cx="4577944" cy="365760"/>
          </a:xfrm>
          <a:prstGeom prst="rect">
            <a:avLst/>
          </a:prstGeom>
          <a:noFill/>
          <a:ln/>
        </p:spPr>
        <p:txBody>
          <a:bodyPr wrap="square" lIns="0" tIns="0" rIns="0" bIns="0" rtlCol="0" anchor="ctr"/>
          <a:lstStyle/>
          <a:p>
            <a:pPr indent="0" marL="0">
              <a:buNone/>
            </a:pPr>
            <a:r>
              <a:rPr lang="en-US" sz="1400" b="1" dirty="0">
                <a:solidFill>
                  <a:srgbClr val="A83218"/>
                </a:solidFill>
                <a:latin typeface="Arial" pitchFamily="34" charset="0"/>
                <a:ea typeface="Arial" pitchFamily="34" charset="-122"/>
                <a:cs typeface="Arial" pitchFamily="34" charset="-120"/>
              </a:rPr>
              <a:t>Access &amp; permissions</a:t>
            </a:r>
            <a:endParaRPr lang="en-US" sz="1400" dirty="0"/>
          </a:p>
        </p:txBody>
      </p:sp>
      <p:sp>
        <p:nvSpPr>
          <p:cNvPr id="13" name="Text 11"/>
          <p:cNvSpPr txBox="1"/>
          <p:nvPr/>
        </p:nvSpPr>
        <p:spPr>
          <a:xfrm>
            <a:off x="1078992" y="4645152"/>
            <a:ext cx="4577944" cy="1463040"/>
          </a:xfrm>
          <a:prstGeom prst="rect">
            <a:avLst/>
          </a:prstGeom>
          <a:noFill/>
          <a:ln/>
        </p:spPr>
        <p:txBody>
          <a:bodyPr wrap="square" lIns="0" tIns="0" rIns="0" bIns="0" rtlCol="0" anchor="ctr"/>
          <a:lstStyle/>
          <a:p>
            <a:pPr indent="0" marL="0">
              <a:lnSpc>
                <a:spcPct val="124000"/>
              </a:lnSpc>
              <a:buNone/>
            </a:pPr>
            <a:r>
              <a:rPr lang="en-US" sz="1100" dirty="0">
                <a:solidFill>
                  <a:srgbClr val="3D352F"/>
                </a:solidFill>
                <a:latin typeface="Arial" pitchFamily="34" charset="0"/>
                <a:ea typeface="Arial" pitchFamily="34" charset="-122"/>
                <a:cs typeface="Arial" pitchFamily="34" charset="-120"/>
              </a:rPr>
              <a:t>Per system: Shared Drives vs. My Drive; GivingData API or export; Airtable scope; Zoom retention and privacy. SSO. Grant-agreement and co-funder data-use terms. Who signs off.</a:t>
            </a:r>
            <a:endParaRPr lang="en-US" sz="1100" dirty="0"/>
          </a:p>
        </p:txBody>
      </p:sp>
      <p:sp>
        <p:nvSpPr>
          <p:cNvPr id="14" name="Shape 12"/>
          <p:cNvSpPr/>
          <p:nvPr/>
        </p:nvSpPr>
        <p:spPr>
          <a:xfrm>
            <a:off x="6278728" y="4023360"/>
            <a:ext cx="5090008" cy="2286000"/>
          </a:xfrm>
          <a:prstGeom prst="roundRect">
            <a:avLst>
              <a:gd name="adj" fmla="val 2400"/>
            </a:avLst>
          </a:prstGeom>
          <a:solidFill>
            <a:srgbClr val="FCFAF8"/>
          </a:solidFill>
          <a:ln w="12700">
            <a:solidFill>
              <a:srgbClr val="F0D9CF"/>
            </a:solidFill>
            <a:prstDash val="solid"/>
          </a:ln>
        </p:spPr>
      </p:sp>
      <p:sp>
        <p:nvSpPr>
          <p:cNvPr id="15" name="Text 13"/>
          <p:cNvSpPr txBox="1"/>
          <p:nvPr/>
        </p:nvSpPr>
        <p:spPr>
          <a:xfrm>
            <a:off x="6534760" y="4224528"/>
            <a:ext cx="4577944" cy="365760"/>
          </a:xfrm>
          <a:prstGeom prst="rect">
            <a:avLst/>
          </a:prstGeom>
          <a:noFill/>
          <a:ln/>
        </p:spPr>
        <p:txBody>
          <a:bodyPr wrap="square" lIns="0" tIns="0" rIns="0" bIns="0" rtlCol="0" anchor="ctr"/>
          <a:lstStyle/>
          <a:p>
            <a:pPr indent="0" marL="0">
              <a:buNone/>
            </a:pPr>
            <a:r>
              <a:rPr lang="en-US" sz="1400" b="1" dirty="0">
                <a:solidFill>
                  <a:srgbClr val="A83218"/>
                </a:solidFill>
                <a:latin typeface="Arial" pitchFamily="34" charset="0"/>
                <a:ea typeface="Arial" pitchFamily="34" charset="-122"/>
                <a:cs typeface="Arial" pitchFamily="34" charset="-120"/>
              </a:rPr>
              <a:t>What “good” means</a:t>
            </a:r>
            <a:endParaRPr lang="en-US" sz="1400" dirty="0"/>
          </a:p>
        </p:txBody>
      </p:sp>
      <p:sp>
        <p:nvSpPr>
          <p:cNvPr id="16" name="Text 14"/>
          <p:cNvSpPr txBox="1"/>
          <p:nvPr/>
        </p:nvSpPr>
        <p:spPr>
          <a:xfrm>
            <a:off x="6534760" y="4645152"/>
            <a:ext cx="4577944" cy="1463040"/>
          </a:xfrm>
          <a:prstGeom prst="rect">
            <a:avLst/>
          </a:prstGeom>
          <a:noFill/>
          <a:ln/>
        </p:spPr>
        <p:txBody>
          <a:bodyPr wrap="square" lIns="0" tIns="0" rIns="0" bIns="0" rtlCol="0" anchor="ctr"/>
          <a:lstStyle/>
          <a:p>
            <a:pPr indent="0" marL="0">
              <a:lnSpc>
                <a:spcPct val="124000"/>
              </a:lnSpc>
              <a:buNone/>
            </a:pPr>
            <a:r>
              <a:rPr lang="en-US" sz="1100" dirty="0">
                <a:solidFill>
                  <a:srgbClr val="3D352F"/>
                </a:solidFill>
                <a:latin typeface="Arial" pitchFamily="34" charset="0"/>
                <a:ea typeface="Arial" pitchFamily="34" charset="-122"/>
                <a:cs typeface="Arial" pitchFamily="34" charset="-120"/>
              </a:rPr>
              <a:t>The one recurring task that should go from hours to minutes. The 6-month success metric. And the failure that would end adoption — one bad answer in front of a grantee or the board.</a:t>
            </a:r>
            <a:endParaRPr lang="en-US" sz="1100" dirty="0"/>
          </a:p>
        </p:txBody>
      </p:sp>
      <p:sp>
        <p:nvSpPr>
          <p:cNvPr id="17" name="Text 15"/>
          <p:cNvSpPr txBox="1"/>
          <p:nvPr/>
        </p:nvSpPr>
        <p:spPr>
          <a:xfrm>
            <a:off x="822960" y="6172200"/>
            <a:ext cx="10515600" cy="457200"/>
          </a:xfrm>
          <a:prstGeom prst="rect">
            <a:avLst/>
          </a:prstGeom>
          <a:noFill/>
          <a:ln/>
        </p:spPr>
        <p:txBody>
          <a:bodyPr wrap="square" lIns="0" tIns="0" rIns="0" bIns="0" rtlCol="0" anchor="ctr"/>
          <a:lstStyle/>
          <a:p>
            <a:pPr indent="0" marL="0">
              <a:buNone/>
            </a:pPr>
            <a:r>
              <a:rPr lang="en-US" sz="1100" i="1" dirty="0">
                <a:solidFill>
                  <a:srgbClr val="7A716A"/>
                </a:solidFill>
                <a:latin typeface="Arial" pitchFamily="34" charset="0"/>
                <a:ea typeface="Arial" pitchFamily="34" charset="-122"/>
                <a:cs typeface="Arial" pitchFamily="34" charset="-120"/>
              </a:rPr>
              <a:t>Week-one output: a field-level inventory of the four systems, an agreed v1 corpus, a 50-question gold set, and a named owner who signs off on the access model.</a:t>
            </a:r>
            <a:endParaRPr lang="en-US" sz="1100" dirty="0"/>
          </a:p>
        </p:txBody>
      </p:sp>
      <p:sp>
        <p:nvSpPr>
          <p:cNvPr id="18" name="Text 16"/>
          <p:cNvSpPr txBox="1"/>
          <p:nvPr/>
        </p:nvSpPr>
        <p:spPr>
          <a:xfrm>
            <a:off x="11551615" y="6355080"/>
            <a:ext cx="365760" cy="274320"/>
          </a:xfrm>
          <a:prstGeom prst="rect">
            <a:avLst/>
          </a:prstGeom>
          <a:noFill/>
          <a:ln/>
        </p:spPr>
        <p:txBody>
          <a:bodyPr wrap="square" lIns="0" tIns="0" rIns="0" bIns="0" rtlCol="0" anchor="ctr"/>
          <a:lstStyle/>
          <a:p>
            <a:pPr algn="r" indent="0" marL="0">
              <a:buNone/>
            </a:pPr>
            <a:r>
              <a:rPr lang="en-US" sz="900" dirty="0">
                <a:solidFill>
                  <a:srgbClr val="7A716A"/>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566928"/>
            <a:ext cx="384048" cy="384048"/>
          </a:xfrm>
          <a:prstGeom prst="ellipse">
            <a:avLst/>
          </a:prstGeom>
          <a:solidFill>
            <a:srgbClr val="DF4329"/>
          </a:solidFill>
          <a:ln/>
        </p:spPr>
      </p:sp>
      <p:sp>
        <p:nvSpPr>
          <p:cNvPr id="3" name="Text 1"/>
          <p:cNvSpPr txBox="1"/>
          <p:nvPr/>
        </p:nvSpPr>
        <p:spPr>
          <a:xfrm>
            <a:off x="822960" y="557784"/>
            <a:ext cx="38404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4" name="Text 2"/>
          <p:cNvSpPr txBox="1"/>
          <p:nvPr/>
        </p:nvSpPr>
        <p:spPr>
          <a:xfrm>
            <a:off x="1371600" y="548640"/>
            <a:ext cx="10058400" cy="502920"/>
          </a:xfrm>
          <a:prstGeom prst="rect">
            <a:avLst/>
          </a:prstGeom>
          <a:noFill/>
          <a:ln/>
        </p:spPr>
        <p:txBody>
          <a:bodyPr wrap="square" lIns="0" tIns="0" rIns="0" bIns="0" rtlCol="0" anchor="ctr"/>
          <a:lstStyle/>
          <a:p>
            <a:pPr indent="0" marL="0">
              <a:buNone/>
            </a:pPr>
            <a:r>
              <a:rPr lang="en-US" sz="2100" b="1" dirty="0">
                <a:solidFill>
                  <a:srgbClr val="1E1712"/>
                </a:solidFill>
                <a:latin typeface="Arial" pitchFamily="34" charset="0"/>
                <a:ea typeface="Arial" pitchFamily="34" charset="-122"/>
                <a:cs typeface="Arial" pitchFamily="34" charset="-120"/>
              </a:rPr>
              <a:t>The system — end to end</a:t>
            </a:r>
            <a:endParaRPr lang="en-US" sz="2100" dirty="0"/>
          </a:p>
        </p:txBody>
      </p:sp>
      <p:sp>
        <p:nvSpPr>
          <p:cNvPr id="5" name="Shape 3"/>
          <p:cNvSpPr/>
          <p:nvPr/>
        </p:nvSpPr>
        <p:spPr>
          <a:xfrm>
            <a:off x="822960" y="1463040"/>
            <a:ext cx="310896" cy="310896"/>
          </a:xfrm>
          <a:prstGeom prst="roundRect">
            <a:avLst>
              <a:gd name="adj" fmla="val 14706"/>
            </a:avLst>
          </a:prstGeom>
          <a:solidFill>
            <a:srgbClr val="E8A33D"/>
          </a:solidFill>
          <a:ln/>
        </p:spPr>
      </p:sp>
      <p:sp>
        <p:nvSpPr>
          <p:cNvPr id="6" name="Text 4"/>
          <p:cNvSpPr txBox="1"/>
          <p:nvPr/>
        </p:nvSpPr>
        <p:spPr>
          <a:xfrm>
            <a:off x="1325880" y="1426464"/>
            <a:ext cx="2651760" cy="457200"/>
          </a:xfrm>
          <a:prstGeom prst="rect">
            <a:avLst/>
          </a:prstGeom>
          <a:noFill/>
          <a:ln/>
        </p:spPr>
        <p:txBody>
          <a:bodyPr wrap="square" lIns="0" tIns="0" rIns="0" bIns="0" rtlCol="0" anchor="ctr"/>
          <a:lstStyle/>
          <a:p>
            <a:pPr indent="0" marL="0">
              <a:buNone/>
            </a:pPr>
            <a:r>
              <a:rPr lang="en-US" sz="1350" b="1" dirty="0">
                <a:solidFill>
                  <a:srgbClr val="1E1712"/>
                </a:solidFill>
                <a:latin typeface="Arial" pitchFamily="34" charset="0"/>
                <a:ea typeface="Arial" pitchFamily="34" charset="-122"/>
                <a:cs typeface="Arial" pitchFamily="34" charset="-120"/>
              </a:rPr>
              <a:t>Connect</a:t>
            </a:r>
            <a:endParaRPr lang="en-US" sz="1350" dirty="0"/>
          </a:p>
        </p:txBody>
      </p:sp>
      <p:sp>
        <p:nvSpPr>
          <p:cNvPr id="7" name="Text 5"/>
          <p:cNvSpPr txBox="1"/>
          <p:nvPr/>
        </p:nvSpPr>
        <p:spPr>
          <a:xfrm>
            <a:off x="4023360" y="1408176"/>
            <a:ext cx="7315200" cy="822960"/>
          </a:xfrm>
          <a:prstGeom prst="rect">
            <a:avLst/>
          </a:prstGeom>
          <a:noFill/>
          <a:ln/>
        </p:spPr>
        <p:txBody>
          <a:bodyPr wrap="square" lIns="0" tIns="0" rIns="0" bIns="0" rtlCol="0" anchor="ctr"/>
          <a:lstStyle/>
          <a:p>
            <a:pPr indent="0" marL="0">
              <a:lnSpc>
                <a:spcPct val="118000"/>
              </a:lnSpc>
              <a:buNone/>
            </a:pPr>
            <a:r>
              <a:rPr lang="en-US" sz="1050" dirty="0">
                <a:solidFill>
                  <a:srgbClr val="3D352F"/>
                </a:solidFill>
                <a:latin typeface="Arial" pitchFamily="34" charset="0"/>
                <a:ea typeface="Arial" pitchFamily="34" charset="-122"/>
                <a:cs typeface="Arial" pitchFamily="34" charset="-120"/>
              </a:rPr>
              <a:t>One adapter contract. Mock and real Drive / GivingData / Airtable connectors are interchangeable. Incremental sync.</a:t>
            </a:r>
            <a:endParaRPr lang="en-US" sz="1050" dirty="0"/>
          </a:p>
        </p:txBody>
      </p:sp>
      <p:sp>
        <p:nvSpPr>
          <p:cNvPr id="8" name="Shape 6"/>
          <p:cNvSpPr/>
          <p:nvPr/>
        </p:nvSpPr>
        <p:spPr>
          <a:xfrm>
            <a:off x="822960" y="2286000"/>
            <a:ext cx="310896" cy="310896"/>
          </a:xfrm>
          <a:prstGeom prst="roundRect">
            <a:avLst>
              <a:gd name="adj" fmla="val 14706"/>
            </a:avLst>
          </a:prstGeom>
          <a:solidFill>
            <a:srgbClr val="E8A33D"/>
          </a:solidFill>
          <a:ln/>
        </p:spPr>
      </p:sp>
      <p:sp>
        <p:nvSpPr>
          <p:cNvPr id="9" name="Text 7"/>
          <p:cNvSpPr txBox="1"/>
          <p:nvPr/>
        </p:nvSpPr>
        <p:spPr>
          <a:xfrm>
            <a:off x="1325880" y="2249424"/>
            <a:ext cx="2651760" cy="457200"/>
          </a:xfrm>
          <a:prstGeom prst="rect">
            <a:avLst/>
          </a:prstGeom>
          <a:noFill/>
          <a:ln/>
        </p:spPr>
        <p:txBody>
          <a:bodyPr wrap="square" lIns="0" tIns="0" rIns="0" bIns="0" rtlCol="0" anchor="ctr"/>
          <a:lstStyle/>
          <a:p>
            <a:pPr indent="0" marL="0">
              <a:buNone/>
            </a:pPr>
            <a:r>
              <a:rPr lang="en-US" sz="1350" b="1" dirty="0">
                <a:solidFill>
                  <a:srgbClr val="1E1712"/>
                </a:solidFill>
                <a:latin typeface="Arial" pitchFamily="34" charset="0"/>
                <a:ea typeface="Arial" pitchFamily="34" charset="-122"/>
                <a:cs typeface="Arial" pitchFamily="34" charset="-120"/>
              </a:rPr>
              <a:t>Clean &amp; de-dupe</a:t>
            </a:r>
            <a:endParaRPr lang="en-US" sz="1350" dirty="0"/>
          </a:p>
        </p:txBody>
      </p:sp>
      <p:sp>
        <p:nvSpPr>
          <p:cNvPr id="10" name="Text 8"/>
          <p:cNvSpPr txBox="1"/>
          <p:nvPr/>
        </p:nvSpPr>
        <p:spPr>
          <a:xfrm>
            <a:off x="4023360" y="2231136"/>
            <a:ext cx="7315200" cy="822960"/>
          </a:xfrm>
          <a:prstGeom prst="rect">
            <a:avLst/>
          </a:prstGeom>
          <a:noFill/>
          <a:ln/>
        </p:spPr>
        <p:txBody>
          <a:bodyPr wrap="square" lIns="0" tIns="0" rIns="0" bIns="0" rtlCol="0" anchor="ctr"/>
          <a:lstStyle/>
          <a:p>
            <a:pPr indent="0" marL="0">
              <a:lnSpc>
                <a:spcPct val="118000"/>
              </a:lnSpc>
              <a:buNone/>
            </a:pPr>
            <a:r>
              <a:rPr lang="en-US" sz="1050" dirty="0">
                <a:solidFill>
                  <a:srgbClr val="3D352F"/>
                </a:solidFill>
                <a:latin typeface="Arial" pitchFamily="34" charset="0"/>
                <a:ea typeface="Arial" pitchFamily="34" charset="-122"/>
                <a:cs typeface="Arial" pitchFamily="34" charset="-120"/>
              </a:rPr>
              <a:t>OCR-confidence quarantine, field normalization, exact + near + cross-system de-duplication, reconcile against the grant spine → visible gap report.</a:t>
            </a:r>
            <a:endParaRPr lang="en-US" sz="1050" dirty="0"/>
          </a:p>
        </p:txBody>
      </p:sp>
      <p:sp>
        <p:nvSpPr>
          <p:cNvPr id="11" name="Shape 9"/>
          <p:cNvSpPr/>
          <p:nvPr/>
        </p:nvSpPr>
        <p:spPr>
          <a:xfrm>
            <a:off x="822960" y="3108960"/>
            <a:ext cx="310896" cy="310896"/>
          </a:xfrm>
          <a:prstGeom prst="roundRect">
            <a:avLst>
              <a:gd name="adj" fmla="val 14706"/>
            </a:avLst>
          </a:prstGeom>
          <a:solidFill>
            <a:srgbClr val="E8A33D"/>
          </a:solidFill>
          <a:ln/>
        </p:spPr>
      </p:sp>
      <p:sp>
        <p:nvSpPr>
          <p:cNvPr id="12" name="Text 10"/>
          <p:cNvSpPr txBox="1"/>
          <p:nvPr/>
        </p:nvSpPr>
        <p:spPr>
          <a:xfrm>
            <a:off x="1325880" y="3072384"/>
            <a:ext cx="2651760" cy="457200"/>
          </a:xfrm>
          <a:prstGeom prst="rect">
            <a:avLst/>
          </a:prstGeom>
          <a:noFill/>
          <a:ln/>
        </p:spPr>
        <p:txBody>
          <a:bodyPr wrap="square" lIns="0" tIns="0" rIns="0" bIns="0" rtlCol="0" anchor="ctr"/>
          <a:lstStyle/>
          <a:p>
            <a:pPr indent="0" marL="0">
              <a:buNone/>
            </a:pPr>
            <a:r>
              <a:rPr lang="en-US" sz="1350" b="1" dirty="0">
                <a:solidFill>
                  <a:srgbClr val="1E1712"/>
                </a:solidFill>
                <a:latin typeface="Arial" pitchFamily="34" charset="0"/>
                <a:ea typeface="Arial" pitchFamily="34" charset="-122"/>
                <a:cs typeface="Arial" pitchFamily="34" charset="-120"/>
              </a:rPr>
              <a:t>Resolve</a:t>
            </a:r>
            <a:endParaRPr lang="en-US" sz="1350" dirty="0"/>
          </a:p>
        </p:txBody>
      </p:sp>
      <p:sp>
        <p:nvSpPr>
          <p:cNvPr id="13" name="Text 11"/>
          <p:cNvSpPr txBox="1"/>
          <p:nvPr/>
        </p:nvSpPr>
        <p:spPr>
          <a:xfrm>
            <a:off x="4023360" y="3054096"/>
            <a:ext cx="7315200" cy="822960"/>
          </a:xfrm>
          <a:prstGeom prst="rect">
            <a:avLst/>
          </a:prstGeom>
          <a:noFill/>
          <a:ln/>
        </p:spPr>
        <p:txBody>
          <a:bodyPr wrap="square" lIns="0" tIns="0" rIns="0" bIns="0" rtlCol="0" anchor="ctr"/>
          <a:lstStyle/>
          <a:p>
            <a:pPr indent="0" marL="0">
              <a:lnSpc>
                <a:spcPct val="118000"/>
              </a:lnSpc>
              <a:buNone/>
            </a:pPr>
            <a:r>
              <a:rPr lang="en-US" sz="1050" dirty="0">
                <a:solidFill>
                  <a:srgbClr val="3D352F"/>
                </a:solidFill>
                <a:latin typeface="Arial" pitchFamily="34" charset="0"/>
                <a:ea typeface="Arial" pitchFamily="34" charset="-122"/>
                <a:cs typeface="Arial" pitchFamily="34" charset="-120"/>
              </a:rPr>
              <a:t>Everything joined to canonical Grant / Org / Fund / Person. Low-confidence merges to a review queue.</a:t>
            </a:r>
            <a:endParaRPr lang="en-US" sz="1050" dirty="0"/>
          </a:p>
        </p:txBody>
      </p:sp>
      <p:sp>
        <p:nvSpPr>
          <p:cNvPr id="14" name="Shape 12"/>
          <p:cNvSpPr/>
          <p:nvPr/>
        </p:nvSpPr>
        <p:spPr>
          <a:xfrm>
            <a:off x="822960" y="3931920"/>
            <a:ext cx="310896" cy="310896"/>
          </a:xfrm>
          <a:prstGeom prst="roundRect">
            <a:avLst>
              <a:gd name="adj" fmla="val 14706"/>
            </a:avLst>
          </a:prstGeom>
          <a:solidFill>
            <a:srgbClr val="DF4329"/>
          </a:solidFill>
          <a:ln/>
        </p:spPr>
      </p:sp>
      <p:sp>
        <p:nvSpPr>
          <p:cNvPr id="15" name="Text 13"/>
          <p:cNvSpPr txBox="1"/>
          <p:nvPr/>
        </p:nvSpPr>
        <p:spPr>
          <a:xfrm>
            <a:off x="1325880" y="3895344"/>
            <a:ext cx="2651760" cy="457200"/>
          </a:xfrm>
          <a:prstGeom prst="rect">
            <a:avLst/>
          </a:prstGeom>
          <a:noFill/>
          <a:ln/>
        </p:spPr>
        <p:txBody>
          <a:bodyPr wrap="square" lIns="0" tIns="0" rIns="0" bIns="0" rtlCol="0" anchor="ctr"/>
          <a:lstStyle/>
          <a:p>
            <a:pPr indent="0" marL="0">
              <a:buNone/>
            </a:pPr>
            <a:r>
              <a:rPr lang="en-US" sz="1350" b="1" dirty="0">
                <a:solidFill>
                  <a:srgbClr val="1E1712"/>
                </a:solidFill>
                <a:latin typeface="Arial" pitchFamily="34" charset="0"/>
                <a:ea typeface="Arial" pitchFamily="34" charset="-122"/>
                <a:cs typeface="Arial" pitchFamily="34" charset="-120"/>
              </a:rPr>
              <a:t>Retrieve — permissioned</a:t>
            </a:r>
            <a:endParaRPr lang="en-US" sz="1350" dirty="0"/>
          </a:p>
        </p:txBody>
      </p:sp>
      <p:sp>
        <p:nvSpPr>
          <p:cNvPr id="16" name="Text 14"/>
          <p:cNvSpPr txBox="1"/>
          <p:nvPr/>
        </p:nvSpPr>
        <p:spPr>
          <a:xfrm>
            <a:off x="4023360" y="3877056"/>
            <a:ext cx="7315200" cy="822960"/>
          </a:xfrm>
          <a:prstGeom prst="rect">
            <a:avLst/>
          </a:prstGeom>
          <a:noFill/>
          <a:ln/>
        </p:spPr>
        <p:txBody>
          <a:bodyPr wrap="square" lIns="0" tIns="0" rIns="0" bIns="0" rtlCol="0" anchor="ctr"/>
          <a:lstStyle/>
          <a:p>
            <a:pPr indent="0" marL="0">
              <a:lnSpc>
                <a:spcPct val="118000"/>
              </a:lnSpc>
              <a:buNone/>
            </a:pPr>
            <a:r>
              <a:rPr lang="en-US" sz="1050" dirty="0">
                <a:solidFill>
                  <a:srgbClr val="3D352F"/>
                </a:solidFill>
                <a:latin typeface="Arial" pitchFamily="34" charset="0"/>
                <a:ea typeface="Arial" pitchFamily="34" charset="-122"/>
                <a:cs typeface="Arial" pitchFamily="34" charset="-120"/>
              </a:rPr>
              <a:t>Hybrid keyword + semantic search, then filtered to what the asker may see. This filter is the security boundary — it runs in code and as a SQL WHERE clause. Restricted tier is never indexed.</a:t>
            </a:r>
            <a:endParaRPr lang="en-US" sz="1050" dirty="0"/>
          </a:p>
        </p:txBody>
      </p:sp>
      <p:sp>
        <p:nvSpPr>
          <p:cNvPr id="17" name="Shape 15"/>
          <p:cNvSpPr/>
          <p:nvPr/>
        </p:nvSpPr>
        <p:spPr>
          <a:xfrm>
            <a:off x="822960" y="4754880"/>
            <a:ext cx="310896" cy="310896"/>
          </a:xfrm>
          <a:prstGeom prst="roundRect">
            <a:avLst>
              <a:gd name="adj" fmla="val 14706"/>
            </a:avLst>
          </a:prstGeom>
          <a:solidFill>
            <a:srgbClr val="E8A33D"/>
          </a:solidFill>
          <a:ln/>
        </p:spPr>
      </p:sp>
      <p:sp>
        <p:nvSpPr>
          <p:cNvPr id="18" name="Text 16"/>
          <p:cNvSpPr txBox="1"/>
          <p:nvPr/>
        </p:nvSpPr>
        <p:spPr>
          <a:xfrm>
            <a:off x="1325880" y="4718304"/>
            <a:ext cx="2651760" cy="457200"/>
          </a:xfrm>
          <a:prstGeom prst="rect">
            <a:avLst/>
          </a:prstGeom>
          <a:noFill/>
          <a:ln/>
        </p:spPr>
        <p:txBody>
          <a:bodyPr wrap="square" lIns="0" tIns="0" rIns="0" bIns="0" rtlCol="0" anchor="ctr"/>
          <a:lstStyle/>
          <a:p>
            <a:pPr indent="0" marL="0">
              <a:buNone/>
            </a:pPr>
            <a:r>
              <a:rPr lang="en-US" sz="1350" b="1" dirty="0">
                <a:solidFill>
                  <a:srgbClr val="1E1712"/>
                </a:solidFill>
                <a:latin typeface="Arial" pitchFamily="34" charset="0"/>
                <a:ea typeface="Arial" pitchFamily="34" charset="-122"/>
                <a:cs typeface="Arial" pitchFamily="34" charset="-120"/>
              </a:rPr>
              <a:t>Answer with citations</a:t>
            </a:r>
            <a:endParaRPr lang="en-US" sz="1350" dirty="0"/>
          </a:p>
        </p:txBody>
      </p:sp>
      <p:sp>
        <p:nvSpPr>
          <p:cNvPr id="19" name="Text 17"/>
          <p:cNvSpPr txBox="1"/>
          <p:nvPr/>
        </p:nvSpPr>
        <p:spPr>
          <a:xfrm>
            <a:off x="4023360" y="4700016"/>
            <a:ext cx="7315200" cy="822960"/>
          </a:xfrm>
          <a:prstGeom prst="rect">
            <a:avLst/>
          </a:prstGeom>
          <a:noFill/>
          <a:ln/>
        </p:spPr>
        <p:txBody>
          <a:bodyPr wrap="square" lIns="0" tIns="0" rIns="0" bIns="0" rtlCol="0" anchor="ctr"/>
          <a:lstStyle/>
          <a:p>
            <a:pPr indent="0" marL="0">
              <a:lnSpc>
                <a:spcPct val="118000"/>
              </a:lnSpc>
              <a:buNone/>
            </a:pPr>
            <a:r>
              <a:rPr lang="en-US" sz="1050" dirty="0">
                <a:solidFill>
                  <a:srgbClr val="3D352F"/>
                </a:solidFill>
                <a:latin typeface="Arial" pitchFamily="34" charset="0"/>
                <a:ea typeface="Arial" pitchFamily="34" charset="-122"/>
                <a:cs typeface="Arial" pitchFamily="34" charset="-120"/>
              </a:rPr>
              <a:t>Grounded in retrieved passages; every claim deep-links to the exact spot. States what it searched and what it could not. Conflicts shown, not merged. Refuses when unsupported.</a:t>
            </a:r>
            <a:endParaRPr lang="en-US" sz="1050" dirty="0"/>
          </a:p>
        </p:txBody>
      </p:sp>
      <p:sp>
        <p:nvSpPr>
          <p:cNvPr id="20" name="Shape 18"/>
          <p:cNvSpPr/>
          <p:nvPr/>
        </p:nvSpPr>
        <p:spPr>
          <a:xfrm>
            <a:off x="822960" y="5577840"/>
            <a:ext cx="310896" cy="310896"/>
          </a:xfrm>
          <a:prstGeom prst="roundRect">
            <a:avLst>
              <a:gd name="adj" fmla="val 14706"/>
            </a:avLst>
          </a:prstGeom>
          <a:solidFill>
            <a:srgbClr val="E8A33D"/>
          </a:solidFill>
          <a:ln/>
        </p:spPr>
      </p:sp>
      <p:sp>
        <p:nvSpPr>
          <p:cNvPr id="21" name="Text 19"/>
          <p:cNvSpPr txBox="1"/>
          <p:nvPr/>
        </p:nvSpPr>
        <p:spPr>
          <a:xfrm>
            <a:off x="1325880" y="5541264"/>
            <a:ext cx="2651760" cy="457200"/>
          </a:xfrm>
          <a:prstGeom prst="rect">
            <a:avLst/>
          </a:prstGeom>
          <a:noFill/>
          <a:ln/>
        </p:spPr>
        <p:txBody>
          <a:bodyPr wrap="square" lIns="0" tIns="0" rIns="0" bIns="0" rtlCol="0" anchor="ctr"/>
          <a:lstStyle/>
          <a:p>
            <a:pPr indent="0" marL="0">
              <a:buNone/>
            </a:pPr>
            <a:r>
              <a:rPr lang="en-US" sz="1350" b="1" dirty="0">
                <a:solidFill>
                  <a:srgbClr val="1E1712"/>
                </a:solidFill>
                <a:latin typeface="Arial" pitchFamily="34" charset="0"/>
                <a:ea typeface="Arial" pitchFamily="34" charset="-122"/>
                <a:cs typeface="Arial" pitchFamily="34" charset="-120"/>
              </a:rPr>
              <a:t>Evaluate &amp; improve</a:t>
            </a:r>
            <a:endParaRPr lang="en-US" sz="1350" dirty="0"/>
          </a:p>
        </p:txBody>
      </p:sp>
      <p:sp>
        <p:nvSpPr>
          <p:cNvPr id="22" name="Text 20"/>
          <p:cNvSpPr txBox="1"/>
          <p:nvPr/>
        </p:nvSpPr>
        <p:spPr>
          <a:xfrm>
            <a:off x="4023360" y="5522976"/>
            <a:ext cx="7315200" cy="822960"/>
          </a:xfrm>
          <a:prstGeom prst="rect">
            <a:avLst/>
          </a:prstGeom>
          <a:noFill/>
          <a:ln/>
        </p:spPr>
        <p:txBody>
          <a:bodyPr wrap="square" lIns="0" tIns="0" rIns="0" bIns="0" rtlCol="0" anchor="ctr"/>
          <a:lstStyle/>
          <a:p>
            <a:pPr indent="0" marL="0">
              <a:lnSpc>
                <a:spcPct val="118000"/>
              </a:lnSpc>
              <a:buNone/>
            </a:pPr>
            <a:r>
              <a:rPr lang="en-US" sz="1050" dirty="0">
                <a:solidFill>
                  <a:srgbClr val="3D352F"/>
                </a:solidFill>
                <a:latin typeface="Arial" pitchFamily="34" charset="0"/>
                <a:ea typeface="Arial" pitchFamily="34" charset="-122"/>
                <a:cs typeface="Arial" pitchFamily="34" charset="-120"/>
              </a:rPr>
              <a:t>A 46-case gold set + a 17-case adversarial suite + 166 unit tests + a dependency-advisory check gate every release (npm run ci). Feedback feeds the gold set. Better at retrieving and citing — never at deciding.</a:t>
            </a:r>
            <a:endParaRPr lang="en-US" sz="1050" dirty="0"/>
          </a:p>
        </p:txBody>
      </p:sp>
      <p:sp>
        <p:nvSpPr>
          <p:cNvPr id="23" name="Text 21"/>
          <p:cNvSpPr txBox="1"/>
          <p:nvPr/>
        </p:nvSpPr>
        <p:spPr>
          <a:xfrm>
            <a:off x="11551615" y="6355080"/>
            <a:ext cx="365760" cy="274320"/>
          </a:xfrm>
          <a:prstGeom prst="rect">
            <a:avLst/>
          </a:prstGeom>
          <a:noFill/>
          <a:ln/>
        </p:spPr>
        <p:txBody>
          <a:bodyPr wrap="square" lIns="0" tIns="0" rIns="0" bIns="0" rtlCol="0" anchor="ctr"/>
          <a:lstStyle/>
          <a:p>
            <a:pPr algn="r" indent="0" marL="0">
              <a:buNone/>
            </a:pPr>
            <a:r>
              <a:rPr lang="en-US" sz="900" dirty="0">
                <a:solidFill>
                  <a:srgbClr val="7A716A"/>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566928"/>
            <a:ext cx="384048" cy="384048"/>
          </a:xfrm>
          <a:prstGeom prst="ellipse">
            <a:avLst/>
          </a:prstGeom>
          <a:solidFill>
            <a:srgbClr val="DF4329"/>
          </a:solidFill>
          <a:ln/>
        </p:spPr>
      </p:sp>
      <p:sp>
        <p:nvSpPr>
          <p:cNvPr id="3" name="Text 1"/>
          <p:cNvSpPr txBox="1"/>
          <p:nvPr/>
        </p:nvSpPr>
        <p:spPr>
          <a:xfrm>
            <a:off x="822960" y="557784"/>
            <a:ext cx="38404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4" name="Text 2"/>
          <p:cNvSpPr txBox="1"/>
          <p:nvPr/>
        </p:nvSpPr>
        <p:spPr>
          <a:xfrm>
            <a:off x="1371600" y="548640"/>
            <a:ext cx="10058400" cy="502920"/>
          </a:xfrm>
          <a:prstGeom prst="rect">
            <a:avLst/>
          </a:prstGeom>
          <a:noFill/>
          <a:ln/>
        </p:spPr>
        <p:txBody>
          <a:bodyPr wrap="square" lIns="0" tIns="0" rIns="0" bIns="0" rtlCol="0" anchor="ctr"/>
          <a:lstStyle/>
          <a:p>
            <a:pPr indent="0" marL="0">
              <a:buNone/>
            </a:pPr>
            <a:r>
              <a:rPr lang="en-US" sz="2100" b="1" dirty="0">
                <a:solidFill>
                  <a:srgbClr val="1E1712"/>
                </a:solidFill>
                <a:latin typeface="Arial" pitchFamily="34" charset="0"/>
                <a:ea typeface="Arial" pitchFamily="34" charset="-122"/>
                <a:cs typeface="Arial" pitchFamily="34" charset="-120"/>
              </a:rPr>
              <a:t>What a good answer looks like</a:t>
            </a:r>
            <a:endParaRPr lang="en-US" sz="2100" dirty="0"/>
          </a:p>
        </p:txBody>
      </p:sp>
      <p:sp>
        <p:nvSpPr>
          <p:cNvPr id="5" name="Shape 3"/>
          <p:cNvSpPr/>
          <p:nvPr/>
        </p:nvSpPr>
        <p:spPr>
          <a:xfrm>
            <a:off x="822960" y="1371600"/>
            <a:ext cx="6492240" cy="4754880"/>
          </a:xfrm>
          <a:prstGeom prst="roundRect">
            <a:avLst>
              <a:gd name="adj" fmla="val 1154"/>
            </a:avLst>
          </a:prstGeom>
          <a:solidFill>
            <a:srgbClr val="FCFAF8"/>
          </a:solidFill>
          <a:ln w="12700">
            <a:solidFill>
              <a:srgbClr val="F0D9CF"/>
            </a:solidFill>
            <a:prstDash val="solid"/>
          </a:ln>
        </p:spPr>
      </p:sp>
      <p:sp>
        <p:nvSpPr>
          <p:cNvPr id="6" name="Text 4"/>
          <p:cNvSpPr txBox="1"/>
          <p:nvPr/>
        </p:nvSpPr>
        <p:spPr>
          <a:xfrm>
            <a:off x="1097280" y="1600200"/>
            <a:ext cx="5943600" cy="548640"/>
          </a:xfrm>
          <a:prstGeom prst="rect">
            <a:avLst/>
          </a:prstGeom>
          <a:noFill/>
          <a:ln/>
        </p:spPr>
        <p:txBody>
          <a:bodyPr wrap="square" lIns="0" tIns="0" rIns="0" bIns="0" rtlCol="0" anchor="ctr"/>
          <a:lstStyle/>
          <a:p>
            <a:pPr indent="0" marL="0">
              <a:buNone/>
            </a:pPr>
            <a:r>
              <a:rPr lang="en-US" sz="1250" b="1" dirty="0">
                <a:solidFill>
                  <a:srgbClr val="1E1712"/>
                </a:solidFill>
                <a:latin typeface="Arial" pitchFamily="34" charset="0"/>
                <a:ea typeface="Arial" pitchFamily="34" charset="-122"/>
                <a:cs typeface="Arial" pitchFamily="34" charset="-120"/>
              </a:rPr>
              <a:t>How did Riverbend Care Collective perform against projection, and did the PO flag anything?</a:t>
            </a:r>
            <a:endParaRPr lang="en-US" sz="1250" dirty="0"/>
          </a:p>
        </p:txBody>
      </p:sp>
      <p:sp>
        <p:nvSpPr>
          <p:cNvPr id="7" name="Text 5"/>
          <p:cNvSpPr txBox="1"/>
          <p:nvPr/>
        </p:nvSpPr>
        <p:spPr>
          <a:xfrm>
            <a:off x="1097280" y="2286000"/>
            <a:ext cx="5943600" cy="1463040"/>
          </a:xfrm>
          <a:prstGeom prst="rect">
            <a:avLst/>
          </a:prstGeom>
          <a:noFill/>
          <a:ln/>
        </p:spPr>
        <p:txBody>
          <a:bodyPr wrap="square" lIns="0" tIns="0" rIns="0" bIns="0" rtlCol="0" anchor="ctr"/>
          <a:lstStyle/>
          <a:p>
            <a:pPr indent="0" marL="0">
              <a:lnSpc>
                <a:spcPct val="130000"/>
              </a:lnSpc>
              <a:buNone/>
            </a:pPr>
            <a:r>
              <a:rPr lang="en-US" sz="1100" dirty="0">
                <a:solidFill>
                  <a:srgbClr val="3D352F"/>
                </a:solidFill>
                <a:latin typeface="Arial" pitchFamily="34" charset="0"/>
                <a:ea typeface="Arial" pitchFamily="34" charset="-122"/>
                <a:cs typeface="Arial" pitchFamily="34" charset="-120"/>
              </a:rPr>
              <a:t>Projected 107× / +$9,400 annual per worker </a:t>
            </a:r>
            <a:pPr indent="0" marL="0">
              <a:lnSpc>
                <a:spcPct val="130000"/>
              </a:lnSpc>
              <a:buNone/>
            </a:pPr>
            <a:r>
              <a:rPr lang="en-US" sz="1100" b="1" dirty="0">
                <a:solidFill>
                  <a:srgbClr val="DF4329"/>
                </a:solidFill>
                <a:latin typeface="Arial" pitchFamily="34" charset="0"/>
                <a:ea typeface="Arial" pitchFamily="34" charset="-122"/>
                <a:cs typeface="Arial" pitchFamily="34" charset="-120"/>
              </a:rPr>
              <a:t>[1]</a:t>
            </a:r>
            <a:pPr indent="0" marL="0">
              <a:lnSpc>
                <a:spcPct val="130000"/>
              </a:lnSpc>
              <a:buNone/>
            </a:pPr>
            <a:r>
              <a:rPr lang="en-US" sz="1100" dirty="0">
                <a:solidFill>
                  <a:srgbClr val="3D352F"/>
                </a:solidFill>
                <a:latin typeface="Arial" pitchFamily="34" charset="0"/>
                <a:ea typeface="Arial" pitchFamily="34" charset="-122"/>
                <a:cs typeface="Arial" pitchFamily="34" charset="-120"/>
              </a:rPr>
              <a:t>. Year 1: 2,610 placed — 67% of target </a:t>
            </a:r>
            <a:pPr indent="0" marL="0">
              <a:lnSpc>
                <a:spcPct val="130000"/>
              </a:lnSpc>
              <a:buNone/>
            </a:pPr>
            <a:r>
              <a:rPr lang="en-US" sz="1100" b="1" dirty="0">
                <a:solidFill>
                  <a:srgbClr val="DF4329"/>
                </a:solidFill>
                <a:latin typeface="Arial" pitchFamily="34" charset="0"/>
                <a:ea typeface="Arial" pitchFamily="34" charset="-122"/>
                <a:cs typeface="Arial" pitchFamily="34" charset="-120"/>
              </a:rPr>
              <a:t>[2]</a:t>
            </a:r>
            <a:pPr indent="0" marL="0">
              <a:lnSpc>
                <a:spcPct val="130000"/>
              </a:lnSpc>
              <a:buNone/>
            </a:pPr>
            <a:r>
              <a:rPr lang="en-US" sz="1100" dirty="0">
                <a:solidFill>
                  <a:srgbClr val="3D352F"/>
                </a:solidFill>
                <a:latin typeface="Arial" pitchFamily="34" charset="0"/>
                <a:ea typeface="Arial" pitchFamily="34" charset="-122"/>
                <a:cs typeface="Arial" pitchFamily="34" charset="-120"/>
              </a:rPr>
              <a:t>. Median wage at placement $19.10/hr vs a $16.80 baseline </a:t>
            </a:r>
            <a:pPr indent="0" marL="0">
              <a:lnSpc>
                <a:spcPct val="130000"/>
              </a:lnSpc>
              <a:buNone/>
            </a:pPr>
            <a:r>
              <a:rPr lang="en-US" sz="1100" b="1" dirty="0">
                <a:solidFill>
                  <a:srgbClr val="DF4329"/>
                </a:solidFill>
                <a:latin typeface="Arial" pitchFamily="34" charset="0"/>
                <a:ea typeface="Arial" pitchFamily="34" charset="-122"/>
                <a:cs typeface="Arial" pitchFamily="34" charset="-120"/>
              </a:rPr>
              <a:t>[2]</a:t>
            </a:r>
            <a:pPr indent="0" marL="0">
              <a:lnSpc>
                <a:spcPct val="130000"/>
              </a:lnSpc>
              <a:buNone/>
            </a:pPr>
            <a:r>
              <a:rPr lang="en-US" sz="1100" dirty="0">
                <a:solidFill>
                  <a:srgbClr val="3D352F"/>
                </a:solidFill>
                <a:latin typeface="Arial" pitchFamily="34" charset="0"/>
                <a:ea typeface="Arial" pitchFamily="34" charset="-122"/>
                <a:cs typeface="Arial" pitchFamily="34" charset="-120"/>
              </a:rPr>
              <a:t>. The PO's check-in flags a Q2 reimbursement delay </a:t>
            </a:r>
            <a:pPr indent="0" marL="0">
              <a:lnSpc>
                <a:spcPct val="130000"/>
              </a:lnSpc>
              <a:buNone/>
            </a:pPr>
            <a:r>
              <a:rPr lang="en-US" sz="1100" b="1" dirty="0">
                <a:solidFill>
                  <a:srgbClr val="DF4329"/>
                </a:solidFill>
                <a:latin typeface="Arial" pitchFamily="34" charset="0"/>
                <a:ea typeface="Arial" pitchFamily="34" charset="-122"/>
                <a:cs typeface="Arial" pitchFamily="34" charset="-120"/>
              </a:rPr>
              <a:t>[3]</a:t>
            </a:r>
            <a:pPr indent="0" marL="0">
              <a:lnSpc>
                <a:spcPct val="130000"/>
              </a:lnSpc>
              <a:buNone/>
            </a:pPr>
            <a:r>
              <a:rPr lang="en-US" sz="1100" dirty="0">
                <a:solidFill>
                  <a:srgbClr val="3D352F"/>
                </a:solidFill>
                <a:latin typeface="Arial" pitchFamily="34" charset="0"/>
                <a:ea typeface="Arial" pitchFamily="34" charset="-122"/>
                <a:cs typeface="Arial" pitchFamily="34" charset="-120"/>
              </a:rPr>
              <a:t>.</a:t>
            </a:r>
            <a:endParaRPr lang="en-US" sz="1100" dirty="0"/>
          </a:p>
        </p:txBody>
      </p:sp>
      <p:sp>
        <p:nvSpPr>
          <p:cNvPr id="8" name="Text 6"/>
          <p:cNvSpPr txBox="1"/>
          <p:nvPr/>
        </p:nvSpPr>
        <p:spPr>
          <a:xfrm>
            <a:off x="1097280" y="3611880"/>
            <a:ext cx="5943600" cy="365760"/>
          </a:xfrm>
          <a:prstGeom prst="rect">
            <a:avLst/>
          </a:prstGeom>
          <a:noFill/>
          <a:ln/>
        </p:spPr>
        <p:txBody>
          <a:bodyPr wrap="square" lIns="0" tIns="0" rIns="0" bIns="0" rtlCol="0" anchor="ctr"/>
          <a:lstStyle/>
          <a:p>
            <a:pPr indent="0" marL="0">
              <a:buNone/>
            </a:pPr>
            <a:r>
              <a:rPr lang="en-US" sz="850" i="1" dirty="0">
                <a:solidFill>
                  <a:srgbClr val="E8A33D"/>
                </a:solidFill>
                <a:latin typeface="Arial" pitchFamily="34" charset="0"/>
                <a:ea typeface="Arial" pitchFamily="34" charset="-122"/>
                <a:cs typeface="Arial" pitchFamily="34" charset="-120"/>
              </a:rPr>
              <a:t>⚠ Two sources give a different wage figure — shown, not reconciled: $19.10 [2] vs $18.40 [4].</a:t>
            </a:r>
            <a:endParaRPr lang="en-US" sz="850" dirty="0"/>
          </a:p>
        </p:txBody>
      </p:sp>
      <p:sp>
        <p:nvSpPr>
          <p:cNvPr id="9" name="Shape 7"/>
          <p:cNvSpPr/>
          <p:nvPr/>
        </p:nvSpPr>
        <p:spPr>
          <a:xfrm>
            <a:off x="1097280" y="3977640"/>
            <a:ext cx="5943600" cy="0"/>
          </a:xfrm>
          <a:prstGeom prst="line">
            <a:avLst/>
          </a:prstGeom>
          <a:noFill/>
          <a:ln w="12700">
            <a:solidFill>
              <a:srgbClr val="F0D9CF"/>
            </a:solidFill>
            <a:prstDash val="dash"/>
          </a:ln>
        </p:spPr>
      </p:sp>
      <p:sp>
        <p:nvSpPr>
          <p:cNvPr id="10" name="Text 8"/>
          <p:cNvSpPr txBox="1"/>
          <p:nvPr/>
        </p:nvSpPr>
        <p:spPr>
          <a:xfrm>
            <a:off x="1097280" y="4087368"/>
            <a:ext cx="5943600" cy="640080"/>
          </a:xfrm>
          <a:prstGeom prst="rect">
            <a:avLst/>
          </a:prstGeom>
          <a:noFill/>
          <a:ln/>
        </p:spPr>
        <p:txBody>
          <a:bodyPr wrap="square" lIns="0" tIns="0" rIns="0" bIns="0" rtlCol="0" anchor="ctr"/>
          <a:lstStyle/>
          <a:p>
            <a:pPr indent="0" marL="0">
              <a:lnSpc>
                <a:spcPct val="120000"/>
              </a:lnSpc>
              <a:buNone/>
            </a:pPr>
            <a:r>
              <a:rPr lang="en-US" sz="850" dirty="0">
                <a:solidFill>
                  <a:srgbClr val="7A716A"/>
                </a:solidFill>
                <a:latin typeface="Arial" pitchFamily="34" charset="0"/>
                <a:ea typeface="Arial" pitchFamily="34" charset="-122"/>
                <a:cs typeface="Arial" pitchFamily="34" charset="-120"/>
              </a:rPr>
              <a:t>Searched GivingData (2022–26), 3 Shared Drives, Airtable, Zoom.  Not covered: pre-2022, board/comp/legal.  1 scanned doc set aside as unreadable.</a:t>
            </a:r>
            <a:endParaRPr lang="en-US" sz="850" dirty="0"/>
          </a:p>
        </p:txBody>
      </p:sp>
      <p:sp>
        <p:nvSpPr>
          <p:cNvPr id="11" name="Text 9"/>
          <p:cNvSpPr txBox="1"/>
          <p:nvPr/>
        </p:nvSpPr>
        <p:spPr>
          <a:xfrm>
            <a:off x="1097280" y="4709160"/>
            <a:ext cx="5943600" cy="457200"/>
          </a:xfrm>
          <a:prstGeom prst="rect">
            <a:avLst/>
          </a:prstGeom>
          <a:noFill/>
          <a:ln/>
        </p:spPr>
        <p:txBody>
          <a:bodyPr wrap="square" lIns="0" tIns="0" rIns="0" bIns="0" rtlCol="0" anchor="ctr"/>
          <a:lstStyle/>
          <a:p>
            <a:pPr indent="0" marL="0">
              <a:lnSpc>
                <a:spcPct val="115000"/>
              </a:lnSpc>
              <a:buNone/>
            </a:pPr>
            <a:r>
              <a:rPr lang="en-US" sz="850" dirty="0">
                <a:solidFill>
                  <a:srgbClr val="8A6D2E"/>
                </a:solidFill>
                <a:latin typeface="Arial" pitchFamily="34" charset="0"/>
                <a:ea typeface="Arial" pitchFamily="34" charset="-122"/>
                <a:cs typeface="Arial" pitchFamily="34" charset="-120"/>
              </a:rPr>
              <a:t>● medium — the cited sources disagree on a figure; reconcile against them        Request external-use review</a:t>
            </a:r>
            <a:endParaRPr lang="en-US" sz="850" dirty="0"/>
          </a:p>
        </p:txBody>
      </p:sp>
      <p:sp>
        <p:nvSpPr>
          <p:cNvPr id="12" name="Text 10"/>
          <p:cNvSpPr txBox="1"/>
          <p:nvPr/>
        </p:nvSpPr>
        <p:spPr>
          <a:xfrm>
            <a:off x="1097280" y="5212080"/>
            <a:ext cx="5943600" cy="777240"/>
          </a:xfrm>
          <a:prstGeom prst="rect">
            <a:avLst/>
          </a:prstGeom>
          <a:noFill/>
          <a:ln/>
        </p:spPr>
        <p:txBody>
          <a:bodyPr wrap="square" lIns="0" tIns="0" rIns="0" bIns="0" rtlCol="0" anchor="ctr"/>
          <a:lstStyle/>
          <a:p>
            <a:pPr indent="0" marL="0">
              <a:lnSpc>
                <a:spcPct val="120000"/>
              </a:lnSpc>
              <a:buNone/>
            </a:pPr>
            <a:r>
              <a:rPr lang="en-US" sz="850" i="1" dirty="0">
                <a:solidFill>
                  <a:srgbClr val="A83218"/>
                </a:solidFill>
                <a:latin typeface="Arial" pitchFamily="34" charset="0"/>
                <a:ea typeface="Arial" pitchFamily="34" charset="-122"/>
                <a:cs typeface="Arial" pitchFamily="34" charset="-120"/>
              </a:rPr>
              <a:t>Deep dive: Year-1 report is the plan, not the outcome · ask Dana Okafor, PO (wrote the check-in) · draft email ready · renewal window opens in 84 days</a:t>
            </a:r>
            <a:endParaRPr lang="en-US" sz="850" dirty="0"/>
          </a:p>
        </p:txBody>
      </p:sp>
      <p:sp>
        <p:nvSpPr>
          <p:cNvPr id="13" name="Shape 11"/>
          <p:cNvSpPr/>
          <p:nvPr/>
        </p:nvSpPr>
        <p:spPr>
          <a:xfrm>
            <a:off x="7863840" y="1508760"/>
            <a:ext cx="137160" cy="137160"/>
          </a:xfrm>
          <a:prstGeom prst="ellipse">
            <a:avLst/>
          </a:prstGeom>
          <a:solidFill>
            <a:srgbClr val="DF4329"/>
          </a:solidFill>
          <a:ln/>
        </p:spPr>
      </p:sp>
      <p:sp>
        <p:nvSpPr>
          <p:cNvPr id="14" name="Text 12"/>
          <p:cNvSpPr txBox="1"/>
          <p:nvPr/>
        </p:nvSpPr>
        <p:spPr>
          <a:xfrm>
            <a:off x="8183880" y="1426464"/>
            <a:ext cx="3429000" cy="914400"/>
          </a:xfrm>
          <a:prstGeom prst="rect">
            <a:avLst/>
          </a:prstGeom>
          <a:noFill/>
          <a:ln/>
        </p:spPr>
        <p:txBody>
          <a:bodyPr wrap="square" lIns="0" tIns="0" rIns="0" bIns="0" rtlCol="0" anchor="ctr"/>
          <a:lstStyle/>
          <a:p>
            <a:pPr indent="0" marL="0">
              <a:lnSpc>
                <a:spcPct val="114000"/>
              </a:lnSpc>
              <a:buNone/>
            </a:pPr>
            <a:r>
              <a:rPr lang="en-US" sz="950" b="1" dirty="0">
                <a:solidFill>
                  <a:srgbClr val="1E1712"/>
                </a:solidFill>
                <a:latin typeface="Arial" pitchFamily="34" charset="0"/>
                <a:ea typeface="Arial" pitchFamily="34" charset="-122"/>
                <a:cs typeface="Arial" pitchFamily="34" charset="-120"/>
              </a:rPr>
              <a:t>A citation on every claim  </a:t>
            </a:r>
            <a:pPr indent="0" marL="0">
              <a:lnSpc>
                <a:spcPct val="114000"/>
              </a:lnSpc>
              <a:buNone/>
            </a:pPr>
            <a:r>
              <a:rPr lang="en-US" sz="950" dirty="0">
                <a:solidFill>
                  <a:srgbClr val="7A716A"/>
                </a:solidFill>
                <a:latin typeface="Arial" pitchFamily="34" charset="0"/>
                <a:ea typeface="Arial" pitchFamily="34" charset="-122"/>
                <a:cs typeface="Arial" pitchFamily="34" charset="-120"/>
              </a:rPr>
              <a:t>deep-links to the exact sentence, highlighted</a:t>
            </a:r>
            <a:endParaRPr lang="en-US" sz="950" dirty="0"/>
          </a:p>
        </p:txBody>
      </p:sp>
      <p:sp>
        <p:nvSpPr>
          <p:cNvPr id="15" name="Shape 13"/>
          <p:cNvSpPr/>
          <p:nvPr/>
        </p:nvSpPr>
        <p:spPr>
          <a:xfrm>
            <a:off x="7863840" y="2386584"/>
            <a:ext cx="137160" cy="137160"/>
          </a:xfrm>
          <a:prstGeom prst="ellipse">
            <a:avLst/>
          </a:prstGeom>
          <a:solidFill>
            <a:srgbClr val="DF4329"/>
          </a:solidFill>
          <a:ln/>
        </p:spPr>
      </p:sp>
      <p:sp>
        <p:nvSpPr>
          <p:cNvPr id="16" name="Text 14"/>
          <p:cNvSpPr txBox="1"/>
          <p:nvPr/>
        </p:nvSpPr>
        <p:spPr>
          <a:xfrm>
            <a:off x="8183880" y="2304288"/>
            <a:ext cx="3429000" cy="914400"/>
          </a:xfrm>
          <a:prstGeom prst="rect">
            <a:avLst/>
          </a:prstGeom>
          <a:noFill/>
          <a:ln/>
        </p:spPr>
        <p:txBody>
          <a:bodyPr wrap="square" lIns="0" tIns="0" rIns="0" bIns="0" rtlCol="0" anchor="ctr"/>
          <a:lstStyle/>
          <a:p>
            <a:pPr indent="0" marL="0">
              <a:lnSpc>
                <a:spcPct val="114000"/>
              </a:lnSpc>
              <a:buNone/>
            </a:pPr>
            <a:r>
              <a:rPr lang="en-US" sz="950" b="1" dirty="0">
                <a:solidFill>
                  <a:srgbClr val="1E1712"/>
                </a:solidFill>
                <a:latin typeface="Arial" pitchFamily="34" charset="0"/>
                <a:ea typeface="Arial" pitchFamily="34" charset="-122"/>
                <a:cs typeface="Arial" pitchFamily="34" charset="-120"/>
              </a:rPr>
              <a:t>A coverage line  </a:t>
            </a:r>
            <a:pPr indent="0" marL="0">
              <a:lnSpc>
                <a:spcPct val="114000"/>
              </a:lnSpc>
              <a:buNone/>
            </a:pPr>
            <a:r>
              <a:rPr lang="en-US" sz="950" dirty="0">
                <a:solidFill>
                  <a:srgbClr val="7A716A"/>
                </a:solidFill>
                <a:latin typeface="Arial" pitchFamily="34" charset="0"/>
                <a:ea typeface="Arial" pitchFamily="34" charset="-122"/>
                <a:cs typeface="Arial" pitchFamily="34" charset="-120"/>
              </a:rPr>
              <a:t>what it searched, what it could not see, what it set aside</a:t>
            </a:r>
            <a:endParaRPr lang="en-US" sz="950" dirty="0"/>
          </a:p>
        </p:txBody>
      </p:sp>
      <p:sp>
        <p:nvSpPr>
          <p:cNvPr id="17" name="Shape 15"/>
          <p:cNvSpPr/>
          <p:nvPr/>
        </p:nvSpPr>
        <p:spPr>
          <a:xfrm>
            <a:off x="7863840" y="3264408"/>
            <a:ext cx="137160" cy="137160"/>
          </a:xfrm>
          <a:prstGeom prst="ellipse">
            <a:avLst/>
          </a:prstGeom>
          <a:solidFill>
            <a:srgbClr val="DF4329"/>
          </a:solidFill>
          <a:ln/>
        </p:spPr>
      </p:sp>
      <p:sp>
        <p:nvSpPr>
          <p:cNvPr id="18" name="Text 16"/>
          <p:cNvSpPr txBox="1"/>
          <p:nvPr/>
        </p:nvSpPr>
        <p:spPr>
          <a:xfrm>
            <a:off x="8183880" y="3182112"/>
            <a:ext cx="3429000" cy="914400"/>
          </a:xfrm>
          <a:prstGeom prst="rect">
            <a:avLst/>
          </a:prstGeom>
          <a:noFill/>
          <a:ln/>
        </p:spPr>
        <p:txBody>
          <a:bodyPr wrap="square" lIns="0" tIns="0" rIns="0" bIns="0" rtlCol="0" anchor="ctr"/>
          <a:lstStyle/>
          <a:p>
            <a:pPr indent="0" marL="0">
              <a:lnSpc>
                <a:spcPct val="114000"/>
              </a:lnSpc>
              <a:buNone/>
            </a:pPr>
            <a:r>
              <a:rPr lang="en-US" sz="950" b="1" dirty="0">
                <a:solidFill>
                  <a:srgbClr val="1E1712"/>
                </a:solidFill>
                <a:latin typeface="Arial" pitchFamily="34" charset="0"/>
                <a:ea typeface="Arial" pitchFamily="34" charset="-122"/>
                <a:cs typeface="Arial" pitchFamily="34" charset="-120"/>
              </a:rPr>
              <a:t>Confidence = evidence quality  </a:t>
            </a:r>
            <a:pPr indent="0" marL="0">
              <a:lnSpc>
                <a:spcPct val="114000"/>
              </a:lnSpc>
              <a:buNone/>
            </a:pPr>
            <a:r>
              <a:rPr lang="en-US" sz="950" dirty="0">
                <a:solidFill>
                  <a:srgbClr val="7A716A"/>
                </a:solidFill>
                <a:latin typeface="Arial" pitchFamily="34" charset="0"/>
                <a:ea typeface="Arial" pitchFamily="34" charset="-122"/>
                <a:cs typeface="Arial" pitchFamily="34" charset="-120"/>
              </a:rPr>
              <a:t>coverage · source agreement · freshness · citation completeness — not the model's certainty</a:t>
            </a:r>
            <a:endParaRPr lang="en-US" sz="950" dirty="0"/>
          </a:p>
        </p:txBody>
      </p:sp>
      <p:sp>
        <p:nvSpPr>
          <p:cNvPr id="19" name="Shape 17"/>
          <p:cNvSpPr/>
          <p:nvPr/>
        </p:nvSpPr>
        <p:spPr>
          <a:xfrm>
            <a:off x="7863840" y="4142232"/>
            <a:ext cx="137160" cy="137160"/>
          </a:xfrm>
          <a:prstGeom prst="ellipse">
            <a:avLst/>
          </a:prstGeom>
          <a:solidFill>
            <a:srgbClr val="DF4329"/>
          </a:solidFill>
          <a:ln/>
        </p:spPr>
      </p:sp>
      <p:sp>
        <p:nvSpPr>
          <p:cNvPr id="20" name="Text 18"/>
          <p:cNvSpPr txBox="1"/>
          <p:nvPr/>
        </p:nvSpPr>
        <p:spPr>
          <a:xfrm>
            <a:off x="8183880" y="4059936"/>
            <a:ext cx="3429000" cy="914400"/>
          </a:xfrm>
          <a:prstGeom prst="rect">
            <a:avLst/>
          </a:prstGeom>
          <a:noFill/>
          <a:ln/>
        </p:spPr>
        <p:txBody>
          <a:bodyPr wrap="square" lIns="0" tIns="0" rIns="0" bIns="0" rtlCol="0" anchor="ctr"/>
          <a:lstStyle/>
          <a:p>
            <a:pPr indent="0" marL="0">
              <a:lnSpc>
                <a:spcPct val="114000"/>
              </a:lnSpc>
              <a:buNone/>
            </a:pPr>
            <a:r>
              <a:rPr lang="en-US" sz="950" b="1" dirty="0">
                <a:solidFill>
                  <a:srgbClr val="1E1712"/>
                </a:solidFill>
                <a:latin typeface="Arial" pitchFamily="34" charset="0"/>
                <a:ea typeface="Arial" pitchFamily="34" charset="-122"/>
                <a:cs typeface="Arial" pitchFamily="34" charset="-120"/>
              </a:rPr>
              <a:t>Conflicts shown, not merged  </a:t>
            </a:r>
            <a:pPr indent="0" marL="0">
              <a:lnSpc>
                <a:spcPct val="114000"/>
              </a:lnSpc>
              <a:buNone/>
            </a:pPr>
            <a:r>
              <a:rPr lang="en-US" sz="950" dirty="0">
                <a:solidFill>
                  <a:srgbClr val="7A716A"/>
                </a:solidFill>
                <a:latin typeface="Arial" pitchFamily="34" charset="0"/>
                <a:ea typeface="Arial" pitchFamily="34" charset="-122"/>
                <a:cs typeface="Arial" pitchFamily="34" charset="-120"/>
              </a:rPr>
              <a:t>two sources disagree → both, with citations</a:t>
            </a:r>
            <a:endParaRPr lang="en-US" sz="950" dirty="0"/>
          </a:p>
        </p:txBody>
      </p:sp>
      <p:sp>
        <p:nvSpPr>
          <p:cNvPr id="21" name="Shape 19"/>
          <p:cNvSpPr/>
          <p:nvPr/>
        </p:nvSpPr>
        <p:spPr>
          <a:xfrm>
            <a:off x="7863840" y="5020056"/>
            <a:ext cx="137160" cy="137160"/>
          </a:xfrm>
          <a:prstGeom prst="ellipse">
            <a:avLst/>
          </a:prstGeom>
          <a:solidFill>
            <a:srgbClr val="DF4329"/>
          </a:solidFill>
          <a:ln/>
        </p:spPr>
      </p:sp>
      <p:sp>
        <p:nvSpPr>
          <p:cNvPr id="22" name="Text 20"/>
          <p:cNvSpPr txBox="1"/>
          <p:nvPr/>
        </p:nvSpPr>
        <p:spPr>
          <a:xfrm>
            <a:off x="8183880" y="4937760"/>
            <a:ext cx="3429000" cy="914400"/>
          </a:xfrm>
          <a:prstGeom prst="rect">
            <a:avLst/>
          </a:prstGeom>
          <a:noFill/>
          <a:ln/>
        </p:spPr>
        <p:txBody>
          <a:bodyPr wrap="square" lIns="0" tIns="0" rIns="0" bIns="0" rtlCol="0" anchor="ctr"/>
          <a:lstStyle/>
          <a:p>
            <a:pPr indent="0" marL="0">
              <a:lnSpc>
                <a:spcPct val="114000"/>
              </a:lnSpc>
              <a:buNone/>
            </a:pPr>
            <a:r>
              <a:rPr lang="en-US" sz="950" b="1" dirty="0">
                <a:solidFill>
                  <a:srgbClr val="1E1712"/>
                </a:solidFill>
                <a:latin typeface="Arial" pitchFamily="34" charset="0"/>
                <a:ea typeface="Arial" pitchFamily="34" charset="-122"/>
                <a:cs typeface="Arial" pitchFamily="34" charset="-120"/>
              </a:rPr>
              <a:t>Deep dive  </a:t>
            </a:r>
            <a:pPr indent="0" marL="0">
              <a:lnSpc>
                <a:spcPct val="114000"/>
              </a:lnSpc>
              <a:buNone/>
            </a:pPr>
            <a:r>
              <a:rPr lang="en-US" sz="950" dirty="0">
                <a:solidFill>
                  <a:srgbClr val="7A716A"/>
                </a:solidFill>
                <a:latin typeface="Arial" pitchFamily="34" charset="0"/>
                <a:ea typeface="Arial" pitchFamily="34" charset="-122"/>
                <a:cs typeface="Arial" pitchFamily="34" charset="-120"/>
              </a:rPr>
              <a:t>what's missing · who to ask · a draft email · where the grant is in its own cycle</a:t>
            </a:r>
            <a:endParaRPr lang="en-US" sz="950" dirty="0"/>
          </a:p>
        </p:txBody>
      </p:sp>
      <p:sp>
        <p:nvSpPr>
          <p:cNvPr id="23" name="Text 21"/>
          <p:cNvSpPr txBox="1"/>
          <p:nvPr/>
        </p:nvSpPr>
        <p:spPr>
          <a:xfrm>
            <a:off x="8183880" y="5989320"/>
            <a:ext cx="3429000" cy="320040"/>
          </a:xfrm>
          <a:prstGeom prst="rect">
            <a:avLst/>
          </a:prstGeom>
          <a:noFill/>
          <a:ln/>
        </p:spPr>
        <p:txBody>
          <a:bodyPr wrap="square" lIns="0" tIns="0" rIns="0" bIns="0" rtlCol="0" anchor="ctr"/>
          <a:lstStyle/>
          <a:p>
            <a:pPr indent="0" marL="0">
              <a:buNone/>
            </a:pPr>
            <a:r>
              <a:rPr lang="en-US" sz="800" i="1" dirty="0">
                <a:solidFill>
                  <a:srgbClr val="7A716A"/>
                </a:solidFill>
                <a:latin typeface="Arial" pitchFamily="34" charset="0"/>
                <a:ea typeface="Arial" pitchFamily="34" charset="-122"/>
                <a:cs typeface="Arial" pitchFamily="34" charset="-120"/>
              </a:rPr>
              <a:t>All names, orgs and figures here are synthetic and fictional.</a:t>
            </a:r>
            <a:endParaRPr lang="en-US" sz="800" dirty="0"/>
          </a:p>
        </p:txBody>
      </p:sp>
      <p:sp>
        <p:nvSpPr>
          <p:cNvPr id="24" name="Text 22"/>
          <p:cNvSpPr txBox="1"/>
          <p:nvPr/>
        </p:nvSpPr>
        <p:spPr>
          <a:xfrm>
            <a:off x="11551615" y="6355080"/>
            <a:ext cx="365760" cy="274320"/>
          </a:xfrm>
          <a:prstGeom prst="rect">
            <a:avLst/>
          </a:prstGeom>
          <a:noFill/>
          <a:ln/>
        </p:spPr>
        <p:txBody>
          <a:bodyPr wrap="square" lIns="0" tIns="0" rIns="0" bIns="0" rtlCol="0" anchor="ctr"/>
          <a:lstStyle/>
          <a:p>
            <a:pPr algn="r" indent="0" marL="0">
              <a:buNone/>
            </a:pPr>
            <a:r>
              <a:rPr lang="en-US" sz="900" dirty="0">
                <a:solidFill>
                  <a:srgbClr val="7A716A"/>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712"/>
        </a:solidFill>
      </p:bgPr>
    </p:bg>
    <p:spTree>
      <p:nvGrpSpPr>
        <p:cNvPr id="1" name=""/>
        <p:cNvGrpSpPr/>
        <p:nvPr/>
      </p:nvGrpSpPr>
      <p:grpSpPr>
        <a:xfrm>
          <a:off x="0" y="0"/>
          <a:ext cx="0" cy="0"/>
          <a:chOff x="0" y="0"/>
          <a:chExt cx="0" cy="0"/>
        </a:xfrm>
      </p:grpSpPr>
      <p:sp>
        <p:nvSpPr>
          <p:cNvPr id="2" name="Text 0"/>
          <p:cNvSpPr txBox="1"/>
          <p:nvPr/>
        </p:nvSpPr>
        <p:spPr>
          <a:xfrm>
            <a:off x="822960" y="731520"/>
            <a:ext cx="5486400" cy="274320"/>
          </a:xfrm>
          <a:prstGeom prst="rect">
            <a:avLst/>
          </a:prstGeom>
          <a:noFill/>
          <a:ln/>
        </p:spPr>
        <p:txBody>
          <a:bodyPr wrap="square" lIns="0" tIns="0" rIns="0" bIns="0" rtlCol="0" anchor="ctr"/>
          <a:lstStyle/>
          <a:p>
            <a:pPr indent="0" marL="0">
              <a:buNone/>
            </a:pPr>
            <a:r>
              <a:rPr lang="en-US" sz="1100" b="1" spc="300" kern="0" dirty="0">
                <a:solidFill>
                  <a:srgbClr val="E8A33D"/>
                </a:solidFill>
                <a:latin typeface="Arial" pitchFamily="34" charset="0"/>
                <a:ea typeface="Arial" pitchFamily="34" charset="-122"/>
                <a:cs typeface="Arial" pitchFamily="34" charset="-120"/>
              </a:rPr>
              <a:t>THE SKILLS DEMONSTRATION</a:t>
            </a:r>
            <a:endParaRPr lang="en-US" sz="1100" dirty="0"/>
          </a:p>
        </p:txBody>
      </p:sp>
      <p:sp>
        <p:nvSpPr>
          <p:cNvPr id="3" name="Text 1"/>
          <p:cNvSpPr txBox="1"/>
          <p:nvPr/>
        </p:nvSpPr>
        <p:spPr>
          <a:xfrm>
            <a:off x="822960" y="1051560"/>
            <a:ext cx="10515600" cy="6400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This isn't a mockup — it runs, and the checks are the proof</a:t>
            </a:r>
            <a:endParaRPr lang="en-US" sz="2400" dirty="0"/>
          </a:p>
        </p:txBody>
      </p:sp>
      <p:sp>
        <p:nvSpPr>
          <p:cNvPr id="4" name="Text 2"/>
          <p:cNvSpPr txBox="1"/>
          <p:nvPr/>
        </p:nvSpPr>
        <p:spPr>
          <a:xfrm>
            <a:off x="822960" y="1965960"/>
            <a:ext cx="3063240" cy="822960"/>
          </a:xfrm>
          <a:prstGeom prst="rect">
            <a:avLst/>
          </a:prstGeom>
          <a:noFill/>
          <a:ln/>
        </p:spPr>
        <p:txBody>
          <a:bodyPr wrap="square" lIns="0" tIns="0" rIns="0" bIns="0" rtlCol="0" anchor="ctr"/>
          <a:lstStyle/>
          <a:p>
            <a:pPr indent="0" marL="0">
              <a:lnSpc>
                <a:spcPct val="110000"/>
              </a:lnSpc>
              <a:buNone/>
            </a:pPr>
            <a:r>
              <a:rPr lang="en-US" sz="900" b="1" dirty="0">
                <a:solidFill>
                  <a:srgbClr val="E8A33D"/>
                </a:solidFill>
                <a:latin typeface="Courier New" pitchFamily="34" charset="0"/>
                <a:ea typeface="Courier New" pitchFamily="34" charset="-122"/>
                <a:cs typeface="Courier New" pitchFamily="34" charset="-120"/>
              </a:rPr>
              <a:t>live demo + npm run demo</a:t>
            </a:r>
            <a:endParaRPr lang="en-US" sz="900" dirty="0"/>
          </a:p>
        </p:txBody>
      </p:sp>
      <p:sp>
        <p:nvSpPr>
          <p:cNvPr id="5" name="Text 3"/>
          <p:cNvSpPr txBox="1"/>
          <p:nvPr/>
        </p:nvSpPr>
        <p:spPr>
          <a:xfrm>
            <a:off x="4023360" y="1947672"/>
            <a:ext cx="7223760" cy="868680"/>
          </a:xfrm>
          <a:prstGeom prst="rect">
            <a:avLst/>
          </a:prstGeom>
          <a:noFill/>
          <a:ln/>
        </p:spPr>
        <p:txBody>
          <a:bodyPr wrap="square" lIns="0" tIns="0" rIns="0" bIns="0" rtlCol="0" anchor="ctr"/>
          <a:lstStyle/>
          <a:p>
            <a:pPr indent="0" marL="0">
              <a:lnSpc>
                <a:spcPct val="113000"/>
              </a:lnSpc>
              <a:buNone/>
            </a:pPr>
            <a:r>
              <a:rPr lang="en-US" sz="870" dirty="0">
                <a:solidFill>
                  <a:srgbClr val="CFC6BD"/>
                </a:solidFill>
                <a:latin typeface="Arial" pitchFamily="34" charset="0"/>
                <a:ea typeface="Arial" pitchFamily="34" charset="-122"/>
                <a:cs typeface="Arial" pitchFamily="34" charset="-120"/>
              </a:rPr>
              <a:t>One URL: the web app, the API and the login on one origin (hosted, and local). Every answer goes through the server-side permission filter — the demo persona switch is a real sign-in, not a UI toggle. Flip from Program Officer to Comms and watch the same question drop from 8 sources to 5. Click a citation and the source record opens with the passage highlighted — permission re-checked there too.</a:t>
            </a:r>
            <a:endParaRPr lang="en-US" sz="870" dirty="0"/>
          </a:p>
        </p:txBody>
      </p:sp>
      <p:sp>
        <p:nvSpPr>
          <p:cNvPr id="6" name="Text 4"/>
          <p:cNvSpPr txBox="1"/>
          <p:nvPr/>
        </p:nvSpPr>
        <p:spPr>
          <a:xfrm>
            <a:off x="822960" y="2862072"/>
            <a:ext cx="3063240" cy="822960"/>
          </a:xfrm>
          <a:prstGeom prst="rect">
            <a:avLst/>
          </a:prstGeom>
          <a:noFill/>
          <a:ln/>
        </p:spPr>
        <p:txBody>
          <a:bodyPr wrap="square" lIns="0" tIns="0" rIns="0" bIns="0" rtlCol="0" anchor="ctr"/>
          <a:lstStyle/>
          <a:p>
            <a:pPr indent="0" marL="0">
              <a:lnSpc>
                <a:spcPct val="110000"/>
              </a:lnSpc>
              <a:buNone/>
            </a:pPr>
            <a:r>
              <a:rPr lang="en-US" sz="900" b="1" dirty="0">
                <a:solidFill>
                  <a:srgbClr val="E8A33D"/>
                </a:solidFill>
                <a:latin typeface="Courier New" pitchFamily="34" charset="0"/>
                <a:ea typeface="Courier New" pitchFamily="34" charset="-122"/>
                <a:cs typeface="Courier New" pitchFamily="34" charset="-120"/>
              </a:rPr>
              <a:t>npm run eval · eval:pg · eval:full</a:t>
            </a:r>
            <a:endParaRPr lang="en-US" sz="900" dirty="0"/>
          </a:p>
        </p:txBody>
      </p:sp>
      <p:sp>
        <p:nvSpPr>
          <p:cNvPr id="7" name="Text 5"/>
          <p:cNvSpPr txBox="1"/>
          <p:nvPr/>
        </p:nvSpPr>
        <p:spPr>
          <a:xfrm>
            <a:off x="4023360" y="2843784"/>
            <a:ext cx="7223760" cy="868680"/>
          </a:xfrm>
          <a:prstGeom prst="rect">
            <a:avLst/>
          </a:prstGeom>
          <a:noFill/>
          <a:ln/>
        </p:spPr>
        <p:txBody>
          <a:bodyPr wrap="square" lIns="0" tIns="0" rIns="0" bIns="0" rtlCol="0" anchor="ctr"/>
          <a:lstStyle/>
          <a:p>
            <a:pPr indent="0" marL="0">
              <a:lnSpc>
                <a:spcPct val="113000"/>
              </a:lnSpc>
              <a:buNone/>
            </a:pPr>
            <a:r>
              <a:rPr lang="en-US" sz="870" dirty="0">
                <a:solidFill>
                  <a:srgbClr val="CFC6BD"/>
                </a:solidFill>
                <a:latin typeface="Arial" pitchFamily="34" charset="0"/>
                <a:ea typeface="Arial" pitchFamily="34" charset="-122"/>
                <a:cs typeface="Arial" pitchFamily="34" charset="-120"/>
              </a:rPr>
              <a:t>46 gold Q&amp;A cases run in memory and through a SQL WHERE clause; 25 more against a synthetic 5-year corpus (~59 grants, ~110 declined applicants, ~260 docs) with template drift, a migration boundary, conflicting figures, Spanish reports. 0 permission leaks.</a:t>
            </a:r>
            <a:endParaRPr lang="en-US" sz="870" dirty="0"/>
          </a:p>
        </p:txBody>
      </p:sp>
      <p:sp>
        <p:nvSpPr>
          <p:cNvPr id="8" name="Text 6"/>
          <p:cNvSpPr txBox="1"/>
          <p:nvPr/>
        </p:nvSpPr>
        <p:spPr>
          <a:xfrm>
            <a:off x="822960" y="3758184"/>
            <a:ext cx="3063240" cy="822960"/>
          </a:xfrm>
          <a:prstGeom prst="rect">
            <a:avLst/>
          </a:prstGeom>
          <a:noFill/>
          <a:ln/>
        </p:spPr>
        <p:txBody>
          <a:bodyPr wrap="square" lIns="0" tIns="0" rIns="0" bIns="0" rtlCol="0" anchor="ctr"/>
          <a:lstStyle/>
          <a:p>
            <a:pPr indent="0" marL="0">
              <a:lnSpc>
                <a:spcPct val="110000"/>
              </a:lnSpc>
              <a:buNone/>
            </a:pPr>
            <a:r>
              <a:rPr lang="en-US" sz="900" b="1" dirty="0">
                <a:solidFill>
                  <a:srgbClr val="E8A33D"/>
                </a:solidFill>
                <a:latin typeface="Courier New" pitchFamily="34" charset="0"/>
                <a:ea typeface="Courier New" pitchFamily="34" charset="-122"/>
                <a:cs typeface="Courier New" pitchFamily="34" charset="-120"/>
              </a:rPr>
              <a:t>npm run redteam · eval:metrics</a:t>
            </a:r>
            <a:endParaRPr lang="en-US" sz="900" dirty="0"/>
          </a:p>
        </p:txBody>
      </p:sp>
      <p:sp>
        <p:nvSpPr>
          <p:cNvPr id="9" name="Text 7"/>
          <p:cNvSpPr txBox="1"/>
          <p:nvPr/>
        </p:nvSpPr>
        <p:spPr>
          <a:xfrm>
            <a:off x="4023360" y="3739896"/>
            <a:ext cx="7223760" cy="868680"/>
          </a:xfrm>
          <a:prstGeom prst="rect">
            <a:avLst/>
          </a:prstGeom>
          <a:noFill/>
          <a:ln/>
        </p:spPr>
        <p:txBody>
          <a:bodyPr wrap="square" lIns="0" tIns="0" rIns="0" bIns="0" rtlCol="0" anchor="ctr"/>
          <a:lstStyle/>
          <a:p>
            <a:pPr indent="0" marL="0">
              <a:lnSpc>
                <a:spcPct val="113000"/>
              </a:lnSpc>
              <a:buNone/>
            </a:pPr>
            <a:r>
              <a:rPr lang="en-US" sz="870" dirty="0">
                <a:solidFill>
                  <a:srgbClr val="CFC6BD"/>
                </a:solidFill>
                <a:latin typeface="Arial" pitchFamily="34" charset="0"/>
                <a:ea typeface="Arial" pitchFamily="34" charset="-122"/>
                <a:cs typeface="Arial" pitchFamily="34" charset="-120"/>
              </a:rPr>
              <a:t>15 planted prompt-injection documents + jailbreak, exfiltration, permission-probing, PII- and legal-privilege-probing. 17/17, 0 leaks. Separately, an optional cross-encoder reranker lifts recall@1 from 0.10 to 0.70 on the 5-year corpus — measured, not claimed.</a:t>
            </a:r>
            <a:endParaRPr lang="en-US" sz="870" dirty="0"/>
          </a:p>
        </p:txBody>
      </p:sp>
      <p:sp>
        <p:nvSpPr>
          <p:cNvPr id="10" name="Text 8"/>
          <p:cNvSpPr txBox="1"/>
          <p:nvPr/>
        </p:nvSpPr>
        <p:spPr>
          <a:xfrm>
            <a:off x="822960" y="4654296"/>
            <a:ext cx="3063240" cy="822960"/>
          </a:xfrm>
          <a:prstGeom prst="rect">
            <a:avLst/>
          </a:prstGeom>
          <a:noFill/>
          <a:ln/>
        </p:spPr>
        <p:txBody>
          <a:bodyPr wrap="square" lIns="0" tIns="0" rIns="0" bIns="0" rtlCol="0" anchor="ctr"/>
          <a:lstStyle/>
          <a:p>
            <a:pPr indent="0" marL="0">
              <a:lnSpc>
                <a:spcPct val="110000"/>
              </a:lnSpc>
              <a:buNone/>
            </a:pPr>
            <a:r>
              <a:rPr lang="en-US" sz="900" b="1" dirty="0">
                <a:solidFill>
                  <a:srgbClr val="E8A33D"/>
                </a:solidFill>
                <a:latin typeface="Courier New" pitchFamily="34" charset="0"/>
                <a:ea typeface="Courier New" pitchFamily="34" charset="-122"/>
                <a:cs typeface="Courier New" pitchFamily="34" charset="-120"/>
              </a:rPr>
              <a:t>npm run test · security · server:check</a:t>
            </a:r>
            <a:endParaRPr lang="en-US" sz="900" dirty="0"/>
          </a:p>
        </p:txBody>
      </p:sp>
      <p:sp>
        <p:nvSpPr>
          <p:cNvPr id="11" name="Text 9"/>
          <p:cNvSpPr txBox="1"/>
          <p:nvPr/>
        </p:nvSpPr>
        <p:spPr>
          <a:xfrm>
            <a:off x="4023360" y="4636008"/>
            <a:ext cx="7223760" cy="868680"/>
          </a:xfrm>
          <a:prstGeom prst="rect">
            <a:avLst/>
          </a:prstGeom>
          <a:noFill/>
          <a:ln/>
        </p:spPr>
        <p:txBody>
          <a:bodyPr wrap="square" lIns="0" tIns="0" rIns="0" bIns="0" rtlCol="0" anchor="ctr"/>
          <a:lstStyle/>
          <a:p>
            <a:pPr indent="0" marL="0">
              <a:lnSpc>
                <a:spcPct val="113000"/>
              </a:lnSpc>
              <a:buNone/>
            </a:pPr>
            <a:r>
              <a:rPr lang="en-US" sz="870" dirty="0">
                <a:solidFill>
                  <a:srgbClr val="CFC6BD"/>
                </a:solidFill>
                <a:latin typeface="Arial" pitchFamily="34" charset="0"/>
                <a:ea typeface="Arial" pitchFamily="34" charset="-122"/>
                <a:cs typeface="Arial" pitchFamily="34" charset="-120"/>
              </a:rPr>
              <a:t>166 unit tests (~96% line coverage); RS256 OIDC verification, fail-closed on a failed group lookup, a hash-chained audit log, the full Google login flow, rate limits, a kill switch, session revocation — 20/20.</a:t>
            </a:r>
            <a:endParaRPr lang="en-US" sz="870" dirty="0"/>
          </a:p>
        </p:txBody>
      </p:sp>
      <p:sp>
        <p:nvSpPr>
          <p:cNvPr id="12" name="Text 10"/>
          <p:cNvSpPr txBox="1"/>
          <p:nvPr/>
        </p:nvSpPr>
        <p:spPr>
          <a:xfrm>
            <a:off x="822960" y="5550408"/>
            <a:ext cx="3063240" cy="822960"/>
          </a:xfrm>
          <a:prstGeom prst="rect">
            <a:avLst/>
          </a:prstGeom>
          <a:noFill/>
          <a:ln/>
        </p:spPr>
        <p:txBody>
          <a:bodyPr wrap="square" lIns="0" tIns="0" rIns="0" bIns="0" rtlCol="0" anchor="ctr"/>
          <a:lstStyle/>
          <a:p>
            <a:pPr indent="0" marL="0">
              <a:lnSpc>
                <a:spcPct val="110000"/>
              </a:lnSpc>
              <a:buNone/>
            </a:pPr>
            <a:r>
              <a:rPr lang="en-US" sz="900" b="1" dirty="0">
                <a:solidFill>
                  <a:srgbClr val="E8A33D"/>
                </a:solidFill>
                <a:latin typeface="Courier New" pitchFamily="34" charset="0"/>
                <a:ea typeface="Courier New" pitchFamily="34" charset="-122"/>
                <a:cs typeface="Courier New" pitchFamily="34" charset="-120"/>
              </a:rPr>
              <a:t>npm run ci</a:t>
            </a:r>
            <a:endParaRPr lang="en-US" sz="900" dirty="0"/>
          </a:p>
        </p:txBody>
      </p:sp>
      <p:sp>
        <p:nvSpPr>
          <p:cNvPr id="13" name="Text 11"/>
          <p:cNvSpPr txBox="1"/>
          <p:nvPr/>
        </p:nvSpPr>
        <p:spPr>
          <a:xfrm>
            <a:off x="4023360" y="5532120"/>
            <a:ext cx="7223760" cy="868680"/>
          </a:xfrm>
          <a:prstGeom prst="rect">
            <a:avLst/>
          </a:prstGeom>
          <a:noFill/>
          <a:ln/>
        </p:spPr>
        <p:txBody>
          <a:bodyPr wrap="square" lIns="0" tIns="0" rIns="0" bIns="0" rtlCol="0" anchor="ctr"/>
          <a:lstStyle/>
          <a:p>
            <a:pPr indent="0" marL="0">
              <a:lnSpc>
                <a:spcPct val="113000"/>
              </a:lnSpc>
              <a:buNone/>
            </a:pPr>
            <a:r>
              <a:rPr lang="en-US" sz="870" dirty="0">
                <a:solidFill>
                  <a:srgbClr val="CFC6BD"/>
                </a:solidFill>
                <a:latin typeface="Arial" pitchFamily="34" charset="0"/>
                <a:ea typeface="Arial" pitchFamily="34" charset="-122"/>
                <a:cs typeface="Arial" pitchFamily="34" charset="-120"/>
              </a:rPr>
              <a:t>All of the above + a dependency-advisory check, in one promotion gate. A permission-leak finding or a red-team regression is a hard stop. GitHub Actions + Dependabot config included; the hosted demo redeploys on every green push to main.</a:t>
            </a:r>
            <a:endParaRPr lang="en-US" sz="870" dirty="0"/>
          </a:p>
        </p:txBody>
      </p:sp>
      <p:sp>
        <p:nvSpPr>
          <p:cNvPr id="14" name="Text 12"/>
          <p:cNvSpPr txBox="1"/>
          <p:nvPr/>
        </p:nvSpPr>
        <p:spPr>
          <a:xfrm>
            <a:off x="11551615" y="6355080"/>
            <a:ext cx="365760" cy="274320"/>
          </a:xfrm>
          <a:prstGeom prst="rect">
            <a:avLst/>
          </a:prstGeom>
          <a:noFill/>
          <a:ln/>
        </p:spPr>
        <p:txBody>
          <a:bodyPr wrap="square" lIns="0" tIns="0" rIns="0" bIns="0" rtlCol="0" anchor="ctr"/>
          <a:lstStyle/>
          <a:p>
            <a:pPr algn="r" indent="0" marL="0">
              <a:buNone/>
            </a:pPr>
            <a:r>
              <a:rPr lang="en-US" sz="900" dirty="0">
                <a:solidFill>
                  <a:srgbClr val="7A716A"/>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566928"/>
            <a:ext cx="384048" cy="384048"/>
          </a:xfrm>
          <a:prstGeom prst="ellipse">
            <a:avLst/>
          </a:prstGeom>
          <a:solidFill>
            <a:srgbClr val="DF4329"/>
          </a:solidFill>
          <a:ln/>
        </p:spPr>
      </p:sp>
      <p:sp>
        <p:nvSpPr>
          <p:cNvPr id="3" name="Text 1"/>
          <p:cNvSpPr txBox="1"/>
          <p:nvPr/>
        </p:nvSpPr>
        <p:spPr>
          <a:xfrm>
            <a:off x="822960" y="557784"/>
            <a:ext cx="38404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4" name="Text 2"/>
          <p:cNvSpPr txBox="1"/>
          <p:nvPr/>
        </p:nvSpPr>
        <p:spPr>
          <a:xfrm>
            <a:off x="1371600" y="548640"/>
            <a:ext cx="10058400" cy="502920"/>
          </a:xfrm>
          <a:prstGeom prst="rect">
            <a:avLst/>
          </a:prstGeom>
          <a:noFill/>
          <a:ln/>
        </p:spPr>
        <p:txBody>
          <a:bodyPr wrap="square" lIns="0" tIns="0" rIns="0" bIns="0" rtlCol="0" anchor="ctr"/>
          <a:lstStyle/>
          <a:p>
            <a:pPr indent="0" marL="0">
              <a:buNone/>
            </a:pPr>
            <a:r>
              <a:rPr lang="en-US" sz="2100" b="1" dirty="0">
                <a:solidFill>
                  <a:srgbClr val="1E1712"/>
                </a:solidFill>
                <a:latin typeface="Arial" pitchFamily="34" charset="0"/>
                <a:ea typeface="Arial" pitchFamily="34" charset="-122"/>
                <a:cs typeface="Arial" pitchFamily="34" charset="-120"/>
              </a:rPr>
              <a:t>Risks — and how I'd handle each</a:t>
            </a:r>
            <a:endParaRPr lang="en-US" sz="2100" dirty="0"/>
          </a:p>
        </p:txBody>
      </p:sp>
      <p:sp>
        <p:nvSpPr>
          <p:cNvPr id="5" name="Shape 3"/>
          <p:cNvSpPr/>
          <p:nvPr/>
        </p:nvSpPr>
        <p:spPr>
          <a:xfrm>
            <a:off x="822960" y="1508760"/>
            <a:ext cx="10515600" cy="896112"/>
          </a:xfrm>
          <a:prstGeom prst="roundRect">
            <a:avLst>
              <a:gd name="adj" fmla="val 5102"/>
            </a:avLst>
          </a:prstGeom>
          <a:solidFill>
            <a:srgbClr val="FCFAF8"/>
          </a:solidFill>
          <a:ln w="12700">
            <a:solidFill>
              <a:srgbClr val="F0D9CF"/>
            </a:solidFill>
            <a:prstDash val="solid"/>
          </a:ln>
        </p:spPr>
      </p:sp>
      <p:sp>
        <p:nvSpPr>
          <p:cNvPr id="6" name="Text 4"/>
          <p:cNvSpPr txBox="1"/>
          <p:nvPr/>
        </p:nvSpPr>
        <p:spPr>
          <a:xfrm>
            <a:off x="1078992" y="1627632"/>
            <a:ext cx="3566160" cy="685800"/>
          </a:xfrm>
          <a:prstGeom prst="rect">
            <a:avLst/>
          </a:prstGeom>
          <a:noFill/>
          <a:ln/>
        </p:spPr>
        <p:txBody>
          <a:bodyPr wrap="square" lIns="0" tIns="0" rIns="0" bIns="0" rtlCol="0" anchor="ctr"/>
          <a:lstStyle/>
          <a:p>
            <a:pPr indent="0" marL="0">
              <a:buNone/>
            </a:pPr>
            <a:r>
              <a:rPr lang="en-US" sz="1150" b="1" dirty="0">
                <a:solidFill>
                  <a:srgbClr val="A83218"/>
                </a:solidFill>
                <a:latin typeface="Arial" pitchFamily="34" charset="0"/>
                <a:ea typeface="Arial" pitchFamily="34" charset="-122"/>
                <a:cs typeface="Arial" pitchFamily="34" charset="-120"/>
              </a:rPr>
              <a:t>Fabricated or stale impact numbers</a:t>
            </a:r>
            <a:endParaRPr lang="en-US" sz="1150" dirty="0"/>
          </a:p>
        </p:txBody>
      </p:sp>
      <p:sp>
        <p:nvSpPr>
          <p:cNvPr id="7" name="Text 5"/>
          <p:cNvSpPr txBox="1"/>
          <p:nvPr/>
        </p:nvSpPr>
        <p:spPr>
          <a:xfrm>
            <a:off x="4800600" y="1591056"/>
            <a:ext cx="6309360" cy="749808"/>
          </a:xfrm>
          <a:prstGeom prst="rect">
            <a:avLst/>
          </a:prstGeom>
          <a:noFill/>
          <a:ln/>
        </p:spPr>
        <p:txBody>
          <a:bodyPr wrap="square" lIns="0" tIns="0" rIns="0" bIns="0" rtlCol="0" anchor="ctr"/>
          <a:lstStyle/>
          <a:p>
            <a:pPr indent="0" marL="0">
              <a:lnSpc>
                <a:spcPct val="116000"/>
              </a:lnSpc>
              <a:buNone/>
            </a:pPr>
            <a:r>
              <a:rPr lang="en-US" sz="1000" dirty="0">
                <a:solidFill>
                  <a:srgbClr val="3D352F"/>
                </a:solidFill>
                <a:latin typeface="Arial" pitchFamily="34" charset="0"/>
                <a:ea typeface="Arial" pitchFamily="34" charset="-122"/>
                <a:cs typeface="Arial" pitchFamily="34" charset="-120"/>
              </a:rPr>
              <a:t>Mandatory citations; “as reported on {date} / model {version}”; refuse when unsupported; gold-set gates every release.</a:t>
            </a:r>
            <a:endParaRPr lang="en-US" sz="1000" dirty="0"/>
          </a:p>
        </p:txBody>
      </p:sp>
      <p:sp>
        <p:nvSpPr>
          <p:cNvPr id="8" name="Shape 6"/>
          <p:cNvSpPr/>
          <p:nvPr/>
        </p:nvSpPr>
        <p:spPr>
          <a:xfrm>
            <a:off x="822960" y="2532888"/>
            <a:ext cx="10515600" cy="896112"/>
          </a:xfrm>
          <a:prstGeom prst="roundRect">
            <a:avLst>
              <a:gd name="adj" fmla="val 5102"/>
            </a:avLst>
          </a:prstGeom>
          <a:solidFill>
            <a:srgbClr val="FCFAF8"/>
          </a:solidFill>
          <a:ln w="12700">
            <a:solidFill>
              <a:srgbClr val="F0D9CF"/>
            </a:solidFill>
            <a:prstDash val="solid"/>
          </a:ln>
        </p:spPr>
      </p:sp>
      <p:sp>
        <p:nvSpPr>
          <p:cNvPr id="9" name="Text 7"/>
          <p:cNvSpPr txBox="1"/>
          <p:nvPr/>
        </p:nvSpPr>
        <p:spPr>
          <a:xfrm>
            <a:off x="1078992" y="2651760"/>
            <a:ext cx="3566160" cy="685800"/>
          </a:xfrm>
          <a:prstGeom prst="rect">
            <a:avLst/>
          </a:prstGeom>
          <a:noFill/>
          <a:ln/>
        </p:spPr>
        <p:txBody>
          <a:bodyPr wrap="square" lIns="0" tIns="0" rIns="0" bIns="0" rtlCol="0" anchor="ctr"/>
          <a:lstStyle/>
          <a:p>
            <a:pPr indent="0" marL="0">
              <a:buNone/>
            </a:pPr>
            <a:r>
              <a:rPr lang="en-US" sz="1150" b="1" dirty="0">
                <a:solidFill>
                  <a:srgbClr val="A83218"/>
                </a:solidFill>
                <a:latin typeface="Arial" pitchFamily="34" charset="0"/>
                <a:ea typeface="Arial" pitchFamily="34" charset="-122"/>
                <a:cs typeface="Arial" pitchFamily="34" charset="-120"/>
              </a:rPr>
              <a:t>Permission leakage</a:t>
            </a:r>
            <a:endParaRPr lang="en-US" sz="1150" dirty="0"/>
          </a:p>
        </p:txBody>
      </p:sp>
      <p:sp>
        <p:nvSpPr>
          <p:cNvPr id="10" name="Text 8"/>
          <p:cNvSpPr txBox="1"/>
          <p:nvPr/>
        </p:nvSpPr>
        <p:spPr>
          <a:xfrm>
            <a:off x="4800600" y="2615184"/>
            <a:ext cx="6309360" cy="749808"/>
          </a:xfrm>
          <a:prstGeom prst="rect">
            <a:avLst/>
          </a:prstGeom>
          <a:noFill/>
          <a:ln/>
        </p:spPr>
        <p:txBody>
          <a:bodyPr wrap="square" lIns="0" tIns="0" rIns="0" bIns="0" rtlCol="0" anchor="ctr"/>
          <a:lstStyle/>
          <a:p>
            <a:pPr indent="0" marL="0">
              <a:lnSpc>
                <a:spcPct val="116000"/>
              </a:lnSpc>
              <a:buNone/>
            </a:pPr>
            <a:r>
              <a:rPr lang="en-US" sz="1000" dirty="0">
                <a:solidFill>
                  <a:srgbClr val="3D352F"/>
                </a:solidFill>
                <a:latin typeface="Arial" pitchFamily="34" charset="0"/>
                <a:ea typeface="Arial" pitchFamily="34" charset="-122"/>
                <a:cs typeface="Arial" pitchFamily="34" charset="-120"/>
              </a:rPr>
              <a:t>Retrieval-time ACL filter; restricted tier never indexed; PII redaction at intake; scheduled red-team before every expansion.</a:t>
            </a:r>
            <a:endParaRPr lang="en-US" sz="1000" dirty="0"/>
          </a:p>
        </p:txBody>
      </p:sp>
      <p:sp>
        <p:nvSpPr>
          <p:cNvPr id="11" name="Shape 9"/>
          <p:cNvSpPr/>
          <p:nvPr/>
        </p:nvSpPr>
        <p:spPr>
          <a:xfrm>
            <a:off x="822960" y="3557016"/>
            <a:ext cx="10515600" cy="896112"/>
          </a:xfrm>
          <a:prstGeom prst="roundRect">
            <a:avLst>
              <a:gd name="adj" fmla="val 5102"/>
            </a:avLst>
          </a:prstGeom>
          <a:solidFill>
            <a:srgbClr val="FCFAF8"/>
          </a:solidFill>
          <a:ln w="12700">
            <a:solidFill>
              <a:srgbClr val="F0D9CF"/>
            </a:solidFill>
            <a:prstDash val="solid"/>
          </a:ln>
        </p:spPr>
      </p:sp>
      <p:sp>
        <p:nvSpPr>
          <p:cNvPr id="12" name="Text 10"/>
          <p:cNvSpPr txBox="1"/>
          <p:nvPr/>
        </p:nvSpPr>
        <p:spPr>
          <a:xfrm>
            <a:off x="1078992" y="3675888"/>
            <a:ext cx="3566160" cy="685800"/>
          </a:xfrm>
          <a:prstGeom prst="rect">
            <a:avLst/>
          </a:prstGeom>
          <a:noFill/>
          <a:ln/>
        </p:spPr>
        <p:txBody>
          <a:bodyPr wrap="square" lIns="0" tIns="0" rIns="0" bIns="0" rtlCol="0" anchor="ctr"/>
          <a:lstStyle/>
          <a:p>
            <a:pPr indent="0" marL="0">
              <a:buNone/>
            </a:pPr>
            <a:r>
              <a:rPr lang="en-US" sz="1150" b="1" dirty="0">
                <a:solidFill>
                  <a:srgbClr val="A83218"/>
                </a:solidFill>
                <a:latin typeface="Arial" pitchFamily="34" charset="0"/>
                <a:ea typeface="Arial" pitchFamily="34" charset="-122"/>
                <a:cs typeface="Arial" pitchFamily="34" charset="-120"/>
              </a:rPr>
              <a:t>One bad answer collapses trust</a:t>
            </a:r>
            <a:endParaRPr lang="en-US" sz="1150" dirty="0"/>
          </a:p>
        </p:txBody>
      </p:sp>
      <p:sp>
        <p:nvSpPr>
          <p:cNvPr id="13" name="Text 11"/>
          <p:cNvSpPr txBox="1"/>
          <p:nvPr/>
        </p:nvSpPr>
        <p:spPr>
          <a:xfrm>
            <a:off x="4800600" y="3639312"/>
            <a:ext cx="6309360" cy="749808"/>
          </a:xfrm>
          <a:prstGeom prst="rect">
            <a:avLst/>
          </a:prstGeom>
          <a:noFill/>
          <a:ln/>
        </p:spPr>
        <p:txBody>
          <a:bodyPr wrap="square" lIns="0" tIns="0" rIns="0" bIns="0" rtlCol="0" anchor="ctr"/>
          <a:lstStyle/>
          <a:p>
            <a:pPr indent="0" marL="0">
              <a:lnSpc>
                <a:spcPct val="116000"/>
              </a:lnSpc>
              <a:buNone/>
            </a:pPr>
            <a:r>
              <a:rPr lang="en-US" sz="1000" dirty="0">
                <a:solidFill>
                  <a:srgbClr val="3D352F"/>
                </a:solidFill>
                <a:latin typeface="Arial" pitchFamily="34" charset="0"/>
                <a:ea typeface="Arial" pitchFamily="34" charset="-122"/>
                <a:cs typeface="Arial" pitchFamily="34" charset="-120"/>
              </a:rPr>
              <a:t>Ship to 3–5 design partners first; measure whether people stop double-checking; never let an unverified answer leave the building.</a:t>
            </a:r>
            <a:endParaRPr lang="en-US" sz="1000" dirty="0"/>
          </a:p>
        </p:txBody>
      </p:sp>
      <p:sp>
        <p:nvSpPr>
          <p:cNvPr id="14" name="Shape 12"/>
          <p:cNvSpPr/>
          <p:nvPr/>
        </p:nvSpPr>
        <p:spPr>
          <a:xfrm>
            <a:off x="822960" y="4581144"/>
            <a:ext cx="10515600" cy="896112"/>
          </a:xfrm>
          <a:prstGeom prst="roundRect">
            <a:avLst>
              <a:gd name="adj" fmla="val 5102"/>
            </a:avLst>
          </a:prstGeom>
          <a:solidFill>
            <a:srgbClr val="FCFAF8"/>
          </a:solidFill>
          <a:ln w="12700">
            <a:solidFill>
              <a:srgbClr val="F0D9CF"/>
            </a:solidFill>
            <a:prstDash val="solid"/>
          </a:ln>
        </p:spPr>
      </p:sp>
      <p:sp>
        <p:nvSpPr>
          <p:cNvPr id="15" name="Text 13"/>
          <p:cNvSpPr txBox="1"/>
          <p:nvPr/>
        </p:nvSpPr>
        <p:spPr>
          <a:xfrm>
            <a:off x="1078992" y="4700016"/>
            <a:ext cx="3566160" cy="685800"/>
          </a:xfrm>
          <a:prstGeom prst="rect">
            <a:avLst/>
          </a:prstGeom>
          <a:noFill/>
          <a:ln/>
        </p:spPr>
        <p:txBody>
          <a:bodyPr wrap="square" lIns="0" tIns="0" rIns="0" bIns="0" rtlCol="0" anchor="ctr"/>
          <a:lstStyle/>
          <a:p>
            <a:pPr indent="0" marL="0">
              <a:buNone/>
            </a:pPr>
            <a:r>
              <a:rPr lang="en-US" sz="1150" b="1" dirty="0">
                <a:solidFill>
                  <a:srgbClr val="A83218"/>
                </a:solidFill>
                <a:latin typeface="Arial" pitchFamily="34" charset="0"/>
                <a:ea typeface="Arial" pitchFamily="34" charset="-122"/>
                <a:cs typeface="Arial" pitchFamily="34" charset="-120"/>
              </a:rPr>
              <a:t>Zoom Chat privacy blowback</a:t>
            </a:r>
            <a:endParaRPr lang="en-US" sz="1150" dirty="0"/>
          </a:p>
        </p:txBody>
      </p:sp>
      <p:sp>
        <p:nvSpPr>
          <p:cNvPr id="16" name="Text 14"/>
          <p:cNvSpPr txBox="1"/>
          <p:nvPr/>
        </p:nvSpPr>
        <p:spPr>
          <a:xfrm>
            <a:off x="4800600" y="4663440"/>
            <a:ext cx="6309360" cy="749808"/>
          </a:xfrm>
          <a:prstGeom prst="rect">
            <a:avLst/>
          </a:prstGeom>
          <a:noFill/>
          <a:ln/>
        </p:spPr>
        <p:txBody>
          <a:bodyPr wrap="square" lIns="0" tIns="0" rIns="0" bIns="0" rtlCol="0" anchor="ctr"/>
          <a:lstStyle/>
          <a:p>
            <a:pPr indent="0" marL="0">
              <a:lnSpc>
                <a:spcPct val="116000"/>
              </a:lnSpc>
              <a:buNone/>
            </a:pPr>
            <a:r>
              <a:rPr lang="en-US" sz="1000" dirty="0">
                <a:solidFill>
                  <a:srgbClr val="3D352F"/>
                </a:solidFill>
                <a:latin typeface="Arial" pitchFamily="34" charset="0"/>
                <a:ea typeface="Arial" pitchFamily="34" charset="-122"/>
                <a:cs typeface="Arial" pitchFamily="34" charset="-120"/>
              </a:rPr>
              <a:t>Deferred entirely from v1; public channels only if ever; DMs and private channels permanently excluded; staff disclosure first.</a:t>
            </a:r>
            <a:endParaRPr lang="en-US" sz="1000" dirty="0"/>
          </a:p>
        </p:txBody>
      </p:sp>
      <p:sp>
        <p:nvSpPr>
          <p:cNvPr id="17" name="Shape 15"/>
          <p:cNvSpPr/>
          <p:nvPr/>
        </p:nvSpPr>
        <p:spPr>
          <a:xfrm>
            <a:off x="822960" y="5605272"/>
            <a:ext cx="10515600" cy="896112"/>
          </a:xfrm>
          <a:prstGeom prst="roundRect">
            <a:avLst>
              <a:gd name="adj" fmla="val 5102"/>
            </a:avLst>
          </a:prstGeom>
          <a:solidFill>
            <a:srgbClr val="FCFAF8"/>
          </a:solidFill>
          <a:ln w="12700">
            <a:solidFill>
              <a:srgbClr val="F0D9CF"/>
            </a:solidFill>
            <a:prstDash val="solid"/>
          </a:ln>
        </p:spPr>
      </p:sp>
      <p:sp>
        <p:nvSpPr>
          <p:cNvPr id="18" name="Text 16"/>
          <p:cNvSpPr txBox="1"/>
          <p:nvPr/>
        </p:nvSpPr>
        <p:spPr>
          <a:xfrm>
            <a:off x="1078992" y="5724144"/>
            <a:ext cx="3566160" cy="685800"/>
          </a:xfrm>
          <a:prstGeom prst="rect">
            <a:avLst/>
          </a:prstGeom>
          <a:noFill/>
          <a:ln/>
        </p:spPr>
        <p:txBody>
          <a:bodyPr wrap="square" lIns="0" tIns="0" rIns="0" bIns="0" rtlCol="0" anchor="ctr"/>
          <a:lstStyle/>
          <a:p>
            <a:pPr indent="0" marL="0">
              <a:buNone/>
            </a:pPr>
            <a:r>
              <a:rPr lang="en-US" sz="1150" b="1" dirty="0">
                <a:solidFill>
                  <a:srgbClr val="A83218"/>
                </a:solidFill>
                <a:latin typeface="Arial" pitchFamily="34" charset="0"/>
                <a:ea typeface="Arial" pitchFamily="34" charset="-122"/>
                <a:cs typeface="Arial" pitchFamily="34" charset="-120"/>
              </a:rPr>
              <a:t>Silent data loss or double-counting</a:t>
            </a:r>
            <a:endParaRPr lang="en-US" sz="1150" dirty="0"/>
          </a:p>
        </p:txBody>
      </p:sp>
      <p:sp>
        <p:nvSpPr>
          <p:cNvPr id="19" name="Text 17"/>
          <p:cNvSpPr txBox="1"/>
          <p:nvPr/>
        </p:nvSpPr>
        <p:spPr>
          <a:xfrm>
            <a:off x="4800600" y="5687568"/>
            <a:ext cx="6309360" cy="749808"/>
          </a:xfrm>
          <a:prstGeom prst="rect">
            <a:avLst/>
          </a:prstGeom>
          <a:noFill/>
          <a:ln/>
        </p:spPr>
        <p:txBody>
          <a:bodyPr wrap="square" lIns="0" tIns="0" rIns="0" bIns="0" rtlCol="0" anchor="ctr"/>
          <a:lstStyle/>
          <a:p>
            <a:pPr indent="0" marL="0">
              <a:lnSpc>
                <a:spcPct val="116000"/>
              </a:lnSpc>
              <a:buNone/>
            </a:pPr>
            <a:r>
              <a:rPr lang="en-US" sz="1000" dirty="0">
                <a:solidFill>
                  <a:srgbClr val="3D352F"/>
                </a:solidFill>
                <a:latin typeface="Arial" pitchFamily="34" charset="0"/>
                <a:ea typeface="Arial" pitchFamily="34" charset="-122"/>
                <a:cs typeface="Arial" pitchFamily="34" charset="-120"/>
              </a:rPr>
              <a:t>Every item accounted for; reconcile against the grant spine; exact + near + cross-system de-dupe with reversible merges.</a:t>
            </a:r>
            <a:endParaRPr lang="en-US" sz="1000" dirty="0"/>
          </a:p>
        </p:txBody>
      </p:sp>
      <p:sp>
        <p:nvSpPr>
          <p:cNvPr id="20" name="Text 18"/>
          <p:cNvSpPr txBox="1"/>
          <p:nvPr/>
        </p:nvSpPr>
        <p:spPr>
          <a:xfrm>
            <a:off x="11551615" y="6355080"/>
            <a:ext cx="365760" cy="274320"/>
          </a:xfrm>
          <a:prstGeom prst="rect">
            <a:avLst/>
          </a:prstGeom>
          <a:noFill/>
          <a:ln/>
        </p:spPr>
        <p:txBody>
          <a:bodyPr wrap="square" lIns="0" tIns="0" rIns="0" bIns="0" rtlCol="0" anchor="ctr"/>
          <a:lstStyle/>
          <a:p>
            <a:pPr algn="r" indent="0" marL="0">
              <a:buNone/>
            </a:pPr>
            <a:r>
              <a:rPr lang="en-US" sz="900" dirty="0">
                <a:solidFill>
                  <a:srgbClr val="7A716A"/>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566928"/>
            <a:ext cx="384048" cy="384048"/>
          </a:xfrm>
          <a:prstGeom prst="ellipse">
            <a:avLst/>
          </a:prstGeom>
          <a:solidFill>
            <a:srgbClr val="DF4329"/>
          </a:solidFill>
          <a:ln/>
        </p:spPr>
      </p:sp>
      <p:sp>
        <p:nvSpPr>
          <p:cNvPr id="3" name="Text 1"/>
          <p:cNvSpPr txBox="1"/>
          <p:nvPr/>
        </p:nvSpPr>
        <p:spPr>
          <a:xfrm>
            <a:off x="822960" y="557784"/>
            <a:ext cx="38404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4" name="Text 2"/>
          <p:cNvSpPr txBox="1"/>
          <p:nvPr/>
        </p:nvSpPr>
        <p:spPr>
          <a:xfrm>
            <a:off x="1371600" y="548640"/>
            <a:ext cx="10058400" cy="502920"/>
          </a:xfrm>
          <a:prstGeom prst="rect">
            <a:avLst/>
          </a:prstGeom>
          <a:noFill/>
          <a:ln/>
        </p:spPr>
        <p:txBody>
          <a:bodyPr wrap="square" lIns="0" tIns="0" rIns="0" bIns="0" rtlCol="0" anchor="ctr"/>
          <a:lstStyle/>
          <a:p>
            <a:pPr indent="0" marL="0">
              <a:buNone/>
            </a:pPr>
            <a:r>
              <a:rPr lang="en-US" sz="2100" b="1" dirty="0">
                <a:solidFill>
                  <a:srgbClr val="1E1712"/>
                </a:solidFill>
                <a:latin typeface="Arial" pitchFamily="34" charset="0"/>
                <a:ea typeface="Arial" pitchFamily="34" charset="-122"/>
                <a:cs typeface="Arial" pitchFamily="34" charset="-120"/>
              </a:rPr>
              <a:t>Tradeoffs — deliberately out of v1</a:t>
            </a:r>
            <a:endParaRPr lang="en-US" sz="2100" dirty="0"/>
          </a:p>
        </p:txBody>
      </p:sp>
      <p:sp>
        <p:nvSpPr>
          <p:cNvPr id="5" name="Text 3"/>
          <p:cNvSpPr txBox="1"/>
          <p:nvPr/>
        </p:nvSpPr>
        <p:spPr>
          <a:xfrm>
            <a:off x="822960" y="1097280"/>
            <a:ext cx="10515600" cy="457200"/>
          </a:xfrm>
          <a:prstGeom prst="rect">
            <a:avLst/>
          </a:prstGeom>
          <a:noFill/>
          <a:ln/>
        </p:spPr>
        <p:txBody>
          <a:bodyPr wrap="square" lIns="0" tIns="0" rIns="0" bIns="0" rtlCol="0" anchor="ctr"/>
          <a:lstStyle/>
          <a:p>
            <a:pPr indent="0" marL="0">
              <a:buNone/>
            </a:pPr>
            <a:r>
              <a:rPr lang="en-US" sz="1150" i="1" dirty="0">
                <a:solidFill>
                  <a:srgbClr val="7A716A"/>
                </a:solidFill>
                <a:latin typeface="Arial" pitchFamily="34" charset="0"/>
                <a:ea typeface="Arial" pitchFamily="34" charset="-122"/>
                <a:cs typeface="Arial" pitchFamily="34" charset="-120"/>
              </a:rPr>
              <a:t>Every deferral removes risk without removing the core value: ask five years of grant knowledge one question, get a cited answer.</a:t>
            </a:r>
            <a:endParaRPr lang="en-US" sz="1150" dirty="0"/>
          </a:p>
        </p:txBody>
      </p:sp>
      <p:sp>
        <p:nvSpPr>
          <p:cNvPr id="6" name="Text 4"/>
          <p:cNvSpPr txBox="1"/>
          <p:nvPr/>
        </p:nvSpPr>
        <p:spPr>
          <a:xfrm>
            <a:off x="822960" y="1783080"/>
            <a:ext cx="274320" cy="365760"/>
          </a:xfrm>
          <a:prstGeom prst="rect">
            <a:avLst/>
          </a:prstGeom>
          <a:noFill/>
          <a:ln/>
        </p:spPr>
        <p:txBody>
          <a:bodyPr wrap="square" lIns="0" tIns="0" rIns="0" bIns="0" rtlCol="0" anchor="ctr"/>
          <a:lstStyle/>
          <a:p>
            <a:pPr indent="0" marL="0">
              <a:buNone/>
            </a:pPr>
            <a:r>
              <a:rPr lang="en-US" sz="1200" b="1" dirty="0">
                <a:solidFill>
                  <a:srgbClr val="DF4329"/>
                </a:solidFill>
                <a:latin typeface="Arial" pitchFamily="34" charset="0"/>
                <a:ea typeface="Arial" pitchFamily="34" charset="-122"/>
                <a:cs typeface="Arial" pitchFamily="34" charset="-120"/>
              </a:rPr>
              <a:t>✕</a:t>
            </a:r>
            <a:endParaRPr lang="en-US" sz="1200" dirty="0"/>
          </a:p>
        </p:txBody>
      </p:sp>
      <p:sp>
        <p:nvSpPr>
          <p:cNvPr id="7" name="Text 5"/>
          <p:cNvSpPr txBox="1"/>
          <p:nvPr/>
        </p:nvSpPr>
        <p:spPr>
          <a:xfrm>
            <a:off x="1188720" y="1737360"/>
            <a:ext cx="10149840" cy="777240"/>
          </a:xfrm>
          <a:prstGeom prst="rect">
            <a:avLst/>
          </a:prstGeom>
          <a:noFill/>
          <a:ln/>
        </p:spPr>
        <p:txBody>
          <a:bodyPr wrap="square" lIns="0" tIns="0" rIns="0" bIns="0" rtlCol="0" anchor="ctr"/>
          <a:lstStyle/>
          <a:p>
            <a:pPr indent="0" marL="0">
              <a:lnSpc>
                <a:spcPct val="116000"/>
              </a:lnSpc>
              <a:buNone/>
            </a:pPr>
            <a:r>
              <a:rPr lang="en-US" sz="1050" b="1" dirty="0">
                <a:solidFill>
                  <a:srgbClr val="1E1712"/>
                </a:solidFill>
                <a:latin typeface="Arial" pitchFamily="34" charset="0"/>
                <a:ea typeface="Arial" pitchFamily="34" charset="-122"/>
                <a:cs typeface="Arial" pitchFamily="34" charset="-120"/>
              </a:rPr>
              <a:t>Zoom Chat ingestion
</a:t>
            </a:r>
            <a:pPr indent="0" marL="0">
              <a:lnSpc>
                <a:spcPct val="116000"/>
              </a:lnSpc>
              <a:buNone/>
            </a:pPr>
            <a:r>
              <a:rPr lang="en-US" sz="1050" dirty="0">
                <a:solidFill>
                  <a:srgbClr val="3D352F"/>
                </a:solidFill>
                <a:latin typeface="Arial" pitchFamily="34" charset="0"/>
                <a:ea typeface="Arial" pitchFamily="34" charset="-122"/>
                <a:cs typeface="Arial" pitchFamily="34" charset="-120"/>
              </a:rPr>
              <a:t>Highest privacy risk, messiest data, uncertain retention; the real decisions are usually written up elsewhere.</a:t>
            </a:r>
            <a:endParaRPr lang="en-US" sz="1050" dirty="0"/>
          </a:p>
        </p:txBody>
      </p:sp>
      <p:sp>
        <p:nvSpPr>
          <p:cNvPr id="8" name="Text 6"/>
          <p:cNvSpPr txBox="1"/>
          <p:nvPr/>
        </p:nvSpPr>
        <p:spPr>
          <a:xfrm>
            <a:off x="822960" y="2578608"/>
            <a:ext cx="274320" cy="365760"/>
          </a:xfrm>
          <a:prstGeom prst="rect">
            <a:avLst/>
          </a:prstGeom>
          <a:noFill/>
          <a:ln/>
        </p:spPr>
        <p:txBody>
          <a:bodyPr wrap="square" lIns="0" tIns="0" rIns="0" bIns="0" rtlCol="0" anchor="ctr"/>
          <a:lstStyle/>
          <a:p>
            <a:pPr indent="0" marL="0">
              <a:buNone/>
            </a:pPr>
            <a:r>
              <a:rPr lang="en-US" sz="1200" b="1" dirty="0">
                <a:solidFill>
                  <a:srgbClr val="DF4329"/>
                </a:solidFill>
                <a:latin typeface="Arial" pitchFamily="34" charset="0"/>
                <a:ea typeface="Arial" pitchFamily="34" charset="-122"/>
                <a:cs typeface="Arial" pitchFamily="34" charset="-120"/>
              </a:rPr>
              <a:t>✕</a:t>
            </a:r>
            <a:endParaRPr lang="en-US" sz="1200" dirty="0"/>
          </a:p>
        </p:txBody>
      </p:sp>
      <p:sp>
        <p:nvSpPr>
          <p:cNvPr id="9" name="Text 7"/>
          <p:cNvSpPr txBox="1"/>
          <p:nvPr/>
        </p:nvSpPr>
        <p:spPr>
          <a:xfrm>
            <a:off x="1188720" y="2532888"/>
            <a:ext cx="10149840" cy="777240"/>
          </a:xfrm>
          <a:prstGeom prst="rect">
            <a:avLst/>
          </a:prstGeom>
          <a:noFill/>
          <a:ln/>
        </p:spPr>
        <p:txBody>
          <a:bodyPr wrap="square" lIns="0" tIns="0" rIns="0" bIns="0" rtlCol="0" anchor="ctr"/>
          <a:lstStyle/>
          <a:p>
            <a:pPr indent="0" marL="0">
              <a:lnSpc>
                <a:spcPct val="116000"/>
              </a:lnSpc>
              <a:buNone/>
            </a:pPr>
            <a:r>
              <a:rPr lang="en-US" sz="1050" b="1" dirty="0">
                <a:solidFill>
                  <a:srgbClr val="1E1712"/>
                </a:solidFill>
                <a:latin typeface="Arial" pitchFamily="34" charset="0"/>
                <a:ea typeface="Arial" pitchFamily="34" charset="-122"/>
                <a:cs typeface="Arial" pitchFamily="34" charset="-120"/>
              </a:rPr>
              <a:t>Any write-back to source systems
</a:t>
            </a:r>
            <a:pPr indent="0" marL="0">
              <a:lnSpc>
                <a:spcPct val="116000"/>
              </a:lnSpc>
              <a:buNone/>
            </a:pPr>
            <a:r>
              <a:rPr lang="en-US" sz="1050" dirty="0">
                <a:solidFill>
                  <a:srgbClr val="3D352F"/>
                </a:solidFill>
                <a:latin typeface="Arial" pitchFamily="34" charset="0"/>
                <a:ea typeface="Arial" pitchFamily="34" charset="-122"/>
                <a:cs typeface="Arial" pitchFamily="34" charset="-120"/>
              </a:rPr>
              <a:t>Read-only Q&amp;A has a fraction of the risk surface. Actions come only once the read path is trusted.</a:t>
            </a:r>
            <a:endParaRPr lang="en-US" sz="1050" dirty="0"/>
          </a:p>
        </p:txBody>
      </p:sp>
      <p:sp>
        <p:nvSpPr>
          <p:cNvPr id="10" name="Text 8"/>
          <p:cNvSpPr txBox="1"/>
          <p:nvPr/>
        </p:nvSpPr>
        <p:spPr>
          <a:xfrm>
            <a:off x="822960" y="3374136"/>
            <a:ext cx="274320" cy="365760"/>
          </a:xfrm>
          <a:prstGeom prst="rect">
            <a:avLst/>
          </a:prstGeom>
          <a:noFill/>
          <a:ln/>
        </p:spPr>
        <p:txBody>
          <a:bodyPr wrap="square" lIns="0" tIns="0" rIns="0" bIns="0" rtlCol="0" anchor="ctr"/>
          <a:lstStyle/>
          <a:p>
            <a:pPr indent="0" marL="0">
              <a:buNone/>
            </a:pPr>
            <a:r>
              <a:rPr lang="en-US" sz="1200" b="1" dirty="0">
                <a:solidFill>
                  <a:srgbClr val="DF4329"/>
                </a:solidFill>
                <a:latin typeface="Arial" pitchFamily="34" charset="0"/>
                <a:ea typeface="Arial" pitchFamily="34" charset="-122"/>
                <a:cs typeface="Arial" pitchFamily="34" charset="-120"/>
              </a:rPr>
              <a:t>✕</a:t>
            </a:r>
            <a:endParaRPr lang="en-US" sz="1200" dirty="0"/>
          </a:p>
        </p:txBody>
      </p:sp>
      <p:sp>
        <p:nvSpPr>
          <p:cNvPr id="11" name="Text 9"/>
          <p:cNvSpPr txBox="1"/>
          <p:nvPr/>
        </p:nvSpPr>
        <p:spPr>
          <a:xfrm>
            <a:off x="1188720" y="3328416"/>
            <a:ext cx="10149840" cy="777240"/>
          </a:xfrm>
          <a:prstGeom prst="rect">
            <a:avLst/>
          </a:prstGeom>
          <a:noFill/>
          <a:ln/>
        </p:spPr>
        <p:txBody>
          <a:bodyPr wrap="square" lIns="0" tIns="0" rIns="0" bIns="0" rtlCol="0" anchor="ctr"/>
          <a:lstStyle/>
          <a:p>
            <a:pPr indent="0" marL="0">
              <a:lnSpc>
                <a:spcPct val="116000"/>
              </a:lnSpc>
              <a:buNone/>
            </a:pPr>
            <a:r>
              <a:rPr lang="en-US" sz="1050" b="1" dirty="0">
                <a:solidFill>
                  <a:srgbClr val="1E1712"/>
                </a:solidFill>
                <a:latin typeface="Arial" pitchFamily="34" charset="0"/>
                <a:ea typeface="Arial" pitchFamily="34" charset="-122"/>
                <a:cs typeface="Arial" pitchFamily="34" charset="-120"/>
              </a:rPr>
              <a:t>Full five-year backfill on day one
</a:t>
            </a:r>
            <a:pPr indent="0" marL="0">
              <a:lnSpc>
                <a:spcPct val="116000"/>
              </a:lnSpc>
              <a:buNone/>
            </a:pPr>
            <a:r>
              <a:rPr lang="en-US" sz="1050" dirty="0">
                <a:solidFill>
                  <a:srgbClr val="3D352F"/>
                </a:solidFill>
                <a:latin typeface="Arial" pitchFamily="34" charset="0"/>
                <a:ea typeface="Arial" pitchFamily="34" charset="-122"/>
                <a:cs typeface="Arial" pitchFamily="34" charset="-120"/>
              </a:rPr>
              <a:t>Start with ~3 years plus active grants — higher quality, answers most decisions — then extend.</a:t>
            </a:r>
            <a:endParaRPr lang="en-US" sz="1050" dirty="0"/>
          </a:p>
        </p:txBody>
      </p:sp>
      <p:sp>
        <p:nvSpPr>
          <p:cNvPr id="12" name="Text 10"/>
          <p:cNvSpPr txBox="1"/>
          <p:nvPr/>
        </p:nvSpPr>
        <p:spPr>
          <a:xfrm>
            <a:off x="822960" y="4169664"/>
            <a:ext cx="274320" cy="365760"/>
          </a:xfrm>
          <a:prstGeom prst="rect">
            <a:avLst/>
          </a:prstGeom>
          <a:noFill/>
          <a:ln/>
        </p:spPr>
        <p:txBody>
          <a:bodyPr wrap="square" lIns="0" tIns="0" rIns="0" bIns="0" rtlCol="0" anchor="ctr"/>
          <a:lstStyle/>
          <a:p>
            <a:pPr indent="0" marL="0">
              <a:buNone/>
            </a:pPr>
            <a:r>
              <a:rPr lang="en-US" sz="1200" b="1" dirty="0">
                <a:solidFill>
                  <a:srgbClr val="DF4329"/>
                </a:solidFill>
                <a:latin typeface="Arial" pitchFamily="34" charset="0"/>
                <a:ea typeface="Arial" pitchFamily="34" charset="-122"/>
                <a:cs typeface="Arial" pitchFamily="34" charset="-120"/>
              </a:rPr>
              <a:t>✕</a:t>
            </a:r>
            <a:endParaRPr lang="en-US" sz="1200" dirty="0"/>
          </a:p>
        </p:txBody>
      </p:sp>
      <p:sp>
        <p:nvSpPr>
          <p:cNvPr id="13" name="Text 11"/>
          <p:cNvSpPr txBox="1"/>
          <p:nvPr/>
        </p:nvSpPr>
        <p:spPr>
          <a:xfrm>
            <a:off x="1188720" y="4123944"/>
            <a:ext cx="10149840" cy="777240"/>
          </a:xfrm>
          <a:prstGeom prst="rect">
            <a:avLst/>
          </a:prstGeom>
          <a:noFill/>
          <a:ln/>
        </p:spPr>
        <p:txBody>
          <a:bodyPr wrap="square" lIns="0" tIns="0" rIns="0" bIns="0" rtlCol="0" anchor="ctr"/>
          <a:lstStyle/>
          <a:p>
            <a:pPr indent="0" marL="0">
              <a:lnSpc>
                <a:spcPct val="116000"/>
              </a:lnSpc>
              <a:buNone/>
            </a:pPr>
            <a:r>
              <a:rPr lang="en-US" sz="1050" b="1" dirty="0">
                <a:solidFill>
                  <a:srgbClr val="1E1712"/>
                </a:solidFill>
                <a:latin typeface="Arial" pitchFamily="34" charset="0"/>
                <a:ea typeface="Arial" pitchFamily="34" charset="-122"/>
                <a:cs typeface="Arial" pitchFamily="34" charset="-120"/>
              </a:rPr>
              <a:t>Fine-tuning on Foundation data
</a:t>
            </a:r>
            <a:pPr indent="0" marL="0">
              <a:lnSpc>
                <a:spcPct val="116000"/>
              </a:lnSpc>
              <a:buNone/>
            </a:pPr>
            <a:r>
              <a:rPr lang="en-US" sz="1050" dirty="0">
                <a:solidFill>
                  <a:srgbClr val="3D352F"/>
                </a:solidFill>
                <a:latin typeface="Arial" pitchFamily="34" charset="0"/>
                <a:ea typeface="Arial" pitchFamily="34" charset="-122"/>
                <a:cs typeface="Arial" pitchFamily="34" charset="-120"/>
              </a:rPr>
              <a:t>Retrieval-only is cheaper and safer, and keeps sensitive data out of model weights.</a:t>
            </a:r>
            <a:endParaRPr lang="en-US" sz="1050" dirty="0"/>
          </a:p>
        </p:txBody>
      </p:sp>
      <p:sp>
        <p:nvSpPr>
          <p:cNvPr id="14" name="Text 12"/>
          <p:cNvSpPr txBox="1"/>
          <p:nvPr/>
        </p:nvSpPr>
        <p:spPr>
          <a:xfrm>
            <a:off x="822960" y="4965192"/>
            <a:ext cx="274320" cy="365760"/>
          </a:xfrm>
          <a:prstGeom prst="rect">
            <a:avLst/>
          </a:prstGeom>
          <a:noFill/>
          <a:ln/>
        </p:spPr>
        <p:txBody>
          <a:bodyPr wrap="square" lIns="0" tIns="0" rIns="0" bIns="0" rtlCol="0" anchor="ctr"/>
          <a:lstStyle/>
          <a:p>
            <a:pPr indent="0" marL="0">
              <a:buNone/>
            </a:pPr>
            <a:r>
              <a:rPr lang="en-US" sz="1200" b="1" dirty="0">
                <a:solidFill>
                  <a:srgbClr val="DF4329"/>
                </a:solidFill>
                <a:latin typeface="Arial" pitchFamily="34" charset="0"/>
                <a:ea typeface="Arial" pitchFamily="34" charset="-122"/>
                <a:cs typeface="Arial" pitchFamily="34" charset="-120"/>
              </a:rPr>
              <a:t>✕</a:t>
            </a:r>
            <a:endParaRPr lang="en-US" sz="1200" dirty="0"/>
          </a:p>
        </p:txBody>
      </p:sp>
      <p:sp>
        <p:nvSpPr>
          <p:cNvPr id="15" name="Text 13"/>
          <p:cNvSpPr txBox="1"/>
          <p:nvPr/>
        </p:nvSpPr>
        <p:spPr>
          <a:xfrm>
            <a:off x="1188720" y="4919472"/>
            <a:ext cx="10149840" cy="777240"/>
          </a:xfrm>
          <a:prstGeom prst="rect">
            <a:avLst/>
          </a:prstGeom>
          <a:noFill/>
          <a:ln/>
        </p:spPr>
        <p:txBody>
          <a:bodyPr wrap="square" lIns="0" tIns="0" rIns="0" bIns="0" rtlCol="0" anchor="ctr"/>
          <a:lstStyle/>
          <a:p>
            <a:pPr indent="0" marL="0">
              <a:lnSpc>
                <a:spcPct val="116000"/>
              </a:lnSpc>
              <a:buNone/>
            </a:pPr>
            <a:r>
              <a:rPr lang="en-US" sz="1050" b="1" dirty="0">
                <a:solidFill>
                  <a:srgbClr val="1E1712"/>
                </a:solidFill>
                <a:latin typeface="Arial" pitchFamily="34" charset="0"/>
                <a:ea typeface="Arial" pitchFamily="34" charset="-122"/>
                <a:cs typeface="Arial" pitchFamily="34" charset="-120"/>
              </a:rPr>
              <a:t>Org-wide self-serve access
</a:t>
            </a:r>
            <a:pPr indent="0" marL="0">
              <a:lnSpc>
                <a:spcPct val="116000"/>
              </a:lnSpc>
              <a:buNone/>
            </a:pPr>
            <a:r>
              <a:rPr lang="en-US" sz="1050" dirty="0">
                <a:solidFill>
                  <a:srgbClr val="3D352F"/>
                </a:solidFill>
                <a:latin typeface="Arial" pitchFamily="34" charset="0"/>
                <a:ea typeface="Arial" pitchFamily="34" charset="-122"/>
                <a:cs typeface="Arial" pitchFamily="34" charset="-120"/>
              </a:rPr>
              <a:t>v1 is 3–5 Programs design partners. “The whole team” is the goal for a later phase, not the v1 scope.</a:t>
            </a:r>
            <a:endParaRPr lang="en-US" sz="1050" dirty="0"/>
          </a:p>
        </p:txBody>
      </p:sp>
      <p:sp>
        <p:nvSpPr>
          <p:cNvPr id="16" name="Text 14"/>
          <p:cNvSpPr txBox="1"/>
          <p:nvPr/>
        </p:nvSpPr>
        <p:spPr>
          <a:xfrm>
            <a:off x="822960" y="5760720"/>
            <a:ext cx="274320" cy="365760"/>
          </a:xfrm>
          <a:prstGeom prst="rect">
            <a:avLst/>
          </a:prstGeom>
          <a:noFill/>
          <a:ln/>
        </p:spPr>
        <p:txBody>
          <a:bodyPr wrap="square" lIns="0" tIns="0" rIns="0" bIns="0" rtlCol="0" anchor="ctr"/>
          <a:lstStyle/>
          <a:p>
            <a:pPr indent="0" marL="0">
              <a:buNone/>
            </a:pPr>
            <a:r>
              <a:rPr lang="en-US" sz="1200" b="1" dirty="0">
                <a:solidFill>
                  <a:srgbClr val="DF4329"/>
                </a:solidFill>
                <a:latin typeface="Arial" pitchFamily="34" charset="0"/>
                <a:ea typeface="Arial" pitchFamily="34" charset="-122"/>
                <a:cs typeface="Arial" pitchFamily="34" charset="-120"/>
              </a:rPr>
              <a:t>✕</a:t>
            </a:r>
            <a:endParaRPr lang="en-US" sz="1200" dirty="0"/>
          </a:p>
        </p:txBody>
      </p:sp>
      <p:sp>
        <p:nvSpPr>
          <p:cNvPr id="17" name="Text 15"/>
          <p:cNvSpPr txBox="1"/>
          <p:nvPr/>
        </p:nvSpPr>
        <p:spPr>
          <a:xfrm>
            <a:off x="1188720" y="5715000"/>
            <a:ext cx="10149840" cy="777240"/>
          </a:xfrm>
          <a:prstGeom prst="rect">
            <a:avLst/>
          </a:prstGeom>
          <a:noFill/>
          <a:ln/>
        </p:spPr>
        <p:txBody>
          <a:bodyPr wrap="square" lIns="0" tIns="0" rIns="0" bIns="0" rtlCol="0" anchor="ctr"/>
          <a:lstStyle/>
          <a:p>
            <a:pPr indent="0" marL="0">
              <a:lnSpc>
                <a:spcPct val="116000"/>
              </a:lnSpc>
              <a:buNone/>
            </a:pPr>
            <a:r>
              <a:rPr lang="en-US" sz="1050" b="1" dirty="0">
                <a:solidFill>
                  <a:srgbClr val="1E1712"/>
                </a:solidFill>
                <a:latin typeface="Arial" pitchFamily="34" charset="0"/>
                <a:ea typeface="Arial" pitchFamily="34" charset="-122"/>
                <a:cs typeface="Arial" pitchFamily="34" charset="-120"/>
              </a:rPr>
              <a:t>Rebuilding their impact dashboard
</a:t>
            </a:r>
            <a:pPr indent="0" marL="0">
              <a:lnSpc>
                <a:spcPct val="116000"/>
              </a:lnSpc>
              <a:buNone/>
            </a:pPr>
            <a:r>
              <a:rPr lang="en-US" sz="1050" dirty="0">
                <a:solidFill>
                  <a:srgbClr val="3D352F"/>
                </a:solidFill>
                <a:latin typeface="Arial" pitchFamily="34" charset="0"/>
                <a:ea typeface="Arial" pitchFamily="34" charset="-122"/>
                <a:cs typeface="Arial" pitchFamily="34" charset="-120"/>
              </a:rPr>
              <a:t>They already have Tableau for that. Compass answers questions; it is not BI.</a:t>
            </a:r>
            <a:endParaRPr lang="en-US" sz="1050" dirty="0"/>
          </a:p>
        </p:txBody>
      </p:sp>
      <p:sp>
        <p:nvSpPr>
          <p:cNvPr id="18" name="Text 16"/>
          <p:cNvSpPr txBox="1"/>
          <p:nvPr/>
        </p:nvSpPr>
        <p:spPr>
          <a:xfrm>
            <a:off x="11551615" y="6355080"/>
            <a:ext cx="365760" cy="274320"/>
          </a:xfrm>
          <a:prstGeom prst="rect">
            <a:avLst/>
          </a:prstGeom>
          <a:noFill/>
          <a:ln/>
        </p:spPr>
        <p:txBody>
          <a:bodyPr wrap="square" lIns="0" tIns="0" rIns="0" bIns="0" rtlCol="0" anchor="ctr"/>
          <a:lstStyle/>
          <a:p>
            <a:pPr algn="r" indent="0" marL="0">
              <a:buNone/>
            </a:pPr>
            <a:r>
              <a:rPr lang="en-US" sz="900" dirty="0">
                <a:solidFill>
                  <a:srgbClr val="7A716A"/>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1712"/>
        </a:solidFill>
      </p:bgPr>
    </p:bg>
    <p:spTree>
      <p:nvGrpSpPr>
        <p:cNvPr id="1" name=""/>
        <p:cNvGrpSpPr/>
        <p:nvPr/>
      </p:nvGrpSpPr>
      <p:grpSpPr>
        <a:xfrm>
          <a:off x="0" y="0"/>
          <a:ext cx="0" cy="0"/>
          <a:chOff x="0" y="0"/>
          <a:chExt cx="0" cy="0"/>
        </a:xfrm>
      </p:grpSpPr>
      <p:sp>
        <p:nvSpPr>
          <p:cNvPr id="2" name="Text 0"/>
          <p:cNvSpPr txBox="1"/>
          <p:nvPr/>
        </p:nvSpPr>
        <p:spPr>
          <a:xfrm>
            <a:off x="822960" y="731520"/>
            <a:ext cx="5486400" cy="274320"/>
          </a:xfrm>
          <a:prstGeom prst="rect">
            <a:avLst/>
          </a:prstGeom>
          <a:noFill/>
          <a:ln/>
        </p:spPr>
        <p:txBody>
          <a:bodyPr wrap="square" lIns="0" tIns="0" rIns="0" bIns="0" rtlCol="0" anchor="ctr"/>
          <a:lstStyle/>
          <a:p>
            <a:pPr indent="0" marL="0">
              <a:buNone/>
            </a:pPr>
            <a:r>
              <a:rPr lang="en-US" sz="1100" b="1" spc="300" kern="0" dirty="0">
                <a:solidFill>
                  <a:srgbClr val="E8A33D"/>
                </a:solidFill>
                <a:latin typeface="Arial" pitchFamily="34" charset="0"/>
                <a:ea typeface="Arial" pitchFamily="34" charset="-122"/>
                <a:cs typeface="Arial" pitchFamily="34" charset="-120"/>
              </a:rPr>
              <a:t>THE PILLAR, NOT A LATER PHASE</a:t>
            </a:r>
            <a:endParaRPr lang="en-US" sz="1100" dirty="0"/>
          </a:p>
        </p:txBody>
      </p:sp>
      <p:sp>
        <p:nvSpPr>
          <p:cNvPr id="3" name="Text 1"/>
          <p:cNvSpPr txBox="1"/>
          <p:nvPr/>
        </p:nvSpPr>
        <p:spPr>
          <a:xfrm>
            <a:off x="822960" y="1051560"/>
            <a:ext cx="10515600" cy="6400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Security, privacy and compliance</a:t>
            </a:r>
            <a:endParaRPr lang="en-US" sz="2600" dirty="0"/>
          </a:p>
        </p:txBody>
      </p:sp>
      <p:sp>
        <p:nvSpPr>
          <p:cNvPr id="4" name="Text 2"/>
          <p:cNvSpPr txBox="1"/>
          <p:nvPr/>
        </p:nvSpPr>
        <p:spPr>
          <a:xfrm>
            <a:off x="822960" y="1783080"/>
            <a:ext cx="10515600" cy="868680"/>
          </a:xfrm>
          <a:prstGeom prst="rect">
            <a:avLst/>
          </a:prstGeom>
          <a:noFill/>
          <a:ln/>
        </p:spPr>
        <p:txBody>
          <a:bodyPr wrap="square" lIns="0" tIns="0" rIns="0" bIns="0" rtlCol="0" anchor="ctr"/>
          <a:lstStyle/>
          <a:p>
            <a:pPr indent="0" marL="0">
              <a:lnSpc>
                <a:spcPct val="130000"/>
              </a:lnSpc>
              <a:buNone/>
            </a:pPr>
            <a:r>
              <a:rPr lang="en-US" sz="1150" dirty="0">
                <a:solidFill>
                  <a:srgbClr val="CFC6BD"/>
                </a:solidFill>
                <a:latin typeface="Arial" pitchFamily="34" charset="0"/>
                <a:ea typeface="Arial" pitchFamily="34" charset="-122"/>
                <a:cs typeface="Arial" pitchFamily="34" charset="-120"/>
              </a:rPr>
              <a:t>~$20M/yr, five years of records on private companies, nonprofits, co-funders and named participants across the US, Colombia and Kenya — concentrated in one place. Compass is built to be at least as safe as its most sensitive source.</a:t>
            </a:r>
            <a:endParaRPr lang="en-US" sz="1150" dirty="0"/>
          </a:p>
        </p:txBody>
      </p:sp>
      <p:sp>
        <p:nvSpPr>
          <p:cNvPr id="5" name="Text 3"/>
          <p:cNvSpPr txBox="1"/>
          <p:nvPr/>
        </p:nvSpPr>
        <p:spPr>
          <a:xfrm>
            <a:off x="822960" y="2880360"/>
            <a:ext cx="3332378" cy="365760"/>
          </a:xfrm>
          <a:prstGeom prst="rect">
            <a:avLst/>
          </a:prstGeom>
          <a:noFill/>
          <a:ln/>
        </p:spPr>
        <p:txBody>
          <a:bodyPr wrap="square" lIns="0" tIns="0" rIns="0" bIns="0" rtlCol="0" anchor="ctr"/>
          <a:lstStyle/>
          <a:p>
            <a:pPr indent="0" marL="0">
              <a:buNone/>
            </a:pPr>
            <a:r>
              <a:rPr lang="en-US" sz="1300" b="1" dirty="0">
                <a:solidFill>
                  <a:srgbClr val="E8A33D"/>
                </a:solidFill>
                <a:latin typeface="Arial" pitchFamily="34" charset="0"/>
                <a:ea typeface="Arial" pitchFamily="34" charset="-122"/>
                <a:cs typeface="Arial" pitchFamily="34" charset="-120"/>
              </a:rPr>
              <a:t>Built &amp; tested</a:t>
            </a:r>
            <a:endParaRPr lang="en-US" sz="1300" dirty="0"/>
          </a:p>
        </p:txBody>
      </p:sp>
      <p:sp>
        <p:nvSpPr>
          <p:cNvPr id="6" name="Text 4"/>
          <p:cNvSpPr txBox="1"/>
          <p:nvPr/>
        </p:nvSpPr>
        <p:spPr>
          <a:xfrm>
            <a:off x="822960" y="3291840"/>
            <a:ext cx="3332378" cy="301752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000" dirty="0">
                <a:solidFill>
                  <a:srgbClr val="D9D0C8"/>
                </a:solidFill>
                <a:latin typeface="Arial" pitchFamily="34" charset="0"/>
                <a:ea typeface="Arial" pitchFamily="34" charset="-122"/>
                <a:cs typeface="Arial" pitchFamily="34" charset="-120"/>
              </a:rPr>
              <a:t>OIDC verify + fail-closed on a failed group lookup</a:t>
            </a:r>
            <a:endParaRPr lang="en-US" sz="1000" dirty="0"/>
          </a:p>
          <a:p>
            <a:pPr marL="342900" indent="-342900">
              <a:lnSpc>
                <a:spcPct val="115000"/>
              </a:lnSpc>
              <a:spcAft>
                <a:spcPts val="600"/>
              </a:spcAft>
              <a:buSzPct val="100000"/>
              <a:buChar char="•"/>
            </a:pPr>
            <a:r>
              <a:rPr lang="en-US" sz="1000" dirty="0">
                <a:solidFill>
                  <a:srgbClr val="D9D0C8"/>
                </a:solidFill>
                <a:latin typeface="Arial" pitchFamily="34" charset="0"/>
                <a:ea typeface="Arial" pitchFamily="34" charset="-122"/>
                <a:cs typeface="Arial" pitchFamily="34" charset="-120"/>
              </a:rPr>
              <a:t>The ACL filter — in code AND as SQL; 0 leaks</a:t>
            </a:r>
            <a:endParaRPr lang="en-US" sz="1000" dirty="0"/>
          </a:p>
          <a:p>
            <a:pPr marL="342900" indent="-342900">
              <a:lnSpc>
                <a:spcPct val="115000"/>
              </a:lnSpc>
              <a:spcAft>
                <a:spcPts val="600"/>
              </a:spcAft>
              <a:buSzPct val="100000"/>
              <a:buChar char="•"/>
            </a:pPr>
            <a:r>
              <a:rPr lang="en-US" sz="1000" dirty="0">
                <a:solidFill>
                  <a:srgbClr val="D9D0C8"/>
                </a:solidFill>
                <a:latin typeface="Arial" pitchFamily="34" charset="0"/>
                <a:ea typeface="Arial" pitchFamily="34" charset="-122"/>
                <a:cs typeface="Arial" pitchFamily="34" charset="-120"/>
              </a:rPr>
              <a:t>Restricted tier never enters the index; PII quarantined at intake</a:t>
            </a:r>
            <a:endParaRPr lang="en-US" sz="1000" dirty="0"/>
          </a:p>
          <a:p>
            <a:pPr marL="342900" indent="-342900">
              <a:lnSpc>
                <a:spcPct val="115000"/>
              </a:lnSpc>
              <a:spcAft>
                <a:spcPts val="600"/>
              </a:spcAft>
              <a:buSzPct val="100000"/>
              <a:buChar char="•"/>
            </a:pPr>
            <a:r>
              <a:rPr lang="en-US" sz="1000" dirty="0">
                <a:solidFill>
                  <a:srgbClr val="D9D0C8"/>
                </a:solidFill>
                <a:latin typeface="Arial" pitchFamily="34" charset="0"/>
                <a:ea typeface="Arial" pitchFamily="34" charset="-122"/>
                <a:cs typeface="Arial" pitchFamily="34" charset="-120"/>
              </a:rPr>
              <a:t>Hardened response headers (CSP / X-Frame-Options), asserted in CI</a:t>
            </a:r>
            <a:endParaRPr lang="en-US" sz="1000" dirty="0"/>
          </a:p>
          <a:p>
            <a:pPr marL="342900" indent="-342900">
              <a:lnSpc>
                <a:spcPct val="115000"/>
              </a:lnSpc>
              <a:spcAft>
                <a:spcPts val="600"/>
              </a:spcAft>
              <a:buSzPct val="100000"/>
              <a:buChar char="•"/>
            </a:pPr>
            <a:r>
              <a:rPr lang="en-US" sz="1000" dirty="0">
                <a:solidFill>
                  <a:srgbClr val="D9D0C8"/>
                </a:solidFill>
                <a:latin typeface="Arial" pitchFamily="34" charset="0"/>
                <a:ea typeface="Arial" pitchFamily="34" charset="-122"/>
                <a:cs typeface="Arial" pitchFamily="34" charset="-120"/>
              </a:rPr>
              <a:t>Egress allowlist; hash-chained audit log; kill switch; rate limits</a:t>
            </a:r>
            <a:endParaRPr lang="en-US" sz="1000" dirty="0"/>
          </a:p>
        </p:txBody>
      </p:sp>
      <p:sp>
        <p:nvSpPr>
          <p:cNvPr id="7" name="Text 5"/>
          <p:cNvSpPr txBox="1"/>
          <p:nvPr/>
        </p:nvSpPr>
        <p:spPr>
          <a:xfrm>
            <a:off x="4429658" y="2880360"/>
            <a:ext cx="3332378" cy="365760"/>
          </a:xfrm>
          <a:prstGeom prst="rect">
            <a:avLst/>
          </a:prstGeom>
          <a:noFill/>
          <a:ln/>
        </p:spPr>
        <p:txBody>
          <a:bodyPr wrap="square" lIns="0" tIns="0" rIns="0" bIns="0" rtlCol="0" anchor="ctr"/>
          <a:lstStyle/>
          <a:p>
            <a:pPr indent="0" marL="0">
              <a:buNone/>
            </a:pPr>
            <a:r>
              <a:rPr lang="en-US" sz="1300" b="1" dirty="0">
                <a:solidFill>
                  <a:srgbClr val="E8A33D"/>
                </a:solidFill>
                <a:latin typeface="Arial" pitchFamily="34" charset="0"/>
                <a:ea typeface="Arial" pitchFamily="34" charset="-122"/>
                <a:cs typeface="Arial" pitchFamily="34" charset="-120"/>
              </a:rPr>
              <a:t>Built, opt-in / gated</a:t>
            </a:r>
            <a:endParaRPr lang="en-US" sz="1300" dirty="0"/>
          </a:p>
        </p:txBody>
      </p:sp>
      <p:sp>
        <p:nvSpPr>
          <p:cNvPr id="8" name="Text 6"/>
          <p:cNvSpPr txBox="1"/>
          <p:nvPr/>
        </p:nvSpPr>
        <p:spPr>
          <a:xfrm>
            <a:off x="4429658" y="3291840"/>
            <a:ext cx="3332378" cy="301752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000" dirty="0">
                <a:solidFill>
                  <a:srgbClr val="D9D0C8"/>
                </a:solidFill>
                <a:latin typeface="Arial" pitchFamily="34" charset="0"/>
                <a:ea typeface="Arial" pitchFamily="34" charset="-122"/>
                <a:cs typeface="Arial" pitchFamily="34" charset="-120"/>
              </a:rPr>
              <a:t>Enterprise LLM path (zero-retention) — extractive by default</a:t>
            </a:r>
            <a:endParaRPr lang="en-US" sz="1000" dirty="0"/>
          </a:p>
          <a:p>
            <a:pPr marL="342900" indent="-342900">
              <a:lnSpc>
                <a:spcPct val="115000"/>
              </a:lnSpc>
              <a:spcAft>
                <a:spcPts val="600"/>
              </a:spcAft>
              <a:buSzPct val="100000"/>
              <a:buChar char="•"/>
            </a:pPr>
            <a:r>
              <a:rPr lang="en-US" sz="1000" dirty="0">
                <a:solidFill>
                  <a:srgbClr val="D9D0C8"/>
                </a:solidFill>
                <a:latin typeface="Arial" pitchFamily="34" charset="0"/>
                <a:ea typeface="Arial" pitchFamily="34" charset="-122"/>
                <a:cs typeface="Arial" pitchFamily="34" charset="-120"/>
              </a:rPr>
              <a:t>Only retrieved passages sent — never the corpus</a:t>
            </a:r>
            <a:endParaRPr lang="en-US" sz="1000" dirty="0"/>
          </a:p>
          <a:p>
            <a:pPr marL="342900" indent="-342900">
              <a:lnSpc>
                <a:spcPct val="115000"/>
              </a:lnSpc>
              <a:spcAft>
                <a:spcPts val="600"/>
              </a:spcAft>
              <a:buSzPct val="100000"/>
              <a:buChar char="•"/>
            </a:pPr>
            <a:r>
              <a:rPr lang="en-US" sz="1000" dirty="0">
                <a:solidFill>
                  <a:srgbClr val="D9D0C8"/>
                </a:solidFill>
                <a:latin typeface="Arial" pitchFamily="34" charset="0"/>
                <a:ea typeface="Arial" pitchFamily="34" charset="-122"/>
                <a:cs typeface="Arial" pitchFamily="34" charset="-120"/>
              </a:rPr>
              <a:t>Real Google Directory group lookup (cached, fail-closed)</a:t>
            </a:r>
            <a:endParaRPr lang="en-US" sz="1000" dirty="0"/>
          </a:p>
          <a:p>
            <a:pPr marL="342900" indent="-342900">
              <a:lnSpc>
                <a:spcPct val="115000"/>
              </a:lnSpc>
              <a:spcAft>
                <a:spcPts val="600"/>
              </a:spcAft>
              <a:buSzPct val="100000"/>
              <a:buChar char="•"/>
            </a:pPr>
            <a:r>
              <a:rPr lang="en-US" sz="1000" dirty="0">
                <a:solidFill>
                  <a:srgbClr val="D9D0C8"/>
                </a:solidFill>
                <a:latin typeface="Arial" pitchFamily="34" charset="0"/>
                <a:ea typeface="Arial" pitchFamily="34" charset="-122"/>
                <a:cs typeface="Arial" pitchFamily="34" charset="-120"/>
              </a:rPr>
              <a:t>Local learned embeddings + NER; off-host audit streaming hook</a:t>
            </a:r>
            <a:endParaRPr lang="en-US" sz="1000" dirty="0"/>
          </a:p>
        </p:txBody>
      </p:sp>
      <p:sp>
        <p:nvSpPr>
          <p:cNvPr id="9" name="Text 7"/>
          <p:cNvSpPr txBox="1"/>
          <p:nvPr/>
        </p:nvSpPr>
        <p:spPr>
          <a:xfrm>
            <a:off x="8036357" y="2880360"/>
            <a:ext cx="3332378" cy="365760"/>
          </a:xfrm>
          <a:prstGeom prst="rect">
            <a:avLst/>
          </a:prstGeom>
          <a:noFill/>
          <a:ln/>
        </p:spPr>
        <p:txBody>
          <a:bodyPr wrap="square" lIns="0" tIns="0" rIns="0" bIns="0" rtlCol="0" anchor="ctr"/>
          <a:lstStyle/>
          <a:p>
            <a:pPr indent="0" marL="0">
              <a:buNone/>
            </a:pPr>
            <a:r>
              <a:rPr lang="en-US" sz="1300" b="1" dirty="0">
                <a:solidFill>
                  <a:srgbClr val="E8A33D"/>
                </a:solidFill>
                <a:latin typeface="Arial" pitchFamily="34" charset="0"/>
                <a:ea typeface="Arial" pitchFamily="34" charset="-122"/>
                <a:cs typeface="Arial" pitchFamily="34" charset="-120"/>
              </a:rPr>
              <a:t>Needs the environment</a:t>
            </a:r>
            <a:endParaRPr lang="en-US" sz="1300" dirty="0"/>
          </a:p>
        </p:txBody>
      </p:sp>
      <p:sp>
        <p:nvSpPr>
          <p:cNvPr id="10" name="Text 8"/>
          <p:cNvSpPr txBox="1"/>
          <p:nvPr/>
        </p:nvSpPr>
        <p:spPr>
          <a:xfrm>
            <a:off x="8036357" y="3291840"/>
            <a:ext cx="3332378" cy="301752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000" dirty="0">
                <a:solidFill>
                  <a:srgbClr val="D9D0C8"/>
                </a:solidFill>
                <a:latin typeface="Arial" pitchFamily="34" charset="0"/>
                <a:ea typeface="Arial" pitchFamily="34" charset="-122"/>
                <a:cs typeface="Arial" pitchFamily="34" charset="-120"/>
              </a:rPr>
              <a:t>A third-party penetration test — scope of work written; repo is clone-and-run</a:t>
            </a:r>
            <a:endParaRPr lang="en-US" sz="1000" dirty="0"/>
          </a:p>
          <a:p>
            <a:pPr marL="342900" indent="-342900">
              <a:lnSpc>
                <a:spcPct val="115000"/>
              </a:lnSpc>
              <a:spcAft>
                <a:spcPts val="600"/>
              </a:spcAft>
              <a:buSzPct val="100000"/>
              <a:buChar char="•"/>
            </a:pPr>
            <a:r>
              <a:rPr lang="en-US" sz="1000" dirty="0">
                <a:solidFill>
                  <a:srgbClr val="D9D0C8"/>
                </a:solidFill>
                <a:latin typeface="Arial" pitchFamily="34" charset="0"/>
                <a:ea typeface="Arial" pitchFamily="34" charset="-122"/>
                <a:cs typeface="Arial" pitchFamily="34" charset="-120"/>
              </a:rPr>
              <a:t>KMS for secrets; Redis; private network + egress policy — checklist written</a:t>
            </a:r>
            <a:endParaRPr lang="en-US" sz="1000" dirty="0"/>
          </a:p>
          <a:p>
            <a:pPr marL="342900" indent="-342900">
              <a:lnSpc>
                <a:spcPct val="115000"/>
              </a:lnSpc>
              <a:spcAft>
                <a:spcPts val="600"/>
              </a:spcAft>
              <a:buSzPct val="100000"/>
              <a:buChar char="•"/>
            </a:pPr>
            <a:r>
              <a:rPr lang="en-US" sz="1000" dirty="0">
                <a:solidFill>
                  <a:srgbClr val="D9D0C8"/>
                </a:solidFill>
                <a:latin typeface="Arial" pitchFamily="34" charset="0"/>
                <a:ea typeface="Arial" pitchFamily="34" charset="-122"/>
                <a:cs typeface="Arial" pitchFamily="34" charset="-120"/>
              </a:rPr>
              <a:t>Counsel: LLM agreement + Colombia/Kenya determination</a:t>
            </a:r>
            <a:endParaRPr lang="en-US" sz="1000" dirty="0"/>
          </a:p>
          <a:p>
            <a:pPr marL="342900" indent="-342900">
              <a:lnSpc>
                <a:spcPct val="115000"/>
              </a:lnSpc>
              <a:spcAft>
                <a:spcPts val="600"/>
              </a:spcAft>
              <a:buSzPct val="100000"/>
              <a:buChar char="•"/>
            </a:pPr>
            <a:r>
              <a:rPr lang="en-US" sz="1000" dirty="0">
                <a:solidFill>
                  <a:srgbClr val="D9D0C8"/>
                </a:solidFill>
                <a:latin typeface="Arial" pitchFamily="34" charset="0"/>
                <a:ea typeface="Arial" pitchFamily="34" charset="-122"/>
                <a:cs typeface="Arial" pitchFamily="34" charset="-120"/>
              </a:rPr>
              <a:t>Controls matrix: NIST CSF 2.0 / 800-53 / SOC 2 / AI RMF + OWASP Top 10 + LLM Top 10</a:t>
            </a:r>
            <a:endParaRPr lang="en-US" sz="1000" dirty="0"/>
          </a:p>
        </p:txBody>
      </p:sp>
      <p:sp>
        <p:nvSpPr>
          <p:cNvPr id="11" name="Text 9"/>
          <p:cNvSpPr txBox="1"/>
          <p:nvPr/>
        </p:nvSpPr>
        <p:spPr>
          <a:xfrm>
            <a:off x="11551615" y="6355080"/>
            <a:ext cx="365760" cy="274320"/>
          </a:xfrm>
          <a:prstGeom prst="rect">
            <a:avLst/>
          </a:prstGeom>
          <a:noFill/>
          <a:ln/>
        </p:spPr>
        <p:txBody>
          <a:bodyPr wrap="square" lIns="0" tIns="0" rIns="0" bIns="0" rtlCol="0" anchor="ctr"/>
          <a:lstStyle/>
          <a:p>
            <a:pPr algn="r" indent="0" marL="0">
              <a:buNone/>
            </a:pPr>
            <a:r>
              <a:rPr lang="en-US" sz="900" dirty="0">
                <a:solidFill>
                  <a:srgbClr val="7A716A"/>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40080"/>
            <a:ext cx="5486400" cy="274320"/>
          </a:xfrm>
          <a:prstGeom prst="rect">
            <a:avLst/>
          </a:prstGeom>
          <a:noFill/>
          <a:ln/>
        </p:spPr>
        <p:txBody>
          <a:bodyPr wrap="square" lIns="0" tIns="0" rIns="0" bIns="0" rtlCol="0" anchor="ctr"/>
          <a:lstStyle/>
          <a:p>
            <a:pPr indent="0" marL="0">
              <a:buNone/>
            </a:pPr>
            <a:r>
              <a:rPr lang="en-US" sz="1100" b="1" spc="300" kern="0" dirty="0">
                <a:solidFill>
                  <a:srgbClr val="DF4329"/>
                </a:solidFill>
                <a:latin typeface="Arial" pitchFamily="34" charset="0"/>
                <a:ea typeface="Arial" pitchFamily="34" charset="-122"/>
                <a:cs typeface="Arial" pitchFamily="34" charset="-120"/>
              </a:rPr>
              <a:t>HOW I'D RUN IT</a:t>
            </a:r>
            <a:endParaRPr lang="en-US" sz="1100" dirty="0"/>
          </a:p>
        </p:txBody>
      </p:sp>
      <p:sp>
        <p:nvSpPr>
          <p:cNvPr id="3" name="Text 1"/>
          <p:cNvSpPr txBox="1"/>
          <p:nvPr/>
        </p:nvSpPr>
        <p:spPr>
          <a:xfrm>
            <a:off x="822960" y="914400"/>
            <a:ext cx="10058400" cy="548640"/>
          </a:xfrm>
          <a:prstGeom prst="rect">
            <a:avLst/>
          </a:prstGeom>
          <a:noFill/>
          <a:ln/>
        </p:spPr>
        <p:txBody>
          <a:bodyPr wrap="square" lIns="0" tIns="0" rIns="0" bIns="0" rtlCol="0" anchor="ctr"/>
          <a:lstStyle/>
          <a:p>
            <a:pPr indent="0" marL="0">
              <a:buNone/>
            </a:pPr>
            <a:r>
              <a:rPr lang="en-US" sz="2400" b="1" dirty="0">
                <a:solidFill>
                  <a:srgbClr val="1E1712"/>
                </a:solidFill>
                <a:latin typeface="Arial" pitchFamily="34" charset="0"/>
                <a:ea typeface="Arial" pitchFamily="34" charset="-122"/>
                <a:cs typeface="Arial" pitchFamily="34" charset="-120"/>
              </a:rPr>
              <a:t>Steps, not a calendar</a:t>
            </a:r>
            <a:endParaRPr lang="en-US" sz="2400" dirty="0"/>
          </a:p>
        </p:txBody>
      </p:sp>
      <p:sp>
        <p:nvSpPr>
          <p:cNvPr id="4" name="Text 2"/>
          <p:cNvSpPr txBox="1"/>
          <p:nvPr/>
        </p:nvSpPr>
        <p:spPr>
          <a:xfrm>
            <a:off x="822960" y="1508760"/>
            <a:ext cx="10515600" cy="822960"/>
          </a:xfrm>
          <a:prstGeom prst="rect">
            <a:avLst/>
          </a:prstGeom>
          <a:noFill/>
          <a:ln/>
        </p:spPr>
        <p:txBody>
          <a:bodyPr wrap="square" lIns="0" tIns="0" rIns="0" bIns="0" rtlCol="0" anchor="ctr"/>
          <a:lstStyle/>
          <a:p>
            <a:pPr indent="0" marL="0">
              <a:lnSpc>
                <a:spcPct val="130000"/>
              </a:lnSpc>
              <a:buNone/>
            </a:pPr>
            <a:r>
              <a:rPr lang="en-US" sz="1150" dirty="0">
                <a:solidFill>
                  <a:srgbClr val="7A716A"/>
                </a:solidFill>
                <a:latin typeface="Arial" pitchFamily="34" charset="0"/>
                <a:ea typeface="Arial" pitchFamily="34" charset="-122"/>
                <a:cs typeface="Arial" pitchFamily="34" charset="-120"/>
              </a:rPr>
              <a:t>Four phases, each done when its exit criteria pass — not when a date arrives. Progress reported as ahead / on / behind plan. Quick turnaround is answered by shipping a thin vertical slice early, then widening.</a:t>
            </a:r>
            <a:endParaRPr lang="en-US" sz="1150" dirty="0"/>
          </a:p>
        </p:txBody>
      </p:sp>
      <p:sp>
        <p:nvSpPr>
          <p:cNvPr id="5" name="Shape 3"/>
          <p:cNvSpPr/>
          <p:nvPr/>
        </p:nvSpPr>
        <p:spPr>
          <a:xfrm>
            <a:off x="822960" y="2514600"/>
            <a:ext cx="10515600" cy="932688"/>
          </a:xfrm>
          <a:prstGeom prst="roundRect">
            <a:avLst>
              <a:gd name="adj" fmla="val 4902"/>
            </a:avLst>
          </a:prstGeom>
          <a:solidFill>
            <a:srgbClr val="FCFAF8"/>
          </a:solidFill>
          <a:ln w="12700">
            <a:solidFill>
              <a:srgbClr val="F0D9CF"/>
            </a:solidFill>
            <a:prstDash val="solid"/>
          </a:ln>
        </p:spPr>
      </p:sp>
      <p:sp>
        <p:nvSpPr>
          <p:cNvPr id="6" name="Text 4"/>
          <p:cNvSpPr txBox="1"/>
          <p:nvPr/>
        </p:nvSpPr>
        <p:spPr>
          <a:xfrm>
            <a:off x="1078992" y="2624328"/>
            <a:ext cx="10058400" cy="320040"/>
          </a:xfrm>
          <a:prstGeom prst="rect">
            <a:avLst/>
          </a:prstGeom>
          <a:noFill/>
          <a:ln/>
        </p:spPr>
        <p:txBody>
          <a:bodyPr wrap="square" lIns="0" tIns="0" rIns="0" bIns="0" rtlCol="0" anchor="ctr"/>
          <a:lstStyle/>
          <a:p>
            <a:pPr indent="0" marL="0">
              <a:buNone/>
            </a:pPr>
            <a:r>
              <a:rPr lang="en-US" sz="1200" b="1" dirty="0">
                <a:solidFill>
                  <a:srgbClr val="A83218"/>
                </a:solidFill>
                <a:latin typeface="Arial" pitchFamily="34" charset="0"/>
                <a:ea typeface="Arial" pitchFamily="34" charset="-122"/>
                <a:cs typeface="Arial" pitchFamily="34" charset="-120"/>
              </a:rPr>
              <a:t>1 · Discover — access, corpus, gold set</a:t>
            </a:r>
            <a:endParaRPr lang="en-US" sz="1200" dirty="0"/>
          </a:p>
        </p:txBody>
      </p:sp>
      <p:sp>
        <p:nvSpPr>
          <p:cNvPr id="7" name="Text 5"/>
          <p:cNvSpPr txBox="1"/>
          <p:nvPr/>
        </p:nvSpPr>
        <p:spPr>
          <a:xfrm>
            <a:off x="1078992" y="2935224"/>
            <a:ext cx="10058400" cy="457200"/>
          </a:xfrm>
          <a:prstGeom prst="rect">
            <a:avLst/>
          </a:prstGeom>
          <a:noFill/>
          <a:ln/>
        </p:spPr>
        <p:txBody>
          <a:bodyPr wrap="square" lIns="0" tIns="0" rIns="0" bIns="0" rtlCol="0" anchor="ctr"/>
          <a:lstStyle/>
          <a:p>
            <a:pPr indent="0" marL="0">
              <a:lnSpc>
                <a:spcPct val="114000"/>
              </a:lnSpc>
              <a:buNone/>
            </a:pPr>
            <a:r>
              <a:rPr lang="en-US" sz="950" dirty="0">
                <a:solidFill>
                  <a:srgbClr val="3D352F"/>
                </a:solidFill>
                <a:latin typeface="Arial" pitchFamily="34" charset="0"/>
                <a:ea typeface="Arial" pitchFamily="34" charset="-122"/>
                <a:cs typeface="Arial" pitchFamily="34" charset="-120"/>
              </a:rPr>
              <a:t>Interviews, a field-level inventory, scoped credentials, the LLM agreement + legal review, the tier scheme signed off, the 50–100-question gold set, an agreed v1 corpus + 6-month metric.</a:t>
            </a:r>
            <a:endParaRPr lang="en-US" sz="950" dirty="0"/>
          </a:p>
        </p:txBody>
      </p:sp>
      <p:sp>
        <p:nvSpPr>
          <p:cNvPr id="8" name="Shape 6"/>
          <p:cNvSpPr/>
          <p:nvPr/>
        </p:nvSpPr>
        <p:spPr>
          <a:xfrm>
            <a:off x="822960" y="3566160"/>
            <a:ext cx="10515600" cy="932688"/>
          </a:xfrm>
          <a:prstGeom prst="roundRect">
            <a:avLst>
              <a:gd name="adj" fmla="val 4902"/>
            </a:avLst>
          </a:prstGeom>
          <a:solidFill>
            <a:srgbClr val="FCFAF8"/>
          </a:solidFill>
          <a:ln w="12700">
            <a:solidFill>
              <a:srgbClr val="F0D9CF"/>
            </a:solidFill>
            <a:prstDash val="solid"/>
          </a:ln>
        </p:spPr>
      </p:sp>
      <p:sp>
        <p:nvSpPr>
          <p:cNvPr id="9" name="Text 7"/>
          <p:cNvSpPr txBox="1"/>
          <p:nvPr/>
        </p:nvSpPr>
        <p:spPr>
          <a:xfrm>
            <a:off x="1078992" y="3675888"/>
            <a:ext cx="10058400" cy="320040"/>
          </a:xfrm>
          <a:prstGeom prst="rect">
            <a:avLst/>
          </a:prstGeom>
          <a:noFill/>
          <a:ln/>
        </p:spPr>
        <p:txBody>
          <a:bodyPr wrap="square" lIns="0" tIns="0" rIns="0" bIns="0" rtlCol="0" anchor="ctr"/>
          <a:lstStyle/>
          <a:p>
            <a:pPr indent="0" marL="0">
              <a:buNone/>
            </a:pPr>
            <a:r>
              <a:rPr lang="en-US" sz="1200" b="1" dirty="0">
                <a:solidFill>
                  <a:srgbClr val="A83218"/>
                </a:solidFill>
                <a:latin typeface="Arial" pitchFamily="34" charset="0"/>
                <a:ea typeface="Arial" pitchFamily="34" charset="-122"/>
                <a:cs typeface="Arial" pitchFamily="34" charset="-120"/>
              </a:rPr>
              <a:t>2 · Prove — the permissioned vertical slice</a:t>
            </a:r>
            <a:endParaRPr lang="en-US" sz="1200" dirty="0"/>
          </a:p>
        </p:txBody>
      </p:sp>
      <p:sp>
        <p:nvSpPr>
          <p:cNvPr id="10" name="Text 8"/>
          <p:cNvSpPr txBox="1"/>
          <p:nvPr/>
        </p:nvSpPr>
        <p:spPr>
          <a:xfrm>
            <a:off x="1078992" y="3986784"/>
            <a:ext cx="10058400" cy="457200"/>
          </a:xfrm>
          <a:prstGeom prst="rect">
            <a:avLst/>
          </a:prstGeom>
          <a:noFill/>
          <a:ln/>
        </p:spPr>
        <p:txBody>
          <a:bodyPr wrap="square" lIns="0" tIns="0" rIns="0" bIns="0" rtlCol="0" anchor="ctr"/>
          <a:lstStyle/>
          <a:p>
            <a:pPr indent="0" marL="0">
              <a:lnSpc>
                <a:spcPct val="114000"/>
              </a:lnSpc>
              <a:buNone/>
            </a:pPr>
            <a:r>
              <a:rPr lang="en-US" sz="950" dirty="0">
                <a:solidFill>
                  <a:srgbClr val="3D352F"/>
                </a:solidFill>
                <a:latin typeface="Arial" pitchFamily="34" charset="0"/>
                <a:ea typeface="Arial" pitchFamily="34" charset="-122"/>
                <a:cs typeface="Arial" pitchFamily="34" charset="-120"/>
              </a:rPr>
              <a:t>Drive + GivingData connectors, the data-quality pipeline on ~30 real grants, permissioned retrieval (0 leaks), one URL — web app + API + Google login, audit log + kill switch, 3–5 design partners querying weekly.</a:t>
            </a:r>
            <a:endParaRPr lang="en-US" sz="950" dirty="0"/>
          </a:p>
        </p:txBody>
      </p:sp>
      <p:sp>
        <p:nvSpPr>
          <p:cNvPr id="11" name="Shape 9"/>
          <p:cNvSpPr/>
          <p:nvPr/>
        </p:nvSpPr>
        <p:spPr>
          <a:xfrm>
            <a:off x="822960" y="4617720"/>
            <a:ext cx="10515600" cy="932688"/>
          </a:xfrm>
          <a:prstGeom prst="roundRect">
            <a:avLst>
              <a:gd name="adj" fmla="val 4902"/>
            </a:avLst>
          </a:prstGeom>
          <a:solidFill>
            <a:srgbClr val="FCFAF8"/>
          </a:solidFill>
          <a:ln w="12700">
            <a:solidFill>
              <a:srgbClr val="F0D9CF"/>
            </a:solidFill>
            <a:prstDash val="solid"/>
          </a:ln>
        </p:spPr>
      </p:sp>
      <p:sp>
        <p:nvSpPr>
          <p:cNvPr id="12" name="Text 10"/>
          <p:cNvSpPr txBox="1"/>
          <p:nvPr/>
        </p:nvSpPr>
        <p:spPr>
          <a:xfrm>
            <a:off x="1078992" y="4727448"/>
            <a:ext cx="10058400" cy="320040"/>
          </a:xfrm>
          <a:prstGeom prst="rect">
            <a:avLst/>
          </a:prstGeom>
          <a:noFill/>
          <a:ln/>
        </p:spPr>
        <p:txBody>
          <a:bodyPr wrap="square" lIns="0" tIns="0" rIns="0" bIns="0" rtlCol="0" anchor="ctr"/>
          <a:lstStyle/>
          <a:p>
            <a:pPr indent="0" marL="0">
              <a:buNone/>
            </a:pPr>
            <a:r>
              <a:rPr lang="en-US" sz="1200" b="1" dirty="0">
                <a:solidFill>
                  <a:srgbClr val="A83218"/>
                </a:solidFill>
                <a:latin typeface="Arial" pitchFamily="34" charset="0"/>
                <a:ea typeface="Arial" pitchFamily="34" charset="-122"/>
                <a:cs typeface="Arial" pitchFamily="34" charset="-120"/>
              </a:rPr>
              <a:t>3 · Harden — expand the corpus, close the security items</a:t>
            </a:r>
            <a:endParaRPr lang="en-US" sz="1200" dirty="0"/>
          </a:p>
        </p:txBody>
      </p:sp>
      <p:sp>
        <p:nvSpPr>
          <p:cNvPr id="13" name="Text 11"/>
          <p:cNvSpPr txBox="1"/>
          <p:nvPr/>
        </p:nvSpPr>
        <p:spPr>
          <a:xfrm>
            <a:off x="1078992" y="5038344"/>
            <a:ext cx="10058400" cy="457200"/>
          </a:xfrm>
          <a:prstGeom prst="rect">
            <a:avLst/>
          </a:prstGeom>
          <a:noFill/>
          <a:ln/>
        </p:spPr>
        <p:txBody>
          <a:bodyPr wrap="square" lIns="0" tIns="0" rIns="0" bIns="0" rtlCol="0" anchor="ctr"/>
          <a:lstStyle/>
          <a:p>
            <a:pPr indent="0" marL="0">
              <a:lnSpc>
                <a:spcPct val="114000"/>
              </a:lnSpc>
              <a:buNone/>
            </a:pPr>
            <a:r>
              <a:rPr lang="en-US" sz="950" dirty="0">
                <a:solidFill>
                  <a:srgbClr val="3D352F"/>
                </a:solidFill>
                <a:latin typeface="Arial" pitchFamily="34" charset="0"/>
                <a:ea typeface="Arial" pitchFamily="34" charset="-122"/>
                <a:cs typeface="Arial" pitchFamily="34" charset="-120"/>
              </a:rPr>
              <a:t>Airtable + Notion, the production PII pass, multilingual, the promotion gate on CI, the third-party pen test remediated (repo is clone-and-run; scope written), backfill to five years, full Programs + Impact team.</a:t>
            </a:r>
            <a:endParaRPr lang="en-US" sz="950" dirty="0"/>
          </a:p>
        </p:txBody>
      </p:sp>
      <p:sp>
        <p:nvSpPr>
          <p:cNvPr id="14" name="Shape 12"/>
          <p:cNvSpPr/>
          <p:nvPr/>
        </p:nvSpPr>
        <p:spPr>
          <a:xfrm>
            <a:off x="822960" y="5669280"/>
            <a:ext cx="10515600" cy="932688"/>
          </a:xfrm>
          <a:prstGeom prst="roundRect">
            <a:avLst>
              <a:gd name="adj" fmla="val 4902"/>
            </a:avLst>
          </a:prstGeom>
          <a:solidFill>
            <a:srgbClr val="FCFAF8"/>
          </a:solidFill>
          <a:ln w="12700">
            <a:solidFill>
              <a:srgbClr val="F0D9CF"/>
            </a:solidFill>
            <a:prstDash val="solid"/>
          </a:ln>
        </p:spPr>
      </p:sp>
      <p:sp>
        <p:nvSpPr>
          <p:cNvPr id="15" name="Text 13"/>
          <p:cNvSpPr txBox="1"/>
          <p:nvPr/>
        </p:nvSpPr>
        <p:spPr>
          <a:xfrm>
            <a:off x="1078992" y="5779008"/>
            <a:ext cx="10058400" cy="320040"/>
          </a:xfrm>
          <a:prstGeom prst="rect">
            <a:avLst/>
          </a:prstGeom>
          <a:noFill/>
          <a:ln/>
        </p:spPr>
        <p:txBody>
          <a:bodyPr wrap="square" lIns="0" tIns="0" rIns="0" bIns="0" rtlCol="0" anchor="ctr"/>
          <a:lstStyle/>
          <a:p>
            <a:pPr indent="0" marL="0">
              <a:buNone/>
            </a:pPr>
            <a:r>
              <a:rPr lang="en-US" sz="1200" b="1" dirty="0">
                <a:solidFill>
                  <a:srgbClr val="A83218"/>
                </a:solidFill>
                <a:latin typeface="Arial" pitchFamily="34" charset="0"/>
                <a:ea typeface="Arial" pitchFamily="34" charset="-122"/>
                <a:cs typeface="Arial" pitchFamily="34" charset="-120"/>
              </a:rPr>
              <a:t>4 · Expand — surfaces, dashboards, handoff</a:t>
            </a:r>
            <a:endParaRPr lang="en-US" sz="1200" dirty="0"/>
          </a:p>
        </p:txBody>
      </p:sp>
      <p:sp>
        <p:nvSpPr>
          <p:cNvPr id="16" name="Text 14"/>
          <p:cNvSpPr txBox="1"/>
          <p:nvPr/>
        </p:nvSpPr>
        <p:spPr>
          <a:xfrm>
            <a:off x="1078992" y="6089904"/>
            <a:ext cx="10058400" cy="457200"/>
          </a:xfrm>
          <a:prstGeom prst="rect">
            <a:avLst/>
          </a:prstGeom>
          <a:noFill/>
          <a:ln/>
        </p:spPr>
        <p:txBody>
          <a:bodyPr wrap="square" lIns="0" tIns="0" rIns="0" bIns="0" rtlCol="0" anchor="ctr"/>
          <a:lstStyle/>
          <a:p>
            <a:pPr indent="0" marL="0">
              <a:lnSpc>
                <a:spcPct val="114000"/>
              </a:lnSpc>
              <a:buNone/>
            </a:pPr>
            <a:r>
              <a:rPr lang="en-US" sz="950" dirty="0">
                <a:solidFill>
                  <a:srgbClr val="3D352F"/>
                </a:solidFill>
                <a:latin typeface="Arial" pitchFamily="34" charset="0"/>
                <a:ea typeface="Arial" pitchFamily="34" charset="-122"/>
                <a:cs typeface="Arial" pitchFamily="34" charset="-120"/>
              </a:rPr>
              <a:t>An embed or a Slack/Zoom surface, usage/cost dashboards, the full runbook + incident playbooks, a named trained owner, the leadership decision packet, the tabletop exercise.</a:t>
            </a:r>
            <a:endParaRPr lang="en-US" sz="950" dirty="0"/>
          </a:p>
        </p:txBody>
      </p:sp>
      <p:sp>
        <p:nvSpPr>
          <p:cNvPr id="17" name="Text 15"/>
          <p:cNvSpPr txBox="1"/>
          <p:nvPr/>
        </p:nvSpPr>
        <p:spPr>
          <a:xfrm>
            <a:off x="11551615" y="6355080"/>
            <a:ext cx="365760" cy="274320"/>
          </a:xfrm>
          <a:prstGeom prst="rect">
            <a:avLst/>
          </a:prstGeom>
          <a:noFill/>
          <a:ln/>
        </p:spPr>
        <p:txBody>
          <a:bodyPr wrap="square" lIns="0" tIns="0" rIns="0" bIns="0" rtlCol="0" anchor="ctr"/>
          <a:lstStyle/>
          <a:p>
            <a:pPr algn="r" indent="0" marL="0">
              <a:buNone/>
            </a:pPr>
            <a:r>
              <a:rPr lang="en-US" sz="900" dirty="0">
                <a:solidFill>
                  <a:srgbClr val="7A716A"/>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83218"/>
        </a:solidFill>
      </p:bgPr>
    </p:bg>
    <p:spTree>
      <p:nvGrpSpPr>
        <p:cNvPr id="1" name=""/>
        <p:cNvGrpSpPr/>
        <p:nvPr/>
      </p:nvGrpSpPr>
      <p:grpSpPr>
        <a:xfrm>
          <a:off x="0" y="0"/>
          <a:ext cx="0" cy="0"/>
          <a:chOff x="0" y="0"/>
          <a:chExt cx="0" cy="0"/>
        </a:xfrm>
      </p:grpSpPr>
      <p:sp>
        <p:nvSpPr>
          <p:cNvPr id="2" name="Shape 0"/>
          <p:cNvSpPr/>
          <p:nvPr/>
        </p:nvSpPr>
        <p:spPr>
          <a:xfrm>
            <a:off x="914400" y="868680"/>
            <a:ext cx="457200" cy="411480"/>
          </a:xfrm>
          <a:prstGeom prst="triangle">
            <a:avLst/>
          </a:prstGeom>
          <a:solidFill>
            <a:srgbClr val="FFFFFF"/>
          </a:solidFill>
          <a:ln/>
        </p:spPr>
      </p:sp>
      <p:sp>
        <p:nvSpPr>
          <p:cNvPr id="3" name="Shape 1"/>
          <p:cNvSpPr/>
          <p:nvPr/>
        </p:nvSpPr>
        <p:spPr>
          <a:xfrm rot="18000000">
            <a:off x="662940" y="996696"/>
            <a:ext cx="365760" cy="329184"/>
          </a:xfrm>
          <a:prstGeom prst="triangle">
            <a:avLst/>
          </a:prstGeom>
          <a:solidFill>
            <a:srgbClr val="FFFFFF"/>
          </a:solidFill>
          <a:ln/>
        </p:spPr>
      </p:sp>
      <p:sp>
        <p:nvSpPr>
          <p:cNvPr id="4" name="Shape 2"/>
          <p:cNvSpPr/>
          <p:nvPr/>
        </p:nvSpPr>
        <p:spPr>
          <a:xfrm rot="3600000">
            <a:off x="1257300" y="996696"/>
            <a:ext cx="365760" cy="329184"/>
          </a:xfrm>
          <a:prstGeom prst="triangle">
            <a:avLst/>
          </a:prstGeom>
          <a:solidFill>
            <a:srgbClr val="FFFFFF"/>
          </a:solidFill>
          <a:ln/>
        </p:spPr>
      </p:sp>
      <p:sp>
        <p:nvSpPr>
          <p:cNvPr id="5" name="Shape 3"/>
          <p:cNvSpPr/>
          <p:nvPr/>
        </p:nvSpPr>
        <p:spPr>
          <a:xfrm>
            <a:off x="1106424" y="1234440"/>
            <a:ext cx="73152" cy="251460"/>
          </a:xfrm>
          <a:prstGeom prst="rect">
            <a:avLst/>
          </a:prstGeom>
          <a:solidFill>
            <a:srgbClr val="FFFFFF"/>
          </a:solidFill>
          <a:ln/>
        </p:spPr>
      </p:sp>
      <p:sp>
        <p:nvSpPr>
          <p:cNvPr id="6" name="Text 4"/>
          <p:cNvSpPr txBox="1"/>
          <p:nvPr/>
        </p:nvSpPr>
        <p:spPr>
          <a:xfrm>
            <a:off x="822960" y="1737360"/>
            <a:ext cx="5486400" cy="54864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Week one</a:t>
            </a:r>
            <a:endParaRPr lang="en-US" sz="2200" dirty="0"/>
          </a:p>
        </p:txBody>
      </p:sp>
      <p:sp>
        <p:nvSpPr>
          <p:cNvPr id="7" name="Text 5"/>
          <p:cNvSpPr txBox="1"/>
          <p:nvPr/>
        </p:nvSpPr>
        <p:spPr>
          <a:xfrm>
            <a:off x="822960" y="2331720"/>
            <a:ext cx="5852160" cy="2560320"/>
          </a:xfrm>
          <a:prstGeom prst="rect">
            <a:avLst/>
          </a:prstGeom>
          <a:noFill/>
          <a:ln/>
        </p:spPr>
        <p:txBody>
          <a:bodyPr wrap="square" lIns="0" tIns="0" rIns="0" bIns="0" rtlCol="0" anchor="ctr"/>
          <a:lstStyle/>
          <a:p>
            <a:pPr marL="342900" indent="-342900">
              <a:lnSpc>
                <a:spcPct val="120000"/>
              </a:lnSpc>
              <a:spcAft>
                <a:spcPts val="700"/>
              </a:spcAft>
              <a:buSzPct val="100000"/>
              <a:buChar char="•"/>
            </a:pPr>
            <a:r>
              <a:rPr lang="en-US" sz="1100" dirty="0">
                <a:solidFill>
                  <a:srgbClr val="F4D9CF"/>
                </a:solidFill>
                <a:latin typeface="Arial" pitchFamily="34" charset="0"/>
                <a:ea typeface="Arial" pitchFamily="34" charset="-122"/>
                <a:cs typeface="Arial" pitchFamily="34" charset="-120"/>
              </a:rPr>
              <a:t>Interview the 3–5 people whose work this must improve; secure 2 as weekly design partners</a:t>
            </a:r>
            <a:endParaRPr lang="en-US" sz="1100" dirty="0"/>
          </a:p>
          <a:p>
            <a:pPr marL="342900" indent="-342900">
              <a:lnSpc>
                <a:spcPct val="120000"/>
              </a:lnSpc>
              <a:spcAft>
                <a:spcPts val="700"/>
              </a:spcAft>
              <a:buSzPct val="100000"/>
              <a:buChar char="•"/>
            </a:pPr>
            <a:r>
              <a:rPr lang="en-US" sz="1100" dirty="0">
                <a:solidFill>
                  <a:srgbClr val="F4D9CF"/>
                </a:solidFill>
                <a:latin typeface="Arial" pitchFamily="34" charset="0"/>
                <a:ea typeface="Arial" pitchFamily="34" charset="-122"/>
                <a:cs typeface="Arial" pitchFamily="34" charset="-120"/>
              </a:rPr>
              <a:t>Inventory the four systems — objects, fields, permissions, retention, data quality</a:t>
            </a:r>
            <a:endParaRPr lang="en-US" sz="1100" dirty="0"/>
          </a:p>
          <a:p>
            <a:pPr marL="342900" indent="-342900">
              <a:lnSpc>
                <a:spcPct val="120000"/>
              </a:lnSpc>
              <a:spcAft>
                <a:spcPts val="700"/>
              </a:spcAft>
              <a:buSzPct val="100000"/>
              <a:buChar char="•"/>
            </a:pPr>
            <a:r>
              <a:rPr lang="en-US" sz="1100" dirty="0">
                <a:solidFill>
                  <a:srgbClr val="F4D9CF"/>
                </a:solidFill>
                <a:latin typeface="Arial" pitchFamily="34" charset="0"/>
                <a:ea typeface="Arial" pitchFamily="34" charset="-122"/>
                <a:cs typeface="Arial" pitchFamily="34" charset="-120"/>
              </a:rPr>
              <a:t>Get the data owner in a room; agree the v1 corpus and the sensitivity tiers</a:t>
            </a:r>
            <a:endParaRPr lang="en-US" sz="1100" dirty="0"/>
          </a:p>
          <a:p>
            <a:pPr marL="342900" indent="-342900">
              <a:lnSpc>
                <a:spcPct val="120000"/>
              </a:lnSpc>
              <a:spcAft>
                <a:spcPts val="700"/>
              </a:spcAft>
              <a:buSzPct val="100000"/>
              <a:buChar char="•"/>
            </a:pPr>
            <a:r>
              <a:rPr lang="en-US" sz="1100" dirty="0">
                <a:solidFill>
                  <a:srgbClr val="F4D9CF"/>
                </a:solidFill>
                <a:latin typeface="Arial" pitchFamily="34" charset="0"/>
                <a:ea typeface="Arial" pitchFamily="34" charset="-122"/>
                <a:cs typeface="Arial" pitchFamily="34" charset="-120"/>
              </a:rPr>
              <a:t>Start the 50-question gold set and the LLM data-processing agreement</a:t>
            </a:r>
            <a:endParaRPr lang="en-US" sz="1100" dirty="0"/>
          </a:p>
        </p:txBody>
      </p:sp>
      <p:sp>
        <p:nvSpPr>
          <p:cNvPr id="8" name="Shape 6"/>
          <p:cNvSpPr/>
          <p:nvPr/>
        </p:nvSpPr>
        <p:spPr>
          <a:xfrm>
            <a:off x="7178040" y="1828800"/>
            <a:ext cx="0" cy="3200400"/>
          </a:xfrm>
          <a:prstGeom prst="line">
            <a:avLst/>
          </a:prstGeom>
          <a:noFill/>
          <a:ln w="12700">
            <a:solidFill>
              <a:srgbClr val="C86B54"/>
            </a:solidFill>
            <a:prstDash val="solid"/>
          </a:ln>
        </p:spPr>
      </p:sp>
      <p:sp>
        <p:nvSpPr>
          <p:cNvPr id="9" name="Text 7"/>
          <p:cNvSpPr txBox="1"/>
          <p:nvPr/>
        </p:nvSpPr>
        <p:spPr>
          <a:xfrm>
            <a:off x="7589520" y="1737360"/>
            <a:ext cx="4114800" cy="54864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Why this fits</a:t>
            </a:r>
            <a:endParaRPr lang="en-US" sz="2200" dirty="0"/>
          </a:p>
        </p:txBody>
      </p:sp>
      <p:sp>
        <p:nvSpPr>
          <p:cNvPr id="10" name="Text 8"/>
          <p:cNvSpPr txBox="1"/>
          <p:nvPr/>
        </p:nvSpPr>
        <p:spPr>
          <a:xfrm>
            <a:off x="7589520" y="2331720"/>
            <a:ext cx="4023360" cy="2743200"/>
          </a:xfrm>
          <a:prstGeom prst="rect">
            <a:avLst/>
          </a:prstGeom>
          <a:noFill/>
          <a:ln/>
        </p:spPr>
        <p:txBody>
          <a:bodyPr wrap="square" lIns="0" tIns="0" rIns="0" bIns="0" rtlCol="0" anchor="ctr"/>
          <a:lstStyle/>
          <a:p>
            <a:pPr indent="0" marL="0">
              <a:lnSpc>
                <a:spcPct val="130000"/>
              </a:lnSpc>
              <a:buNone/>
            </a:pPr>
            <a:r>
              <a:rPr lang="en-US" sz="1050" dirty="0">
                <a:solidFill>
                  <a:srgbClr val="F4D9CF"/>
                </a:solidFill>
                <a:latin typeface="Arial" pitchFamily="34" charset="0"/>
                <a:ea typeface="Arial" pitchFamily="34" charset="-122"/>
                <a:cs typeface="Arial" pitchFamily="34" charset="-120"/>
              </a:rPr>
              <a:t>Rigorous but reasonable: rigor on citations, permissions and evals; reasonableness on scope and on saying “we don't have that.” An MVP-first build, documented in the open, for a team with no engineers and a six-month clock.</a:t>
            </a:r>
            <a:endParaRPr lang="en-US" sz="1050" dirty="0"/>
          </a:p>
        </p:txBody>
      </p:sp>
      <p:sp>
        <p:nvSpPr>
          <p:cNvPr id="11" name="Text 9"/>
          <p:cNvSpPr txBox="1"/>
          <p:nvPr/>
        </p:nvSpPr>
        <p:spPr>
          <a:xfrm>
            <a:off x="822960" y="5989320"/>
            <a:ext cx="10515600" cy="502920"/>
          </a:xfrm>
          <a:prstGeom prst="rect">
            <a:avLst/>
          </a:prstGeom>
          <a:noFill/>
          <a:ln/>
        </p:spPr>
        <p:txBody>
          <a:bodyPr wrap="square" lIns="0" tIns="0" rIns="0" bIns="0" rtlCol="0" anchor="ctr"/>
          <a:lstStyle/>
          <a:p>
            <a:pPr indent="0" marL="0">
              <a:lnSpc>
                <a:spcPct val="120000"/>
              </a:lnSpc>
              <a:buNone/>
            </a:pPr>
            <a:r>
              <a:rPr lang="en-US" sz="850" dirty="0">
                <a:solidFill>
                  <a:srgbClr val="E7B6A6"/>
                </a:solidFill>
                <a:latin typeface="Arial" pitchFamily="34" charset="0"/>
                <a:ea typeface="Arial" pitchFamily="34" charset="-122"/>
                <a:cs typeface="Arial" pitchFamily="34" charset="-120"/>
              </a:rPr>
              <a:t>Jessenia Cintron  ·  Compass  ·  strategy doc · discovery guide · security review + OWASP controls matrix · cost model · pen-test scope · deploy checklist · data-owner sign-off · running codebase (npm run ci) · live demo at compass-demo-gwk4.onrender.com</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Compass — GitLab Foundation case study</dc:title>
  <dc:subject>PptxGenJS Presentation</dc:subject>
  <dc:creator>Jessenia Cintron</dc:creator>
  <cp:lastModifiedBy>Jessenia Cintron</cp:lastModifiedBy>
  <cp:revision>1</cp:revision>
  <dcterms:created xsi:type="dcterms:W3CDTF">2026-09-09T05:48:05Z</dcterms:created>
  <dcterms:modified xsi:type="dcterms:W3CDTF">2026-09-09T05:48:05Z</dcterms:modified>
</cp:coreProperties>
</file>