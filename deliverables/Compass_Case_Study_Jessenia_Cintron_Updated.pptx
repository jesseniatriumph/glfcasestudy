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4a2fd1739945e9" /><Relationship Type="http://schemas.openxmlformats.org/officeDocument/2006/relationships/extended-properties" Target="/docProps/app.xml" Id="R3dfbddc98f564af6" /><Relationship Type="http://schemas.openxmlformats.org/officeDocument/2006/relationships/officeDocument" Target="/ppt/presentation.xml" Id="R814e7a7477c94842" /></Relationships>
</file>

<file path=ppt/presentation.xml><?xml version="1.0" encoding="utf-8"?>
<p:presentation xmlns:p="http://schemas.openxmlformats.org/presentationml/2006/main">
  <p:sldMasterIdLst>
    <p:sldMasterId xmlns:r="http://schemas.openxmlformats.org/officeDocument/2006/relationships" id="2147483648" r:id="R4c3d866fb2504997"/>
  </p:sldMasterIdLst>
  <p:notesMasterIdLst>
    <p:notesMasterId xmlns:r="http://schemas.openxmlformats.org/officeDocument/2006/relationships" r:id="Rd1dee292c4a74c3c"/>
  </p:notesMasterIdLst>
  <p:sldIdLst>
    <p:sldId xmlns:r="http://schemas.openxmlformats.org/officeDocument/2006/relationships" id="256" r:id="R8d68c4e0a8134a27"/>
    <p:sldId xmlns:r="http://schemas.openxmlformats.org/officeDocument/2006/relationships" id="257" r:id="R15481c2472af449a"/>
    <p:sldId xmlns:r="http://schemas.openxmlformats.org/officeDocument/2006/relationships" id="258" r:id="Rc0b2f7d8a757476f"/>
    <p:sldId xmlns:r="http://schemas.openxmlformats.org/officeDocument/2006/relationships" id="259" r:id="R771fc2eea2f04769"/>
    <p:sldId xmlns:r="http://schemas.openxmlformats.org/officeDocument/2006/relationships" id="260" r:id="Ra7787b2bedb04811"/>
    <p:sldId xmlns:r="http://schemas.openxmlformats.org/officeDocument/2006/relationships" id="261" r:id="R34394267bceb4f0a"/>
    <p:sldId xmlns:r="http://schemas.openxmlformats.org/officeDocument/2006/relationships" id="262" r:id="R06950e339c61489a"/>
    <p:sldId xmlns:r="http://schemas.openxmlformats.org/officeDocument/2006/relationships" id="263" r:id="Rba3b66d3fbcf409a"/>
    <p:sldId xmlns:r="http://schemas.openxmlformats.org/officeDocument/2006/relationships" id="264" r:id="Ra999635f6587492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cbf1292ff8942a2" /><Relationship Type="http://schemas.openxmlformats.org/officeDocument/2006/relationships/slideMaster" Target="/ppt/slideMasters/slideMaster1.xml" Id="R4c3d866fb2504997" /><Relationship Type="http://schemas.openxmlformats.org/officeDocument/2006/relationships/notesMaster" Target="/ppt/notesMasters/notesMaster1.xml" Id="Rd1dee292c4a74c3c" /><Relationship Type="http://schemas.openxmlformats.org/officeDocument/2006/relationships/presProps" Target="/ppt/presProps.xml" Id="R2ad708f0310b4aa2" /><Relationship Type="http://schemas.openxmlformats.org/officeDocument/2006/relationships/tableStyles" Target="/ppt/tableStyles.xml" Id="Ra2d67a60ef484146" /><Relationship Type="http://schemas.openxmlformats.org/officeDocument/2006/relationships/slide" Target="/ppt/slides/slide1.xml" Id="R8d68c4e0a8134a27" /><Relationship Type="http://schemas.openxmlformats.org/officeDocument/2006/relationships/slide" Target="/ppt/slides/slide2.xml" Id="R15481c2472af449a" /><Relationship Type="http://schemas.openxmlformats.org/officeDocument/2006/relationships/slide" Target="/ppt/slides/slide3.xml" Id="Rc0b2f7d8a757476f" /><Relationship Type="http://schemas.openxmlformats.org/officeDocument/2006/relationships/slide" Target="/ppt/slides/slide4.xml" Id="R771fc2eea2f04769" /><Relationship Type="http://schemas.openxmlformats.org/officeDocument/2006/relationships/slide" Target="/ppt/slides/slide5.xml" Id="Ra7787b2bedb04811" /><Relationship Type="http://schemas.openxmlformats.org/officeDocument/2006/relationships/slide" Target="/ppt/slides/slide6.xml" Id="R34394267bceb4f0a" /><Relationship Type="http://schemas.openxmlformats.org/officeDocument/2006/relationships/slide" Target="/ppt/slides/slide7.xml" Id="R06950e339c61489a" /><Relationship Type="http://schemas.openxmlformats.org/officeDocument/2006/relationships/slide" Target="/ppt/slides/slide8.xml" Id="Rba3b66d3fbcf409a" /><Relationship Type="http://schemas.openxmlformats.org/officeDocument/2006/relationships/slide" Target="/ppt/slides/slide9.xml" Id="Ra999635f658749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bb39803e989418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45a48185f44f97" /><Relationship Type="http://schemas.openxmlformats.org/officeDocument/2006/relationships/notesMaster" Target="/ppt/notesMasters/notesMaster1.xml" Id="Rfe3fc44d079040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64fc3c8f90a744d4" /><Relationship Type="http://schemas.openxmlformats.org/officeDocument/2006/relationships/notesMaster" Target="/ppt/notesMasters/notesMaster1.xml" Id="Rcd939ce088da442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ae17526469a443d" /><Relationship Type="http://schemas.openxmlformats.org/officeDocument/2006/relationships/notesMaster" Target="/ppt/notesMasters/notesMaster1.xml" Id="R69a8b9e9cc404b1b" /></Relationships>
</file>

<file path=ppt/notesSlides/_rels/notesSlide4.xml.rels>&#65279;<?xml version="1.0" encoding="utf-8"?><Relationships xmlns="http://schemas.openxmlformats.org/package/2006/relationships"><Relationship Type="http://schemas.openxmlformats.org/officeDocument/2006/relationships/slide" Target="/ppt/slides/slide4.xml" Id="R22da55fab5c14df2" /><Relationship Type="http://schemas.openxmlformats.org/officeDocument/2006/relationships/notesMaster" Target="/ppt/notesMasters/notesMaster1.xml" Id="R1d0bfb019bb84d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f8e97cfa529b49bb" /><Relationship Type="http://schemas.openxmlformats.org/officeDocument/2006/relationships/notesMaster" Target="/ppt/notesMasters/notesMaster1.xml" Id="Rd1f42a80ad8844ba" /></Relationships>
</file>

<file path=ppt/notesSlides/_rels/notesSlide6.xml.rels>&#65279;<?xml version="1.0" encoding="utf-8"?><Relationships xmlns="http://schemas.openxmlformats.org/package/2006/relationships"><Relationship Type="http://schemas.openxmlformats.org/officeDocument/2006/relationships/slide" Target="/ppt/slides/slide6.xml" Id="R6a7b19d0903f454a" /><Relationship Type="http://schemas.openxmlformats.org/officeDocument/2006/relationships/notesMaster" Target="/ppt/notesMasters/notesMaster1.xml" Id="Rc1134e633fee473e" /></Relationships>
</file>

<file path=ppt/notesSlides/_rels/notesSlide7.xml.rels>&#65279;<?xml version="1.0" encoding="utf-8"?><Relationships xmlns="http://schemas.openxmlformats.org/package/2006/relationships"><Relationship Type="http://schemas.openxmlformats.org/officeDocument/2006/relationships/slide" Target="/ppt/slides/slide7.xml" Id="Rd611dd9646af492f" /><Relationship Type="http://schemas.openxmlformats.org/officeDocument/2006/relationships/notesMaster" Target="/ppt/notesMasters/notesMaster1.xml" Id="Rf8040ed44af84566" /></Relationships>
</file>

<file path=ppt/notesSlides/_rels/notesSlide8.xml.rels>&#65279;<?xml version="1.0" encoding="utf-8"?><Relationships xmlns="http://schemas.openxmlformats.org/package/2006/relationships"><Relationship Type="http://schemas.openxmlformats.org/officeDocument/2006/relationships/slide" Target="/ppt/slides/slide8.xml" Id="Ra33272c59f924106" /><Relationship Type="http://schemas.openxmlformats.org/officeDocument/2006/relationships/notesMaster" Target="/ppt/notesMasters/notesMaster1.xml" Id="Rfead74042aeb40de" /></Relationships>
</file>

<file path=ppt/notesSlides/_rels/notesSlide9.xml.rels>&#65279;<?xml version="1.0" encoding="utf-8"?><Relationships xmlns="http://schemas.openxmlformats.org/package/2006/relationships"><Relationship Type="http://schemas.openxmlformats.org/officeDocument/2006/relationships/slide" Target="/ppt/slides/slide9.xml" Id="R6203e57ecde84347" /><Relationship Type="http://schemas.openxmlformats.org/officeDocument/2006/relationships/notesMaster" Target="/ppt/notesMasters/notesMaster1.xml" Id="R08306898d94a4f7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designed Compass around one rule: if a program officer cannot open the evidence behind a sentence, Compass should not say it. The assignment asked me to scope the problem. I also built a narrow working slice on fictional evidence so I could test whether the architecture and interaction actually hold together.</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systems are not four copies of the same truth. GivingData should own grant transactions. Drive carries narrative evidence. Airtable carries flexible relationship context. Zoom captures decisions in motion. Before synthesizing, Compass has to preserve those roles.</a:t>
            </a:r>
          </a:p>
          <a:p xmlns:a="http://schemas.openxmlformats.org/drawingml/2006/main">
            <a:r>
              <a:t/>
            </a:r>
          </a:p>
          <a:p xmlns:a="http://schemas.openxmlformats.org/drawingml/2006/main">
            <a:r>
              <a:t>Sources:</a:t>
            </a:r>
          </a:p>
          <a:p xmlns:a="http://schemas.openxmlformats.org/drawingml/2006/main">
            <a:r>
              <a:t>https://knowledgebase.givingdata.com/data-structure</a:t>
            </a:r>
          </a:p>
          <a:p xmlns:a="http://schemas.openxmlformats.org/drawingml/2006/main">
            <a:r>
              <a:t>https://developers.google.com/workspace/drive/api/guides/about-files</a:t>
            </a:r>
          </a:p>
          <a:p xmlns:a="http://schemas.openxmlformats.org/drawingml/2006/main">
            <a:r>
              <a:t>https://support.airtable.com/articles/6292134965-getting-started-with-airtable-s-web-api</a:t>
            </a:r>
          </a:p>
          <a:p xmlns:a="http://schemas.openxmlformats.org/drawingml/2006/main">
            <a:r>
              <a:t>https://support.zoom.com/hc/en/article?id=zm_kb&amp;sysparm_article=KB0060329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would not begin with the model. I would observe actual review and strategy workflows, then name the highest-value recurring questions. In parallel, I would map joins, definitions, owners, permissions, and exclusions. This creates the gold question set and data contracts that the build can be evaluated against.</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no longer only a scripted interface. The browser calls the ask API, the server applies access policy before selecting evidence, and the response returns a typed brief. Here the system finds agreement in a conversation and draft memo, then catches that GivingData still contains the old requirement. In ordinary language, Compass says what we know, why we know it, and what someone still needs to confirm. All records shown here remain fictional.</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vertical slice now runs end to end. A hosted identity header and exact email allowlist admit the user. Authorization constrains the candidate set. The system builds a typed brief, persists review feedback and audit events in D1, and runs automated checks. I kept retrieval deterministic for this slice. A model or vector index should earn its place by improving the approved gold questions.</a:t>
            </a:r>
          </a:p>
          <a:p xmlns:a="http://schemas.openxmlformats.org/drawingml/2006/main">
            <a:r>
              <a:t/>
            </a:r>
          </a:p>
          <a:p xmlns:a="http://schemas.openxmlformats.org/drawingml/2006/main">
            <a:r>
              <a:t>Sources:</a:t>
            </a:r>
          </a:p>
          <a:p xmlns:a="http://schemas.openxmlformats.org/drawingml/2006/main">
            <a:r>
              <a:t>https://developers.google.com/workspace/drive/api/guides/manage-sharing</a:t>
            </a:r>
          </a:p>
          <a:p xmlns:a="http://schemas.openxmlformats.org/drawingml/2006/main">
            <a:r>
              <a:t>https://developers.google.com/workspace/drive/api/guides/manage-changes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technical edge is where the constraints sit. A prompt does not enforce access. The server authenticates a stable subject, checks the exact approved account, then filters the candidates before any ranking or future model context. The initial suite has nine passing checks, including restricted evidence, prompt injection, citations, conflict handling, and the rule that role context can never expand access. Production still needs source revocation tests and an incident exercise.</a:t>
            </a:r>
          </a:p>
          <a:p xmlns:a="http://schemas.openxmlformats.org/drawingml/2006/main">
            <a:r>
              <a:t/>
            </a:r>
          </a:p>
          <a:p xmlns:a="http://schemas.openxmlformats.org/drawingml/2006/main">
            <a:r>
              <a:t>Sources:</a:t>
            </a:r>
          </a:p>
          <a:p xmlns:a="http://schemas.openxmlformats.org/drawingml/2006/main">
            <a:r>
              <a:t>https://cheatsheetseries.owasp.org/cheatsheets/LLM_Prompt_Injection_Prevention_Cheat_Sheet.html</a:t>
            </a:r>
          </a:p>
          <a:p xmlns:a="http://schemas.openxmlformats.org/drawingml/2006/main">
            <a:r>
              <a:t>https://www.nist.gov/itl/ai-risk-management-framework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designed the failure state as carefully as the happy path. A permission problem stops the answer. A data conflict appears with both values and an owner. Missing chat history appears as a coverage gap. Low evidence produces an abstention. The label “confidence” should describe coverage, source agreement, and evaluation results, not the model’s self-reported certainty.</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the honest boundary. I built a real browser, API, policy, persistence, and test path. The evidence remains fictional. I cannot connect Foundation systems responsibly without tenant approval, exact user assignments, source contracts, and credentials. That is useful evidence of judgment, not unfinished thinking. The architecture is ready for those adapters.</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use two synchronized plans. The dependency map protects correctness. The target windows create urgency. Teams can build fixtures, tests, interface states, and adapter contracts in parallel while credentials wait. They pull work forward when entry conditions close early. They never broaden access or skip a trust gate to appear ahead. Compass prepares the evidence. People interpret it and own the decision.</a:t>
            </a:r>
          </a:p>
          <a:p xmlns:a="http://schemas.openxmlformats.org/drawingml/2006/main">
            <a:r>
              <a:t/>
            </a:r>
          </a:p>
          <a:p xmlns:a="http://schemas.openxmlformats.org/drawingml/2006/main">
            <a:r>
              <a:t>Sources:</a:t>
            </a:r>
          </a:p>
          <a:p xmlns:a="http://schemas.openxmlformats.org/drawingml/2006/main">
            <a:r>
              <a:t>https://gitlabfoundation.notion.site/Values-313cf60acc3b47c4b1f64e8352ce1707</a:t>
            </a:r>
          </a:p>
          <a:p xmlns:a="http://schemas.openxmlformats.org/drawingml/2006/main">
            <a:r>
              <a:t>https://www.gitlabfoundation.org/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ff50dd3f1142c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04f7f36b3434aca" /><Relationship Type="http://schemas.openxmlformats.org/officeDocument/2006/relationships/slideLayout" Target="/ppt/slideLayouts/slideLayout1.xml" Id="Rdba4ecc4f728487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a4ecc4f72848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07e63fc6b224eb7" /><Relationship Type="http://schemas.openxmlformats.org/officeDocument/2006/relationships/image" Target="/ppt/media/image.png" Id="R6866ceb607b546d9" /><Relationship Type="http://schemas.openxmlformats.org/officeDocument/2006/relationships/notesSlide" Target="/ppt/notesSlides/notesSlide1.xml" Id="R136be616143648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4f2153935a84c8c" /><Relationship Type="http://schemas.openxmlformats.org/officeDocument/2006/relationships/notesSlide" Target="/ppt/notesSlides/notesSlide2.xml" Id="Rca3a08633b7d408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a33852d3d74414e" /><Relationship Type="http://schemas.openxmlformats.org/officeDocument/2006/relationships/notesSlide" Target="/ppt/notesSlides/notesSlide3.xml" Id="Ref262f0b082a48f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9df4f109cdf4f86" /><Relationship Type="http://schemas.openxmlformats.org/officeDocument/2006/relationships/notesSlide" Target="/ppt/notesSlides/notesSlide4.xml" Id="Rd8d6d9953043471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8f1b070c7354e30" /><Relationship Type="http://schemas.openxmlformats.org/officeDocument/2006/relationships/notesSlide" Target="/ppt/notesSlides/notesSlide5.xml" Id="Rd13e9594c58d4b2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bf49c59c0af44ab" /><Relationship Type="http://schemas.openxmlformats.org/officeDocument/2006/relationships/notesSlide" Target="/ppt/notesSlides/notesSlide6.xml" Id="R3bf7f08e778d460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1ff1fefa33940dd" /><Relationship Type="http://schemas.openxmlformats.org/officeDocument/2006/relationships/notesSlide" Target="/ppt/notesSlides/notesSlide7.xml" Id="R92374e57f63346f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acfe17e40524cc8" /><Relationship Type="http://schemas.openxmlformats.org/officeDocument/2006/relationships/notesSlide" Target="/ppt/notesSlides/notesSlide8.xml" Id="R0e87d6498ef242c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c6dd820fc384558" /><Relationship Type="http://schemas.openxmlformats.org/officeDocument/2006/relationships/notesSlide" Target="/ppt/notesSlides/notesSlide9.xml" Id="Rff5c260526224c7b" /></Relationships>
</file>

<file path=ppt/slides/slide1.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866ceb607b546d9"/>
          <a:srcRect xmlns:a="http://schemas.openxmlformats.org/drawingml/2006/main" l="3216" t="0" r="3216"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B6F221A-9AA9-45DB-BDA1-8B11A0FFEB8B}"/>
              </a:ext>
            </a:extLst>
          </p:cNvPr>
          <p:cNvSpPr>
            <a:spLocks xmlns:a="http://schemas.openxmlformats.org/drawingml/2006/main" noGrp="1"/>
          </p:cNvSpPr>
          <p:nvPr/>
        </p:nvSpPr>
        <p:spPr>
          <a:xfrm xmlns:a="http://schemas.openxmlformats.org/drawingml/2006/main">
            <a:off x="514350" y="438150"/>
            <a:ext cx="1866900" cy="323850"/>
          </a:xfrm>
          <a:prstGeom xmlns:a="http://schemas.openxmlformats.org/drawingml/2006/main" prst="roundRect">
            <a:avLst>
              <a:gd name="adj" fmla="val 50000"/>
            </a:avLst>
          </a:prstGeom>
          <a:solidFill xmlns:a="http://schemas.openxmlformats.org/drawingml/2006/main">
            <a:srgbClr val="25152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E3D9387-6656-4AB5-8AC4-E03F34DA536A}"/>
              </a:ext>
            </a:extLst>
          </p:cNvPr>
          <p:cNvSpPr>
            <a:spLocks xmlns:a="http://schemas.openxmlformats.org/drawingml/2006/main" noGrp="1"/>
          </p:cNvSpPr>
          <p:nvPr/>
        </p:nvSpPr>
        <p:spPr>
          <a:xfrm xmlns:a="http://schemas.openxmlformats.org/drawingml/2006/main">
            <a:off x="676275" y="495300"/>
            <a:ext cx="1543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GITLAB FOUNDATION</a:t>
            </a:r>
          </a:p>
        </p:txBody>
      </p:sp>
      <p:sp>
        <p:nvSpPr>
          <p:cNvPr id="4" name="">
            <a:extLst xmlns:a="http://schemas.openxmlformats.org/drawingml/2006/main">
              <a:ext uri="{FF2B5EF4-FFF2-40B4-BE49-F238E27FC236}">
                <a16:creationId xmlns:a16="http://schemas.microsoft.com/office/drawing/2014/main" id="{EB1113E4-FCFA-463A-BD9D-82BCEAEC37E4}"/>
              </a:ext>
            </a:extLst>
          </p:cNvPr>
          <p:cNvSpPr>
            <a:spLocks xmlns:a="http://schemas.openxmlformats.org/drawingml/2006/main" noGrp="1"/>
          </p:cNvSpPr>
          <p:nvPr/>
        </p:nvSpPr>
        <p:spPr>
          <a:xfrm xmlns:a="http://schemas.openxmlformats.org/drawingml/2006/main">
            <a:off x="666750" y="6238875"/>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25152B"/>
                </a:solidFill>
                <a:latin typeface="Helvetica Neue"/>
                <a:ea typeface="Helvetica Neue"/>
                <a:cs typeface="Helvetica Neue"/>
              </a:defRPr>
            </a:pPr>
            <a:r>
              <a:rPr sz="825" b="1">
                <a:solidFill>
                  <a:srgbClr val="25152B"/>
                </a:solidFill>
                <a:latin typeface="Helvetica Neue"/>
                <a:ea typeface="Helvetica Neue"/>
                <a:cs typeface="Helvetica Neue"/>
              </a:rPr>
              <a:t>WORKING MVP + CASE STUDY  SEPT 2026</a:t>
            </a:r>
          </a:p>
        </p:txBody>
      </p:sp>
      <p:sp>
        <p:nvSpPr>
          <p:cNvPr id="5" name="">
            <a:extLst xmlns:a="http://schemas.openxmlformats.org/drawingml/2006/main">
              <a:ext uri="{FF2B5EF4-FFF2-40B4-BE49-F238E27FC236}">
                <a16:creationId xmlns:a16="http://schemas.microsoft.com/office/drawing/2014/main" id="{87AD4BC7-6F46-4030-967F-1964D02B9F7D}"/>
              </a:ext>
            </a:extLst>
          </p:cNvPr>
          <p:cNvSpPr>
            <a:spLocks xmlns:a="http://schemas.openxmlformats.org/drawingml/2006/main" noGrp="1"/>
          </p:cNvSpPr>
          <p:nvPr/>
        </p:nvSpPr>
        <p:spPr>
          <a:xfrm xmlns:a="http://schemas.openxmlformats.org/drawingml/2006/main">
            <a:off x="9525000" y="6238875"/>
            <a:ext cx="1981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25152B"/>
                </a:solidFill>
                <a:latin typeface="Helvetica Neue"/>
                <a:ea typeface="Helvetica Neue"/>
                <a:cs typeface="Helvetica Neue"/>
              </a:defRPr>
            </a:pPr>
            <a:r>
              <a:rPr sz="825" b="1">
                <a:solidFill>
                  <a:srgbClr val="25152B"/>
                </a:solidFill>
                <a:latin typeface="Helvetica Neue"/>
                <a:ea typeface="Helvetica Neue"/>
                <a:cs typeface="Helvetica Neue"/>
              </a:rPr>
              <a:t>Jessenia Cintron</a:t>
            </a:r>
          </a:p>
        </p:txBody>
      </p:sp>
    </p:spTree>
    <p:extLst>
      <p:ext uri="{BB962C8B-B14F-4D97-AF65-F5344CB8AC3E}">
        <p14:creationId xmlns:p14="http://schemas.microsoft.com/office/powerpoint/2010/main" val="1304687170"/>
      </p:ext>
    </p:extLst>
  </p:cSld>
</p:sld>
</file>

<file path=ppt/slides/slide2.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B97D7966-02E0-4C1D-8CD7-143B96423194}"/>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THE DECISION PROBLEM</a:t>
            </a:r>
          </a:p>
        </p:txBody>
      </p:sp>
      <p:sp>
        <p:nvSpPr>
          <p:cNvPr id="2" name="">
            <a:extLst xmlns:a="http://schemas.openxmlformats.org/drawingml/2006/main">
              <a:ext uri="{FF2B5EF4-FFF2-40B4-BE49-F238E27FC236}">
                <a16:creationId xmlns:a16="http://schemas.microsoft.com/office/drawing/2014/main" id="{284B9888-5126-400E-A784-99405B613694}"/>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91B953CB-D9CD-4E1D-9874-668F886745D7}"/>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829E0A06-857E-4AE1-B3E9-052E8B4EE921}"/>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Four systems hold different kinds of truth</a:t>
            </a:r>
          </a:p>
        </p:txBody>
      </p:sp>
      <p:sp>
        <p:nvSpPr>
          <p:cNvPr id="5" name="">
            <a:extLst xmlns:a="http://schemas.openxmlformats.org/drawingml/2006/main">
              <a:ext uri="{FF2B5EF4-FFF2-40B4-BE49-F238E27FC236}">
                <a16:creationId xmlns:a16="http://schemas.microsoft.com/office/drawing/2014/main" id="{42263503-E069-445F-B9DA-606E2CFC2961}"/>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A useful answer must connect the records without flattening their meaning.</a:t>
            </a:r>
          </a:p>
        </p:txBody>
      </p:sp>
      <p:sp>
        <p:nvSpPr>
          <p:cNvPr id="6" name="">
            <a:extLst xmlns:a="http://schemas.openxmlformats.org/drawingml/2006/main">
              <a:ext uri="{FF2B5EF4-FFF2-40B4-BE49-F238E27FC236}">
                <a16:creationId xmlns:a16="http://schemas.microsoft.com/office/drawing/2014/main" id="{6549C38B-D0E5-4E44-BFCC-EC21B05146C2}"/>
              </a:ext>
            </a:extLst>
          </p:cNvPr>
          <p:cNvSpPr>
            <a:spLocks xmlns:a="http://schemas.openxmlformats.org/drawingml/2006/main" noGrp="1"/>
          </p:cNvSpPr>
          <p:nvPr/>
        </p:nvSpPr>
        <p:spPr>
          <a:xfrm xmlns:a="http://schemas.openxmlformats.org/drawingml/2006/main">
            <a:off x="666750" y="2152650"/>
            <a:ext cx="2476500" cy="2324100"/>
          </a:xfrm>
          <a:prstGeom xmlns:a="http://schemas.openxmlformats.org/drawingml/2006/main" prst="roundRect">
            <a:avLst>
              <a:gd name="adj" fmla="val 7377"/>
            </a:avLst>
          </a:prstGeom>
          <a:solidFill xmlns:a="http://schemas.openxmlformats.org/drawingml/2006/main">
            <a:srgbClr val="FFFFFF"/>
          </a:solidFill>
          <a:ln xmlns:a="http://schemas.openxmlformats.org/drawingml/2006/main" w="9525">
            <a:solidFill>
              <a:srgbClr val="DED8D2"/>
            </a:solidFill>
          </a:ln>
        </p:spPr>
      </p:sp>
      <p:sp>
        <p:nvSpPr>
          <p:cNvPr id="7" name="">
            <a:extLst xmlns:a="http://schemas.openxmlformats.org/drawingml/2006/main">
              <a:ext uri="{FF2B5EF4-FFF2-40B4-BE49-F238E27FC236}">
                <a16:creationId xmlns:a16="http://schemas.microsoft.com/office/drawing/2014/main" id="{04B41190-CCB6-48C7-9973-7DCAFDB12016}"/>
              </a:ext>
            </a:extLst>
          </p:cNvPr>
          <p:cNvSpPr>
            <a:spLocks xmlns:a="http://schemas.openxmlformats.org/drawingml/2006/main" noGrp="1"/>
          </p:cNvSpPr>
          <p:nvPr/>
        </p:nvSpPr>
        <p:spPr>
          <a:xfrm xmlns:a="http://schemas.openxmlformats.org/drawingml/2006/main">
            <a:off x="666750" y="2152650"/>
            <a:ext cx="2476500" cy="85725"/>
          </a:xfrm>
          <a:prstGeom xmlns:a="http://schemas.openxmlformats.org/drawingml/2006/main" prst="roundRect">
            <a:avLst>
              <a:gd name="adj" fmla="val 44444"/>
            </a:avLst>
          </a:prstGeom>
          <a:solidFill xmlns:a="http://schemas.openxmlformats.org/drawingml/2006/main">
            <a:srgbClr val="2D67A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0913475-1B7C-4279-A8E9-97656502820E}"/>
              </a:ext>
            </a:extLst>
          </p:cNvPr>
          <p:cNvSpPr>
            <a:spLocks xmlns:a="http://schemas.openxmlformats.org/drawingml/2006/main" noGrp="1"/>
          </p:cNvSpPr>
          <p:nvPr/>
        </p:nvSpPr>
        <p:spPr>
          <a:xfrm xmlns:a="http://schemas.openxmlformats.org/drawingml/2006/main">
            <a:off x="857250" y="24574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25152B"/>
                </a:solidFill>
                <a:latin typeface="Helvetica Neue"/>
                <a:ea typeface="Helvetica Neue"/>
                <a:cs typeface="Helvetica Neue"/>
              </a:defRPr>
            </a:pPr>
            <a:r>
              <a:rPr sz="1425" b="1">
                <a:solidFill>
                  <a:srgbClr val="25152B"/>
                </a:solidFill>
                <a:latin typeface="Helvetica Neue"/>
                <a:ea typeface="Helvetica Neue"/>
                <a:cs typeface="Helvetica Neue"/>
              </a:rPr>
              <a:t>Google Drive</a:t>
            </a:r>
          </a:p>
        </p:txBody>
      </p:sp>
      <p:sp>
        <p:nvSpPr>
          <p:cNvPr id="9" name="">
            <a:extLst xmlns:a="http://schemas.openxmlformats.org/drawingml/2006/main">
              <a:ext uri="{FF2B5EF4-FFF2-40B4-BE49-F238E27FC236}">
                <a16:creationId xmlns:a16="http://schemas.microsoft.com/office/drawing/2014/main" id="{52E1603D-6A92-4A41-B9FF-4834BB152938}"/>
              </a:ext>
            </a:extLst>
          </p:cNvPr>
          <p:cNvSpPr>
            <a:spLocks xmlns:a="http://schemas.openxmlformats.org/drawingml/2006/main" noGrp="1"/>
          </p:cNvSpPr>
          <p:nvPr/>
        </p:nvSpPr>
        <p:spPr>
          <a:xfrm xmlns:a="http://schemas.openxmlformats.org/drawingml/2006/main">
            <a:off x="857250" y="291465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2D67A6"/>
                </a:solidFill>
                <a:latin typeface="Helvetica Neue"/>
                <a:ea typeface="Helvetica Neue"/>
                <a:cs typeface="Helvetica Neue"/>
              </a:defRPr>
            </a:pPr>
            <a:r>
              <a:rPr sz="975" b="1">
                <a:solidFill>
                  <a:srgbClr val="2D67A6"/>
                </a:solidFill>
                <a:latin typeface="Helvetica Neue"/>
                <a:ea typeface="Helvetica Neue"/>
                <a:cs typeface="Helvetica Neue"/>
              </a:rPr>
              <a:t>Narrative evidence</a:t>
            </a:r>
          </a:p>
        </p:txBody>
      </p:sp>
      <p:sp>
        <p:nvSpPr>
          <p:cNvPr id="10" name="">
            <a:extLst xmlns:a="http://schemas.openxmlformats.org/drawingml/2006/main">
              <a:ext uri="{FF2B5EF4-FFF2-40B4-BE49-F238E27FC236}">
                <a16:creationId xmlns:a16="http://schemas.microsoft.com/office/drawing/2014/main" id="{FA671FA9-16E1-4FFF-9CFD-AE4F5287565D}"/>
              </a:ext>
            </a:extLst>
          </p:cNvPr>
          <p:cNvSpPr>
            <a:spLocks xmlns:a="http://schemas.openxmlformats.org/drawingml/2006/main" noGrp="1"/>
          </p:cNvSpPr>
          <p:nvPr/>
        </p:nvSpPr>
        <p:spPr>
          <a:xfrm xmlns:a="http://schemas.openxmlformats.org/drawingml/2006/main">
            <a:off x="857250" y="3295650"/>
            <a:ext cx="20955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11" name="">
            <a:extLst xmlns:a="http://schemas.openxmlformats.org/drawingml/2006/main">
              <a:ext uri="{FF2B5EF4-FFF2-40B4-BE49-F238E27FC236}">
                <a16:creationId xmlns:a16="http://schemas.microsoft.com/office/drawing/2014/main" id="{39F65D25-54B8-4C7F-B6B1-7BE2AC6E7D64}"/>
              </a:ext>
            </a:extLst>
          </p:cNvPr>
          <p:cNvSpPr>
            <a:spLocks xmlns:a="http://schemas.openxmlformats.org/drawingml/2006/main" noGrp="1"/>
          </p:cNvSpPr>
          <p:nvPr/>
        </p:nvSpPr>
        <p:spPr>
          <a:xfrm xmlns:a="http://schemas.openxmlformats.org/drawingml/2006/main">
            <a:off x="857250" y="345757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Reports, proposals, memos, tables</a:t>
            </a:r>
          </a:p>
        </p:txBody>
      </p:sp>
      <p:sp>
        <p:nvSpPr>
          <p:cNvPr id="12" name="">
            <a:extLst xmlns:a="http://schemas.openxmlformats.org/drawingml/2006/main">
              <a:ext uri="{FF2B5EF4-FFF2-40B4-BE49-F238E27FC236}">
                <a16:creationId xmlns:a16="http://schemas.microsoft.com/office/drawing/2014/main" id="{F09CCC9E-4585-44D0-9AB9-9A6AFA238E03}"/>
              </a:ext>
            </a:extLst>
          </p:cNvPr>
          <p:cNvSpPr>
            <a:spLocks xmlns:a="http://schemas.openxmlformats.org/drawingml/2006/main" noGrp="1"/>
          </p:cNvSpPr>
          <p:nvPr/>
        </p:nvSpPr>
        <p:spPr>
          <a:xfrm xmlns:a="http://schemas.openxmlformats.org/drawingml/2006/main">
            <a:off x="3390900" y="2152650"/>
            <a:ext cx="2476500" cy="2324100"/>
          </a:xfrm>
          <a:prstGeom xmlns:a="http://schemas.openxmlformats.org/drawingml/2006/main" prst="roundRect">
            <a:avLst>
              <a:gd name="adj" fmla="val 7377"/>
            </a:avLst>
          </a:prstGeom>
          <a:solidFill xmlns:a="http://schemas.openxmlformats.org/drawingml/2006/main">
            <a:srgbClr val="FFFFFF"/>
          </a:solidFill>
          <a:ln xmlns:a="http://schemas.openxmlformats.org/drawingml/2006/main" w="9525">
            <a:solidFill>
              <a:srgbClr val="DED8D2"/>
            </a:solidFill>
          </a:ln>
        </p:spPr>
      </p:sp>
      <p:sp>
        <p:nvSpPr>
          <p:cNvPr id="13" name="">
            <a:extLst xmlns:a="http://schemas.openxmlformats.org/drawingml/2006/main">
              <a:ext uri="{FF2B5EF4-FFF2-40B4-BE49-F238E27FC236}">
                <a16:creationId xmlns:a16="http://schemas.microsoft.com/office/drawing/2014/main" id="{B62AE1C8-A1D5-4D50-9843-76C187C0501E}"/>
              </a:ext>
            </a:extLst>
          </p:cNvPr>
          <p:cNvSpPr>
            <a:spLocks xmlns:a="http://schemas.openxmlformats.org/drawingml/2006/main" noGrp="1"/>
          </p:cNvSpPr>
          <p:nvPr/>
        </p:nvSpPr>
        <p:spPr>
          <a:xfrm xmlns:a="http://schemas.openxmlformats.org/drawingml/2006/main">
            <a:off x="3390900" y="2152650"/>
            <a:ext cx="2476500" cy="85725"/>
          </a:xfrm>
          <a:prstGeom xmlns:a="http://schemas.openxmlformats.org/drawingml/2006/main" prst="roundRect">
            <a:avLst>
              <a:gd name="adj" fmla="val 44444"/>
            </a:avLst>
          </a:prstGeom>
          <a:solidFill xmlns:a="http://schemas.openxmlformats.org/drawingml/2006/main">
            <a:srgbClr val="C3472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35EE262-BC98-4CA3-B0E7-B1D9B830F4E3}"/>
              </a:ext>
            </a:extLst>
          </p:cNvPr>
          <p:cNvSpPr>
            <a:spLocks xmlns:a="http://schemas.openxmlformats.org/drawingml/2006/main" noGrp="1"/>
          </p:cNvSpPr>
          <p:nvPr/>
        </p:nvSpPr>
        <p:spPr>
          <a:xfrm xmlns:a="http://schemas.openxmlformats.org/drawingml/2006/main">
            <a:off x="3581400" y="24574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25152B"/>
                </a:solidFill>
                <a:latin typeface="Helvetica Neue"/>
                <a:ea typeface="Helvetica Neue"/>
                <a:cs typeface="Helvetica Neue"/>
              </a:defRPr>
            </a:pPr>
            <a:r>
              <a:rPr sz="1425" b="1">
                <a:solidFill>
                  <a:srgbClr val="25152B"/>
                </a:solidFill>
                <a:latin typeface="Helvetica Neue"/>
                <a:ea typeface="Helvetica Neue"/>
                <a:cs typeface="Helvetica Neue"/>
              </a:rPr>
              <a:t>GivingData</a:t>
            </a:r>
          </a:p>
        </p:txBody>
      </p:sp>
      <p:sp>
        <p:nvSpPr>
          <p:cNvPr id="15" name="">
            <a:extLst xmlns:a="http://schemas.openxmlformats.org/drawingml/2006/main">
              <a:ext uri="{FF2B5EF4-FFF2-40B4-BE49-F238E27FC236}">
                <a16:creationId xmlns:a16="http://schemas.microsoft.com/office/drawing/2014/main" id="{1721A5E9-C702-4939-AF7D-529F4ECE50BD}"/>
              </a:ext>
            </a:extLst>
          </p:cNvPr>
          <p:cNvSpPr>
            <a:spLocks xmlns:a="http://schemas.openxmlformats.org/drawingml/2006/main" noGrp="1"/>
          </p:cNvSpPr>
          <p:nvPr/>
        </p:nvSpPr>
        <p:spPr>
          <a:xfrm xmlns:a="http://schemas.openxmlformats.org/drawingml/2006/main">
            <a:off x="3581400" y="291465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C34728"/>
                </a:solidFill>
                <a:latin typeface="Helvetica Neue"/>
                <a:ea typeface="Helvetica Neue"/>
                <a:cs typeface="Helvetica Neue"/>
              </a:defRPr>
            </a:pPr>
            <a:r>
              <a:rPr sz="975" b="1">
                <a:solidFill>
                  <a:srgbClr val="C34728"/>
                </a:solidFill>
                <a:latin typeface="Helvetica Neue"/>
                <a:ea typeface="Helvetica Neue"/>
                <a:cs typeface="Helvetica Neue"/>
              </a:rPr>
              <a:t>Grant truth</a:t>
            </a:r>
          </a:p>
        </p:txBody>
      </p:sp>
      <p:sp>
        <p:nvSpPr>
          <p:cNvPr id="16" name="">
            <a:extLst xmlns:a="http://schemas.openxmlformats.org/drawingml/2006/main">
              <a:ext uri="{FF2B5EF4-FFF2-40B4-BE49-F238E27FC236}">
                <a16:creationId xmlns:a16="http://schemas.microsoft.com/office/drawing/2014/main" id="{5E5AC671-68E1-4F60-9D1B-598E42F24E58}"/>
              </a:ext>
            </a:extLst>
          </p:cNvPr>
          <p:cNvSpPr>
            <a:spLocks xmlns:a="http://schemas.openxmlformats.org/drawingml/2006/main" noGrp="1"/>
          </p:cNvSpPr>
          <p:nvPr/>
        </p:nvSpPr>
        <p:spPr>
          <a:xfrm xmlns:a="http://schemas.openxmlformats.org/drawingml/2006/main">
            <a:off x="3581400" y="3295650"/>
            <a:ext cx="20955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17" name="">
            <a:extLst xmlns:a="http://schemas.openxmlformats.org/drawingml/2006/main">
              <a:ext uri="{FF2B5EF4-FFF2-40B4-BE49-F238E27FC236}">
                <a16:creationId xmlns:a16="http://schemas.microsoft.com/office/drawing/2014/main" id="{18BE1EF3-2F42-4BC9-954B-C51012067937}"/>
              </a:ext>
            </a:extLst>
          </p:cNvPr>
          <p:cNvSpPr>
            <a:spLocks xmlns:a="http://schemas.openxmlformats.org/drawingml/2006/main" noGrp="1"/>
          </p:cNvSpPr>
          <p:nvPr/>
        </p:nvSpPr>
        <p:spPr>
          <a:xfrm xmlns:a="http://schemas.openxmlformats.org/drawingml/2006/main">
            <a:off x="3581400" y="345757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Organizations, requests, payments, requirements</a:t>
            </a:r>
          </a:p>
        </p:txBody>
      </p:sp>
      <p:sp>
        <p:nvSpPr>
          <p:cNvPr id="18" name="">
            <a:extLst xmlns:a="http://schemas.openxmlformats.org/drawingml/2006/main">
              <a:ext uri="{FF2B5EF4-FFF2-40B4-BE49-F238E27FC236}">
                <a16:creationId xmlns:a16="http://schemas.microsoft.com/office/drawing/2014/main" id="{5D2A45F1-A79C-4A75-96DA-DBF0226A1D67}"/>
              </a:ext>
            </a:extLst>
          </p:cNvPr>
          <p:cNvSpPr>
            <a:spLocks xmlns:a="http://schemas.openxmlformats.org/drawingml/2006/main" noGrp="1"/>
          </p:cNvSpPr>
          <p:nvPr/>
        </p:nvSpPr>
        <p:spPr>
          <a:xfrm xmlns:a="http://schemas.openxmlformats.org/drawingml/2006/main">
            <a:off x="6115050" y="2152650"/>
            <a:ext cx="2476500" cy="2324100"/>
          </a:xfrm>
          <a:prstGeom xmlns:a="http://schemas.openxmlformats.org/drawingml/2006/main" prst="roundRect">
            <a:avLst>
              <a:gd name="adj" fmla="val 7377"/>
            </a:avLst>
          </a:prstGeom>
          <a:solidFill xmlns:a="http://schemas.openxmlformats.org/drawingml/2006/main">
            <a:srgbClr val="FFFFFF"/>
          </a:solidFill>
          <a:ln xmlns:a="http://schemas.openxmlformats.org/drawingml/2006/main" w="9525">
            <a:solidFill>
              <a:srgbClr val="DED8D2"/>
            </a:solidFill>
          </a:ln>
        </p:spPr>
      </p:sp>
      <p:sp>
        <p:nvSpPr>
          <p:cNvPr id="19" name="">
            <a:extLst xmlns:a="http://schemas.openxmlformats.org/drawingml/2006/main">
              <a:ext uri="{FF2B5EF4-FFF2-40B4-BE49-F238E27FC236}">
                <a16:creationId xmlns:a16="http://schemas.microsoft.com/office/drawing/2014/main" id="{1877FF78-2F1B-4F49-A28A-1C529C0AF450}"/>
              </a:ext>
            </a:extLst>
          </p:cNvPr>
          <p:cNvSpPr>
            <a:spLocks xmlns:a="http://schemas.openxmlformats.org/drawingml/2006/main" noGrp="1"/>
          </p:cNvSpPr>
          <p:nvPr/>
        </p:nvSpPr>
        <p:spPr>
          <a:xfrm xmlns:a="http://schemas.openxmlformats.org/drawingml/2006/main">
            <a:off x="6115050" y="2152650"/>
            <a:ext cx="2476500" cy="85725"/>
          </a:xfrm>
          <a:prstGeom xmlns:a="http://schemas.openxmlformats.org/drawingml/2006/main" prst="roundRect">
            <a:avLst>
              <a:gd name="adj" fmla="val 44444"/>
            </a:avLst>
          </a:prstGeom>
          <a:solidFill xmlns:a="http://schemas.openxmlformats.org/drawingml/2006/main">
            <a:srgbClr val="287A50"/>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A42701A-3924-4757-86FA-D15494CE2D63}"/>
              </a:ext>
            </a:extLst>
          </p:cNvPr>
          <p:cNvSpPr>
            <a:spLocks xmlns:a="http://schemas.openxmlformats.org/drawingml/2006/main" noGrp="1"/>
          </p:cNvSpPr>
          <p:nvPr/>
        </p:nvSpPr>
        <p:spPr>
          <a:xfrm xmlns:a="http://schemas.openxmlformats.org/drawingml/2006/main">
            <a:off x="6305550" y="24574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25152B"/>
                </a:solidFill>
                <a:latin typeface="Helvetica Neue"/>
                <a:ea typeface="Helvetica Neue"/>
                <a:cs typeface="Helvetica Neue"/>
              </a:defRPr>
            </a:pPr>
            <a:r>
              <a:rPr sz="1425" b="1">
                <a:solidFill>
                  <a:srgbClr val="25152B"/>
                </a:solidFill>
                <a:latin typeface="Helvetica Neue"/>
                <a:ea typeface="Helvetica Neue"/>
                <a:cs typeface="Helvetica Neue"/>
              </a:rPr>
              <a:t>Airtable</a:t>
            </a:r>
          </a:p>
        </p:txBody>
      </p:sp>
      <p:sp>
        <p:nvSpPr>
          <p:cNvPr id="21" name="">
            <a:extLst xmlns:a="http://schemas.openxmlformats.org/drawingml/2006/main">
              <a:ext uri="{FF2B5EF4-FFF2-40B4-BE49-F238E27FC236}">
                <a16:creationId xmlns:a16="http://schemas.microsoft.com/office/drawing/2014/main" id="{F75E5EB2-65B4-4D5A-934F-467EB7432220}"/>
              </a:ext>
            </a:extLst>
          </p:cNvPr>
          <p:cNvSpPr>
            <a:spLocks xmlns:a="http://schemas.openxmlformats.org/drawingml/2006/main" noGrp="1"/>
          </p:cNvSpPr>
          <p:nvPr/>
        </p:nvSpPr>
        <p:spPr>
          <a:xfrm xmlns:a="http://schemas.openxmlformats.org/drawingml/2006/main">
            <a:off x="6305550" y="291465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287A50"/>
                </a:solidFill>
                <a:latin typeface="Helvetica Neue"/>
                <a:ea typeface="Helvetica Neue"/>
                <a:cs typeface="Helvetica Neue"/>
              </a:defRPr>
            </a:pPr>
            <a:r>
              <a:rPr sz="975" b="1">
                <a:solidFill>
                  <a:srgbClr val="287A50"/>
                </a:solidFill>
                <a:latin typeface="Helvetica Neue"/>
                <a:ea typeface="Helvetica Neue"/>
                <a:cs typeface="Helvetica Neue"/>
              </a:rPr>
              <a:t>Relationship context</a:t>
            </a:r>
          </a:p>
        </p:txBody>
      </p:sp>
      <p:sp>
        <p:nvSpPr>
          <p:cNvPr id="22" name="">
            <a:extLst xmlns:a="http://schemas.openxmlformats.org/drawingml/2006/main">
              <a:ext uri="{FF2B5EF4-FFF2-40B4-BE49-F238E27FC236}">
                <a16:creationId xmlns:a16="http://schemas.microsoft.com/office/drawing/2014/main" id="{D1B6515C-761C-4B40-B433-0F1E2021305F}"/>
              </a:ext>
            </a:extLst>
          </p:cNvPr>
          <p:cNvSpPr>
            <a:spLocks xmlns:a="http://schemas.openxmlformats.org/drawingml/2006/main" noGrp="1"/>
          </p:cNvSpPr>
          <p:nvPr/>
        </p:nvSpPr>
        <p:spPr>
          <a:xfrm xmlns:a="http://schemas.openxmlformats.org/drawingml/2006/main">
            <a:off x="6305550" y="3295650"/>
            <a:ext cx="20955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23" name="">
            <a:extLst xmlns:a="http://schemas.openxmlformats.org/drawingml/2006/main">
              <a:ext uri="{FF2B5EF4-FFF2-40B4-BE49-F238E27FC236}">
                <a16:creationId xmlns:a16="http://schemas.microsoft.com/office/drawing/2014/main" id="{1348D25A-AE4C-425B-9E37-61BDEA2DADE3}"/>
              </a:ext>
            </a:extLst>
          </p:cNvPr>
          <p:cNvSpPr>
            <a:spLocks xmlns:a="http://schemas.openxmlformats.org/drawingml/2006/main" noGrp="1"/>
          </p:cNvSpPr>
          <p:nvPr/>
        </p:nvSpPr>
        <p:spPr>
          <a:xfrm xmlns:a="http://schemas.openxmlformats.org/drawingml/2006/main">
            <a:off x="6305550" y="345757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Partners, cohorts, projects, touchpoints</a:t>
            </a:r>
          </a:p>
        </p:txBody>
      </p:sp>
      <p:sp>
        <p:nvSpPr>
          <p:cNvPr id="24" name="">
            <a:extLst xmlns:a="http://schemas.openxmlformats.org/drawingml/2006/main">
              <a:ext uri="{FF2B5EF4-FFF2-40B4-BE49-F238E27FC236}">
                <a16:creationId xmlns:a16="http://schemas.microsoft.com/office/drawing/2014/main" id="{37DF6342-2398-47C0-AD2D-F5C04C142ACF}"/>
              </a:ext>
            </a:extLst>
          </p:cNvPr>
          <p:cNvSpPr>
            <a:spLocks xmlns:a="http://schemas.openxmlformats.org/drawingml/2006/main" noGrp="1"/>
          </p:cNvSpPr>
          <p:nvPr/>
        </p:nvSpPr>
        <p:spPr>
          <a:xfrm xmlns:a="http://schemas.openxmlformats.org/drawingml/2006/main">
            <a:off x="8839200" y="2152650"/>
            <a:ext cx="2476500" cy="2324100"/>
          </a:xfrm>
          <a:prstGeom xmlns:a="http://schemas.openxmlformats.org/drawingml/2006/main" prst="roundRect">
            <a:avLst>
              <a:gd name="adj" fmla="val 7377"/>
            </a:avLst>
          </a:prstGeom>
          <a:solidFill xmlns:a="http://schemas.openxmlformats.org/drawingml/2006/main">
            <a:srgbClr val="FFFFFF"/>
          </a:solidFill>
          <a:ln xmlns:a="http://schemas.openxmlformats.org/drawingml/2006/main" w="9525">
            <a:solidFill>
              <a:srgbClr val="DED8D2"/>
            </a:solidFill>
          </a:ln>
        </p:spPr>
      </p:sp>
      <p:sp>
        <p:nvSpPr>
          <p:cNvPr id="25" name="">
            <a:extLst xmlns:a="http://schemas.openxmlformats.org/drawingml/2006/main">
              <a:ext uri="{FF2B5EF4-FFF2-40B4-BE49-F238E27FC236}">
                <a16:creationId xmlns:a16="http://schemas.microsoft.com/office/drawing/2014/main" id="{77B54EC2-995C-4F88-8E8F-FAA880ADB969}"/>
              </a:ext>
            </a:extLst>
          </p:cNvPr>
          <p:cNvSpPr>
            <a:spLocks xmlns:a="http://schemas.openxmlformats.org/drawingml/2006/main" noGrp="1"/>
          </p:cNvSpPr>
          <p:nvPr/>
        </p:nvSpPr>
        <p:spPr>
          <a:xfrm xmlns:a="http://schemas.openxmlformats.org/drawingml/2006/main">
            <a:off x="8839200" y="2152650"/>
            <a:ext cx="2476500" cy="85725"/>
          </a:xfrm>
          <a:prstGeom xmlns:a="http://schemas.openxmlformats.org/drawingml/2006/main" prst="roundRect">
            <a:avLst>
              <a:gd name="adj" fmla="val 44444"/>
            </a:avLst>
          </a:prstGeom>
          <a:solidFill xmlns:a="http://schemas.openxmlformats.org/drawingml/2006/main">
            <a:srgbClr val="69479B"/>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CD8FB6A2-B3DC-4CC9-9672-8D2EEAF59A38}"/>
              </a:ext>
            </a:extLst>
          </p:cNvPr>
          <p:cNvSpPr>
            <a:spLocks xmlns:a="http://schemas.openxmlformats.org/drawingml/2006/main" noGrp="1"/>
          </p:cNvSpPr>
          <p:nvPr/>
        </p:nvSpPr>
        <p:spPr>
          <a:xfrm xmlns:a="http://schemas.openxmlformats.org/drawingml/2006/main">
            <a:off x="9029700" y="24574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25152B"/>
                </a:solidFill>
                <a:latin typeface="Helvetica Neue"/>
                <a:ea typeface="Helvetica Neue"/>
                <a:cs typeface="Helvetica Neue"/>
              </a:defRPr>
            </a:pPr>
            <a:r>
              <a:rPr sz="1425" b="1">
                <a:solidFill>
                  <a:srgbClr val="25152B"/>
                </a:solidFill>
                <a:latin typeface="Helvetica Neue"/>
                <a:ea typeface="Helvetica Neue"/>
                <a:cs typeface="Helvetica Neue"/>
              </a:rPr>
              <a:t>Zoom Chat</a:t>
            </a:r>
          </a:p>
        </p:txBody>
      </p:sp>
      <p:sp>
        <p:nvSpPr>
          <p:cNvPr id="27" name="">
            <a:extLst xmlns:a="http://schemas.openxmlformats.org/drawingml/2006/main">
              <a:ext uri="{FF2B5EF4-FFF2-40B4-BE49-F238E27FC236}">
                <a16:creationId xmlns:a16="http://schemas.microsoft.com/office/drawing/2014/main" id="{C8446A74-3B40-476C-8FCB-BBD565F0D6B7}"/>
              </a:ext>
            </a:extLst>
          </p:cNvPr>
          <p:cNvSpPr>
            <a:spLocks xmlns:a="http://schemas.openxmlformats.org/drawingml/2006/main" noGrp="1"/>
          </p:cNvSpPr>
          <p:nvPr/>
        </p:nvSpPr>
        <p:spPr>
          <a:xfrm xmlns:a="http://schemas.openxmlformats.org/drawingml/2006/main">
            <a:off x="9029700" y="291465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69479B"/>
                </a:solidFill>
                <a:latin typeface="Helvetica Neue"/>
                <a:ea typeface="Helvetica Neue"/>
                <a:cs typeface="Helvetica Neue"/>
              </a:defRPr>
            </a:pPr>
            <a:r>
              <a:rPr sz="975" b="1">
                <a:solidFill>
                  <a:srgbClr val="69479B"/>
                </a:solidFill>
                <a:latin typeface="Helvetica Neue"/>
                <a:ea typeface="Helvetica Neue"/>
                <a:cs typeface="Helvetica Neue"/>
              </a:rPr>
              <a:t>Decisions in motion</a:t>
            </a:r>
          </a:p>
        </p:txBody>
      </p:sp>
      <p:sp>
        <p:nvSpPr>
          <p:cNvPr id="28" name="">
            <a:extLst xmlns:a="http://schemas.openxmlformats.org/drawingml/2006/main">
              <a:ext uri="{FF2B5EF4-FFF2-40B4-BE49-F238E27FC236}">
                <a16:creationId xmlns:a16="http://schemas.microsoft.com/office/drawing/2014/main" id="{EC8C09AF-16A3-47C7-A4EC-CDB3BC96F6C6}"/>
              </a:ext>
            </a:extLst>
          </p:cNvPr>
          <p:cNvSpPr>
            <a:spLocks xmlns:a="http://schemas.openxmlformats.org/drawingml/2006/main" noGrp="1"/>
          </p:cNvSpPr>
          <p:nvPr/>
        </p:nvSpPr>
        <p:spPr>
          <a:xfrm xmlns:a="http://schemas.openxmlformats.org/drawingml/2006/main">
            <a:off x="9029700" y="3295650"/>
            <a:ext cx="20955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29" name="">
            <a:extLst xmlns:a="http://schemas.openxmlformats.org/drawingml/2006/main">
              <a:ext uri="{FF2B5EF4-FFF2-40B4-BE49-F238E27FC236}">
                <a16:creationId xmlns:a16="http://schemas.microsoft.com/office/drawing/2014/main" id="{FDA096AE-1B87-4281-A931-45B3ABF23547}"/>
              </a:ext>
            </a:extLst>
          </p:cNvPr>
          <p:cNvSpPr>
            <a:spLocks xmlns:a="http://schemas.openxmlformats.org/drawingml/2006/main" noGrp="1"/>
          </p:cNvSpPr>
          <p:nvPr/>
        </p:nvSpPr>
        <p:spPr>
          <a:xfrm xmlns:a="http://schemas.openxmlformats.org/drawingml/2006/main">
            <a:off x="9029700" y="345757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Discussion, rationale, informal observations</a:t>
            </a:r>
          </a:p>
        </p:txBody>
      </p:sp>
      <p:sp>
        <p:nvSpPr>
          <p:cNvPr id="30" name="">
            <a:extLst xmlns:a="http://schemas.openxmlformats.org/drawingml/2006/main">
              <a:ext uri="{FF2B5EF4-FFF2-40B4-BE49-F238E27FC236}">
                <a16:creationId xmlns:a16="http://schemas.microsoft.com/office/drawing/2014/main" id="{7B98F0F0-39C3-479E-BC9E-536F533A559B}"/>
              </a:ext>
            </a:extLst>
          </p:cNvPr>
          <p:cNvSpPr>
            <a:spLocks xmlns:a="http://schemas.openxmlformats.org/drawingml/2006/main" noGrp="1"/>
          </p:cNvSpPr>
          <p:nvPr/>
        </p:nvSpPr>
        <p:spPr>
          <a:xfrm xmlns:a="http://schemas.openxmlformats.org/drawingml/2006/main">
            <a:off x="666750" y="481965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E94B2A"/>
                </a:solidFill>
                <a:latin typeface="Helvetica Neue"/>
                <a:ea typeface="Helvetica Neue"/>
                <a:cs typeface="Helvetica Neue"/>
              </a:defRPr>
            </a:pPr>
            <a:r>
              <a:rPr sz="900" b="1">
                <a:solidFill>
                  <a:srgbClr val="E94B2A"/>
                </a:solidFill>
                <a:latin typeface="Helvetica Neue"/>
                <a:ea typeface="Helvetica Neue"/>
                <a:cs typeface="Helvetica Neue"/>
              </a:rPr>
              <a:t>Design consequence</a:t>
            </a:r>
          </a:p>
        </p:txBody>
      </p:sp>
      <p:sp>
        <p:nvSpPr>
          <p:cNvPr id="31" name="">
            <a:extLst xmlns:a="http://schemas.openxmlformats.org/drawingml/2006/main">
              <a:ext uri="{FF2B5EF4-FFF2-40B4-BE49-F238E27FC236}">
                <a16:creationId xmlns:a16="http://schemas.microsoft.com/office/drawing/2014/main" id="{CCAEA674-758B-487E-A719-5C1A87C0480A}"/>
              </a:ext>
            </a:extLst>
          </p:cNvPr>
          <p:cNvSpPr>
            <a:spLocks xmlns:a="http://schemas.openxmlformats.org/drawingml/2006/main" noGrp="1"/>
          </p:cNvSpPr>
          <p:nvPr/>
        </p:nvSpPr>
        <p:spPr>
          <a:xfrm xmlns:a="http://schemas.openxmlformats.org/drawingml/2006/main">
            <a:off x="666750" y="5105400"/>
            <a:ext cx="1009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1">
                <a:solidFill>
                  <a:srgbClr val="25152B"/>
                </a:solidFill>
                <a:latin typeface="Helvetica Neue"/>
                <a:ea typeface="Helvetica Neue"/>
                <a:cs typeface="Helvetica Neue"/>
              </a:defRPr>
            </a:pPr>
            <a:r>
              <a:rPr sz="1725" b="1">
                <a:solidFill>
                  <a:srgbClr val="25152B"/>
                </a:solidFill>
                <a:latin typeface="Helvetica Neue"/>
                <a:ea typeface="Helvetica Neue"/>
                <a:cs typeface="Helvetica Neue"/>
              </a:rPr>
              <a:t>Preserve source authority, date, status, metric definition, and permissions in every answer.</a:t>
            </a:r>
          </a:p>
        </p:txBody>
      </p:sp>
    </p:spTree>
    <p:extLst>
      <p:ext uri="{BB962C8B-B14F-4D97-AF65-F5344CB8AC3E}">
        <p14:creationId xmlns:p14="http://schemas.microsoft.com/office/powerpoint/2010/main" val="841422370"/>
      </p:ext>
    </p:extLst>
  </p:cSld>
</p:sld>
</file>

<file path=ppt/slides/slide3.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1BD432F8-2266-479D-8F6E-3343201A0851}"/>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DISCOVERY</a:t>
            </a:r>
          </a:p>
        </p:txBody>
      </p:sp>
      <p:sp>
        <p:nvSpPr>
          <p:cNvPr id="2" name="">
            <a:extLst xmlns:a="http://schemas.openxmlformats.org/drawingml/2006/main">
              <a:ext uri="{FF2B5EF4-FFF2-40B4-BE49-F238E27FC236}">
                <a16:creationId xmlns:a16="http://schemas.microsoft.com/office/drawing/2014/main" id="{8A2CFC58-9DF0-4C66-9F4E-FC303713F211}"/>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1C3C89F1-4982-4039-9B77-86F1EF99897B}"/>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43EB3D70-4E8C-4027-9415-37F65BAC0A4E}"/>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The question comes before the architecture</a:t>
            </a:r>
          </a:p>
        </p:txBody>
      </p:sp>
      <p:sp>
        <p:nvSpPr>
          <p:cNvPr id="5" name="">
            <a:extLst xmlns:a="http://schemas.openxmlformats.org/drawingml/2006/main">
              <a:ext uri="{FF2B5EF4-FFF2-40B4-BE49-F238E27FC236}">
                <a16:creationId xmlns:a16="http://schemas.microsoft.com/office/drawing/2014/main" id="{D227B84F-A36E-4554-BA0C-6E3D04129A1D}"/>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The first stage turns ambiguity into explicit product and data contracts.</a:t>
            </a:r>
          </a:p>
        </p:txBody>
      </p:sp>
      <p:sp>
        <p:nvSpPr>
          <p:cNvPr id="6" name="">
            <a:extLst xmlns:a="http://schemas.openxmlformats.org/drawingml/2006/main">
              <a:ext uri="{FF2B5EF4-FFF2-40B4-BE49-F238E27FC236}">
                <a16:creationId xmlns:a16="http://schemas.microsoft.com/office/drawing/2014/main" id="{93CD8329-DC5F-4DF9-AD18-452346CCBCA6}"/>
              </a:ext>
            </a:extLst>
          </p:cNvPr>
          <p:cNvSpPr>
            <a:spLocks xmlns:a="http://schemas.openxmlformats.org/drawingml/2006/main" noGrp="1"/>
          </p:cNvSpPr>
          <p:nvPr/>
        </p:nvSpPr>
        <p:spPr>
          <a:xfrm xmlns:a="http://schemas.openxmlformats.org/drawingml/2006/main">
            <a:off x="666750" y="2076450"/>
            <a:ext cx="304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E94B2A"/>
                </a:solidFill>
                <a:latin typeface="Helvetica Neue"/>
                <a:ea typeface="Helvetica Neue"/>
                <a:cs typeface="Helvetica Neue"/>
              </a:defRPr>
            </a:pPr>
            <a:r>
              <a:rPr sz="900" b="1">
                <a:solidFill>
                  <a:srgbClr val="E94B2A"/>
                </a:solidFill>
                <a:latin typeface="Helvetica Neue"/>
                <a:ea typeface="Helvetica Neue"/>
                <a:cs typeface="Helvetica Neue"/>
              </a:rPr>
              <a:t>USERS + DECISIONS</a:t>
            </a:r>
          </a:p>
        </p:txBody>
      </p:sp>
      <p:sp>
        <p:nvSpPr>
          <p:cNvPr id="7" name="">
            <a:extLst xmlns:a="http://schemas.openxmlformats.org/drawingml/2006/main">
              <a:ext uri="{FF2B5EF4-FFF2-40B4-BE49-F238E27FC236}">
                <a16:creationId xmlns:a16="http://schemas.microsoft.com/office/drawing/2014/main" id="{A5EA4D8C-BE02-456A-86FE-0AA580D8D8DE}"/>
              </a:ext>
            </a:extLst>
          </p:cNvPr>
          <p:cNvSpPr>
            <a:spLocks xmlns:a="http://schemas.openxmlformats.org/drawingml/2006/main" noGrp="1"/>
          </p:cNvSpPr>
          <p:nvPr/>
        </p:nvSpPr>
        <p:spPr>
          <a:xfrm xmlns:a="http://schemas.openxmlformats.org/drawingml/2006/main">
            <a:off x="666750" y="2428875"/>
            <a:ext cx="30861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8" name="">
            <a:extLst xmlns:a="http://schemas.openxmlformats.org/drawingml/2006/main">
              <a:ext uri="{FF2B5EF4-FFF2-40B4-BE49-F238E27FC236}">
                <a16:creationId xmlns:a16="http://schemas.microsoft.com/office/drawing/2014/main" id="{97C608D2-7BB5-4677-8DCB-6A746DBA9A35}"/>
              </a:ext>
            </a:extLst>
          </p:cNvPr>
          <p:cNvSpPr>
            <a:spLocks xmlns:a="http://schemas.openxmlformats.org/drawingml/2006/main" noGrp="1"/>
          </p:cNvSpPr>
          <p:nvPr/>
        </p:nvSpPr>
        <p:spPr>
          <a:xfrm xmlns:a="http://schemas.openxmlformats.org/drawingml/2006/main">
            <a:off x="666750" y="26574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F30D75E6-CAA8-4595-A1E0-B29CF3E0CB71}"/>
              </a:ext>
            </a:extLst>
          </p:cNvPr>
          <p:cNvSpPr>
            <a:spLocks xmlns:a="http://schemas.openxmlformats.org/drawingml/2006/main" noGrp="1"/>
          </p:cNvSpPr>
          <p:nvPr/>
        </p:nvSpPr>
        <p:spPr>
          <a:xfrm xmlns:a="http://schemas.openxmlformats.org/drawingml/2006/main">
            <a:off x="666750" y="2657475"/>
            <a:ext cx="247650" cy="24765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87E89F4-AFED-4584-85FA-CE72F4245EB7}"/>
              </a:ext>
            </a:extLst>
          </p:cNvPr>
          <p:cNvSpPr>
            <a:spLocks xmlns:a="http://schemas.openxmlformats.org/drawingml/2006/main" noGrp="1"/>
          </p:cNvSpPr>
          <p:nvPr/>
        </p:nvSpPr>
        <p:spPr>
          <a:xfrm xmlns:a="http://schemas.openxmlformats.org/drawingml/2006/main">
            <a:off x="1047750" y="258127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Which decisions recur?</a:t>
            </a:r>
          </a:p>
        </p:txBody>
      </p:sp>
      <p:sp>
        <p:nvSpPr>
          <p:cNvPr id="11" name="">
            <a:extLst xmlns:a="http://schemas.openxmlformats.org/drawingml/2006/main">
              <a:ext uri="{FF2B5EF4-FFF2-40B4-BE49-F238E27FC236}">
                <a16:creationId xmlns:a16="http://schemas.microsoft.com/office/drawing/2014/main" id="{247494F7-5C5F-4A14-8CAC-B97EB104C224}"/>
              </a:ext>
            </a:extLst>
          </p:cNvPr>
          <p:cNvSpPr>
            <a:spLocks xmlns:a="http://schemas.openxmlformats.org/drawingml/2006/main" noGrp="1"/>
          </p:cNvSpPr>
          <p:nvPr/>
        </p:nvSpPr>
        <p:spPr>
          <a:xfrm xmlns:a="http://schemas.openxmlformats.org/drawingml/2006/main">
            <a:off x="666750" y="32861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2</a:t>
            </a:r>
          </a:p>
        </p:txBody>
      </p:sp>
      <p:sp>
        <p:nvSpPr>
          <p:cNvPr id="12" name="">
            <a:extLst xmlns:a="http://schemas.openxmlformats.org/drawingml/2006/main">
              <a:ext uri="{FF2B5EF4-FFF2-40B4-BE49-F238E27FC236}">
                <a16:creationId xmlns:a16="http://schemas.microsoft.com/office/drawing/2014/main" id="{3D84B62A-5897-4138-879B-DEAD496A3991}"/>
              </a:ext>
            </a:extLst>
          </p:cNvPr>
          <p:cNvSpPr>
            <a:spLocks xmlns:a="http://schemas.openxmlformats.org/drawingml/2006/main" noGrp="1"/>
          </p:cNvSpPr>
          <p:nvPr/>
        </p:nvSpPr>
        <p:spPr>
          <a:xfrm xmlns:a="http://schemas.openxmlformats.org/drawingml/2006/main">
            <a:off x="666750" y="3286125"/>
            <a:ext cx="247650" cy="24765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33C326C-6BD5-497E-AC6D-DC9C41546D07}"/>
              </a:ext>
            </a:extLst>
          </p:cNvPr>
          <p:cNvSpPr>
            <a:spLocks xmlns:a="http://schemas.openxmlformats.org/drawingml/2006/main" noGrp="1"/>
          </p:cNvSpPr>
          <p:nvPr/>
        </p:nvSpPr>
        <p:spPr>
          <a:xfrm xmlns:a="http://schemas.openxmlformats.org/drawingml/2006/main">
            <a:off x="1047750" y="320992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What makes an answer actionable?</a:t>
            </a:r>
          </a:p>
        </p:txBody>
      </p:sp>
      <p:sp>
        <p:nvSpPr>
          <p:cNvPr id="14" name="">
            <a:extLst xmlns:a="http://schemas.openxmlformats.org/drawingml/2006/main">
              <a:ext uri="{FF2B5EF4-FFF2-40B4-BE49-F238E27FC236}">
                <a16:creationId xmlns:a16="http://schemas.microsoft.com/office/drawing/2014/main" id="{44B56078-0E6B-4DAC-8FB9-F4F9D173F17B}"/>
              </a:ext>
            </a:extLst>
          </p:cNvPr>
          <p:cNvSpPr>
            <a:spLocks xmlns:a="http://schemas.openxmlformats.org/drawingml/2006/main" noGrp="1"/>
          </p:cNvSpPr>
          <p:nvPr/>
        </p:nvSpPr>
        <p:spPr>
          <a:xfrm xmlns:a="http://schemas.openxmlformats.org/drawingml/2006/main">
            <a:off x="666750" y="39147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3</a:t>
            </a:r>
          </a:p>
        </p:txBody>
      </p:sp>
      <p:sp>
        <p:nvSpPr>
          <p:cNvPr id="15" name="">
            <a:extLst xmlns:a="http://schemas.openxmlformats.org/drawingml/2006/main">
              <a:ext uri="{FF2B5EF4-FFF2-40B4-BE49-F238E27FC236}">
                <a16:creationId xmlns:a16="http://schemas.microsoft.com/office/drawing/2014/main" id="{92016A51-6D20-4F9C-821E-0D8387105E1E}"/>
              </a:ext>
            </a:extLst>
          </p:cNvPr>
          <p:cNvSpPr>
            <a:spLocks xmlns:a="http://schemas.openxmlformats.org/drawingml/2006/main" noGrp="1"/>
          </p:cNvSpPr>
          <p:nvPr/>
        </p:nvSpPr>
        <p:spPr>
          <a:xfrm xmlns:a="http://schemas.openxmlformats.org/drawingml/2006/main">
            <a:off x="666750" y="3914775"/>
            <a:ext cx="247650" cy="24765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F415E2E-AD56-4261-AF74-F125F069CD5F}"/>
              </a:ext>
            </a:extLst>
          </p:cNvPr>
          <p:cNvSpPr>
            <a:spLocks xmlns:a="http://schemas.openxmlformats.org/drawingml/2006/main" noGrp="1"/>
          </p:cNvSpPr>
          <p:nvPr/>
        </p:nvSpPr>
        <p:spPr>
          <a:xfrm xmlns:a="http://schemas.openxmlformats.org/drawingml/2006/main">
            <a:off x="1047750" y="383857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Where does context live only in someone’s head?</a:t>
            </a:r>
          </a:p>
        </p:txBody>
      </p:sp>
      <p:sp>
        <p:nvSpPr>
          <p:cNvPr id="17" name="">
            <a:extLst xmlns:a="http://schemas.openxmlformats.org/drawingml/2006/main">
              <a:ext uri="{FF2B5EF4-FFF2-40B4-BE49-F238E27FC236}">
                <a16:creationId xmlns:a16="http://schemas.microsoft.com/office/drawing/2014/main" id="{2D0177B4-D5E2-4A46-9286-C481DCF0BB7B}"/>
              </a:ext>
            </a:extLst>
          </p:cNvPr>
          <p:cNvSpPr>
            <a:spLocks xmlns:a="http://schemas.openxmlformats.org/drawingml/2006/main" noGrp="1"/>
          </p:cNvSpPr>
          <p:nvPr/>
        </p:nvSpPr>
        <p:spPr>
          <a:xfrm xmlns:a="http://schemas.openxmlformats.org/drawingml/2006/main">
            <a:off x="666750" y="45434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4</a:t>
            </a:r>
          </a:p>
        </p:txBody>
      </p:sp>
      <p:sp>
        <p:nvSpPr>
          <p:cNvPr id="18" name="">
            <a:extLst xmlns:a="http://schemas.openxmlformats.org/drawingml/2006/main">
              <a:ext uri="{FF2B5EF4-FFF2-40B4-BE49-F238E27FC236}">
                <a16:creationId xmlns:a16="http://schemas.microsoft.com/office/drawing/2014/main" id="{FCFF99A3-517C-47D9-8563-21E734289A88}"/>
              </a:ext>
            </a:extLst>
          </p:cNvPr>
          <p:cNvSpPr>
            <a:spLocks xmlns:a="http://schemas.openxmlformats.org/drawingml/2006/main" noGrp="1"/>
          </p:cNvSpPr>
          <p:nvPr/>
        </p:nvSpPr>
        <p:spPr>
          <a:xfrm xmlns:a="http://schemas.openxmlformats.org/drawingml/2006/main">
            <a:off x="666750" y="4543425"/>
            <a:ext cx="247650" cy="24765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E595496-73E9-4641-9310-BCC16103ACB1}"/>
              </a:ext>
            </a:extLst>
          </p:cNvPr>
          <p:cNvSpPr>
            <a:spLocks xmlns:a="http://schemas.openxmlformats.org/drawingml/2006/main" noGrp="1"/>
          </p:cNvSpPr>
          <p:nvPr/>
        </p:nvSpPr>
        <p:spPr>
          <a:xfrm xmlns:a="http://schemas.openxmlformats.org/drawingml/2006/main">
            <a:off x="1047750" y="446722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Which wording could harm a grantee relationship?</a:t>
            </a:r>
          </a:p>
        </p:txBody>
      </p:sp>
      <p:sp>
        <p:nvSpPr>
          <p:cNvPr id="20" name="">
            <a:extLst xmlns:a="http://schemas.openxmlformats.org/drawingml/2006/main">
              <a:ext uri="{FF2B5EF4-FFF2-40B4-BE49-F238E27FC236}">
                <a16:creationId xmlns:a16="http://schemas.microsoft.com/office/drawing/2014/main" id="{B5D8A670-3056-4446-A4FD-97D4BDA32593}"/>
              </a:ext>
            </a:extLst>
          </p:cNvPr>
          <p:cNvSpPr>
            <a:spLocks xmlns:a="http://schemas.openxmlformats.org/drawingml/2006/main" noGrp="1"/>
          </p:cNvSpPr>
          <p:nvPr/>
        </p:nvSpPr>
        <p:spPr>
          <a:xfrm xmlns:a="http://schemas.openxmlformats.org/drawingml/2006/main">
            <a:off x="4248150" y="2076450"/>
            <a:ext cx="304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DATA + MEANING</a:t>
            </a:r>
          </a:p>
        </p:txBody>
      </p:sp>
      <p:sp>
        <p:nvSpPr>
          <p:cNvPr id="21" name="">
            <a:extLst xmlns:a="http://schemas.openxmlformats.org/drawingml/2006/main">
              <a:ext uri="{FF2B5EF4-FFF2-40B4-BE49-F238E27FC236}">
                <a16:creationId xmlns:a16="http://schemas.microsoft.com/office/drawing/2014/main" id="{8D7F70AB-50B9-4D89-B987-2F2EE216E9D4}"/>
              </a:ext>
            </a:extLst>
          </p:cNvPr>
          <p:cNvSpPr>
            <a:spLocks xmlns:a="http://schemas.openxmlformats.org/drawingml/2006/main" noGrp="1"/>
          </p:cNvSpPr>
          <p:nvPr/>
        </p:nvSpPr>
        <p:spPr>
          <a:xfrm xmlns:a="http://schemas.openxmlformats.org/drawingml/2006/main">
            <a:off x="4248150" y="2428875"/>
            <a:ext cx="30861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22" name="">
            <a:extLst xmlns:a="http://schemas.openxmlformats.org/drawingml/2006/main">
              <a:ext uri="{FF2B5EF4-FFF2-40B4-BE49-F238E27FC236}">
                <a16:creationId xmlns:a16="http://schemas.microsoft.com/office/drawing/2014/main" id="{658DB426-3E3A-48A2-B140-A561083DDE59}"/>
              </a:ext>
            </a:extLst>
          </p:cNvPr>
          <p:cNvSpPr>
            <a:spLocks xmlns:a="http://schemas.openxmlformats.org/drawingml/2006/main" noGrp="1"/>
          </p:cNvSpPr>
          <p:nvPr/>
        </p:nvSpPr>
        <p:spPr>
          <a:xfrm xmlns:a="http://schemas.openxmlformats.org/drawingml/2006/main">
            <a:off x="4248150" y="26574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1</a:t>
            </a:r>
          </a:p>
        </p:txBody>
      </p:sp>
      <p:sp>
        <p:nvSpPr>
          <p:cNvPr id="23" name="">
            <a:extLst xmlns:a="http://schemas.openxmlformats.org/drawingml/2006/main">
              <a:ext uri="{FF2B5EF4-FFF2-40B4-BE49-F238E27FC236}">
                <a16:creationId xmlns:a16="http://schemas.microsoft.com/office/drawing/2014/main" id="{CEFC8B80-B834-4985-9020-B5862BD0187C}"/>
              </a:ext>
            </a:extLst>
          </p:cNvPr>
          <p:cNvSpPr>
            <a:spLocks xmlns:a="http://schemas.openxmlformats.org/drawingml/2006/main" noGrp="1"/>
          </p:cNvSpPr>
          <p:nvPr/>
        </p:nvSpPr>
        <p:spPr>
          <a:xfrm xmlns:a="http://schemas.openxmlformats.org/drawingml/2006/main">
            <a:off x="4248150" y="2657475"/>
            <a:ext cx="247650" cy="2476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94B64E2-241E-4454-90F5-7B1967485318}"/>
              </a:ext>
            </a:extLst>
          </p:cNvPr>
          <p:cNvSpPr>
            <a:spLocks xmlns:a="http://schemas.openxmlformats.org/drawingml/2006/main" noGrp="1"/>
          </p:cNvSpPr>
          <p:nvPr/>
        </p:nvSpPr>
        <p:spPr>
          <a:xfrm xmlns:a="http://schemas.openxmlformats.org/drawingml/2006/main">
            <a:off x="4629150" y="258127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What links a grant across systems?</a:t>
            </a:r>
          </a:p>
        </p:txBody>
      </p:sp>
      <p:sp>
        <p:nvSpPr>
          <p:cNvPr id="25" name="">
            <a:extLst xmlns:a="http://schemas.openxmlformats.org/drawingml/2006/main">
              <a:ext uri="{FF2B5EF4-FFF2-40B4-BE49-F238E27FC236}">
                <a16:creationId xmlns:a16="http://schemas.microsoft.com/office/drawing/2014/main" id="{DB0117E0-C461-409A-9454-E3B82B9437B1}"/>
              </a:ext>
            </a:extLst>
          </p:cNvPr>
          <p:cNvSpPr>
            <a:spLocks xmlns:a="http://schemas.openxmlformats.org/drawingml/2006/main" noGrp="1"/>
          </p:cNvSpPr>
          <p:nvPr/>
        </p:nvSpPr>
        <p:spPr>
          <a:xfrm xmlns:a="http://schemas.openxmlformats.org/drawingml/2006/main">
            <a:off x="4248150" y="32861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2</a:t>
            </a:r>
          </a:p>
        </p:txBody>
      </p:sp>
      <p:sp>
        <p:nvSpPr>
          <p:cNvPr id="26" name="">
            <a:extLst xmlns:a="http://schemas.openxmlformats.org/drawingml/2006/main">
              <a:ext uri="{FF2B5EF4-FFF2-40B4-BE49-F238E27FC236}">
                <a16:creationId xmlns:a16="http://schemas.microsoft.com/office/drawing/2014/main" id="{25635C09-9129-49F6-AE07-1916D1434A36}"/>
              </a:ext>
            </a:extLst>
          </p:cNvPr>
          <p:cNvSpPr>
            <a:spLocks xmlns:a="http://schemas.openxmlformats.org/drawingml/2006/main" noGrp="1"/>
          </p:cNvSpPr>
          <p:nvPr/>
        </p:nvSpPr>
        <p:spPr>
          <a:xfrm xmlns:a="http://schemas.openxmlformats.org/drawingml/2006/main">
            <a:off x="4248150" y="3286125"/>
            <a:ext cx="247650" cy="2476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3271952-1615-4F3B-ADD7-EFCF65DAA197}"/>
              </a:ext>
            </a:extLst>
          </p:cNvPr>
          <p:cNvSpPr>
            <a:spLocks xmlns:a="http://schemas.openxmlformats.org/drawingml/2006/main" noGrp="1"/>
          </p:cNvSpPr>
          <p:nvPr/>
        </p:nvSpPr>
        <p:spPr>
          <a:xfrm xmlns:a="http://schemas.openxmlformats.org/drawingml/2006/main">
            <a:off x="4629150" y="320992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Which source wins each field?</a:t>
            </a:r>
          </a:p>
        </p:txBody>
      </p:sp>
      <p:sp>
        <p:nvSpPr>
          <p:cNvPr id="28" name="">
            <a:extLst xmlns:a="http://schemas.openxmlformats.org/drawingml/2006/main">
              <a:ext uri="{FF2B5EF4-FFF2-40B4-BE49-F238E27FC236}">
                <a16:creationId xmlns:a16="http://schemas.microsoft.com/office/drawing/2014/main" id="{94B68B08-CDE0-45CD-9210-F2959727D768}"/>
              </a:ext>
            </a:extLst>
          </p:cNvPr>
          <p:cNvSpPr>
            <a:spLocks xmlns:a="http://schemas.openxmlformats.org/drawingml/2006/main" noGrp="1"/>
          </p:cNvSpPr>
          <p:nvPr/>
        </p:nvSpPr>
        <p:spPr>
          <a:xfrm xmlns:a="http://schemas.openxmlformats.org/drawingml/2006/main">
            <a:off x="4248150" y="39147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3</a:t>
            </a:r>
          </a:p>
        </p:txBody>
      </p:sp>
      <p:sp>
        <p:nvSpPr>
          <p:cNvPr id="29" name="">
            <a:extLst xmlns:a="http://schemas.openxmlformats.org/drawingml/2006/main">
              <a:ext uri="{FF2B5EF4-FFF2-40B4-BE49-F238E27FC236}">
                <a16:creationId xmlns:a16="http://schemas.microsoft.com/office/drawing/2014/main" id="{69D8906A-5BA8-4902-A58D-93DE0FCF734A}"/>
              </a:ext>
            </a:extLst>
          </p:cNvPr>
          <p:cNvSpPr>
            <a:spLocks xmlns:a="http://schemas.openxmlformats.org/drawingml/2006/main" noGrp="1"/>
          </p:cNvSpPr>
          <p:nvPr/>
        </p:nvSpPr>
        <p:spPr>
          <a:xfrm xmlns:a="http://schemas.openxmlformats.org/drawingml/2006/main">
            <a:off x="4248150" y="3914775"/>
            <a:ext cx="247650" cy="2476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D134F6AB-DCB7-4862-94BB-9D3CDF9381DE}"/>
              </a:ext>
            </a:extLst>
          </p:cNvPr>
          <p:cNvSpPr>
            <a:spLocks xmlns:a="http://schemas.openxmlformats.org/drawingml/2006/main" noGrp="1"/>
          </p:cNvSpPr>
          <p:nvPr/>
        </p:nvSpPr>
        <p:spPr>
          <a:xfrm xmlns:a="http://schemas.openxmlformats.org/drawingml/2006/main">
            <a:off x="4629150" y="383857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Estimated or observed impact?</a:t>
            </a:r>
          </a:p>
        </p:txBody>
      </p:sp>
      <p:sp>
        <p:nvSpPr>
          <p:cNvPr id="31" name="">
            <a:extLst xmlns:a="http://schemas.openxmlformats.org/drawingml/2006/main">
              <a:ext uri="{FF2B5EF4-FFF2-40B4-BE49-F238E27FC236}">
                <a16:creationId xmlns:a16="http://schemas.microsoft.com/office/drawing/2014/main" id="{49D8E0F1-71A3-462E-84B7-9F328C482708}"/>
              </a:ext>
            </a:extLst>
          </p:cNvPr>
          <p:cNvSpPr>
            <a:spLocks xmlns:a="http://schemas.openxmlformats.org/drawingml/2006/main" noGrp="1"/>
          </p:cNvSpPr>
          <p:nvPr/>
        </p:nvSpPr>
        <p:spPr>
          <a:xfrm xmlns:a="http://schemas.openxmlformats.org/drawingml/2006/main">
            <a:off x="4248150" y="45434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4</a:t>
            </a:r>
          </a:p>
        </p:txBody>
      </p:sp>
      <p:sp>
        <p:nvSpPr>
          <p:cNvPr id="32" name="">
            <a:extLst xmlns:a="http://schemas.openxmlformats.org/drawingml/2006/main">
              <a:ext uri="{FF2B5EF4-FFF2-40B4-BE49-F238E27FC236}">
                <a16:creationId xmlns:a16="http://schemas.microsoft.com/office/drawing/2014/main" id="{7063A4FC-D619-4B41-B649-347160C849CC}"/>
              </a:ext>
            </a:extLst>
          </p:cNvPr>
          <p:cNvSpPr>
            <a:spLocks xmlns:a="http://schemas.openxmlformats.org/drawingml/2006/main" noGrp="1"/>
          </p:cNvSpPr>
          <p:nvPr/>
        </p:nvSpPr>
        <p:spPr>
          <a:xfrm xmlns:a="http://schemas.openxmlformats.org/drawingml/2006/main">
            <a:off x="4248150" y="4543425"/>
            <a:ext cx="247650" cy="2476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6CEFDEA8-1CA3-43BD-A0CA-54474F389CCF}"/>
              </a:ext>
            </a:extLst>
          </p:cNvPr>
          <p:cNvSpPr>
            <a:spLocks xmlns:a="http://schemas.openxmlformats.org/drawingml/2006/main" noGrp="1"/>
          </p:cNvSpPr>
          <p:nvPr/>
        </p:nvSpPr>
        <p:spPr>
          <a:xfrm xmlns:a="http://schemas.openxmlformats.org/drawingml/2006/main">
            <a:off x="4629150" y="446722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Which metric definitions changed over time?</a:t>
            </a:r>
          </a:p>
        </p:txBody>
      </p:sp>
      <p:sp>
        <p:nvSpPr>
          <p:cNvPr id="34" name="">
            <a:extLst xmlns:a="http://schemas.openxmlformats.org/drawingml/2006/main">
              <a:ext uri="{FF2B5EF4-FFF2-40B4-BE49-F238E27FC236}">
                <a16:creationId xmlns:a16="http://schemas.microsoft.com/office/drawing/2014/main" id="{76B613CE-FDFD-45F7-9998-CC8FBBDACBED}"/>
              </a:ext>
            </a:extLst>
          </p:cNvPr>
          <p:cNvSpPr>
            <a:spLocks xmlns:a="http://schemas.openxmlformats.org/drawingml/2006/main" noGrp="1"/>
          </p:cNvSpPr>
          <p:nvPr/>
        </p:nvSpPr>
        <p:spPr>
          <a:xfrm xmlns:a="http://schemas.openxmlformats.org/drawingml/2006/main">
            <a:off x="7829550" y="2076450"/>
            <a:ext cx="304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2F8A5D"/>
                </a:solidFill>
                <a:latin typeface="Helvetica Neue"/>
                <a:ea typeface="Helvetica Neue"/>
                <a:cs typeface="Helvetica Neue"/>
              </a:defRPr>
            </a:pPr>
            <a:r>
              <a:rPr sz="900" b="1">
                <a:solidFill>
                  <a:srgbClr val="2F8A5D"/>
                </a:solidFill>
                <a:latin typeface="Helvetica Neue"/>
                <a:ea typeface="Helvetica Neue"/>
                <a:cs typeface="Helvetica Neue"/>
              </a:rPr>
              <a:t>ACCESS + GOVERNANCE</a:t>
            </a:r>
          </a:p>
        </p:txBody>
      </p:sp>
      <p:sp>
        <p:nvSpPr>
          <p:cNvPr id="35" name="">
            <a:extLst xmlns:a="http://schemas.openxmlformats.org/drawingml/2006/main">
              <a:ext uri="{FF2B5EF4-FFF2-40B4-BE49-F238E27FC236}">
                <a16:creationId xmlns:a16="http://schemas.microsoft.com/office/drawing/2014/main" id="{D8145655-2013-479F-B210-A38B9CABBB35}"/>
              </a:ext>
            </a:extLst>
          </p:cNvPr>
          <p:cNvSpPr>
            <a:spLocks xmlns:a="http://schemas.openxmlformats.org/drawingml/2006/main" noGrp="1"/>
          </p:cNvSpPr>
          <p:nvPr/>
        </p:nvSpPr>
        <p:spPr>
          <a:xfrm xmlns:a="http://schemas.openxmlformats.org/drawingml/2006/main">
            <a:off x="7829550" y="2428875"/>
            <a:ext cx="30861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36" name="">
            <a:extLst xmlns:a="http://schemas.openxmlformats.org/drawingml/2006/main">
              <a:ext uri="{FF2B5EF4-FFF2-40B4-BE49-F238E27FC236}">
                <a16:creationId xmlns:a16="http://schemas.microsoft.com/office/drawing/2014/main" id="{BFF9B3DE-6D67-4AD6-9F78-A0A631660237}"/>
              </a:ext>
            </a:extLst>
          </p:cNvPr>
          <p:cNvSpPr>
            <a:spLocks xmlns:a="http://schemas.openxmlformats.org/drawingml/2006/main" noGrp="1"/>
          </p:cNvSpPr>
          <p:nvPr/>
        </p:nvSpPr>
        <p:spPr>
          <a:xfrm xmlns:a="http://schemas.openxmlformats.org/drawingml/2006/main">
            <a:off x="7829550" y="26574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1</a:t>
            </a:r>
          </a:p>
        </p:txBody>
      </p:sp>
      <p:sp>
        <p:nvSpPr>
          <p:cNvPr id="37" name="">
            <a:extLst xmlns:a="http://schemas.openxmlformats.org/drawingml/2006/main">
              <a:ext uri="{FF2B5EF4-FFF2-40B4-BE49-F238E27FC236}">
                <a16:creationId xmlns:a16="http://schemas.microsoft.com/office/drawing/2014/main" id="{8DEC2A91-4848-41E0-B368-525641AB2BCD}"/>
              </a:ext>
            </a:extLst>
          </p:cNvPr>
          <p:cNvSpPr>
            <a:spLocks xmlns:a="http://schemas.openxmlformats.org/drawingml/2006/main" noGrp="1"/>
          </p:cNvSpPr>
          <p:nvPr/>
        </p:nvSpPr>
        <p:spPr>
          <a:xfrm xmlns:a="http://schemas.openxmlformats.org/drawingml/2006/main">
            <a:off x="7829550" y="2657475"/>
            <a:ext cx="247650" cy="24765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AB32B254-9AB0-4BA4-A26D-A073349AD2E2}"/>
              </a:ext>
            </a:extLst>
          </p:cNvPr>
          <p:cNvSpPr>
            <a:spLocks xmlns:a="http://schemas.openxmlformats.org/drawingml/2006/main" noGrp="1"/>
          </p:cNvSpPr>
          <p:nvPr/>
        </p:nvSpPr>
        <p:spPr>
          <a:xfrm xmlns:a="http://schemas.openxmlformats.org/drawingml/2006/main">
            <a:off x="8210550" y="258127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Who may read each collection?</a:t>
            </a:r>
          </a:p>
        </p:txBody>
      </p:sp>
      <p:sp>
        <p:nvSpPr>
          <p:cNvPr id="39" name="">
            <a:extLst xmlns:a="http://schemas.openxmlformats.org/drawingml/2006/main">
              <a:ext uri="{FF2B5EF4-FFF2-40B4-BE49-F238E27FC236}">
                <a16:creationId xmlns:a16="http://schemas.microsoft.com/office/drawing/2014/main" id="{85221BED-1EC5-43BF-8907-69185CDB91C3}"/>
              </a:ext>
            </a:extLst>
          </p:cNvPr>
          <p:cNvSpPr>
            <a:spLocks xmlns:a="http://schemas.openxmlformats.org/drawingml/2006/main" noGrp="1"/>
          </p:cNvSpPr>
          <p:nvPr/>
        </p:nvSpPr>
        <p:spPr>
          <a:xfrm xmlns:a="http://schemas.openxmlformats.org/drawingml/2006/main">
            <a:off x="7829550" y="32861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2</a:t>
            </a:r>
          </a:p>
        </p:txBody>
      </p:sp>
      <p:sp>
        <p:nvSpPr>
          <p:cNvPr id="40" name="">
            <a:extLst xmlns:a="http://schemas.openxmlformats.org/drawingml/2006/main">
              <a:ext uri="{FF2B5EF4-FFF2-40B4-BE49-F238E27FC236}">
                <a16:creationId xmlns:a16="http://schemas.microsoft.com/office/drawing/2014/main" id="{95A0FE9C-CF97-4C5B-B6C2-5650B8DF7DE7}"/>
              </a:ext>
            </a:extLst>
          </p:cNvPr>
          <p:cNvSpPr>
            <a:spLocks xmlns:a="http://schemas.openxmlformats.org/drawingml/2006/main" noGrp="1"/>
          </p:cNvSpPr>
          <p:nvPr/>
        </p:nvSpPr>
        <p:spPr>
          <a:xfrm xmlns:a="http://schemas.openxmlformats.org/drawingml/2006/main">
            <a:off x="7829550" y="3286125"/>
            <a:ext cx="247650" cy="24765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BCC9ABDF-37C3-4CA5-B255-70669C19506D}"/>
              </a:ext>
            </a:extLst>
          </p:cNvPr>
          <p:cNvSpPr>
            <a:spLocks xmlns:a="http://schemas.openxmlformats.org/drawingml/2006/main" noGrp="1"/>
          </p:cNvSpPr>
          <p:nvPr/>
        </p:nvSpPr>
        <p:spPr>
          <a:xfrm xmlns:a="http://schemas.openxmlformats.org/drawingml/2006/main">
            <a:off x="8210550" y="320992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Which content is never indexed?</a:t>
            </a:r>
          </a:p>
        </p:txBody>
      </p:sp>
      <p:sp>
        <p:nvSpPr>
          <p:cNvPr id="42" name="">
            <a:extLst xmlns:a="http://schemas.openxmlformats.org/drawingml/2006/main">
              <a:ext uri="{FF2B5EF4-FFF2-40B4-BE49-F238E27FC236}">
                <a16:creationId xmlns:a16="http://schemas.microsoft.com/office/drawing/2014/main" id="{90914B97-931D-4A76-ABA8-95B7A52AC7F8}"/>
              </a:ext>
            </a:extLst>
          </p:cNvPr>
          <p:cNvSpPr>
            <a:spLocks xmlns:a="http://schemas.openxmlformats.org/drawingml/2006/main" noGrp="1"/>
          </p:cNvSpPr>
          <p:nvPr/>
        </p:nvSpPr>
        <p:spPr>
          <a:xfrm xmlns:a="http://schemas.openxmlformats.org/drawingml/2006/main">
            <a:off x="7829550" y="39147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3</a:t>
            </a:r>
          </a:p>
        </p:txBody>
      </p:sp>
      <p:sp>
        <p:nvSpPr>
          <p:cNvPr id="43" name="">
            <a:extLst xmlns:a="http://schemas.openxmlformats.org/drawingml/2006/main">
              <a:ext uri="{FF2B5EF4-FFF2-40B4-BE49-F238E27FC236}">
                <a16:creationId xmlns:a16="http://schemas.microsoft.com/office/drawing/2014/main" id="{E2A561BE-BA79-4366-AB7E-841997C69670}"/>
              </a:ext>
            </a:extLst>
          </p:cNvPr>
          <p:cNvSpPr>
            <a:spLocks xmlns:a="http://schemas.openxmlformats.org/drawingml/2006/main" noGrp="1"/>
          </p:cNvSpPr>
          <p:nvPr/>
        </p:nvSpPr>
        <p:spPr>
          <a:xfrm xmlns:a="http://schemas.openxmlformats.org/drawingml/2006/main">
            <a:off x="7829550" y="3914775"/>
            <a:ext cx="247650" cy="24765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5CF8D978-472F-4959-8350-670F2B17F60C}"/>
              </a:ext>
            </a:extLst>
          </p:cNvPr>
          <p:cNvSpPr>
            <a:spLocks xmlns:a="http://schemas.openxmlformats.org/drawingml/2006/main" noGrp="1"/>
          </p:cNvSpPr>
          <p:nvPr/>
        </p:nvSpPr>
        <p:spPr>
          <a:xfrm xmlns:a="http://schemas.openxmlformats.org/drawingml/2006/main">
            <a:off x="8210550" y="383857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Does Zoom retain five years?</a:t>
            </a:r>
          </a:p>
        </p:txBody>
      </p:sp>
      <p:sp>
        <p:nvSpPr>
          <p:cNvPr id="45" name="">
            <a:extLst xmlns:a="http://schemas.openxmlformats.org/drawingml/2006/main">
              <a:ext uri="{FF2B5EF4-FFF2-40B4-BE49-F238E27FC236}">
                <a16:creationId xmlns:a16="http://schemas.microsoft.com/office/drawing/2014/main" id="{766D1634-74DD-475C-9BEA-55812D7B48C5}"/>
              </a:ext>
            </a:extLst>
          </p:cNvPr>
          <p:cNvSpPr>
            <a:spLocks xmlns:a="http://schemas.openxmlformats.org/drawingml/2006/main" noGrp="1"/>
          </p:cNvSpPr>
          <p:nvPr/>
        </p:nvSpPr>
        <p:spPr>
          <a:xfrm xmlns:a="http://schemas.openxmlformats.org/drawingml/2006/main">
            <a:off x="7829550" y="45434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4</a:t>
            </a:r>
          </a:p>
        </p:txBody>
      </p:sp>
      <p:sp>
        <p:nvSpPr>
          <p:cNvPr id="46" name="">
            <a:extLst xmlns:a="http://schemas.openxmlformats.org/drawingml/2006/main">
              <a:ext uri="{FF2B5EF4-FFF2-40B4-BE49-F238E27FC236}">
                <a16:creationId xmlns:a16="http://schemas.microsoft.com/office/drawing/2014/main" id="{0342390D-8A09-4F3C-B967-229522E280DD}"/>
              </a:ext>
            </a:extLst>
          </p:cNvPr>
          <p:cNvSpPr>
            <a:spLocks xmlns:a="http://schemas.openxmlformats.org/drawingml/2006/main" noGrp="1"/>
          </p:cNvSpPr>
          <p:nvPr/>
        </p:nvSpPr>
        <p:spPr>
          <a:xfrm xmlns:a="http://schemas.openxmlformats.org/drawingml/2006/main">
            <a:off x="7829550" y="4543425"/>
            <a:ext cx="247650" cy="24765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579221B5-4D0B-4CE2-9CBD-2EDA8D1F67E6}"/>
              </a:ext>
            </a:extLst>
          </p:cNvPr>
          <p:cNvSpPr>
            <a:spLocks xmlns:a="http://schemas.openxmlformats.org/drawingml/2006/main" noGrp="1"/>
          </p:cNvSpPr>
          <p:nvPr/>
        </p:nvSpPr>
        <p:spPr>
          <a:xfrm xmlns:a="http://schemas.openxmlformats.org/drawingml/2006/main">
            <a:off x="8210550" y="446722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What must delete when the source deletes?</a:t>
            </a:r>
          </a:p>
        </p:txBody>
      </p:sp>
      <p:sp>
        <p:nvSpPr>
          <p:cNvPr id="48" name="">
            <a:extLst xmlns:a="http://schemas.openxmlformats.org/drawingml/2006/main">
              <a:ext uri="{FF2B5EF4-FFF2-40B4-BE49-F238E27FC236}">
                <a16:creationId xmlns:a16="http://schemas.microsoft.com/office/drawing/2014/main" id="{00698286-7670-4286-81EF-94845179C369}"/>
              </a:ext>
            </a:extLst>
          </p:cNvPr>
          <p:cNvSpPr>
            <a:spLocks xmlns:a="http://schemas.openxmlformats.org/drawingml/2006/main" noGrp="1"/>
          </p:cNvSpPr>
          <p:nvPr/>
        </p:nvSpPr>
        <p:spPr>
          <a:xfrm xmlns:a="http://schemas.openxmlformats.org/drawingml/2006/main">
            <a:off x="666750" y="5467350"/>
            <a:ext cx="10191750" cy="552450"/>
          </a:xfrm>
          <a:prstGeom xmlns:a="http://schemas.openxmlformats.org/drawingml/2006/main" prst="roundRect">
            <a:avLst>
              <a:gd name="adj" fmla="val 27586"/>
            </a:avLst>
          </a:prstGeom>
          <a:solidFill xmlns:a="http://schemas.openxmlformats.org/drawingml/2006/main">
            <a:srgbClr val="25152B"/>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FA57892A-B084-428F-92CA-D2D5D4ABB63E}"/>
              </a:ext>
            </a:extLst>
          </p:cNvPr>
          <p:cNvSpPr>
            <a:spLocks xmlns:a="http://schemas.openxmlformats.org/drawingml/2006/main" noGrp="1"/>
          </p:cNvSpPr>
          <p:nvPr/>
        </p:nvSpPr>
        <p:spPr>
          <a:xfrm xmlns:a="http://schemas.openxmlformats.org/drawingml/2006/main">
            <a:off x="895350" y="5581650"/>
            <a:ext cx="9734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Output: gold questions, source ownership, permission map, and baseline task times</a:t>
            </a:r>
          </a:p>
        </p:txBody>
      </p:sp>
    </p:spTree>
    <p:extLst>
      <p:ext uri="{BB962C8B-B14F-4D97-AF65-F5344CB8AC3E}">
        <p14:creationId xmlns:p14="http://schemas.microsoft.com/office/powerpoint/2010/main" val="440093387"/>
      </p:ext>
    </p:extLst>
  </p:cSld>
</p:sld>
</file>

<file path=ppt/slides/slide4.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01243BC8-7122-4962-8654-C2132CD9CA5B}"/>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THE PRODUCT</a:t>
            </a:r>
          </a:p>
        </p:txBody>
      </p:sp>
      <p:sp>
        <p:nvSpPr>
          <p:cNvPr id="2" name="">
            <a:extLst xmlns:a="http://schemas.openxmlformats.org/drawingml/2006/main">
              <a:ext uri="{FF2B5EF4-FFF2-40B4-BE49-F238E27FC236}">
                <a16:creationId xmlns:a16="http://schemas.microsoft.com/office/drawing/2014/main" id="{581C008E-48B5-40F1-9740-6165A9168C1A}"/>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AF6B6B6A-0F52-45D2-ADA5-AF60649DB206}"/>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0C11C0F9-798A-4891-B632-71669B2B4CB2}"/>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Compass now returns a permission-filtered brief</a:t>
            </a:r>
          </a:p>
        </p:txBody>
      </p:sp>
      <p:sp>
        <p:nvSpPr>
          <p:cNvPr id="5" name="">
            <a:extLst xmlns:a="http://schemas.openxmlformats.org/drawingml/2006/main">
              <a:ext uri="{FF2B5EF4-FFF2-40B4-BE49-F238E27FC236}">
                <a16:creationId xmlns:a16="http://schemas.microsoft.com/office/drawing/2014/main" id="{C5B076B0-7581-4CD2-9799-1CD7720B3FCB}"/>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The working synthetic slice calls a server API. Citations and gaps come from authorized evidence.</a:t>
            </a:r>
          </a:p>
        </p:txBody>
      </p:sp>
      <p:sp>
        <p:nvSpPr>
          <p:cNvPr id="6" name="">
            <a:extLst xmlns:a="http://schemas.openxmlformats.org/drawingml/2006/main">
              <a:ext uri="{FF2B5EF4-FFF2-40B4-BE49-F238E27FC236}">
                <a16:creationId xmlns:a16="http://schemas.microsoft.com/office/drawing/2014/main" id="{11B2786F-8CF0-42A6-BC65-2DA292F380F0}"/>
              </a:ext>
            </a:extLst>
          </p:cNvPr>
          <p:cNvSpPr>
            <a:spLocks xmlns:a="http://schemas.openxmlformats.org/drawingml/2006/main" noGrp="1"/>
          </p:cNvSpPr>
          <p:nvPr/>
        </p:nvSpPr>
        <p:spPr>
          <a:xfrm xmlns:a="http://schemas.openxmlformats.org/drawingml/2006/main">
            <a:off x="666750" y="1962150"/>
            <a:ext cx="10858500" cy="3733800"/>
          </a:xfrm>
          <a:prstGeom xmlns:a="http://schemas.openxmlformats.org/drawingml/2006/main" prst="roundRect">
            <a:avLst>
              <a:gd name="adj" fmla="val 5102"/>
            </a:avLst>
          </a:prstGeom>
          <a:solidFill xmlns:a="http://schemas.openxmlformats.org/drawingml/2006/main">
            <a:srgbClr val="FFFFFF"/>
          </a:solidFill>
          <a:ln xmlns:a="http://schemas.openxmlformats.org/drawingml/2006/main" w="9525">
            <a:solidFill>
              <a:srgbClr val="DED8D2"/>
            </a:solidFill>
          </a:ln>
        </p:spPr>
      </p:sp>
      <p:sp>
        <p:nvSpPr>
          <p:cNvPr id="7" name="">
            <a:extLst xmlns:a="http://schemas.openxmlformats.org/drawingml/2006/main">
              <a:ext uri="{FF2B5EF4-FFF2-40B4-BE49-F238E27FC236}">
                <a16:creationId xmlns:a16="http://schemas.microsoft.com/office/drawing/2014/main" id="{370A5D59-C8AB-4B65-B47D-B33FDA471744}"/>
              </a:ext>
            </a:extLst>
          </p:cNvPr>
          <p:cNvSpPr>
            <a:spLocks xmlns:a="http://schemas.openxmlformats.org/drawingml/2006/main" noGrp="1"/>
          </p:cNvSpPr>
          <p:nvPr/>
        </p:nvSpPr>
        <p:spPr>
          <a:xfrm xmlns:a="http://schemas.openxmlformats.org/drawingml/2006/main">
            <a:off x="895350" y="2190750"/>
            <a:ext cx="10401300" cy="476250"/>
          </a:xfrm>
          <a:prstGeom xmlns:a="http://schemas.openxmlformats.org/drawingml/2006/main" prst="roundRect">
            <a:avLst>
              <a:gd name="adj" fmla="val 26000"/>
            </a:avLst>
          </a:prstGeom>
          <a:solidFill xmlns:a="http://schemas.openxmlformats.org/drawingml/2006/main">
            <a:srgbClr val="F7F4E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A839973-4391-491D-8C6D-DB725A6F4E05}"/>
              </a:ext>
            </a:extLst>
          </p:cNvPr>
          <p:cNvSpPr>
            <a:spLocks xmlns:a="http://schemas.openxmlformats.org/drawingml/2006/main" noGrp="1"/>
          </p:cNvSpPr>
          <p:nvPr/>
        </p:nvSpPr>
        <p:spPr>
          <a:xfrm xmlns:a="http://schemas.openxmlformats.org/drawingml/2006/main">
            <a:off x="1162050" y="22764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What did we decide about reporting for the AI opportunity cohort?</a:t>
            </a:r>
          </a:p>
        </p:txBody>
      </p:sp>
      <p:sp>
        <p:nvSpPr>
          <p:cNvPr id="9" name="">
            <a:extLst xmlns:a="http://schemas.openxmlformats.org/drawingml/2006/main">
              <a:ext uri="{FF2B5EF4-FFF2-40B4-BE49-F238E27FC236}">
                <a16:creationId xmlns:a16="http://schemas.microsoft.com/office/drawing/2014/main" id="{6F4962D1-B30B-40BB-867B-1ED57DBFC5FF}"/>
              </a:ext>
            </a:extLst>
          </p:cNvPr>
          <p:cNvSpPr>
            <a:spLocks xmlns:a="http://schemas.openxmlformats.org/drawingml/2006/main" noGrp="1"/>
          </p:cNvSpPr>
          <p:nvPr/>
        </p:nvSpPr>
        <p:spPr>
          <a:xfrm xmlns:a="http://schemas.openxmlformats.org/drawingml/2006/main">
            <a:off x="10287000" y="2257425"/>
            <a:ext cx="857250" cy="342900"/>
          </a:xfrm>
          <a:prstGeom xmlns:a="http://schemas.openxmlformats.org/drawingml/2006/main" prst="roundRect">
            <a:avLst>
              <a:gd name="adj" fmla="val 33333"/>
            </a:avLst>
          </a:prstGeom>
          <a:solidFill xmlns:a="http://schemas.openxmlformats.org/drawingml/2006/main">
            <a:srgbClr val="E94B2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15E9E66-6647-40B0-9600-3F8201FDB501}"/>
              </a:ext>
            </a:extLst>
          </p:cNvPr>
          <p:cNvSpPr>
            <a:spLocks xmlns:a="http://schemas.openxmlformats.org/drawingml/2006/main" noGrp="1"/>
          </p:cNvSpPr>
          <p:nvPr/>
        </p:nvSpPr>
        <p:spPr>
          <a:xfrm xmlns:a="http://schemas.openxmlformats.org/drawingml/2006/main">
            <a:off x="10496550" y="2324100"/>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Ask</a:t>
            </a:r>
          </a:p>
        </p:txBody>
      </p:sp>
      <p:sp>
        <p:nvSpPr>
          <p:cNvPr id="11" name="">
            <a:extLst xmlns:a="http://schemas.openxmlformats.org/drawingml/2006/main">
              <a:ext uri="{FF2B5EF4-FFF2-40B4-BE49-F238E27FC236}">
                <a16:creationId xmlns:a16="http://schemas.microsoft.com/office/drawing/2014/main" id="{6763C58B-45ED-4FB0-931D-F94C7239F675}"/>
              </a:ext>
            </a:extLst>
          </p:cNvPr>
          <p:cNvSpPr>
            <a:spLocks xmlns:a="http://schemas.openxmlformats.org/drawingml/2006/main" noGrp="1"/>
          </p:cNvSpPr>
          <p:nvPr/>
        </p:nvSpPr>
        <p:spPr>
          <a:xfrm xmlns:a="http://schemas.openxmlformats.org/drawingml/2006/main">
            <a:off x="895350" y="29051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2F8A5D"/>
                </a:solidFill>
                <a:latin typeface="Helvetica Neue"/>
                <a:ea typeface="Helvetica Neue"/>
                <a:cs typeface="Helvetica Neue"/>
              </a:defRPr>
            </a:pPr>
            <a:r>
              <a:rPr sz="750" b="1">
                <a:solidFill>
                  <a:srgbClr val="2F8A5D"/>
                </a:solidFill>
                <a:latin typeface="Helvetica Neue"/>
                <a:ea typeface="Helvetica Neue"/>
                <a:cs typeface="Helvetica Neue"/>
              </a:rPr>
              <a:t>HIGH EVIDENCE CONFIDENCE</a:t>
            </a:r>
          </a:p>
        </p:txBody>
      </p:sp>
      <p:sp>
        <p:nvSpPr>
          <p:cNvPr id="12" name="">
            <a:extLst xmlns:a="http://schemas.openxmlformats.org/drawingml/2006/main">
              <a:ext uri="{FF2B5EF4-FFF2-40B4-BE49-F238E27FC236}">
                <a16:creationId xmlns:a16="http://schemas.microsoft.com/office/drawing/2014/main" id="{B79FD5F3-F847-4E05-9CEF-767A9278E181}"/>
              </a:ext>
            </a:extLst>
          </p:cNvPr>
          <p:cNvSpPr>
            <a:spLocks xmlns:a="http://schemas.openxmlformats.org/drawingml/2006/main" noGrp="1"/>
          </p:cNvSpPr>
          <p:nvPr/>
        </p:nvSpPr>
        <p:spPr>
          <a:xfrm xmlns:a="http://schemas.openxmlformats.org/drawingml/2006/main">
            <a:off x="895350" y="3209925"/>
            <a:ext cx="685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2437"/>
          </a:bodyPr>
          <a:lstStyle xmlns:a="http://schemas.openxmlformats.org/drawingml/2006/main"/>
          <a:p xmlns:a="http://schemas.openxmlformats.org/drawingml/2006/main">
            <a:pPr>
              <a:defRPr sz="1725" b="1">
                <a:solidFill>
                  <a:srgbClr val="25152B"/>
                </a:solidFill>
                <a:latin typeface="Helvetica Neue"/>
                <a:ea typeface="Helvetica Neue"/>
                <a:cs typeface="Helvetica Neue"/>
              </a:defRPr>
            </a:pPr>
            <a:r>
              <a:rPr sz="1725" b="1">
                <a:solidFill>
                  <a:srgbClr val="25152B"/>
                </a:solidFill>
                <a:latin typeface="Helvetica Neue"/>
                <a:ea typeface="Helvetica Neue"/>
                <a:cs typeface="Helvetica Neue"/>
              </a:rPr>
              <a:t>A lighter monthly signal was proposed, but the source of record is unchanged</a:t>
            </a:r>
          </a:p>
        </p:txBody>
      </p:sp>
      <p:sp>
        <p:nvSpPr>
          <p:cNvPr id="13" name="">
            <a:extLst xmlns:a="http://schemas.openxmlformats.org/drawingml/2006/main">
              <a:ext uri="{FF2B5EF4-FFF2-40B4-BE49-F238E27FC236}">
                <a16:creationId xmlns:a16="http://schemas.microsoft.com/office/drawing/2014/main" id="{CED640BD-B637-4EE8-9325-4767FDC5B6F7}"/>
              </a:ext>
            </a:extLst>
          </p:cNvPr>
          <p:cNvSpPr>
            <a:spLocks xmlns:a="http://schemas.openxmlformats.org/drawingml/2006/main" noGrp="1"/>
          </p:cNvSpPr>
          <p:nvPr/>
        </p:nvSpPr>
        <p:spPr>
          <a:xfrm xmlns:a="http://schemas.openxmlformats.org/drawingml/2006/main">
            <a:off x="895350" y="3790950"/>
            <a:ext cx="676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A conversation and draft memo support the new cadence. GivingData still holds the prior requirement, so Compass labels the decision proposed rather than final.</a:t>
            </a:r>
          </a:p>
        </p:txBody>
      </p:sp>
      <p:sp>
        <p:nvSpPr>
          <p:cNvPr id="14" name="">
            <a:extLst xmlns:a="http://schemas.openxmlformats.org/drawingml/2006/main">
              <a:ext uri="{FF2B5EF4-FFF2-40B4-BE49-F238E27FC236}">
                <a16:creationId xmlns:a16="http://schemas.microsoft.com/office/drawing/2014/main" id="{8DA373F0-B5AD-46E6-BD11-F83F0892BC93}"/>
              </a:ext>
            </a:extLst>
          </p:cNvPr>
          <p:cNvSpPr>
            <a:spLocks xmlns:a="http://schemas.openxmlformats.org/drawingml/2006/main" noGrp="1"/>
          </p:cNvSpPr>
          <p:nvPr/>
        </p:nvSpPr>
        <p:spPr>
          <a:xfrm xmlns:a="http://schemas.openxmlformats.org/drawingml/2006/main">
            <a:off x="895350" y="4648200"/>
            <a:ext cx="1847850" cy="704850"/>
          </a:xfrm>
          <a:prstGeom xmlns:a="http://schemas.openxmlformats.org/drawingml/2006/main" prst="roundRect">
            <a:avLst>
              <a:gd name="adj" fmla="val 16216"/>
            </a:avLst>
          </a:prstGeom>
          <a:solidFill xmlns:a="http://schemas.openxmlformats.org/drawingml/2006/main">
            <a:srgbClr val="F7F4E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8A8DD6F-A26B-4F3B-8EF5-D915A6D6212B}"/>
              </a:ext>
            </a:extLst>
          </p:cNvPr>
          <p:cNvSpPr>
            <a:spLocks xmlns:a="http://schemas.openxmlformats.org/drawingml/2006/main" noGrp="1"/>
          </p:cNvSpPr>
          <p:nvPr/>
        </p:nvSpPr>
        <p:spPr>
          <a:xfrm xmlns:a="http://schemas.openxmlformats.org/drawingml/2006/main">
            <a:off x="1047750" y="4733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273"/>
          </a:bodyPr>
          <a:lstStyle xmlns:a="http://schemas.openxmlformats.org/drawingml/2006/main"/>
          <a:p xmlns:a="http://schemas.openxmlformats.org/drawingml/2006/main">
            <a:pPr>
              <a:defRPr sz="1650" b="1">
                <a:solidFill>
                  <a:srgbClr val="25152B"/>
                </a:solidFill>
                <a:latin typeface="Helvetica Neue"/>
                <a:ea typeface="Helvetica Neue"/>
                <a:cs typeface="Helvetica Neue"/>
              </a:defRPr>
            </a:pPr>
            <a:r>
              <a:rPr sz="1650" b="1">
                <a:solidFill>
                  <a:srgbClr val="25152B"/>
                </a:solidFill>
                <a:latin typeface="Helvetica Neue"/>
                <a:ea typeface="Helvetica Neue"/>
                <a:cs typeface="Helvetica Neue"/>
              </a:rPr>
              <a:t>3</a:t>
            </a:r>
          </a:p>
        </p:txBody>
      </p:sp>
      <p:sp>
        <p:nvSpPr>
          <p:cNvPr id="16" name="">
            <a:extLst xmlns:a="http://schemas.openxmlformats.org/drawingml/2006/main">
              <a:ext uri="{FF2B5EF4-FFF2-40B4-BE49-F238E27FC236}">
                <a16:creationId xmlns:a16="http://schemas.microsoft.com/office/drawing/2014/main" id="{03F378F6-2CC7-4BAE-ACC0-D55E26D56E52}"/>
              </a:ext>
            </a:extLst>
          </p:cNvPr>
          <p:cNvSpPr>
            <a:spLocks xmlns:a="http://schemas.openxmlformats.org/drawingml/2006/main" noGrp="1"/>
          </p:cNvSpPr>
          <p:nvPr/>
        </p:nvSpPr>
        <p:spPr>
          <a:xfrm xmlns:a="http://schemas.openxmlformats.org/drawingml/2006/main">
            <a:off x="1047750" y="501967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0">
                <a:solidFill>
                  <a:srgbClr val="776D79"/>
                </a:solidFill>
                <a:latin typeface="Helvetica Neue"/>
                <a:ea typeface="Helvetica Neue"/>
                <a:cs typeface="Helvetica Neue"/>
              </a:defRPr>
            </a:pPr>
            <a:r>
              <a:rPr sz="750" b="0">
                <a:solidFill>
                  <a:srgbClr val="776D79"/>
                </a:solidFill>
                <a:latin typeface="Helvetica Neue"/>
                <a:ea typeface="Helvetica Neue"/>
                <a:cs typeface="Helvetica Neue"/>
              </a:rPr>
              <a:t>cited records</a:t>
            </a:r>
          </a:p>
        </p:txBody>
      </p:sp>
      <p:sp>
        <p:nvSpPr>
          <p:cNvPr id="17" name="">
            <a:extLst xmlns:a="http://schemas.openxmlformats.org/drawingml/2006/main">
              <a:ext uri="{FF2B5EF4-FFF2-40B4-BE49-F238E27FC236}">
                <a16:creationId xmlns:a16="http://schemas.microsoft.com/office/drawing/2014/main" id="{2921C755-661A-4B8B-AA18-DAE4CFD03FDB}"/>
              </a:ext>
            </a:extLst>
          </p:cNvPr>
          <p:cNvSpPr>
            <a:spLocks xmlns:a="http://schemas.openxmlformats.org/drawingml/2006/main" noGrp="1"/>
          </p:cNvSpPr>
          <p:nvPr/>
        </p:nvSpPr>
        <p:spPr>
          <a:xfrm xmlns:a="http://schemas.openxmlformats.org/drawingml/2006/main">
            <a:off x="2895600" y="4648200"/>
            <a:ext cx="1847850" cy="704850"/>
          </a:xfrm>
          <a:prstGeom xmlns:a="http://schemas.openxmlformats.org/drawingml/2006/main" prst="roundRect">
            <a:avLst>
              <a:gd name="adj" fmla="val 16216"/>
            </a:avLst>
          </a:prstGeom>
          <a:solidFill xmlns:a="http://schemas.openxmlformats.org/drawingml/2006/main">
            <a:srgbClr val="F7F4E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E2C83AB-2B73-4086-B34B-2C46F16F4728}"/>
              </a:ext>
            </a:extLst>
          </p:cNvPr>
          <p:cNvSpPr>
            <a:spLocks xmlns:a="http://schemas.openxmlformats.org/drawingml/2006/main" noGrp="1"/>
          </p:cNvSpPr>
          <p:nvPr/>
        </p:nvSpPr>
        <p:spPr>
          <a:xfrm xmlns:a="http://schemas.openxmlformats.org/drawingml/2006/main">
            <a:off x="3048000" y="4733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273"/>
          </a:bodyPr>
          <a:lstStyle xmlns:a="http://schemas.openxmlformats.org/drawingml/2006/main"/>
          <a:p xmlns:a="http://schemas.openxmlformats.org/drawingml/2006/main">
            <a:pPr>
              <a:defRPr sz="1650" b="1">
                <a:solidFill>
                  <a:srgbClr val="25152B"/>
                </a:solidFill>
                <a:latin typeface="Helvetica Neue"/>
                <a:ea typeface="Helvetica Neue"/>
                <a:cs typeface="Helvetica Neue"/>
              </a:defRPr>
            </a:pPr>
            <a:r>
              <a:rPr sz="1650" b="1">
                <a:solidFill>
                  <a:srgbClr val="25152B"/>
                </a:solidFill>
                <a:latin typeface="Helvetica Neue"/>
                <a:ea typeface="Helvetica Neue"/>
                <a:cs typeface="Helvetica Neue"/>
              </a:rPr>
              <a:t>3</a:t>
            </a:r>
          </a:p>
        </p:txBody>
      </p:sp>
      <p:sp>
        <p:nvSpPr>
          <p:cNvPr id="19" name="">
            <a:extLst xmlns:a="http://schemas.openxmlformats.org/drawingml/2006/main">
              <a:ext uri="{FF2B5EF4-FFF2-40B4-BE49-F238E27FC236}">
                <a16:creationId xmlns:a16="http://schemas.microsoft.com/office/drawing/2014/main" id="{2D56503C-1907-4087-BC93-0F00D4B1D47A}"/>
              </a:ext>
            </a:extLst>
          </p:cNvPr>
          <p:cNvSpPr>
            <a:spLocks xmlns:a="http://schemas.openxmlformats.org/drawingml/2006/main" noGrp="1"/>
          </p:cNvSpPr>
          <p:nvPr/>
        </p:nvSpPr>
        <p:spPr>
          <a:xfrm xmlns:a="http://schemas.openxmlformats.org/drawingml/2006/main">
            <a:off x="3048000" y="501967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0">
                <a:solidFill>
                  <a:srgbClr val="776D79"/>
                </a:solidFill>
                <a:latin typeface="Helvetica Neue"/>
                <a:ea typeface="Helvetica Neue"/>
                <a:cs typeface="Helvetica Neue"/>
              </a:defRPr>
            </a:pPr>
            <a:r>
              <a:rPr sz="750" b="0">
                <a:solidFill>
                  <a:srgbClr val="776D79"/>
                </a:solidFill>
                <a:latin typeface="Helvetica Neue"/>
                <a:ea typeface="Helvetica Neue"/>
                <a:cs typeface="Helvetica Neue"/>
              </a:rPr>
              <a:t>systems</a:t>
            </a:r>
          </a:p>
        </p:txBody>
      </p:sp>
      <p:sp>
        <p:nvSpPr>
          <p:cNvPr id="20" name="">
            <a:extLst xmlns:a="http://schemas.openxmlformats.org/drawingml/2006/main">
              <a:ext uri="{FF2B5EF4-FFF2-40B4-BE49-F238E27FC236}">
                <a16:creationId xmlns:a16="http://schemas.microsoft.com/office/drawing/2014/main" id="{8B7DC88C-62A4-4777-83EA-B1F537783310}"/>
              </a:ext>
            </a:extLst>
          </p:cNvPr>
          <p:cNvSpPr>
            <a:spLocks xmlns:a="http://schemas.openxmlformats.org/drawingml/2006/main" noGrp="1"/>
          </p:cNvSpPr>
          <p:nvPr/>
        </p:nvSpPr>
        <p:spPr>
          <a:xfrm xmlns:a="http://schemas.openxmlformats.org/drawingml/2006/main">
            <a:off x="4895850" y="4648200"/>
            <a:ext cx="1847850" cy="704850"/>
          </a:xfrm>
          <a:prstGeom xmlns:a="http://schemas.openxmlformats.org/drawingml/2006/main" prst="roundRect">
            <a:avLst>
              <a:gd name="adj" fmla="val 16216"/>
            </a:avLst>
          </a:prstGeom>
          <a:solidFill xmlns:a="http://schemas.openxmlformats.org/drawingml/2006/main">
            <a:srgbClr val="F7F4E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7539A8A-29E2-4017-B41D-54B7B3DD798D}"/>
              </a:ext>
            </a:extLst>
          </p:cNvPr>
          <p:cNvSpPr>
            <a:spLocks xmlns:a="http://schemas.openxmlformats.org/drawingml/2006/main" noGrp="1"/>
          </p:cNvSpPr>
          <p:nvPr/>
        </p:nvSpPr>
        <p:spPr>
          <a:xfrm xmlns:a="http://schemas.openxmlformats.org/drawingml/2006/main">
            <a:off x="5048250" y="4733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273"/>
          </a:bodyPr>
          <a:lstStyle xmlns:a="http://schemas.openxmlformats.org/drawingml/2006/main"/>
          <a:p xmlns:a="http://schemas.openxmlformats.org/drawingml/2006/main">
            <a:pPr>
              <a:defRPr sz="1650" b="1">
                <a:solidFill>
                  <a:srgbClr val="25152B"/>
                </a:solidFill>
                <a:latin typeface="Helvetica Neue"/>
                <a:ea typeface="Helvetica Neue"/>
                <a:cs typeface="Helvetica Neue"/>
              </a:defRPr>
            </a:pPr>
            <a:r>
              <a:rPr sz="1650" b="1">
                <a:solidFill>
                  <a:srgbClr val="25152B"/>
                </a:solidFill>
                <a:latin typeface="Helvetica Neue"/>
                <a:ea typeface="Helvetica Neue"/>
                <a:cs typeface="Helvetica Neue"/>
              </a:rPr>
              <a:t>1</a:t>
            </a:r>
          </a:p>
        </p:txBody>
      </p:sp>
      <p:sp>
        <p:nvSpPr>
          <p:cNvPr id="22" name="">
            <a:extLst xmlns:a="http://schemas.openxmlformats.org/drawingml/2006/main">
              <a:ext uri="{FF2B5EF4-FFF2-40B4-BE49-F238E27FC236}">
                <a16:creationId xmlns:a16="http://schemas.microsoft.com/office/drawing/2014/main" id="{BF780762-C370-488A-B7EF-96F2C802395E}"/>
              </a:ext>
            </a:extLst>
          </p:cNvPr>
          <p:cNvSpPr>
            <a:spLocks xmlns:a="http://schemas.openxmlformats.org/drawingml/2006/main" noGrp="1"/>
          </p:cNvSpPr>
          <p:nvPr/>
        </p:nvSpPr>
        <p:spPr>
          <a:xfrm xmlns:a="http://schemas.openxmlformats.org/drawingml/2006/main">
            <a:off x="5048250" y="501967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0">
                <a:solidFill>
                  <a:srgbClr val="776D79"/>
                </a:solidFill>
                <a:latin typeface="Helvetica Neue"/>
                <a:ea typeface="Helvetica Neue"/>
                <a:cs typeface="Helvetica Neue"/>
              </a:defRPr>
            </a:pPr>
            <a:r>
              <a:rPr sz="750" b="0">
                <a:solidFill>
                  <a:srgbClr val="776D79"/>
                </a:solidFill>
                <a:latin typeface="Helvetica Neue"/>
                <a:ea typeface="Helvetica Neue"/>
                <a:cs typeface="Helvetica Neue"/>
              </a:rPr>
              <a:t>source conflict</a:t>
            </a:r>
          </a:p>
        </p:txBody>
      </p:sp>
      <p:sp>
        <p:nvSpPr>
          <p:cNvPr id="23" name="">
            <a:extLst xmlns:a="http://schemas.openxmlformats.org/drawingml/2006/main">
              <a:ext uri="{FF2B5EF4-FFF2-40B4-BE49-F238E27FC236}">
                <a16:creationId xmlns:a16="http://schemas.microsoft.com/office/drawing/2014/main" id="{1852BA0D-33DF-4C68-822E-8418D4170D04}"/>
              </a:ext>
            </a:extLst>
          </p:cNvPr>
          <p:cNvSpPr>
            <a:spLocks xmlns:a="http://schemas.openxmlformats.org/drawingml/2006/main" noGrp="1"/>
          </p:cNvSpPr>
          <p:nvPr/>
        </p:nvSpPr>
        <p:spPr>
          <a:xfrm xmlns:a="http://schemas.openxmlformats.org/drawingml/2006/main">
            <a:off x="7981950" y="2914650"/>
            <a:ext cx="0" cy="228600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24" name="">
            <a:extLst xmlns:a="http://schemas.openxmlformats.org/drawingml/2006/main">
              <a:ext uri="{FF2B5EF4-FFF2-40B4-BE49-F238E27FC236}">
                <a16:creationId xmlns:a16="http://schemas.microsoft.com/office/drawing/2014/main" id="{CD9EF4A0-3BE3-44B9-B7B4-70881B03C7C8}"/>
              </a:ext>
            </a:extLst>
          </p:cNvPr>
          <p:cNvSpPr>
            <a:spLocks xmlns:a="http://schemas.openxmlformats.org/drawingml/2006/main" noGrp="1"/>
          </p:cNvSpPr>
          <p:nvPr/>
        </p:nvSpPr>
        <p:spPr>
          <a:xfrm xmlns:a="http://schemas.openxmlformats.org/drawingml/2006/main">
            <a:off x="8248650" y="2914650"/>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657B3"/>
                </a:solidFill>
                <a:latin typeface="Helvetica Neue"/>
                <a:ea typeface="Helvetica Neue"/>
                <a:cs typeface="Helvetica Neue"/>
              </a:defRPr>
            </a:pPr>
            <a:r>
              <a:rPr sz="750" b="1">
                <a:solidFill>
                  <a:srgbClr val="7657B3"/>
                </a:solidFill>
                <a:latin typeface="Helvetica Neue"/>
                <a:ea typeface="Helvetica Neue"/>
                <a:cs typeface="Helvetica Neue"/>
              </a:rPr>
              <a:t>EVIDENCE COVERAGE</a:t>
            </a:r>
          </a:p>
        </p:txBody>
      </p:sp>
      <p:sp>
        <p:nvSpPr>
          <p:cNvPr id="25" name="">
            <a:extLst xmlns:a="http://schemas.openxmlformats.org/drawingml/2006/main">
              <a:ext uri="{FF2B5EF4-FFF2-40B4-BE49-F238E27FC236}">
                <a16:creationId xmlns:a16="http://schemas.microsoft.com/office/drawing/2014/main" id="{B562640E-9B2C-4362-BB9F-B719C4871F6D}"/>
              </a:ext>
            </a:extLst>
          </p:cNvPr>
          <p:cNvSpPr>
            <a:spLocks xmlns:a="http://schemas.openxmlformats.org/drawingml/2006/main" noGrp="1"/>
          </p:cNvSpPr>
          <p:nvPr/>
        </p:nvSpPr>
        <p:spPr>
          <a:xfrm xmlns:a="http://schemas.openxmlformats.org/drawingml/2006/main">
            <a:off x="8248650" y="328612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14753"/>
                </a:solidFill>
                <a:latin typeface="Helvetica Neue"/>
                <a:ea typeface="Helvetica Neue"/>
                <a:cs typeface="Helvetica Neue"/>
              </a:defRPr>
            </a:pPr>
            <a:r>
              <a:rPr sz="825" b="0">
                <a:solidFill>
                  <a:srgbClr val="514753"/>
                </a:solidFill>
                <a:latin typeface="Helvetica Neue"/>
                <a:ea typeface="Helvetica Neue"/>
                <a:cs typeface="Helvetica Neue"/>
              </a:rPr>
              <a:t>Drive</a:t>
            </a:r>
          </a:p>
        </p:txBody>
      </p:sp>
      <p:sp>
        <p:nvSpPr>
          <p:cNvPr id="26" name="">
            <a:extLst xmlns:a="http://schemas.openxmlformats.org/drawingml/2006/main">
              <a:ext uri="{FF2B5EF4-FFF2-40B4-BE49-F238E27FC236}">
                <a16:creationId xmlns:a16="http://schemas.microsoft.com/office/drawing/2014/main" id="{6FCDFD65-CEBA-460B-9D55-EF3DF2856B0F}"/>
              </a:ext>
            </a:extLst>
          </p:cNvPr>
          <p:cNvSpPr>
            <a:spLocks xmlns:a="http://schemas.openxmlformats.org/drawingml/2006/main" noGrp="1"/>
          </p:cNvSpPr>
          <p:nvPr/>
        </p:nvSpPr>
        <p:spPr>
          <a:xfrm xmlns:a="http://schemas.openxmlformats.org/drawingml/2006/main">
            <a:off x="10629900" y="328612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1">
                <a:solidFill>
                  <a:srgbClr val="25152B"/>
                </a:solidFill>
                <a:latin typeface="Helvetica Neue"/>
                <a:ea typeface="Helvetica Neue"/>
                <a:cs typeface="Helvetica Neue"/>
              </a:defRPr>
            </a:pPr>
            <a:r>
              <a:rPr sz="825" b="1">
                <a:solidFill>
                  <a:srgbClr val="25152B"/>
                </a:solidFill>
                <a:latin typeface="Helvetica Neue"/>
                <a:ea typeface="Helvetica Neue"/>
                <a:cs typeface="Helvetica Neue"/>
              </a:rPr>
              <a:t>1</a:t>
            </a:r>
          </a:p>
        </p:txBody>
      </p:sp>
      <p:sp>
        <p:nvSpPr>
          <p:cNvPr id="27" name="">
            <a:extLst xmlns:a="http://schemas.openxmlformats.org/drawingml/2006/main">
              <a:ext uri="{FF2B5EF4-FFF2-40B4-BE49-F238E27FC236}">
                <a16:creationId xmlns:a16="http://schemas.microsoft.com/office/drawing/2014/main" id="{3D99A650-B3D6-40DD-BB7C-A4C2917D0722}"/>
              </a:ext>
            </a:extLst>
          </p:cNvPr>
          <p:cNvSpPr>
            <a:spLocks xmlns:a="http://schemas.openxmlformats.org/drawingml/2006/main" noGrp="1"/>
          </p:cNvSpPr>
          <p:nvPr/>
        </p:nvSpPr>
        <p:spPr>
          <a:xfrm xmlns:a="http://schemas.openxmlformats.org/drawingml/2006/main">
            <a:off x="9277350" y="3352800"/>
            <a:ext cx="1190625" cy="66675"/>
          </a:xfrm>
          <a:prstGeom xmlns:a="http://schemas.openxmlformats.org/drawingml/2006/main" prst="roundRect">
            <a:avLst>
              <a:gd name="adj" fmla="val 50000"/>
            </a:avLst>
          </a:prstGeom>
          <a:solidFill xmlns:a="http://schemas.openxmlformats.org/drawingml/2006/main">
            <a:srgbClr val="F7F4E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BFC55E6D-0502-44E3-8EB9-554C232292FA}"/>
              </a:ext>
            </a:extLst>
          </p:cNvPr>
          <p:cNvSpPr>
            <a:spLocks xmlns:a="http://schemas.openxmlformats.org/drawingml/2006/main" noGrp="1"/>
          </p:cNvSpPr>
          <p:nvPr/>
        </p:nvSpPr>
        <p:spPr>
          <a:xfrm xmlns:a="http://schemas.openxmlformats.org/drawingml/2006/main">
            <a:off x="9277350" y="3352800"/>
            <a:ext cx="704850" cy="66675"/>
          </a:xfrm>
          <a:prstGeom xmlns:a="http://schemas.openxmlformats.org/drawingml/2006/main" prst="roundRect">
            <a:avLst>
              <a:gd name="adj" fmla="val 50000"/>
            </a:avLst>
          </a:prstGeom>
          <a:solidFill xmlns:a="http://schemas.openxmlformats.org/drawingml/2006/main">
            <a:srgbClr val="5790D2"/>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C07C112B-5B9C-40E2-BDF5-C00D5FD0954D}"/>
              </a:ext>
            </a:extLst>
          </p:cNvPr>
          <p:cNvSpPr>
            <a:spLocks xmlns:a="http://schemas.openxmlformats.org/drawingml/2006/main" noGrp="1"/>
          </p:cNvSpPr>
          <p:nvPr/>
        </p:nvSpPr>
        <p:spPr>
          <a:xfrm xmlns:a="http://schemas.openxmlformats.org/drawingml/2006/main">
            <a:off x="8248650" y="36957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14753"/>
                </a:solidFill>
                <a:latin typeface="Helvetica Neue"/>
                <a:ea typeface="Helvetica Neue"/>
                <a:cs typeface="Helvetica Neue"/>
              </a:defRPr>
            </a:pPr>
            <a:r>
              <a:rPr sz="825" b="0">
                <a:solidFill>
                  <a:srgbClr val="514753"/>
                </a:solidFill>
                <a:latin typeface="Helvetica Neue"/>
                <a:ea typeface="Helvetica Neue"/>
                <a:cs typeface="Helvetica Neue"/>
              </a:rPr>
              <a:t>GivingData</a:t>
            </a:r>
          </a:p>
        </p:txBody>
      </p:sp>
      <p:sp>
        <p:nvSpPr>
          <p:cNvPr id="30" name="">
            <a:extLst xmlns:a="http://schemas.openxmlformats.org/drawingml/2006/main">
              <a:ext uri="{FF2B5EF4-FFF2-40B4-BE49-F238E27FC236}">
                <a16:creationId xmlns:a16="http://schemas.microsoft.com/office/drawing/2014/main" id="{942F1492-DF9B-45F2-9C61-311B266E3523}"/>
              </a:ext>
            </a:extLst>
          </p:cNvPr>
          <p:cNvSpPr>
            <a:spLocks xmlns:a="http://schemas.openxmlformats.org/drawingml/2006/main" noGrp="1"/>
          </p:cNvSpPr>
          <p:nvPr/>
        </p:nvSpPr>
        <p:spPr>
          <a:xfrm xmlns:a="http://schemas.openxmlformats.org/drawingml/2006/main">
            <a:off x="10629900" y="369570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1">
                <a:solidFill>
                  <a:srgbClr val="25152B"/>
                </a:solidFill>
                <a:latin typeface="Helvetica Neue"/>
                <a:ea typeface="Helvetica Neue"/>
                <a:cs typeface="Helvetica Neue"/>
              </a:defRPr>
            </a:pPr>
            <a:r>
              <a:rPr sz="825" b="1">
                <a:solidFill>
                  <a:srgbClr val="25152B"/>
                </a:solidFill>
                <a:latin typeface="Helvetica Neue"/>
                <a:ea typeface="Helvetica Neue"/>
                <a:cs typeface="Helvetica Neue"/>
              </a:rPr>
              <a:t>1</a:t>
            </a:r>
          </a:p>
        </p:txBody>
      </p:sp>
      <p:sp>
        <p:nvSpPr>
          <p:cNvPr id="31" name="">
            <a:extLst xmlns:a="http://schemas.openxmlformats.org/drawingml/2006/main">
              <a:ext uri="{FF2B5EF4-FFF2-40B4-BE49-F238E27FC236}">
                <a16:creationId xmlns:a16="http://schemas.microsoft.com/office/drawing/2014/main" id="{CB1E71EE-4109-4228-B030-A3490CFC9F43}"/>
              </a:ext>
            </a:extLst>
          </p:cNvPr>
          <p:cNvSpPr>
            <a:spLocks xmlns:a="http://schemas.openxmlformats.org/drawingml/2006/main" noGrp="1"/>
          </p:cNvSpPr>
          <p:nvPr/>
        </p:nvSpPr>
        <p:spPr>
          <a:xfrm xmlns:a="http://schemas.openxmlformats.org/drawingml/2006/main">
            <a:off x="9277350" y="3762375"/>
            <a:ext cx="1190625" cy="66675"/>
          </a:xfrm>
          <a:prstGeom xmlns:a="http://schemas.openxmlformats.org/drawingml/2006/main" prst="roundRect">
            <a:avLst>
              <a:gd name="adj" fmla="val 50000"/>
            </a:avLst>
          </a:prstGeom>
          <a:solidFill xmlns:a="http://schemas.openxmlformats.org/drawingml/2006/main">
            <a:srgbClr val="F7F4EF"/>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661A0799-5F9F-434D-BFEC-46C6D7A4DC71}"/>
              </a:ext>
            </a:extLst>
          </p:cNvPr>
          <p:cNvSpPr>
            <a:spLocks xmlns:a="http://schemas.openxmlformats.org/drawingml/2006/main" noGrp="1"/>
          </p:cNvSpPr>
          <p:nvPr/>
        </p:nvSpPr>
        <p:spPr>
          <a:xfrm xmlns:a="http://schemas.openxmlformats.org/drawingml/2006/main">
            <a:off x="9277350" y="3762375"/>
            <a:ext cx="704850" cy="66675"/>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480EF4AC-3637-44A9-BABD-C96555075588}"/>
              </a:ext>
            </a:extLst>
          </p:cNvPr>
          <p:cNvSpPr>
            <a:spLocks xmlns:a="http://schemas.openxmlformats.org/drawingml/2006/main" noGrp="1"/>
          </p:cNvSpPr>
          <p:nvPr/>
        </p:nvSpPr>
        <p:spPr>
          <a:xfrm xmlns:a="http://schemas.openxmlformats.org/drawingml/2006/main">
            <a:off x="8248650" y="41052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14753"/>
                </a:solidFill>
                <a:latin typeface="Helvetica Neue"/>
                <a:ea typeface="Helvetica Neue"/>
                <a:cs typeface="Helvetica Neue"/>
              </a:defRPr>
            </a:pPr>
            <a:r>
              <a:rPr sz="825" b="0">
                <a:solidFill>
                  <a:srgbClr val="514753"/>
                </a:solidFill>
                <a:latin typeface="Helvetica Neue"/>
                <a:ea typeface="Helvetica Neue"/>
                <a:cs typeface="Helvetica Neue"/>
              </a:rPr>
              <a:t>Airtable</a:t>
            </a:r>
          </a:p>
        </p:txBody>
      </p:sp>
      <p:sp>
        <p:nvSpPr>
          <p:cNvPr id="34" name="">
            <a:extLst xmlns:a="http://schemas.openxmlformats.org/drawingml/2006/main">
              <a:ext uri="{FF2B5EF4-FFF2-40B4-BE49-F238E27FC236}">
                <a16:creationId xmlns:a16="http://schemas.microsoft.com/office/drawing/2014/main" id="{524FF83F-5E3F-4887-8268-746C62A1FDD5}"/>
              </a:ext>
            </a:extLst>
          </p:cNvPr>
          <p:cNvSpPr>
            <a:spLocks xmlns:a="http://schemas.openxmlformats.org/drawingml/2006/main" noGrp="1"/>
          </p:cNvSpPr>
          <p:nvPr/>
        </p:nvSpPr>
        <p:spPr>
          <a:xfrm xmlns:a="http://schemas.openxmlformats.org/drawingml/2006/main">
            <a:off x="10629900" y="410527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1">
                <a:solidFill>
                  <a:srgbClr val="25152B"/>
                </a:solidFill>
                <a:latin typeface="Helvetica Neue"/>
                <a:ea typeface="Helvetica Neue"/>
                <a:cs typeface="Helvetica Neue"/>
              </a:defRPr>
            </a:pPr>
            <a:r>
              <a:rPr sz="825" b="1">
                <a:solidFill>
                  <a:srgbClr val="25152B"/>
                </a:solidFill>
                <a:latin typeface="Helvetica Neue"/>
                <a:ea typeface="Helvetica Neue"/>
                <a:cs typeface="Helvetica Neue"/>
              </a:rPr>
              <a:t>0</a:t>
            </a:r>
          </a:p>
        </p:txBody>
      </p:sp>
      <p:sp>
        <p:nvSpPr>
          <p:cNvPr id="35" name="">
            <a:extLst xmlns:a="http://schemas.openxmlformats.org/drawingml/2006/main">
              <a:ext uri="{FF2B5EF4-FFF2-40B4-BE49-F238E27FC236}">
                <a16:creationId xmlns:a16="http://schemas.microsoft.com/office/drawing/2014/main" id="{5760B47B-E2D8-4D46-A1B2-00C9D94B9380}"/>
              </a:ext>
            </a:extLst>
          </p:cNvPr>
          <p:cNvSpPr>
            <a:spLocks xmlns:a="http://schemas.openxmlformats.org/drawingml/2006/main" noGrp="1"/>
          </p:cNvSpPr>
          <p:nvPr/>
        </p:nvSpPr>
        <p:spPr>
          <a:xfrm xmlns:a="http://schemas.openxmlformats.org/drawingml/2006/main">
            <a:off x="9277350" y="4171950"/>
            <a:ext cx="1190625" cy="66675"/>
          </a:xfrm>
          <a:prstGeom xmlns:a="http://schemas.openxmlformats.org/drawingml/2006/main" prst="roundRect">
            <a:avLst>
              <a:gd name="adj" fmla="val 50000"/>
            </a:avLst>
          </a:prstGeom>
          <a:solidFill xmlns:a="http://schemas.openxmlformats.org/drawingml/2006/main">
            <a:srgbClr val="F7F4EF"/>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DB5DB520-7F76-4785-84A6-54C0193888C0}"/>
              </a:ext>
            </a:extLst>
          </p:cNvPr>
          <p:cNvSpPr>
            <a:spLocks xmlns:a="http://schemas.openxmlformats.org/drawingml/2006/main" noGrp="1"/>
          </p:cNvSpPr>
          <p:nvPr/>
        </p:nvSpPr>
        <p:spPr>
          <a:xfrm xmlns:a="http://schemas.openxmlformats.org/drawingml/2006/main">
            <a:off x="8248650" y="45148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14753"/>
                </a:solidFill>
                <a:latin typeface="Helvetica Neue"/>
                <a:ea typeface="Helvetica Neue"/>
                <a:cs typeface="Helvetica Neue"/>
              </a:defRPr>
            </a:pPr>
            <a:r>
              <a:rPr sz="825" b="0">
                <a:solidFill>
                  <a:srgbClr val="514753"/>
                </a:solidFill>
                <a:latin typeface="Helvetica Neue"/>
                <a:ea typeface="Helvetica Neue"/>
                <a:cs typeface="Helvetica Neue"/>
              </a:rPr>
              <a:t>Zoom Chat</a:t>
            </a:r>
          </a:p>
        </p:txBody>
      </p:sp>
      <p:sp>
        <p:nvSpPr>
          <p:cNvPr id="37" name="">
            <a:extLst xmlns:a="http://schemas.openxmlformats.org/drawingml/2006/main">
              <a:ext uri="{FF2B5EF4-FFF2-40B4-BE49-F238E27FC236}">
                <a16:creationId xmlns:a16="http://schemas.microsoft.com/office/drawing/2014/main" id="{ACDFC8B8-5B3A-43EF-9785-7C297EC67AFA}"/>
              </a:ext>
            </a:extLst>
          </p:cNvPr>
          <p:cNvSpPr>
            <a:spLocks xmlns:a="http://schemas.openxmlformats.org/drawingml/2006/main" noGrp="1"/>
          </p:cNvSpPr>
          <p:nvPr/>
        </p:nvSpPr>
        <p:spPr>
          <a:xfrm xmlns:a="http://schemas.openxmlformats.org/drawingml/2006/main">
            <a:off x="10629900" y="451485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1">
                <a:solidFill>
                  <a:srgbClr val="25152B"/>
                </a:solidFill>
                <a:latin typeface="Helvetica Neue"/>
                <a:ea typeface="Helvetica Neue"/>
                <a:cs typeface="Helvetica Neue"/>
              </a:defRPr>
            </a:pPr>
            <a:r>
              <a:rPr sz="825" b="1">
                <a:solidFill>
                  <a:srgbClr val="25152B"/>
                </a:solidFill>
                <a:latin typeface="Helvetica Neue"/>
                <a:ea typeface="Helvetica Neue"/>
                <a:cs typeface="Helvetica Neue"/>
              </a:rPr>
              <a:t>1</a:t>
            </a:r>
          </a:p>
        </p:txBody>
      </p:sp>
      <p:sp>
        <p:nvSpPr>
          <p:cNvPr id="38" name="">
            <a:extLst xmlns:a="http://schemas.openxmlformats.org/drawingml/2006/main">
              <a:ext uri="{FF2B5EF4-FFF2-40B4-BE49-F238E27FC236}">
                <a16:creationId xmlns:a16="http://schemas.microsoft.com/office/drawing/2014/main" id="{187622D0-1B49-474F-8464-322951E25E7E}"/>
              </a:ext>
            </a:extLst>
          </p:cNvPr>
          <p:cNvSpPr>
            <a:spLocks xmlns:a="http://schemas.openxmlformats.org/drawingml/2006/main" noGrp="1"/>
          </p:cNvSpPr>
          <p:nvPr/>
        </p:nvSpPr>
        <p:spPr>
          <a:xfrm xmlns:a="http://schemas.openxmlformats.org/drawingml/2006/main">
            <a:off x="9277350" y="4581525"/>
            <a:ext cx="1190625" cy="66675"/>
          </a:xfrm>
          <a:prstGeom xmlns:a="http://schemas.openxmlformats.org/drawingml/2006/main" prst="roundRect">
            <a:avLst>
              <a:gd name="adj" fmla="val 50000"/>
            </a:avLst>
          </a:prstGeom>
          <a:solidFill xmlns:a="http://schemas.openxmlformats.org/drawingml/2006/main">
            <a:srgbClr val="F7F4EF"/>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2C6AF54F-E40B-4387-9F3F-98AC9D24D587}"/>
              </a:ext>
            </a:extLst>
          </p:cNvPr>
          <p:cNvSpPr>
            <a:spLocks xmlns:a="http://schemas.openxmlformats.org/drawingml/2006/main" noGrp="1"/>
          </p:cNvSpPr>
          <p:nvPr/>
        </p:nvSpPr>
        <p:spPr>
          <a:xfrm xmlns:a="http://schemas.openxmlformats.org/drawingml/2006/main">
            <a:off x="9277350" y="4581525"/>
            <a:ext cx="704850" cy="66675"/>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3A62D455-F38A-420D-84CC-8D46EDC0306B}"/>
              </a:ext>
            </a:extLst>
          </p:cNvPr>
          <p:cNvSpPr>
            <a:spLocks xmlns:a="http://schemas.openxmlformats.org/drawingml/2006/main" noGrp="1"/>
          </p:cNvSpPr>
          <p:nvPr/>
        </p:nvSpPr>
        <p:spPr>
          <a:xfrm xmlns:a="http://schemas.openxmlformats.org/drawingml/2006/main">
            <a:off x="8115300" y="4962525"/>
            <a:ext cx="2971800" cy="457200"/>
          </a:xfrm>
          <a:prstGeom xmlns:a="http://schemas.openxmlformats.org/drawingml/2006/main" prst="roundRect">
            <a:avLst>
              <a:gd name="adj" fmla="val 25000"/>
            </a:avLst>
          </a:prstGeom>
          <a:solidFill xmlns:a="http://schemas.openxmlformats.org/drawingml/2006/main">
            <a:srgbClr val="FFF5DF"/>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2077B298-7629-4F4A-93DD-A3F3753D0B0B}"/>
              </a:ext>
            </a:extLst>
          </p:cNvPr>
          <p:cNvSpPr>
            <a:spLocks xmlns:a="http://schemas.openxmlformats.org/drawingml/2006/main" noGrp="1"/>
          </p:cNvSpPr>
          <p:nvPr/>
        </p:nvSpPr>
        <p:spPr>
          <a:xfrm xmlns:a="http://schemas.openxmlformats.org/drawingml/2006/main">
            <a:off x="8267700" y="50482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B86A14"/>
                </a:solidFill>
                <a:latin typeface="Helvetica Neue"/>
                <a:ea typeface="Helvetica Neue"/>
                <a:cs typeface="Helvetica Neue"/>
              </a:defRPr>
            </a:pPr>
            <a:r>
              <a:rPr sz="825" b="1">
                <a:solidFill>
                  <a:srgbClr val="B86A14"/>
                </a:solidFill>
                <a:latin typeface="Helvetica Neue"/>
                <a:ea typeface="Helvetica Neue"/>
                <a:cs typeface="Helvetica Neue"/>
              </a:rPr>
              <a:t>Next check: confirm owner and effective date</a:t>
            </a:r>
          </a:p>
        </p:txBody>
      </p:sp>
      <p:sp>
        <p:nvSpPr>
          <p:cNvPr id="42" name="">
            <a:extLst xmlns:a="http://schemas.openxmlformats.org/drawingml/2006/main">
              <a:ext uri="{FF2B5EF4-FFF2-40B4-BE49-F238E27FC236}">
                <a16:creationId xmlns:a16="http://schemas.microsoft.com/office/drawing/2014/main" id="{5F3FCFC0-7913-4E59-8819-702C777F15E4}"/>
              </a:ext>
            </a:extLst>
          </p:cNvPr>
          <p:cNvSpPr>
            <a:spLocks xmlns:a="http://schemas.openxmlformats.org/drawingml/2006/main" noGrp="1"/>
          </p:cNvSpPr>
          <p:nvPr/>
        </p:nvSpPr>
        <p:spPr>
          <a:xfrm xmlns:a="http://schemas.openxmlformats.org/drawingml/2006/main">
            <a:off x="666750" y="59055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657B3"/>
                </a:solidFill>
                <a:latin typeface="Helvetica Neue"/>
                <a:ea typeface="Helvetica Neue"/>
                <a:cs typeface="Helvetica Neue"/>
              </a:defRPr>
            </a:pPr>
            <a:r>
              <a:rPr sz="750" b="1">
                <a:solidFill>
                  <a:srgbClr val="7657B3"/>
                </a:solidFill>
                <a:latin typeface="Helvetica Neue"/>
                <a:ea typeface="Helvetica Neue"/>
                <a:cs typeface="Helvetica Neue"/>
              </a:rPr>
              <a:t>VERIFIED LOCALLY  Browser to API to D1 persistence</a:t>
            </a:r>
          </a:p>
        </p:txBody>
      </p:sp>
    </p:spTree>
    <p:extLst>
      <p:ext uri="{BB962C8B-B14F-4D97-AF65-F5344CB8AC3E}">
        <p14:creationId xmlns:p14="http://schemas.microsoft.com/office/powerpoint/2010/main" val="1454518268"/>
      </p:ext>
    </p:extLst>
  </p:cSld>
</p:sld>
</file>

<file path=ppt/slides/slide5.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A3357C19-8CD2-4516-A4A8-2E5537B50BBA}"/>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SYSTEM DESIGN</a:t>
            </a:r>
          </a:p>
        </p:txBody>
      </p:sp>
      <p:sp>
        <p:nvSpPr>
          <p:cNvPr id="2" name="">
            <a:extLst xmlns:a="http://schemas.openxmlformats.org/drawingml/2006/main">
              <a:ext uri="{FF2B5EF4-FFF2-40B4-BE49-F238E27FC236}">
                <a16:creationId xmlns:a16="http://schemas.microsoft.com/office/drawing/2014/main" id="{1B75870B-336C-49CF-9915-FCE38CDEEFAB}"/>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152B2AA9-C1F5-4681-9DD8-96B995FD854D}"/>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F01961B2-310E-4933-B09E-94FD03B4D36B}"/>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The working slice reaches from browser to D1</a:t>
            </a:r>
          </a:p>
        </p:txBody>
      </p:sp>
      <p:sp>
        <p:nvSpPr>
          <p:cNvPr id="5" name="">
            <a:extLst xmlns:a="http://schemas.openxmlformats.org/drawingml/2006/main">
              <a:ext uri="{FF2B5EF4-FFF2-40B4-BE49-F238E27FC236}">
                <a16:creationId xmlns:a16="http://schemas.microsoft.com/office/drawing/2014/main" id="{A2D018D2-BF29-4713-86F4-7269CDF695ED}"/>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Each stage has a code contract, a failure behavior, and a testable handoff.</a:t>
            </a:r>
          </a:p>
        </p:txBody>
      </p:sp>
      <p:sp>
        <p:nvSpPr>
          <p:cNvPr id="6" name="">
            <a:extLst xmlns:a="http://schemas.openxmlformats.org/drawingml/2006/main">
              <a:ext uri="{FF2B5EF4-FFF2-40B4-BE49-F238E27FC236}">
                <a16:creationId xmlns:a16="http://schemas.microsoft.com/office/drawing/2014/main" id="{58C830EA-DA29-4978-ACAB-C1019CDD6E5E}"/>
              </a:ext>
            </a:extLst>
          </p:cNvPr>
          <p:cNvSpPr>
            <a:spLocks xmlns:a="http://schemas.openxmlformats.org/drawingml/2006/main" noGrp="1"/>
          </p:cNvSpPr>
          <p:nvPr/>
        </p:nvSpPr>
        <p:spPr>
          <a:xfrm xmlns:a="http://schemas.openxmlformats.org/drawingml/2006/main">
            <a:off x="457200" y="2409825"/>
            <a:ext cx="1657350" cy="19240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ED8D2"/>
            </a:solidFill>
          </a:ln>
        </p:spPr>
      </p:sp>
      <p:sp>
        <p:nvSpPr>
          <p:cNvPr id="7" name="">
            <a:extLst xmlns:a="http://schemas.openxmlformats.org/drawingml/2006/main">
              <a:ext uri="{FF2B5EF4-FFF2-40B4-BE49-F238E27FC236}">
                <a16:creationId xmlns:a16="http://schemas.microsoft.com/office/drawing/2014/main" id="{12406972-EE7E-4A00-8E3B-1A3CA6656D97}"/>
              </a:ext>
            </a:extLst>
          </p:cNvPr>
          <p:cNvSpPr>
            <a:spLocks xmlns:a="http://schemas.openxmlformats.org/drawingml/2006/main" noGrp="1"/>
          </p:cNvSpPr>
          <p:nvPr/>
        </p:nvSpPr>
        <p:spPr>
          <a:xfrm xmlns:a="http://schemas.openxmlformats.org/drawingml/2006/main">
            <a:off x="628650" y="257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E94B2A"/>
                </a:solidFill>
                <a:latin typeface="Helvetica Neue"/>
                <a:ea typeface="Helvetica Neue"/>
                <a:cs typeface="Helvetica Neue"/>
              </a:defRPr>
            </a:pPr>
            <a:r>
              <a:rPr sz="825" b="1">
                <a:solidFill>
                  <a:srgbClr val="E94B2A"/>
                </a:solidFill>
                <a:latin typeface="Helvetica Neue"/>
                <a:ea typeface="Helvetica Neue"/>
                <a:cs typeface="Helvetica Neue"/>
              </a:rPr>
              <a:t>01</a:t>
            </a:r>
          </a:p>
        </p:txBody>
      </p:sp>
      <p:sp>
        <p:nvSpPr>
          <p:cNvPr id="8" name="">
            <a:extLst xmlns:a="http://schemas.openxmlformats.org/drawingml/2006/main">
              <a:ext uri="{FF2B5EF4-FFF2-40B4-BE49-F238E27FC236}">
                <a16:creationId xmlns:a16="http://schemas.microsoft.com/office/drawing/2014/main" id="{7E2ADCB5-DFCC-4366-8A70-30CA52404535}"/>
              </a:ext>
            </a:extLst>
          </p:cNvPr>
          <p:cNvSpPr>
            <a:spLocks xmlns:a="http://schemas.openxmlformats.org/drawingml/2006/main" noGrp="1"/>
          </p:cNvSpPr>
          <p:nvPr/>
        </p:nvSpPr>
        <p:spPr>
          <a:xfrm xmlns:a="http://schemas.openxmlformats.org/drawingml/2006/main">
            <a:off x="628650" y="2924175"/>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25152B"/>
                </a:solidFill>
                <a:latin typeface="Helvetica Neue"/>
                <a:ea typeface="Helvetica Neue"/>
                <a:cs typeface="Helvetica Neue"/>
              </a:defRPr>
            </a:pPr>
            <a:r>
              <a:rPr sz="1350" b="1">
                <a:solidFill>
                  <a:srgbClr val="25152B"/>
                </a:solidFill>
                <a:latin typeface="Helvetica Neue"/>
                <a:ea typeface="Helvetica Neue"/>
                <a:cs typeface="Helvetica Neue"/>
              </a:rPr>
              <a:t>Admit</a:t>
            </a:r>
          </a:p>
        </p:txBody>
      </p:sp>
      <p:sp>
        <p:nvSpPr>
          <p:cNvPr id="9" name="">
            <a:extLst xmlns:a="http://schemas.openxmlformats.org/drawingml/2006/main">
              <a:ext uri="{FF2B5EF4-FFF2-40B4-BE49-F238E27FC236}">
                <a16:creationId xmlns:a16="http://schemas.microsoft.com/office/drawing/2014/main" id="{FF58B8E3-2985-43F9-B2B9-9820CE9A0DEC}"/>
              </a:ext>
            </a:extLst>
          </p:cNvPr>
          <p:cNvSpPr>
            <a:spLocks xmlns:a="http://schemas.openxmlformats.org/drawingml/2006/main" noGrp="1"/>
          </p:cNvSpPr>
          <p:nvPr/>
        </p:nvSpPr>
        <p:spPr>
          <a:xfrm xmlns:a="http://schemas.openxmlformats.org/drawingml/2006/main">
            <a:off x="628650" y="3314700"/>
            <a:ext cx="1314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Hosted subject</a:t>
            </a:r>
          </a:p>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+Exact email</a:t>
            </a:r>
          </a:p>
        </p:txBody>
      </p:sp>
      <p:sp>
        <p:nvSpPr>
          <p:cNvPr id="10" name="">
            <a:extLst xmlns:a="http://schemas.openxmlformats.org/drawingml/2006/main">
              <a:ext uri="{FF2B5EF4-FFF2-40B4-BE49-F238E27FC236}">
                <a16:creationId xmlns:a16="http://schemas.microsoft.com/office/drawing/2014/main" id="{4F8EF39A-32C8-4749-8DDF-0ECD5CD3B882}"/>
              </a:ext>
            </a:extLst>
          </p:cNvPr>
          <p:cNvSpPr>
            <a:spLocks xmlns:a="http://schemas.openxmlformats.org/drawingml/2006/main" noGrp="1"/>
          </p:cNvSpPr>
          <p:nvPr/>
        </p:nvSpPr>
        <p:spPr>
          <a:xfrm xmlns:a="http://schemas.openxmlformats.org/drawingml/2006/main">
            <a:off x="2114550" y="3371850"/>
            <a:ext cx="28575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11" name="">
            <a:extLst xmlns:a="http://schemas.openxmlformats.org/drawingml/2006/main">
              <a:ext uri="{FF2B5EF4-FFF2-40B4-BE49-F238E27FC236}">
                <a16:creationId xmlns:a16="http://schemas.microsoft.com/office/drawing/2014/main" id="{AE7EE22F-599A-49D3-B6F1-2298D26D95CA}"/>
              </a:ext>
            </a:extLst>
          </p:cNvPr>
          <p:cNvSpPr>
            <a:spLocks xmlns:a="http://schemas.openxmlformats.org/drawingml/2006/main" noGrp="1"/>
          </p:cNvSpPr>
          <p:nvPr/>
        </p:nvSpPr>
        <p:spPr>
          <a:xfrm xmlns:a="http://schemas.openxmlformats.org/drawingml/2006/main">
            <a:off x="2333625" y="3324225"/>
            <a:ext cx="95250" cy="952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E264732-DDB1-4331-A0C7-F21BBE7B4C43}"/>
              </a:ext>
            </a:extLst>
          </p:cNvPr>
          <p:cNvSpPr>
            <a:spLocks xmlns:a="http://schemas.openxmlformats.org/drawingml/2006/main" noGrp="1"/>
          </p:cNvSpPr>
          <p:nvPr/>
        </p:nvSpPr>
        <p:spPr>
          <a:xfrm xmlns:a="http://schemas.openxmlformats.org/drawingml/2006/main">
            <a:off x="2400300" y="2409825"/>
            <a:ext cx="1657350" cy="19240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ED8D2"/>
            </a:solidFill>
          </a:ln>
        </p:spPr>
      </p:sp>
      <p:sp>
        <p:nvSpPr>
          <p:cNvPr id="13" name="">
            <a:extLst xmlns:a="http://schemas.openxmlformats.org/drawingml/2006/main">
              <a:ext uri="{FF2B5EF4-FFF2-40B4-BE49-F238E27FC236}">
                <a16:creationId xmlns:a16="http://schemas.microsoft.com/office/drawing/2014/main" id="{7A76CA27-2AC3-46C0-9C7D-730FAF50B5AE}"/>
              </a:ext>
            </a:extLst>
          </p:cNvPr>
          <p:cNvSpPr>
            <a:spLocks xmlns:a="http://schemas.openxmlformats.org/drawingml/2006/main" noGrp="1"/>
          </p:cNvSpPr>
          <p:nvPr/>
        </p:nvSpPr>
        <p:spPr>
          <a:xfrm xmlns:a="http://schemas.openxmlformats.org/drawingml/2006/main">
            <a:off x="2571750" y="257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E94B2A"/>
                </a:solidFill>
                <a:latin typeface="Helvetica Neue"/>
                <a:ea typeface="Helvetica Neue"/>
                <a:cs typeface="Helvetica Neue"/>
              </a:defRPr>
            </a:pPr>
            <a:r>
              <a:rPr sz="825" b="1">
                <a:solidFill>
                  <a:srgbClr val="E94B2A"/>
                </a:solidFill>
                <a:latin typeface="Helvetica Neue"/>
                <a:ea typeface="Helvetica Neue"/>
                <a:cs typeface="Helvetica Neue"/>
              </a:rPr>
              <a:t>02</a:t>
            </a:r>
          </a:p>
        </p:txBody>
      </p:sp>
      <p:sp>
        <p:nvSpPr>
          <p:cNvPr id="14" name="">
            <a:extLst xmlns:a="http://schemas.openxmlformats.org/drawingml/2006/main">
              <a:ext uri="{FF2B5EF4-FFF2-40B4-BE49-F238E27FC236}">
                <a16:creationId xmlns:a16="http://schemas.microsoft.com/office/drawing/2014/main" id="{EEEF288A-BA18-4E5E-AFB6-2C2482255771}"/>
              </a:ext>
            </a:extLst>
          </p:cNvPr>
          <p:cNvSpPr>
            <a:spLocks xmlns:a="http://schemas.openxmlformats.org/drawingml/2006/main" noGrp="1"/>
          </p:cNvSpPr>
          <p:nvPr/>
        </p:nvSpPr>
        <p:spPr>
          <a:xfrm xmlns:a="http://schemas.openxmlformats.org/drawingml/2006/main">
            <a:off x="2571750" y="2924175"/>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25152B"/>
                </a:solidFill>
                <a:latin typeface="Helvetica Neue"/>
                <a:ea typeface="Helvetica Neue"/>
                <a:cs typeface="Helvetica Neue"/>
              </a:defRPr>
            </a:pPr>
            <a:r>
              <a:rPr sz="1350" b="1">
                <a:solidFill>
                  <a:srgbClr val="25152B"/>
                </a:solidFill>
                <a:latin typeface="Helvetica Neue"/>
                <a:ea typeface="Helvetica Neue"/>
                <a:cs typeface="Helvetica Neue"/>
              </a:rPr>
              <a:t>Filter</a:t>
            </a:r>
          </a:p>
        </p:txBody>
      </p:sp>
      <p:sp>
        <p:nvSpPr>
          <p:cNvPr id="15" name="">
            <a:extLst xmlns:a="http://schemas.openxmlformats.org/drawingml/2006/main">
              <a:ext uri="{FF2B5EF4-FFF2-40B4-BE49-F238E27FC236}">
                <a16:creationId xmlns:a16="http://schemas.microsoft.com/office/drawing/2014/main" id="{610F1E31-29B9-4425-BF8D-72E592ABB259}"/>
              </a:ext>
            </a:extLst>
          </p:cNvPr>
          <p:cNvSpPr>
            <a:spLocks xmlns:a="http://schemas.openxmlformats.org/drawingml/2006/main" noGrp="1"/>
          </p:cNvSpPr>
          <p:nvPr/>
        </p:nvSpPr>
        <p:spPr>
          <a:xfrm xmlns:a="http://schemas.openxmlformats.org/drawingml/2006/main">
            <a:off x="2571750" y="3314700"/>
            <a:ext cx="1314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Readable records</a:t>
            </a:r>
          </a:p>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before ranking</a:t>
            </a:r>
          </a:p>
        </p:txBody>
      </p:sp>
      <p:sp>
        <p:nvSpPr>
          <p:cNvPr id="16" name="">
            <a:extLst xmlns:a="http://schemas.openxmlformats.org/drawingml/2006/main">
              <a:ext uri="{FF2B5EF4-FFF2-40B4-BE49-F238E27FC236}">
                <a16:creationId xmlns:a16="http://schemas.microsoft.com/office/drawing/2014/main" id="{D05C0776-3A0E-4993-8830-0EFE3FDC4013}"/>
              </a:ext>
            </a:extLst>
          </p:cNvPr>
          <p:cNvSpPr>
            <a:spLocks xmlns:a="http://schemas.openxmlformats.org/drawingml/2006/main" noGrp="1"/>
          </p:cNvSpPr>
          <p:nvPr/>
        </p:nvSpPr>
        <p:spPr>
          <a:xfrm xmlns:a="http://schemas.openxmlformats.org/drawingml/2006/main">
            <a:off x="4057650" y="3371850"/>
            <a:ext cx="28575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17" name="">
            <a:extLst xmlns:a="http://schemas.openxmlformats.org/drawingml/2006/main">
              <a:ext uri="{FF2B5EF4-FFF2-40B4-BE49-F238E27FC236}">
                <a16:creationId xmlns:a16="http://schemas.microsoft.com/office/drawing/2014/main" id="{977B51D6-0722-48C2-A0BA-ED41A63BC40E}"/>
              </a:ext>
            </a:extLst>
          </p:cNvPr>
          <p:cNvSpPr>
            <a:spLocks xmlns:a="http://schemas.openxmlformats.org/drawingml/2006/main" noGrp="1"/>
          </p:cNvSpPr>
          <p:nvPr/>
        </p:nvSpPr>
        <p:spPr>
          <a:xfrm xmlns:a="http://schemas.openxmlformats.org/drawingml/2006/main">
            <a:off x="4276725" y="3324225"/>
            <a:ext cx="95250" cy="952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EE9FAC8-9850-4945-9A6E-37FE21347A05}"/>
              </a:ext>
            </a:extLst>
          </p:cNvPr>
          <p:cNvSpPr>
            <a:spLocks xmlns:a="http://schemas.openxmlformats.org/drawingml/2006/main" noGrp="1"/>
          </p:cNvSpPr>
          <p:nvPr/>
        </p:nvSpPr>
        <p:spPr>
          <a:xfrm xmlns:a="http://schemas.openxmlformats.org/drawingml/2006/main">
            <a:off x="4343400" y="2409825"/>
            <a:ext cx="1657350" cy="19240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ED8D2"/>
            </a:solidFill>
          </a:ln>
        </p:spPr>
      </p:sp>
      <p:sp>
        <p:nvSpPr>
          <p:cNvPr id="19" name="">
            <a:extLst xmlns:a="http://schemas.openxmlformats.org/drawingml/2006/main">
              <a:ext uri="{FF2B5EF4-FFF2-40B4-BE49-F238E27FC236}">
                <a16:creationId xmlns:a16="http://schemas.microsoft.com/office/drawing/2014/main" id="{C00A3B14-A79B-49EB-9F04-D20C75F0C7FC}"/>
              </a:ext>
            </a:extLst>
          </p:cNvPr>
          <p:cNvSpPr>
            <a:spLocks xmlns:a="http://schemas.openxmlformats.org/drawingml/2006/main" noGrp="1"/>
          </p:cNvSpPr>
          <p:nvPr/>
        </p:nvSpPr>
        <p:spPr>
          <a:xfrm xmlns:a="http://schemas.openxmlformats.org/drawingml/2006/main">
            <a:off x="4514850" y="257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7657B3"/>
                </a:solidFill>
                <a:latin typeface="Helvetica Neue"/>
                <a:ea typeface="Helvetica Neue"/>
                <a:cs typeface="Helvetica Neue"/>
              </a:defRPr>
            </a:pPr>
            <a:r>
              <a:rPr sz="825" b="1">
                <a:solidFill>
                  <a:srgbClr val="7657B3"/>
                </a:solidFill>
                <a:latin typeface="Helvetica Neue"/>
                <a:ea typeface="Helvetica Neue"/>
                <a:cs typeface="Helvetica Neue"/>
              </a:rPr>
              <a:t>03</a:t>
            </a:r>
          </a:p>
        </p:txBody>
      </p:sp>
      <p:sp>
        <p:nvSpPr>
          <p:cNvPr id="20" name="">
            <a:extLst xmlns:a="http://schemas.openxmlformats.org/drawingml/2006/main">
              <a:ext uri="{FF2B5EF4-FFF2-40B4-BE49-F238E27FC236}">
                <a16:creationId xmlns:a16="http://schemas.microsoft.com/office/drawing/2014/main" id="{D1457FC6-268B-4430-AE7B-C7BE1D1C81B0}"/>
              </a:ext>
            </a:extLst>
          </p:cNvPr>
          <p:cNvSpPr>
            <a:spLocks xmlns:a="http://schemas.openxmlformats.org/drawingml/2006/main" noGrp="1"/>
          </p:cNvSpPr>
          <p:nvPr/>
        </p:nvSpPr>
        <p:spPr>
          <a:xfrm xmlns:a="http://schemas.openxmlformats.org/drawingml/2006/main">
            <a:off x="4514850" y="2924175"/>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25152B"/>
                </a:solidFill>
                <a:latin typeface="Helvetica Neue"/>
                <a:ea typeface="Helvetica Neue"/>
                <a:cs typeface="Helvetica Neue"/>
              </a:defRPr>
            </a:pPr>
            <a:r>
              <a:rPr sz="1350" b="1">
                <a:solidFill>
                  <a:srgbClr val="25152B"/>
                </a:solidFill>
                <a:latin typeface="Helvetica Neue"/>
                <a:ea typeface="Helvetica Neue"/>
                <a:cs typeface="Helvetica Neue"/>
              </a:rPr>
              <a:t>Retrieve</a:t>
            </a:r>
          </a:p>
        </p:txBody>
      </p:sp>
      <p:sp>
        <p:nvSpPr>
          <p:cNvPr id="21" name="">
            <a:extLst xmlns:a="http://schemas.openxmlformats.org/drawingml/2006/main">
              <a:ext uri="{FF2B5EF4-FFF2-40B4-BE49-F238E27FC236}">
                <a16:creationId xmlns:a16="http://schemas.microsoft.com/office/drawing/2014/main" id="{EA049C7C-941A-48CA-B817-10276A8FE2C2}"/>
              </a:ext>
            </a:extLst>
          </p:cNvPr>
          <p:cNvSpPr>
            <a:spLocks xmlns:a="http://schemas.openxmlformats.org/drawingml/2006/main" noGrp="1"/>
          </p:cNvSpPr>
          <p:nvPr/>
        </p:nvSpPr>
        <p:spPr>
          <a:xfrm xmlns:a="http://schemas.openxmlformats.org/drawingml/2006/main">
            <a:off x="4514850" y="3314700"/>
            <a:ext cx="1314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Lexical baseline</a:t>
            </a:r>
          </a:p>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+Bounded corpus</a:t>
            </a:r>
          </a:p>
        </p:txBody>
      </p:sp>
      <p:sp>
        <p:nvSpPr>
          <p:cNvPr id="22" name="">
            <a:extLst xmlns:a="http://schemas.openxmlformats.org/drawingml/2006/main">
              <a:ext uri="{FF2B5EF4-FFF2-40B4-BE49-F238E27FC236}">
                <a16:creationId xmlns:a16="http://schemas.microsoft.com/office/drawing/2014/main" id="{FF389AC1-D800-4460-A49B-B19C545DCAAD}"/>
              </a:ext>
            </a:extLst>
          </p:cNvPr>
          <p:cNvSpPr>
            <a:spLocks xmlns:a="http://schemas.openxmlformats.org/drawingml/2006/main" noGrp="1"/>
          </p:cNvSpPr>
          <p:nvPr/>
        </p:nvSpPr>
        <p:spPr>
          <a:xfrm xmlns:a="http://schemas.openxmlformats.org/drawingml/2006/main">
            <a:off x="6000750" y="3371850"/>
            <a:ext cx="28575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23" name="">
            <a:extLst xmlns:a="http://schemas.openxmlformats.org/drawingml/2006/main">
              <a:ext uri="{FF2B5EF4-FFF2-40B4-BE49-F238E27FC236}">
                <a16:creationId xmlns:a16="http://schemas.microsoft.com/office/drawing/2014/main" id="{9D51F91F-145F-467F-BD31-B34134FDE914}"/>
              </a:ext>
            </a:extLst>
          </p:cNvPr>
          <p:cNvSpPr>
            <a:spLocks xmlns:a="http://schemas.openxmlformats.org/drawingml/2006/main" noGrp="1"/>
          </p:cNvSpPr>
          <p:nvPr/>
        </p:nvSpPr>
        <p:spPr>
          <a:xfrm xmlns:a="http://schemas.openxmlformats.org/drawingml/2006/main">
            <a:off x="6219825" y="3324225"/>
            <a:ext cx="95250" cy="952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ED75D2BF-11D1-46B6-8695-BEAD99B37A29}"/>
              </a:ext>
            </a:extLst>
          </p:cNvPr>
          <p:cNvSpPr>
            <a:spLocks xmlns:a="http://schemas.openxmlformats.org/drawingml/2006/main" noGrp="1"/>
          </p:cNvSpPr>
          <p:nvPr/>
        </p:nvSpPr>
        <p:spPr>
          <a:xfrm xmlns:a="http://schemas.openxmlformats.org/drawingml/2006/main">
            <a:off x="6286500" y="2409825"/>
            <a:ext cx="1657350" cy="19240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ED8D2"/>
            </a:solidFill>
          </a:ln>
        </p:spPr>
      </p:sp>
      <p:sp>
        <p:nvSpPr>
          <p:cNvPr id="25" name="">
            <a:extLst xmlns:a="http://schemas.openxmlformats.org/drawingml/2006/main">
              <a:ext uri="{FF2B5EF4-FFF2-40B4-BE49-F238E27FC236}">
                <a16:creationId xmlns:a16="http://schemas.microsoft.com/office/drawing/2014/main" id="{10D80F45-CEA7-4A43-AC65-A2436F84F440}"/>
              </a:ext>
            </a:extLst>
          </p:cNvPr>
          <p:cNvSpPr>
            <a:spLocks xmlns:a="http://schemas.openxmlformats.org/drawingml/2006/main" noGrp="1"/>
          </p:cNvSpPr>
          <p:nvPr/>
        </p:nvSpPr>
        <p:spPr>
          <a:xfrm xmlns:a="http://schemas.openxmlformats.org/drawingml/2006/main">
            <a:off x="6457950" y="257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7657B3"/>
                </a:solidFill>
                <a:latin typeface="Helvetica Neue"/>
                <a:ea typeface="Helvetica Neue"/>
                <a:cs typeface="Helvetica Neue"/>
              </a:defRPr>
            </a:pPr>
            <a:r>
              <a:rPr sz="825" b="1">
                <a:solidFill>
                  <a:srgbClr val="7657B3"/>
                </a:solidFill>
                <a:latin typeface="Helvetica Neue"/>
                <a:ea typeface="Helvetica Neue"/>
                <a:cs typeface="Helvetica Neue"/>
              </a:rPr>
              <a:t>04</a:t>
            </a:r>
          </a:p>
        </p:txBody>
      </p:sp>
      <p:sp>
        <p:nvSpPr>
          <p:cNvPr id="26" name="">
            <a:extLst xmlns:a="http://schemas.openxmlformats.org/drawingml/2006/main">
              <a:ext uri="{FF2B5EF4-FFF2-40B4-BE49-F238E27FC236}">
                <a16:creationId xmlns:a16="http://schemas.microsoft.com/office/drawing/2014/main" id="{4A5405C0-12A7-4D46-A695-ACB24E57A941}"/>
              </a:ext>
            </a:extLst>
          </p:cNvPr>
          <p:cNvSpPr>
            <a:spLocks xmlns:a="http://schemas.openxmlformats.org/drawingml/2006/main" noGrp="1"/>
          </p:cNvSpPr>
          <p:nvPr/>
        </p:nvSpPr>
        <p:spPr>
          <a:xfrm xmlns:a="http://schemas.openxmlformats.org/drawingml/2006/main">
            <a:off x="6457950" y="2924175"/>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25152B"/>
                </a:solidFill>
                <a:latin typeface="Helvetica Neue"/>
                <a:ea typeface="Helvetica Neue"/>
                <a:cs typeface="Helvetica Neue"/>
              </a:defRPr>
            </a:pPr>
            <a:r>
              <a:rPr sz="1350" b="1">
                <a:solidFill>
                  <a:srgbClr val="25152B"/>
                </a:solidFill>
                <a:latin typeface="Helvetica Neue"/>
                <a:ea typeface="Helvetica Neue"/>
                <a:cs typeface="Helvetica Neue"/>
              </a:rPr>
              <a:t>Answer</a:t>
            </a:r>
          </a:p>
        </p:txBody>
      </p:sp>
      <p:sp>
        <p:nvSpPr>
          <p:cNvPr id="27" name="">
            <a:extLst xmlns:a="http://schemas.openxmlformats.org/drawingml/2006/main">
              <a:ext uri="{FF2B5EF4-FFF2-40B4-BE49-F238E27FC236}">
                <a16:creationId xmlns:a16="http://schemas.microsoft.com/office/drawing/2014/main" id="{2EEF0E69-9E4E-48E4-907D-81A50FEA5E25}"/>
              </a:ext>
            </a:extLst>
          </p:cNvPr>
          <p:cNvSpPr>
            <a:spLocks xmlns:a="http://schemas.openxmlformats.org/drawingml/2006/main" noGrp="1"/>
          </p:cNvSpPr>
          <p:nvPr/>
        </p:nvSpPr>
        <p:spPr>
          <a:xfrm xmlns:a="http://schemas.openxmlformats.org/drawingml/2006/main">
            <a:off x="6457950" y="3314700"/>
            <a:ext cx="1314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Typed brief</a:t>
            </a:r>
          </a:p>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+Claim citations</a:t>
            </a:r>
          </a:p>
        </p:txBody>
      </p:sp>
      <p:sp>
        <p:nvSpPr>
          <p:cNvPr id="28" name="">
            <a:extLst xmlns:a="http://schemas.openxmlformats.org/drawingml/2006/main">
              <a:ext uri="{FF2B5EF4-FFF2-40B4-BE49-F238E27FC236}">
                <a16:creationId xmlns:a16="http://schemas.microsoft.com/office/drawing/2014/main" id="{BE0CCC3B-8798-4912-A3BD-9AF83AE1089A}"/>
              </a:ext>
            </a:extLst>
          </p:cNvPr>
          <p:cNvSpPr>
            <a:spLocks xmlns:a="http://schemas.openxmlformats.org/drawingml/2006/main" noGrp="1"/>
          </p:cNvSpPr>
          <p:nvPr/>
        </p:nvSpPr>
        <p:spPr>
          <a:xfrm xmlns:a="http://schemas.openxmlformats.org/drawingml/2006/main">
            <a:off x="7943850" y="3371850"/>
            <a:ext cx="28575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29" name="">
            <a:extLst xmlns:a="http://schemas.openxmlformats.org/drawingml/2006/main">
              <a:ext uri="{FF2B5EF4-FFF2-40B4-BE49-F238E27FC236}">
                <a16:creationId xmlns:a16="http://schemas.microsoft.com/office/drawing/2014/main" id="{F57D46AE-79F8-4C7C-92C3-EF452D7492E1}"/>
              </a:ext>
            </a:extLst>
          </p:cNvPr>
          <p:cNvSpPr>
            <a:spLocks xmlns:a="http://schemas.openxmlformats.org/drawingml/2006/main" noGrp="1"/>
          </p:cNvSpPr>
          <p:nvPr/>
        </p:nvSpPr>
        <p:spPr>
          <a:xfrm xmlns:a="http://schemas.openxmlformats.org/drawingml/2006/main">
            <a:off x="8162925" y="3324225"/>
            <a:ext cx="95250" cy="952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5F2FF72D-39D7-4D60-AE3A-F552E8646A6E}"/>
              </a:ext>
            </a:extLst>
          </p:cNvPr>
          <p:cNvSpPr>
            <a:spLocks xmlns:a="http://schemas.openxmlformats.org/drawingml/2006/main" noGrp="1"/>
          </p:cNvSpPr>
          <p:nvPr/>
        </p:nvSpPr>
        <p:spPr>
          <a:xfrm xmlns:a="http://schemas.openxmlformats.org/drawingml/2006/main">
            <a:off x="8229600" y="2409825"/>
            <a:ext cx="1657350" cy="19240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ED8D2"/>
            </a:solidFill>
          </a:ln>
        </p:spPr>
      </p:sp>
      <p:sp>
        <p:nvSpPr>
          <p:cNvPr id="31" name="">
            <a:extLst xmlns:a="http://schemas.openxmlformats.org/drawingml/2006/main">
              <a:ext uri="{FF2B5EF4-FFF2-40B4-BE49-F238E27FC236}">
                <a16:creationId xmlns:a16="http://schemas.microsoft.com/office/drawing/2014/main" id="{3A891B9A-0A15-4B32-B63B-E6DB4CA03667}"/>
              </a:ext>
            </a:extLst>
          </p:cNvPr>
          <p:cNvSpPr>
            <a:spLocks xmlns:a="http://schemas.openxmlformats.org/drawingml/2006/main" noGrp="1"/>
          </p:cNvSpPr>
          <p:nvPr/>
        </p:nvSpPr>
        <p:spPr>
          <a:xfrm xmlns:a="http://schemas.openxmlformats.org/drawingml/2006/main">
            <a:off x="8401050" y="257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2F8A5D"/>
                </a:solidFill>
                <a:latin typeface="Helvetica Neue"/>
                <a:ea typeface="Helvetica Neue"/>
                <a:cs typeface="Helvetica Neue"/>
              </a:defRPr>
            </a:pPr>
            <a:r>
              <a:rPr sz="825" b="1">
                <a:solidFill>
                  <a:srgbClr val="2F8A5D"/>
                </a:solidFill>
                <a:latin typeface="Helvetica Neue"/>
                <a:ea typeface="Helvetica Neue"/>
                <a:cs typeface="Helvetica Neue"/>
              </a:rPr>
              <a:t>05</a:t>
            </a:r>
          </a:p>
        </p:txBody>
      </p:sp>
      <p:sp>
        <p:nvSpPr>
          <p:cNvPr id="32" name="">
            <a:extLst xmlns:a="http://schemas.openxmlformats.org/drawingml/2006/main">
              <a:ext uri="{FF2B5EF4-FFF2-40B4-BE49-F238E27FC236}">
                <a16:creationId xmlns:a16="http://schemas.microsoft.com/office/drawing/2014/main" id="{E741F8EA-145F-4644-8A12-300141676896}"/>
              </a:ext>
            </a:extLst>
          </p:cNvPr>
          <p:cNvSpPr>
            <a:spLocks xmlns:a="http://schemas.openxmlformats.org/drawingml/2006/main" noGrp="1"/>
          </p:cNvSpPr>
          <p:nvPr/>
        </p:nvSpPr>
        <p:spPr>
          <a:xfrm xmlns:a="http://schemas.openxmlformats.org/drawingml/2006/main">
            <a:off x="8401050" y="2924175"/>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25152B"/>
                </a:solidFill>
                <a:latin typeface="Helvetica Neue"/>
                <a:ea typeface="Helvetica Neue"/>
                <a:cs typeface="Helvetica Neue"/>
              </a:defRPr>
            </a:pPr>
            <a:r>
              <a:rPr sz="1350" b="1">
                <a:solidFill>
                  <a:srgbClr val="25152B"/>
                </a:solidFill>
                <a:latin typeface="Helvetica Neue"/>
                <a:ea typeface="Helvetica Neue"/>
                <a:cs typeface="Helvetica Neue"/>
              </a:rPr>
              <a:t>Persist</a:t>
            </a:r>
          </a:p>
        </p:txBody>
      </p:sp>
      <p:sp>
        <p:nvSpPr>
          <p:cNvPr id="33" name="">
            <a:extLst xmlns:a="http://schemas.openxmlformats.org/drawingml/2006/main">
              <a:ext uri="{FF2B5EF4-FFF2-40B4-BE49-F238E27FC236}">
                <a16:creationId xmlns:a16="http://schemas.microsoft.com/office/drawing/2014/main" id="{85F6B992-B404-4ADA-BE58-0AAFB5556802}"/>
              </a:ext>
            </a:extLst>
          </p:cNvPr>
          <p:cNvSpPr>
            <a:spLocks xmlns:a="http://schemas.openxmlformats.org/drawingml/2006/main" noGrp="1"/>
          </p:cNvSpPr>
          <p:nvPr/>
        </p:nvSpPr>
        <p:spPr>
          <a:xfrm xmlns:a="http://schemas.openxmlformats.org/drawingml/2006/main">
            <a:off x="8401050" y="3314700"/>
            <a:ext cx="1314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D1 feedback</a:t>
            </a:r>
          </a:p>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+Audit events</a:t>
            </a:r>
          </a:p>
        </p:txBody>
      </p:sp>
      <p:sp>
        <p:nvSpPr>
          <p:cNvPr id="34" name="">
            <a:extLst xmlns:a="http://schemas.openxmlformats.org/drawingml/2006/main">
              <a:ext uri="{FF2B5EF4-FFF2-40B4-BE49-F238E27FC236}">
                <a16:creationId xmlns:a16="http://schemas.microsoft.com/office/drawing/2014/main" id="{1C30A3F1-D3D5-46AE-95D4-F936EFDF862A}"/>
              </a:ext>
            </a:extLst>
          </p:cNvPr>
          <p:cNvSpPr>
            <a:spLocks xmlns:a="http://schemas.openxmlformats.org/drawingml/2006/main" noGrp="1"/>
          </p:cNvSpPr>
          <p:nvPr/>
        </p:nvSpPr>
        <p:spPr>
          <a:xfrm xmlns:a="http://schemas.openxmlformats.org/drawingml/2006/main">
            <a:off x="9886950" y="3371850"/>
            <a:ext cx="28575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35" name="">
            <a:extLst xmlns:a="http://schemas.openxmlformats.org/drawingml/2006/main">
              <a:ext uri="{FF2B5EF4-FFF2-40B4-BE49-F238E27FC236}">
                <a16:creationId xmlns:a16="http://schemas.microsoft.com/office/drawing/2014/main" id="{6D68D010-BD19-4AFB-BF90-20204E652887}"/>
              </a:ext>
            </a:extLst>
          </p:cNvPr>
          <p:cNvSpPr>
            <a:spLocks xmlns:a="http://schemas.openxmlformats.org/drawingml/2006/main" noGrp="1"/>
          </p:cNvSpPr>
          <p:nvPr/>
        </p:nvSpPr>
        <p:spPr>
          <a:xfrm xmlns:a="http://schemas.openxmlformats.org/drawingml/2006/main">
            <a:off x="10106025" y="3324225"/>
            <a:ext cx="95250" cy="952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DC94F51C-18CB-45C4-873C-15023E0D839A}"/>
              </a:ext>
            </a:extLst>
          </p:cNvPr>
          <p:cNvSpPr>
            <a:spLocks xmlns:a="http://schemas.openxmlformats.org/drawingml/2006/main" noGrp="1"/>
          </p:cNvSpPr>
          <p:nvPr/>
        </p:nvSpPr>
        <p:spPr>
          <a:xfrm xmlns:a="http://schemas.openxmlformats.org/drawingml/2006/main">
            <a:off x="10172700" y="2409825"/>
            <a:ext cx="1657350" cy="19240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ED8D2"/>
            </a:solidFill>
          </a:ln>
        </p:spPr>
      </p:sp>
      <p:sp>
        <p:nvSpPr>
          <p:cNvPr id="37" name="">
            <a:extLst xmlns:a="http://schemas.openxmlformats.org/drawingml/2006/main">
              <a:ext uri="{FF2B5EF4-FFF2-40B4-BE49-F238E27FC236}">
                <a16:creationId xmlns:a16="http://schemas.microsoft.com/office/drawing/2014/main" id="{5E362771-5329-4A10-BBB4-21D13CF089E9}"/>
              </a:ext>
            </a:extLst>
          </p:cNvPr>
          <p:cNvSpPr>
            <a:spLocks xmlns:a="http://schemas.openxmlformats.org/drawingml/2006/main" noGrp="1"/>
          </p:cNvSpPr>
          <p:nvPr/>
        </p:nvSpPr>
        <p:spPr>
          <a:xfrm xmlns:a="http://schemas.openxmlformats.org/drawingml/2006/main">
            <a:off x="10344150" y="257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2F8A5D"/>
                </a:solidFill>
                <a:latin typeface="Helvetica Neue"/>
                <a:ea typeface="Helvetica Neue"/>
                <a:cs typeface="Helvetica Neue"/>
              </a:defRPr>
            </a:pPr>
            <a:r>
              <a:rPr sz="825" b="1">
                <a:solidFill>
                  <a:srgbClr val="2F8A5D"/>
                </a:solidFill>
                <a:latin typeface="Helvetica Neue"/>
                <a:ea typeface="Helvetica Neue"/>
                <a:cs typeface="Helvetica Neue"/>
              </a:rPr>
              <a:t>06</a:t>
            </a:r>
          </a:p>
        </p:txBody>
      </p:sp>
      <p:sp>
        <p:nvSpPr>
          <p:cNvPr id="38" name="">
            <a:extLst xmlns:a="http://schemas.openxmlformats.org/drawingml/2006/main">
              <a:ext uri="{FF2B5EF4-FFF2-40B4-BE49-F238E27FC236}">
                <a16:creationId xmlns:a16="http://schemas.microsoft.com/office/drawing/2014/main" id="{EE1D229D-FD39-4859-A015-751C6D47CE45}"/>
              </a:ext>
            </a:extLst>
          </p:cNvPr>
          <p:cNvSpPr>
            <a:spLocks xmlns:a="http://schemas.openxmlformats.org/drawingml/2006/main" noGrp="1"/>
          </p:cNvSpPr>
          <p:nvPr/>
        </p:nvSpPr>
        <p:spPr>
          <a:xfrm xmlns:a="http://schemas.openxmlformats.org/drawingml/2006/main">
            <a:off x="10344150" y="2924175"/>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25152B"/>
                </a:solidFill>
                <a:latin typeface="Helvetica Neue"/>
                <a:ea typeface="Helvetica Neue"/>
                <a:cs typeface="Helvetica Neue"/>
              </a:defRPr>
            </a:pPr>
            <a:r>
              <a:rPr sz="1350" b="1">
                <a:solidFill>
                  <a:srgbClr val="25152B"/>
                </a:solidFill>
                <a:latin typeface="Helvetica Neue"/>
                <a:ea typeface="Helvetica Neue"/>
                <a:cs typeface="Helvetica Neue"/>
              </a:rPr>
              <a:t>Evaluate</a:t>
            </a:r>
          </a:p>
        </p:txBody>
      </p:sp>
      <p:sp>
        <p:nvSpPr>
          <p:cNvPr id="39" name="">
            <a:extLst xmlns:a="http://schemas.openxmlformats.org/drawingml/2006/main">
              <a:ext uri="{FF2B5EF4-FFF2-40B4-BE49-F238E27FC236}">
                <a16:creationId xmlns:a16="http://schemas.microsoft.com/office/drawing/2014/main" id="{8BAB0B81-9862-40DB-995C-9AABFF28AF5F}"/>
              </a:ext>
            </a:extLst>
          </p:cNvPr>
          <p:cNvSpPr>
            <a:spLocks xmlns:a="http://schemas.openxmlformats.org/drawingml/2006/main" noGrp="1"/>
          </p:cNvSpPr>
          <p:nvPr/>
        </p:nvSpPr>
        <p:spPr>
          <a:xfrm xmlns:a="http://schemas.openxmlformats.org/drawingml/2006/main">
            <a:off x="10344150" y="3314700"/>
            <a:ext cx="1314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Security tests</a:t>
            </a:r>
          </a:p>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+Gold questions</a:t>
            </a:r>
          </a:p>
        </p:txBody>
      </p:sp>
      <p:sp>
        <p:nvSpPr>
          <p:cNvPr id="40" name="">
            <a:extLst xmlns:a="http://schemas.openxmlformats.org/drawingml/2006/main">
              <a:ext uri="{FF2B5EF4-FFF2-40B4-BE49-F238E27FC236}">
                <a16:creationId xmlns:a16="http://schemas.microsoft.com/office/drawing/2014/main" id="{D1AD552A-15B9-40E0-80E1-D00BD6B90606}"/>
              </a:ext>
            </a:extLst>
          </p:cNvPr>
          <p:cNvSpPr>
            <a:spLocks xmlns:a="http://schemas.openxmlformats.org/drawingml/2006/main" noGrp="1"/>
          </p:cNvSpPr>
          <p:nvPr/>
        </p:nvSpPr>
        <p:spPr>
          <a:xfrm xmlns:a="http://schemas.openxmlformats.org/drawingml/2006/main">
            <a:off x="666750" y="469582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API routes</a:t>
            </a:r>
          </a:p>
        </p:txBody>
      </p:sp>
      <p:sp>
        <p:nvSpPr>
          <p:cNvPr id="41" name="">
            <a:extLst xmlns:a="http://schemas.openxmlformats.org/drawingml/2006/main">
              <a:ext uri="{FF2B5EF4-FFF2-40B4-BE49-F238E27FC236}">
                <a16:creationId xmlns:a16="http://schemas.microsoft.com/office/drawing/2014/main" id="{19AFB694-A546-4635-8620-5F844859C8D4}"/>
              </a:ext>
            </a:extLst>
          </p:cNvPr>
          <p:cNvSpPr>
            <a:spLocks xmlns:a="http://schemas.openxmlformats.org/drawingml/2006/main" noGrp="1"/>
          </p:cNvSpPr>
          <p:nvPr/>
        </p:nvSpPr>
        <p:spPr>
          <a:xfrm xmlns:a="http://schemas.openxmlformats.org/drawingml/2006/main">
            <a:off x="666750" y="494347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4</a:t>
            </a:r>
          </a:p>
        </p:txBody>
      </p:sp>
      <p:sp>
        <p:nvSpPr>
          <p:cNvPr id="42" name="">
            <a:extLst xmlns:a="http://schemas.openxmlformats.org/drawingml/2006/main">
              <a:ext uri="{FF2B5EF4-FFF2-40B4-BE49-F238E27FC236}">
                <a16:creationId xmlns:a16="http://schemas.microsoft.com/office/drawing/2014/main" id="{1FFA309B-6418-4527-8EC6-1585B93C47B2}"/>
              </a:ext>
            </a:extLst>
          </p:cNvPr>
          <p:cNvSpPr>
            <a:spLocks xmlns:a="http://schemas.openxmlformats.org/drawingml/2006/main" noGrp="1"/>
          </p:cNvSpPr>
          <p:nvPr/>
        </p:nvSpPr>
        <p:spPr>
          <a:xfrm xmlns:a="http://schemas.openxmlformats.org/drawingml/2006/main">
            <a:off x="2724150" y="469582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D1 tables</a:t>
            </a:r>
          </a:p>
        </p:txBody>
      </p:sp>
      <p:sp>
        <p:nvSpPr>
          <p:cNvPr id="43" name="">
            <a:extLst xmlns:a="http://schemas.openxmlformats.org/drawingml/2006/main">
              <a:ext uri="{FF2B5EF4-FFF2-40B4-BE49-F238E27FC236}">
                <a16:creationId xmlns:a16="http://schemas.microsoft.com/office/drawing/2014/main" id="{8C04A18C-4B49-4297-9D22-34B42A16CA9B}"/>
              </a:ext>
            </a:extLst>
          </p:cNvPr>
          <p:cNvSpPr>
            <a:spLocks xmlns:a="http://schemas.openxmlformats.org/drawingml/2006/main" noGrp="1"/>
          </p:cNvSpPr>
          <p:nvPr/>
        </p:nvSpPr>
        <p:spPr>
          <a:xfrm xmlns:a="http://schemas.openxmlformats.org/drawingml/2006/main">
            <a:off x="2724150" y="494347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4</a:t>
            </a:r>
          </a:p>
        </p:txBody>
      </p:sp>
      <p:sp>
        <p:nvSpPr>
          <p:cNvPr id="44" name="">
            <a:extLst xmlns:a="http://schemas.openxmlformats.org/drawingml/2006/main">
              <a:ext uri="{FF2B5EF4-FFF2-40B4-BE49-F238E27FC236}">
                <a16:creationId xmlns:a16="http://schemas.microsoft.com/office/drawing/2014/main" id="{02553402-F1E5-4514-9708-8414184D1D51}"/>
              </a:ext>
            </a:extLst>
          </p:cNvPr>
          <p:cNvSpPr>
            <a:spLocks xmlns:a="http://schemas.openxmlformats.org/drawingml/2006/main" noGrp="1"/>
          </p:cNvSpPr>
          <p:nvPr/>
        </p:nvSpPr>
        <p:spPr>
          <a:xfrm xmlns:a="http://schemas.openxmlformats.org/drawingml/2006/main">
            <a:off x="4781550" y="469582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Automated checks</a:t>
            </a:r>
          </a:p>
        </p:txBody>
      </p:sp>
      <p:sp>
        <p:nvSpPr>
          <p:cNvPr id="45" name="">
            <a:extLst xmlns:a="http://schemas.openxmlformats.org/drawingml/2006/main">
              <a:ext uri="{FF2B5EF4-FFF2-40B4-BE49-F238E27FC236}">
                <a16:creationId xmlns:a16="http://schemas.microsoft.com/office/drawing/2014/main" id="{50C57873-CC61-4DEB-8561-5DD10BD316F2}"/>
              </a:ext>
            </a:extLst>
          </p:cNvPr>
          <p:cNvSpPr>
            <a:spLocks xmlns:a="http://schemas.openxmlformats.org/drawingml/2006/main" noGrp="1"/>
          </p:cNvSpPr>
          <p:nvPr/>
        </p:nvSpPr>
        <p:spPr>
          <a:xfrm xmlns:a="http://schemas.openxmlformats.org/drawingml/2006/main">
            <a:off x="4781550" y="494347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9</a:t>
            </a:r>
          </a:p>
        </p:txBody>
      </p:sp>
      <p:sp>
        <p:nvSpPr>
          <p:cNvPr id="46" name="">
            <a:extLst xmlns:a="http://schemas.openxmlformats.org/drawingml/2006/main">
              <a:ext uri="{FF2B5EF4-FFF2-40B4-BE49-F238E27FC236}">
                <a16:creationId xmlns:a16="http://schemas.microsoft.com/office/drawing/2014/main" id="{5EDC5DA3-EB6A-4BB2-BB16-E1D663CF5BA8}"/>
              </a:ext>
            </a:extLst>
          </p:cNvPr>
          <p:cNvSpPr>
            <a:spLocks xmlns:a="http://schemas.openxmlformats.org/drawingml/2006/main" noGrp="1"/>
          </p:cNvSpPr>
          <p:nvPr/>
        </p:nvSpPr>
        <p:spPr>
          <a:xfrm xmlns:a="http://schemas.openxmlformats.org/drawingml/2006/main">
            <a:off x="6838950" y="469582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Corpus</a:t>
            </a:r>
          </a:p>
        </p:txBody>
      </p:sp>
      <p:sp>
        <p:nvSpPr>
          <p:cNvPr id="47" name="">
            <a:extLst xmlns:a="http://schemas.openxmlformats.org/drawingml/2006/main">
              <a:ext uri="{FF2B5EF4-FFF2-40B4-BE49-F238E27FC236}">
                <a16:creationId xmlns:a16="http://schemas.microsoft.com/office/drawing/2014/main" id="{2E2FCDAF-17D7-4A8D-89F6-F5BF8A96A998}"/>
              </a:ext>
            </a:extLst>
          </p:cNvPr>
          <p:cNvSpPr>
            <a:spLocks xmlns:a="http://schemas.openxmlformats.org/drawingml/2006/main" noGrp="1"/>
          </p:cNvSpPr>
          <p:nvPr/>
        </p:nvSpPr>
        <p:spPr>
          <a:xfrm xmlns:a="http://schemas.openxmlformats.org/drawingml/2006/main">
            <a:off x="6838950" y="494347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Fictional</a:t>
            </a:r>
          </a:p>
        </p:txBody>
      </p:sp>
      <p:sp>
        <p:nvSpPr>
          <p:cNvPr id="48" name="">
            <a:extLst xmlns:a="http://schemas.openxmlformats.org/drawingml/2006/main">
              <a:ext uri="{FF2B5EF4-FFF2-40B4-BE49-F238E27FC236}">
                <a16:creationId xmlns:a16="http://schemas.microsoft.com/office/drawing/2014/main" id="{686C506E-0873-434B-9853-C47C3D12137B}"/>
              </a:ext>
            </a:extLst>
          </p:cNvPr>
          <p:cNvSpPr>
            <a:spLocks xmlns:a="http://schemas.openxmlformats.org/drawingml/2006/main" noGrp="1"/>
          </p:cNvSpPr>
          <p:nvPr/>
        </p:nvSpPr>
        <p:spPr>
          <a:xfrm xmlns:a="http://schemas.openxmlformats.org/drawingml/2006/main">
            <a:off x="8896350" y="469582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Source writes</a:t>
            </a:r>
          </a:p>
        </p:txBody>
      </p:sp>
      <p:sp>
        <p:nvSpPr>
          <p:cNvPr id="49" name="">
            <a:extLst xmlns:a="http://schemas.openxmlformats.org/drawingml/2006/main">
              <a:ext uri="{FF2B5EF4-FFF2-40B4-BE49-F238E27FC236}">
                <a16:creationId xmlns:a16="http://schemas.microsoft.com/office/drawing/2014/main" id="{9C85D47F-C904-4240-9632-C1DDBCC843EB}"/>
              </a:ext>
            </a:extLst>
          </p:cNvPr>
          <p:cNvSpPr>
            <a:spLocks xmlns:a="http://schemas.openxmlformats.org/drawingml/2006/main" noGrp="1"/>
          </p:cNvSpPr>
          <p:nvPr/>
        </p:nvSpPr>
        <p:spPr>
          <a:xfrm xmlns:a="http://schemas.openxmlformats.org/drawingml/2006/main">
            <a:off x="8896350" y="494347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None</a:t>
            </a:r>
          </a:p>
        </p:txBody>
      </p:sp>
      <p:sp>
        <p:nvSpPr>
          <p:cNvPr id="50" name="">
            <a:extLst xmlns:a="http://schemas.openxmlformats.org/drawingml/2006/main">
              <a:ext uri="{FF2B5EF4-FFF2-40B4-BE49-F238E27FC236}">
                <a16:creationId xmlns:a16="http://schemas.microsoft.com/office/drawing/2014/main" id="{4DD49343-071C-486F-A1F7-B8334C7C066B}"/>
              </a:ext>
            </a:extLst>
          </p:cNvPr>
          <p:cNvSpPr>
            <a:spLocks xmlns:a="http://schemas.openxmlformats.org/drawingml/2006/main" noGrp="1"/>
          </p:cNvSpPr>
          <p:nvPr/>
        </p:nvSpPr>
        <p:spPr>
          <a:xfrm xmlns:a="http://schemas.openxmlformats.org/drawingml/2006/main">
            <a:off x="666750" y="5429250"/>
            <a:ext cx="10858500" cy="476250"/>
          </a:xfrm>
          <a:prstGeom xmlns:a="http://schemas.openxmlformats.org/drawingml/2006/main" prst="roundRect">
            <a:avLst>
              <a:gd name="adj" fmla="val 28000"/>
            </a:avLst>
          </a:prstGeom>
          <a:solidFill xmlns:a="http://schemas.openxmlformats.org/drawingml/2006/main">
            <a:srgbClr val="F0EBF7"/>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72BB1405-A195-47BB-AD6A-D534169F67C0}"/>
              </a:ext>
            </a:extLst>
          </p:cNvPr>
          <p:cNvSpPr>
            <a:spLocks xmlns:a="http://schemas.openxmlformats.org/drawingml/2006/main" noGrp="1"/>
          </p:cNvSpPr>
          <p:nvPr/>
        </p:nvSpPr>
        <p:spPr>
          <a:xfrm xmlns:a="http://schemas.openxmlformats.org/drawingml/2006/main">
            <a:off x="876300" y="5524500"/>
            <a:ext cx="10439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7657B3"/>
                </a:solidFill>
                <a:latin typeface="Helvetica Neue"/>
                <a:ea typeface="Helvetica Neue"/>
                <a:cs typeface="Helvetica Neue"/>
              </a:defRPr>
            </a:pPr>
            <a:r>
              <a:rPr sz="1125" b="1">
                <a:solidFill>
                  <a:srgbClr val="7657B3"/>
                </a:solidFill>
                <a:latin typeface="Helvetica Neue"/>
                <a:ea typeface="Helvetica Neue"/>
                <a:cs typeface="Helvetica Neue"/>
              </a:rPr>
              <a:t>Production connectors replace the fixtures without changing the answer, policy, or review contracts.</a:t>
            </a:r>
          </a:p>
        </p:txBody>
      </p:sp>
    </p:spTree>
    <p:extLst>
      <p:ext uri="{BB962C8B-B14F-4D97-AF65-F5344CB8AC3E}">
        <p14:creationId xmlns:p14="http://schemas.microsoft.com/office/powerpoint/2010/main" val="1504119081"/>
      </p:ext>
    </p:extLst>
  </p:cSld>
</p:sld>
</file>

<file path=ppt/slides/slide6.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3090F0B9-788B-48C0-B1BE-AA661FB4B67D}"/>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TRUST AND PERMISSIONS</a:t>
            </a:r>
          </a:p>
        </p:txBody>
      </p:sp>
      <p:sp>
        <p:nvSpPr>
          <p:cNvPr id="2" name="">
            <a:extLst xmlns:a="http://schemas.openxmlformats.org/drawingml/2006/main">
              <a:ext uri="{FF2B5EF4-FFF2-40B4-BE49-F238E27FC236}">
                <a16:creationId xmlns:a16="http://schemas.microsoft.com/office/drawing/2014/main" id="{AAEBDA2E-E96E-48F5-B989-A7003032D5F0}"/>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F38A1E6F-24A2-4D6D-B5F0-94192A51623E}"/>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396649A4-6666-44D2-8948-563C996CCAD7}"/>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The access check happens before generation</a:t>
            </a:r>
          </a:p>
        </p:txBody>
      </p:sp>
      <p:sp>
        <p:nvSpPr>
          <p:cNvPr id="5" name="">
            <a:extLst xmlns:a="http://schemas.openxmlformats.org/drawingml/2006/main">
              <a:ext uri="{FF2B5EF4-FFF2-40B4-BE49-F238E27FC236}">
                <a16:creationId xmlns:a16="http://schemas.microsoft.com/office/drawing/2014/main" id="{AED0C048-BA6E-45C9-9919-2C777FB78069}"/>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A citation can open only when the user can open its source record.</a:t>
            </a:r>
          </a:p>
        </p:txBody>
      </p:sp>
      <p:sp>
        <p:nvSpPr>
          <p:cNvPr id="6" name="">
            <a:extLst xmlns:a="http://schemas.openxmlformats.org/drawingml/2006/main">
              <a:ext uri="{FF2B5EF4-FFF2-40B4-BE49-F238E27FC236}">
                <a16:creationId xmlns:a16="http://schemas.microsoft.com/office/drawing/2014/main" id="{4D9D0D91-C19F-4B3A-A35B-7C82F0549448}"/>
              </a:ext>
            </a:extLst>
          </p:cNvPr>
          <p:cNvSpPr>
            <a:spLocks xmlns:a="http://schemas.openxmlformats.org/drawingml/2006/main" noGrp="1"/>
          </p:cNvSpPr>
          <p:nvPr/>
        </p:nvSpPr>
        <p:spPr>
          <a:xfrm xmlns:a="http://schemas.openxmlformats.org/drawingml/2006/main">
            <a:off x="590550" y="2400300"/>
            <a:ext cx="1809750" cy="116205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9525">
            <a:solidFill>
              <a:srgbClr val="DED8D2"/>
            </a:solidFill>
          </a:ln>
        </p:spPr>
      </p:sp>
      <p:sp>
        <p:nvSpPr>
          <p:cNvPr id="7" name="">
            <a:extLst xmlns:a="http://schemas.openxmlformats.org/drawingml/2006/main">
              <a:ext uri="{FF2B5EF4-FFF2-40B4-BE49-F238E27FC236}">
                <a16:creationId xmlns:a16="http://schemas.microsoft.com/office/drawing/2014/main" id="{8B77AC0D-9F4D-4C3F-BDAF-B6DAD330F095}"/>
              </a:ext>
            </a:extLst>
          </p:cNvPr>
          <p:cNvSpPr>
            <a:spLocks xmlns:a="http://schemas.openxmlformats.org/drawingml/2006/main" noGrp="1"/>
          </p:cNvSpPr>
          <p:nvPr/>
        </p:nvSpPr>
        <p:spPr>
          <a:xfrm xmlns:a="http://schemas.openxmlformats.org/drawingml/2006/main">
            <a:off x="742950" y="2562225"/>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335"/>
          </a:bodyPr>
          <a:lstStyle xmlns:a="http://schemas.openxmlformats.org/drawingml/2006/main"/>
          <a:p xmlns:a="http://schemas.openxmlformats.org/drawingml/2006/main">
            <a:pPr>
              <a:defRPr sz="750" b="1">
                <a:solidFill>
                  <a:srgbClr val="E94B2A"/>
                </a:solidFill>
                <a:latin typeface="Helvetica Neue"/>
                <a:ea typeface="Helvetica Neue"/>
                <a:cs typeface="Helvetica Neue"/>
              </a:defRPr>
            </a:pPr>
            <a:r>
              <a:rPr sz="750" b="1">
                <a:solidFill>
                  <a:srgbClr val="E94B2A"/>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9CBBFFAB-C665-4050-A275-1FE5FF8C87EB}"/>
              </a:ext>
            </a:extLst>
          </p:cNvPr>
          <p:cNvSpPr>
            <a:spLocks xmlns:a="http://schemas.openxmlformats.org/drawingml/2006/main" noGrp="1"/>
          </p:cNvSpPr>
          <p:nvPr/>
        </p:nvSpPr>
        <p:spPr>
          <a:xfrm xmlns:a="http://schemas.openxmlformats.org/drawingml/2006/main">
            <a:off x="742950" y="2847975"/>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1">
                <a:solidFill>
                  <a:srgbClr val="25152B"/>
                </a:solidFill>
                <a:latin typeface="Helvetica Neue"/>
                <a:ea typeface="Helvetica Neue"/>
                <a:cs typeface="Helvetica Neue"/>
              </a:defRPr>
            </a:pPr>
            <a:r>
              <a:rPr sz="1275" b="1">
                <a:solidFill>
                  <a:srgbClr val="25152B"/>
                </a:solidFill>
                <a:latin typeface="Helvetica Neue"/>
                <a:ea typeface="Helvetica Neue"/>
                <a:cs typeface="Helvetica Neue"/>
              </a:rPr>
              <a:t>Identity</a:t>
            </a:r>
          </a:p>
        </p:txBody>
      </p:sp>
      <p:sp>
        <p:nvSpPr>
          <p:cNvPr id="9" name="">
            <a:extLst xmlns:a="http://schemas.openxmlformats.org/drawingml/2006/main">
              <a:ext uri="{FF2B5EF4-FFF2-40B4-BE49-F238E27FC236}">
                <a16:creationId xmlns:a16="http://schemas.microsoft.com/office/drawing/2014/main" id="{A01558B2-327B-4AB9-A14F-507EAB2DB4A1}"/>
              </a:ext>
            </a:extLst>
          </p:cNvPr>
          <p:cNvSpPr>
            <a:spLocks xmlns:a="http://schemas.openxmlformats.org/drawingml/2006/main" noGrp="1"/>
          </p:cNvSpPr>
          <p:nvPr/>
        </p:nvSpPr>
        <p:spPr>
          <a:xfrm xmlns:a="http://schemas.openxmlformats.org/drawingml/2006/main">
            <a:off x="742950" y="3171825"/>
            <a:ext cx="1504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76D79"/>
                </a:solidFill>
                <a:latin typeface="Helvetica Neue"/>
                <a:ea typeface="Helvetica Neue"/>
                <a:cs typeface="Helvetica Neue"/>
              </a:defRPr>
            </a:pPr>
            <a:r>
              <a:rPr sz="825" b="0">
                <a:solidFill>
                  <a:srgbClr val="776D79"/>
                </a:solidFill>
                <a:latin typeface="Helvetica Neue"/>
                <a:ea typeface="Helvetica Neue"/>
                <a:cs typeface="Helvetica Neue"/>
              </a:rPr>
              <a:t>Stable subject</a:t>
            </a:r>
          </a:p>
        </p:txBody>
      </p:sp>
      <p:sp>
        <p:nvSpPr>
          <p:cNvPr id="10" name="">
            <a:extLst xmlns:a="http://schemas.openxmlformats.org/drawingml/2006/main">
              <a:ext uri="{FF2B5EF4-FFF2-40B4-BE49-F238E27FC236}">
                <a16:creationId xmlns:a16="http://schemas.microsoft.com/office/drawing/2014/main" id="{C47F3E81-C87E-4F8E-A802-1DDCF65FA8E0}"/>
              </a:ext>
            </a:extLst>
          </p:cNvPr>
          <p:cNvSpPr>
            <a:spLocks xmlns:a="http://schemas.openxmlformats.org/drawingml/2006/main" noGrp="1"/>
          </p:cNvSpPr>
          <p:nvPr/>
        </p:nvSpPr>
        <p:spPr>
          <a:xfrm xmlns:a="http://schemas.openxmlformats.org/drawingml/2006/main">
            <a:off x="2400300" y="2981325"/>
            <a:ext cx="41910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11" name="">
            <a:extLst xmlns:a="http://schemas.openxmlformats.org/drawingml/2006/main">
              <a:ext uri="{FF2B5EF4-FFF2-40B4-BE49-F238E27FC236}">
                <a16:creationId xmlns:a16="http://schemas.microsoft.com/office/drawing/2014/main" id="{07AF3F57-93A3-4BB0-8B86-06BC9C2412F9}"/>
              </a:ext>
            </a:extLst>
          </p:cNvPr>
          <p:cNvSpPr>
            <a:spLocks xmlns:a="http://schemas.openxmlformats.org/drawingml/2006/main" noGrp="1"/>
          </p:cNvSpPr>
          <p:nvPr/>
        </p:nvSpPr>
        <p:spPr>
          <a:xfrm xmlns:a="http://schemas.openxmlformats.org/drawingml/2006/main">
            <a:off x="2819400" y="2400300"/>
            <a:ext cx="1809750" cy="116205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9525">
            <a:solidFill>
              <a:srgbClr val="DED8D2"/>
            </a:solidFill>
          </a:ln>
        </p:spPr>
      </p:sp>
      <p:sp>
        <p:nvSpPr>
          <p:cNvPr id="12" name="">
            <a:extLst xmlns:a="http://schemas.openxmlformats.org/drawingml/2006/main">
              <a:ext uri="{FF2B5EF4-FFF2-40B4-BE49-F238E27FC236}">
                <a16:creationId xmlns:a16="http://schemas.microsoft.com/office/drawing/2014/main" id="{6137B2B8-767E-4615-981D-6A3D9DC4675E}"/>
              </a:ext>
            </a:extLst>
          </p:cNvPr>
          <p:cNvSpPr>
            <a:spLocks xmlns:a="http://schemas.openxmlformats.org/drawingml/2006/main" noGrp="1"/>
          </p:cNvSpPr>
          <p:nvPr/>
        </p:nvSpPr>
        <p:spPr>
          <a:xfrm xmlns:a="http://schemas.openxmlformats.org/drawingml/2006/main">
            <a:off x="2971800" y="2562225"/>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335"/>
          </a:bodyPr>
          <a:lstStyle xmlns:a="http://schemas.openxmlformats.org/drawingml/2006/main"/>
          <a:p xmlns:a="http://schemas.openxmlformats.org/drawingml/2006/main">
            <a:pPr>
              <a:defRPr sz="750" b="1">
                <a:solidFill>
                  <a:srgbClr val="E94B2A"/>
                </a:solidFill>
                <a:latin typeface="Helvetica Neue"/>
                <a:ea typeface="Helvetica Neue"/>
                <a:cs typeface="Helvetica Neue"/>
              </a:defRPr>
            </a:pPr>
            <a:r>
              <a:rPr sz="750" b="1">
                <a:solidFill>
                  <a:srgbClr val="E94B2A"/>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5E3755B3-C071-47C9-B802-519A18503A8D}"/>
              </a:ext>
            </a:extLst>
          </p:cNvPr>
          <p:cNvSpPr>
            <a:spLocks xmlns:a="http://schemas.openxmlformats.org/drawingml/2006/main" noGrp="1"/>
          </p:cNvSpPr>
          <p:nvPr/>
        </p:nvSpPr>
        <p:spPr>
          <a:xfrm xmlns:a="http://schemas.openxmlformats.org/drawingml/2006/main">
            <a:off x="2971800" y="2847975"/>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1">
                <a:solidFill>
                  <a:srgbClr val="25152B"/>
                </a:solidFill>
                <a:latin typeface="Helvetica Neue"/>
                <a:ea typeface="Helvetica Neue"/>
                <a:cs typeface="Helvetica Neue"/>
              </a:defRPr>
            </a:pPr>
            <a:r>
              <a:rPr sz="1275" b="1">
                <a:solidFill>
                  <a:srgbClr val="25152B"/>
                </a:solidFill>
                <a:latin typeface="Helvetica Neue"/>
                <a:ea typeface="Helvetica Neue"/>
                <a:cs typeface="Helvetica Neue"/>
              </a:rPr>
              <a:t>Admission</a:t>
            </a:r>
          </a:p>
        </p:txBody>
      </p:sp>
      <p:sp>
        <p:nvSpPr>
          <p:cNvPr id="14" name="">
            <a:extLst xmlns:a="http://schemas.openxmlformats.org/drawingml/2006/main">
              <a:ext uri="{FF2B5EF4-FFF2-40B4-BE49-F238E27FC236}">
                <a16:creationId xmlns:a16="http://schemas.microsoft.com/office/drawing/2014/main" id="{834F0FFF-34E5-49F4-BF83-1F85153B3432}"/>
              </a:ext>
            </a:extLst>
          </p:cNvPr>
          <p:cNvSpPr>
            <a:spLocks xmlns:a="http://schemas.openxmlformats.org/drawingml/2006/main" noGrp="1"/>
          </p:cNvSpPr>
          <p:nvPr/>
        </p:nvSpPr>
        <p:spPr>
          <a:xfrm xmlns:a="http://schemas.openxmlformats.org/drawingml/2006/main">
            <a:off x="2971800" y="3171825"/>
            <a:ext cx="1504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76D79"/>
                </a:solidFill>
                <a:latin typeface="Helvetica Neue"/>
                <a:ea typeface="Helvetica Neue"/>
                <a:cs typeface="Helvetica Neue"/>
              </a:defRPr>
            </a:pPr>
            <a:r>
              <a:rPr sz="825" b="0">
                <a:solidFill>
                  <a:srgbClr val="776D79"/>
                </a:solidFill>
                <a:latin typeface="Helvetica Neue"/>
                <a:ea typeface="Helvetica Neue"/>
                <a:cs typeface="Helvetica Neue"/>
              </a:rPr>
              <a:t>Exact email</a:t>
            </a:r>
          </a:p>
        </p:txBody>
      </p:sp>
      <p:sp>
        <p:nvSpPr>
          <p:cNvPr id="15" name="">
            <a:extLst xmlns:a="http://schemas.openxmlformats.org/drawingml/2006/main">
              <a:ext uri="{FF2B5EF4-FFF2-40B4-BE49-F238E27FC236}">
                <a16:creationId xmlns:a16="http://schemas.microsoft.com/office/drawing/2014/main" id="{DFF25FCF-7CF8-479A-B262-CD398975693A}"/>
              </a:ext>
            </a:extLst>
          </p:cNvPr>
          <p:cNvSpPr>
            <a:spLocks xmlns:a="http://schemas.openxmlformats.org/drawingml/2006/main" noGrp="1"/>
          </p:cNvSpPr>
          <p:nvPr/>
        </p:nvSpPr>
        <p:spPr>
          <a:xfrm xmlns:a="http://schemas.openxmlformats.org/drawingml/2006/main">
            <a:off x="4629150" y="2981325"/>
            <a:ext cx="41910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16" name="">
            <a:extLst xmlns:a="http://schemas.openxmlformats.org/drawingml/2006/main">
              <a:ext uri="{FF2B5EF4-FFF2-40B4-BE49-F238E27FC236}">
                <a16:creationId xmlns:a16="http://schemas.microsoft.com/office/drawing/2014/main" id="{75464B80-8689-40D6-BCAC-6FEAB233A6DB}"/>
              </a:ext>
            </a:extLst>
          </p:cNvPr>
          <p:cNvSpPr>
            <a:spLocks xmlns:a="http://schemas.openxmlformats.org/drawingml/2006/main" noGrp="1"/>
          </p:cNvSpPr>
          <p:nvPr/>
        </p:nvSpPr>
        <p:spPr>
          <a:xfrm xmlns:a="http://schemas.openxmlformats.org/drawingml/2006/main">
            <a:off x="5048250" y="2400300"/>
            <a:ext cx="1809750" cy="116205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9525">
            <a:solidFill>
              <a:srgbClr val="DED8D2"/>
            </a:solidFill>
          </a:ln>
        </p:spPr>
      </p:sp>
      <p:sp>
        <p:nvSpPr>
          <p:cNvPr id="17" name="">
            <a:extLst xmlns:a="http://schemas.openxmlformats.org/drawingml/2006/main">
              <a:ext uri="{FF2B5EF4-FFF2-40B4-BE49-F238E27FC236}">
                <a16:creationId xmlns:a16="http://schemas.microsoft.com/office/drawing/2014/main" id="{4D8578BF-F983-4225-B928-097C69D4D96B}"/>
              </a:ext>
            </a:extLst>
          </p:cNvPr>
          <p:cNvSpPr>
            <a:spLocks xmlns:a="http://schemas.openxmlformats.org/drawingml/2006/main" noGrp="1"/>
          </p:cNvSpPr>
          <p:nvPr/>
        </p:nvSpPr>
        <p:spPr>
          <a:xfrm xmlns:a="http://schemas.openxmlformats.org/drawingml/2006/main">
            <a:off x="5200650" y="2562225"/>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335"/>
          </a:bodyPr>
          <a:lstStyle xmlns:a="http://schemas.openxmlformats.org/drawingml/2006/main"/>
          <a:p xmlns:a="http://schemas.openxmlformats.org/drawingml/2006/main">
            <a:pPr>
              <a:defRPr sz="750" b="1">
                <a:solidFill>
                  <a:srgbClr val="E94B2A"/>
                </a:solidFill>
                <a:latin typeface="Helvetica Neue"/>
                <a:ea typeface="Helvetica Neue"/>
                <a:cs typeface="Helvetica Neue"/>
              </a:defRPr>
            </a:pPr>
            <a:r>
              <a:rPr sz="750" b="1">
                <a:solidFill>
                  <a:srgbClr val="E94B2A"/>
                </a:solidFill>
                <a:latin typeface="Helvetica Neue"/>
                <a:ea typeface="Helvetica Neue"/>
                <a:cs typeface="Helvetica Neue"/>
              </a:rPr>
              <a:t>3</a:t>
            </a:r>
          </a:p>
        </p:txBody>
      </p:sp>
      <p:sp>
        <p:nvSpPr>
          <p:cNvPr id="18" name="">
            <a:extLst xmlns:a="http://schemas.openxmlformats.org/drawingml/2006/main">
              <a:ext uri="{FF2B5EF4-FFF2-40B4-BE49-F238E27FC236}">
                <a16:creationId xmlns:a16="http://schemas.microsoft.com/office/drawing/2014/main" id="{47C52658-1720-410B-B8DE-88BED9E9C5F4}"/>
              </a:ext>
            </a:extLst>
          </p:cNvPr>
          <p:cNvSpPr>
            <a:spLocks xmlns:a="http://schemas.openxmlformats.org/drawingml/2006/main" noGrp="1"/>
          </p:cNvSpPr>
          <p:nvPr/>
        </p:nvSpPr>
        <p:spPr>
          <a:xfrm xmlns:a="http://schemas.openxmlformats.org/drawingml/2006/main">
            <a:off x="5200650" y="2847975"/>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1">
                <a:solidFill>
                  <a:srgbClr val="25152B"/>
                </a:solidFill>
                <a:latin typeface="Helvetica Neue"/>
                <a:ea typeface="Helvetica Neue"/>
                <a:cs typeface="Helvetica Neue"/>
              </a:defRPr>
            </a:pPr>
            <a:r>
              <a:rPr sz="1275" b="1">
                <a:solidFill>
                  <a:srgbClr val="25152B"/>
                </a:solidFill>
                <a:latin typeface="Helvetica Neue"/>
                <a:ea typeface="Helvetica Neue"/>
                <a:cs typeface="Helvetica Neue"/>
              </a:rPr>
              <a:t>Candidates</a:t>
            </a:r>
          </a:p>
        </p:txBody>
      </p:sp>
      <p:sp>
        <p:nvSpPr>
          <p:cNvPr id="19" name="">
            <a:extLst xmlns:a="http://schemas.openxmlformats.org/drawingml/2006/main">
              <a:ext uri="{FF2B5EF4-FFF2-40B4-BE49-F238E27FC236}">
                <a16:creationId xmlns:a16="http://schemas.microsoft.com/office/drawing/2014/main" id="{D4FF9D76-9E1B-4AA8-8589-11F792DF05CD}"/>
              </a:ext>
            </a:extLst>
          </p:cNvPr>
          <p:cNvSpPr>
            <a:spLocks xmlns:a="http://schemas.openxmlformats.org/drawingml/2006/main" noGrp="1"/>
          </p:cNvSpPr>
          <p:nvPr/>
        </p:nvSpPr>
        <p:spPr>
          <a:xfrm xmlns:a="http://schemas.openxmlformats.org/drawingml/2006/main">
            <a:off x="5200650" y="3171825"/>
            <a:ext cx="1504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76D79"/>
                </a:solidFill>
                <a:latin typeface="Helvetica Neue"/>
                <a:ea typeface="Helvetica Neue"/>
                <a:cs typeface="Helvetica Neue"/>
              </a:defRPr>
            </a:pPr>
            <a:r>
              <a:rPr sz="825" b="0">
                <a:solidFill>
                  <a:srgbClr val="776D79"/>
                </a:solidFill>
                <a:latin typeface="Helvetica Neue"/>
                <a:ea typeface="Helvetica Neue"/>
                <a:cs typeface="Helvetica Neue"/>
              </a:rPr>
              <a:t>Policy filtered</a:t>
            </a:r>
          </a:p>
        </p:txBody>
      </p:sp>
      <p:sp>
        <p:nvSpPr>
          <p:cNvPr id="20" name="">
            <a:extLst xmlns:a="http://schemas.openxmlformats.org/drawingml/2006/main">
              <a:ext uri="{FF2B5EF4-FFF2-40B4-BE49-F238E27FC236}">
                <a16:creationId xmlns:a16="http://schemas.microsoft.com/office/drawing/2014/main" id="{AD19A67E-FB1E-42AD-BCE2-05646DC2490C}"/>
              </a:ext>
            </a:extLst>
          </p:cNvPr>
          <p:cNvSpPr>
            <a:spLocks xmlns:a="http://schemas.openxmlformats.org/drawingml/2006/main" noGrp="1"/>
          </p:cNvSpPr>
          <p:nvPr/>
        </p:nvSpPr>
        <p:spPr>
          <a:xfrm xmlns:a="http://schemas.openxmlformats.org/drawingml/2006/main">
            <a:off x="6858000" y="2981325"/>
            <a:ext cx="41910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21" name="">
            <a:extLst xmlns:a="http://schemas.openxmlformats.org/drawingml/2006/main">
              <a:ext uri="{FF2B5EF4-FFF2-40B4-BE49-F238E27FC236}">
                <a16:creationId xmlns:a16="http://schemas.microsoft.com/office/drawing/2014/main" id="{EBB39529-5A93-43EE-BB0B-195DB4A9CEDF}"/>
              </a:ext>
            </a:extLst>
          </p:cNvPr>
          <p:cNvSpPr>
            <a:spLocks xmlns:a="http://schemas.openxmlformats.org/drawingml/2006/main" noGrp="1"/>
          </p:cNvSpPr>
          <p:nvPr/>
        </p:nvSpPr>
        <p:spPr>
          <a:xfrm xmlns:a="http://schemas.openxmlformats.org/drawingml/2006/main">
            <a:off x="7277100" y="2400300"/>
            <a:ext cx="1809750" cy="1162050"/>
          </a:xfrm>
          <a:prstGeom xmlns:a="http://schemas.openxmlformats.org/drawingml/2006/main" prst="roundRect">
            <a:avLst>
              <a:gd name="adj" fmla="val 13115"/>
            </a:avLst>
          </a:prstGeom>
          <a:solidFill xmlns:a="http://schemas.openxmlformats.org/drawingml/2006/main">
            <a:srgbClr val="F0EBF7"/>
          </a:solidFill>
          <a:ln xmlns:a="http://schemas.openxmlformats.org/drawingml/2006/main" w="9525">
            <a:solidFill>
              <a:srgbClr val="7657B3"/>
            </a:solidFill>
          </a:ln>
        </p:spPr>
      </p:sp>
      <p:sp>
        <p:nvSpPr>
          <p:cNvPr id="22" name="">
            <a:extLst xmlns:a="http://schemas.openxmlformats.org/drawingml/2006/main">
              <a:ext uri="{FF2B5EF4-FFF2-40B4-BE49-F238E27FC236}">
                <a16:creationId xmlns:a16="http://schemas.microsoft.com/office/drawing/2014/main" id="{485EA514-0675-427E-8DEE-ABC760639CF7}"/>
              </a:ext>
            </a:extLst>
          </p:cNvPr>
          <p:cNvSpPr>
            <a:spLocks xmlns:a="http://schemas.openxmlformats.org/drawingml/2006/main" noGrp="1"/>
          </p:cNvSpPr>
          <p:nvPr/>
        </p:nvSpPr>
        <p:spPr>
          <a:xfrm xmlns:a="http://schemas.openxmlformats.org/drawingml/2006/main">
            <a:off x="7429500" y="2562225"/>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335"/>
          </a:bodyPr>
          <a:lstStyle xmlns:a="http://schemas.openxmlformats.org/drawingml/2006/main"/>
          <a:p xmlns:a="http://schemas.openxmlformats.org/drawingml/2006/main">
            <a:pPr>
              <a:defRPr sz="750" b="1">
                <a:solidFill>
                  <a:srgbClr val="7657B3"/>
                </a:solidFill>
                <a:latin typeface="Helvetica Neue"/>
                <a:ea typeface="Helvetica Neue"/>
                <a:cs typeface="Helvetica Neue"/>
              </a:defRPr>
            </a:pPr>
            <a:r>
              <a:rPr sz="750" b="1">
                <a:solidFill>
                  <a:srgbClr val="7657B3"/>
                </a:solidFill>
                <a:latin typeface="Helvetica Neue"/>
                <a:ea typeface="Helvetica Neue"/>
                <a:cs typeface="Helvetica Neue"/>
              </a:rPr>
              <a:t>4</a:t>
            </a:r>
          </a:p>
        </p:txBody>
      </p:sp>
      <p:sp>
        <p:nvSpPr>
          <p:cNvPr id="23" name="">
            <a:extLst xmlns:a="http://schemas.openxmlformats.org/drawingml/2006/main">
              <a:ext uri="{FF2B5EF4-FFF2-40B4-BE49-F238E27FC236}">
                <a16:creationId xmlns:a16="http://schemas.microsoft.com/office/drawing/2014/main" id="{B49FA8F1-AD14-490A-9FA6-747ABACCBD6D}"/>
              </a:ext>
            </a:extLst>
          </p:cNvPr>
          <p:cNvSpPr>
            <a:spLocks xmlns:a="http://schemas.openxmlformats.org/drawingml/2006/main" noGrp="1"/>
          </p:cNvSpPr>
          <p:nvPr/>
        </p:nvSpPr>
        <p:spPr>
          <a:xfrm xmlns:a="http://schemas.openxmlformats.org/drawingml/2006/main">
            <a:off x="7429500" y="2847975"/>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1">
                <a:solidFill>
                  <a:srgbClr val="25152B"/>
                </a:solidFill>
                <a:latin typeface="Helvetica Neue"/>
                <a:ea typeface="Helvetica Neue"/>
                <a:cs typeface="Helvetica Neue"/>
              </a:defRPr>
            </a:pPr>
            <a:r>
              <a:rPr sz="1275" b="1">
                <a:solidFill>
                  <a:srgbClr val="25152B"/>
                </a:solidFill>
                <a:latin typeface="Helvetica Neue"/>
                <a:ea typeface="Helvetica Neue"/>
                <a:cs typeface="Helvetica Neue"/>
              </a:rPr>
              <a:t>Brief</a:t>
            </a:r>
          </a:p>
        </p:txBody>
      </p:sp>
      <p:sp>
        <p:nvSpPr>
          <p:cNvPr id="24" name="">
            <a:extLst xmlns:a="http://schemas.openxmlformats.org/drawingml/2006/main">
              <a:ext uri="{FF2B5EF4-FFF2-40B4-BE49-F238E27FC236}">
                <a16:creationId xmlns:a16="http://schemas.microsoft.com/office/drawing/2014/main" id="{1D4E4601-A5C6-4134-A7C8-26B60A3E6806}"/>
              </a:ext>
            </a:extLst>
          </p:cNvPr>
          <p:cNvSpPr>
            <a:spLocks xmlns:a="http://schemas.openxmlformats.org/drawingml/2006/main" noGrp="1"/>
          </p:cNvSpPr>
          <p:nvPr/>
        </p:nvSpPr>
        <p:spPr>
          <a:xfrm xmlns:a="http://schemas.openxmlformats.org/drawingml/2006/main">
            <a:off x="7429500" y="3171825"/>
            <a:ext cx="1504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76D79"/>
                </a:solidFill>
                <a:latin typeface="Helvetica Neue"/>
                <a:ea typeface="Helvetica Neue"/>
                <a:cs typeface="Helvetica Neue"/>
              </a:defRPr>
            </a:pPr>
            <a:r>
              <a:rPr sz="825" b="0">
                <a:solidFill>
                  <a:srgbClr val="776D79"/>
                </a:solidFill>
                <a:latin typeface="Helvetica Neue"/>
                <a:ea typeface="Helvetica Neue"/>
                <a:cs typeface="Helvetica Neue"/>
              </a:rPr>
              <a:t>Cited claims</a:t>
            </a:r>
          </a:p>
        </p:txBody>
      </p:sp>
      <p:sp>
        <p:nvSpPr>
          <p:cNvPr id="25" name="">
            <a:extLst xmlns:a="http://schemas.openxmlformats.org/drawingml/2006/main">
              <a:ext uri="{FF2B5EF4-FFF2-40B4-BE49-F238E27FC236}">
                <a16:creationId xmlns:a16="http://schemas.microsoft.com/office/drawing/2014/main" id="{04BEF483-148B-4928-93D0-E77E1FE46789}"/>
              </a:ext>
            </a:extLst>
          </p:cNvPr>
          <p:cNvSpPr>
            <a:spLocks xmlns:a="http://schemas.openxmlformats.org/drawingml/2006/main" noGrp="1"/>
          </p:cNvSpPr>
          <p:nvPr/>
        </p:nvSpPr>
        <p:spPr>
          <a:xfrm xmlns:a="http://schemas.openxmlformats.org/drawingml/2006/main">
            <a:off x="9086850" y="2981325"/>
            <a:ext cx="41910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26" name="">
            <a:extLst xmlns:a="http://schemas.openxmlformats.org/drawingml/2006/main">
              <a:ext uri="{FF2B5EF4-FFF2-40B4-BE49-F238E27FC236}">
                <a16:creationId xmlns:a16="http://schemas.microsoft.com/office/drawing/2014/main" id="{6CDA0820-A978-40B9-97B2-6C40B30A108C}"/>
              </a:ext>
            </a:extLst>
          </p:cNvPr>
          <p:cNvSpPr>
            <a:spLocks xmlns:a="http://schemas.openxmlformats.org/drawingml/2006/main" noGrp="1"/>
          </p:cNvSpPr>
          <p:nvPr/>
        </p:nvSpPr>
        <p:spPr>
          <a:xfrm xmlns:a="http://schemas.openxmlformats.org/drawingml/2006/main">
            <a:off x="9505950" y="2400300"/>
            <a:ext cx="1809750" cy="116205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9525">
            <a:solidFill>
              <a:srgbClr val="DED8D2"/>
            </a:solidFill>
          </a:ln>
        </p:spPr>
      </p:sp>
      <p:sp>
        <p:nvSpPr>
          <p:cNvPr id="27" name="">
            <a:extLst xmlns:a="http://schemas.openxmlformats.org/drawingml/2006/main">
              <a:ext uri="{FF2B5EF4-FFF2-40B4-BE49-F238E27FC236}">
                <a16:creationId xmlns:a16="http://schemas.microsoft.com/office/drawing/2014/main" id="{8D8331C9-F585-4A3F-9F79-79C7D6EDB4C5}"/>
              </a:ext>
            </a:extLst>
          </p:cNvPr>
          <p:cNvSpPr>
            <a:spLocks xmlns:a="http://schemas.openxmlformats.org/drawingml/2006/main" noGrp="1"/>
          </p:cNvSpPr>
          <p:nvPr/>
        </p:nvSpPr>
        <p:spPr>
          <a:xfrm xmlns:a="http://schemas.openxmlformats.org/drawingml/2006/main">
            <a:off x="9658350" y="2562225"/>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335"/>
          </a:bodyPr>
          <a:lstStyle xmlns:a="http://schemas.openxmlformats.org/drawingml/2006/main"/>
          <a:p xmlns:a="http://schemas.openxmlformats.org/drawingml/2006/main">
            <a:pPr>
              <a:defRPr sz="750" b="1">
                <a:solidFill>
                  <a:srgbClr val="E94B2A"/>
                </a:solidFill>
                <a:latin typeface="Helvetica Neue"/>
                <a:ea typeface="Helvetica Neue"/>
                <a:cs typeface="Helvetica Neue"/>
              </a:defRPr>
            </a:pPr>
            <a:r>
              <a:rPr sz="750" b="1">
                <a:solidFill>
                  <a:srgbClr val="E94B2A"/>
                </a:solidFill>
                <a:latin typeface="Helvetica Neue"/>
                <a:ea typeface="Helvetica Neue"/>
                <a:cs typeface="Helvetica Neue"/>
              </a:rPr>
              <a:t>5</a:t>
            </a:r>
          </a:p>
        </p:txBody>
      </p:sp>
      <p:sp>
        <p:nvSpPr>
          <p:cNvPr id="28" name="">
            <a:extLst xmlns:a="http://schemas.openxmlformats.org/drawingml/2006/main">
              <a:ext uri="{FF2B5EF4-FFF2-40B4-BE49-F238E27FC236}">
                <a16:creationId xmlns:a16="http://schemas.microsoft.com/office/drawing/2014/main" id="{1D7CE37F-380F-4E04-8FAA-F3FAF07673FF}"/>
              </a:ext>
            </a:extLst>
          </p:cNvPr>
          <p:cNvSpPr>
            <a:spLocks xmlns:a="http://schemas.openxmlformats.org/drawingml/2006/main" noGrp="1"/>
          </p:cNvSpPr>
          <p:nvPr/>
        </p:nvSpPr>
        <p:spPr>
          <a:xfrm xmlns:a="http://schemas.openxmlformats.org/drawingml/2006/main">
            <a:off x="9658350" y="2847975"/>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1">
                <a:solidFill>
                  <a:srgbClr val="25152B"/>
                </a:solidFill>
                <a:latin typeface="Helvetica Neue"/>
                <a:ea typeface="Helvetica Neue"/>
                <a:cs typeface="Helvetica Neue"/>
              </a:defRPr>
            </a:pPr>
            <a:r>
              <a:rPr sz="1275" b="1">
                <a:solidFill>
                  <a:srgbClr val="25152B"/>
                </a:solidFill>
                <a:latin typeface="Helvetica Neue"/>
                <a:ea typeface="Helvetica Neue"/>
                <a:cs typeface="Helvetica Neue"/>
              </a:rPr>
              <a:t>Citation</a:t>
            </a:r>
          </a:p>
        </p:txBody>
      </p:sp>
      <p:sp>
        <p:nvSpPr>
          <p:cNvPr id="29" name="">
            <a:extLst xmlns:a="http://schemas.openxmlformats.org/drawingml/2006/main">
              <a:ext uri="{FF2B5EF4-FFF2-40B4-BE49-F238E27FC236}">
                <a16:creationId xmlns:a16="http://schemas.microsoft.com/office/drawing/2014/main" id="{FDF33D47-41C1-4D82-843D-31F2D2E68A4C}"/>
              </a:ext>
            </a:extLst>
          </p:cNvPr>
          <p:cNvSpPr>
            <a:spLocks xmlns:a="http://schemas.openxmlformats.org/drawingml/2006/main" noGrp="1"/>
          </p:cNvSpPr>
          <p:nvPr/>
        </p:nvSpPr>
        <p:spPr>
          <a:xfrm xmlns:a="http://schemas.openxmlformats.org/drawingml/2006/main">
            <a:off x="9658350" y="3171825"/>
            <a:ext cx="1504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76D79"/>
                </a:solidFill>
                <a:latin typeface="Helvetica Neue"/>
                <a:ea typeface="Helvetica Neue"/>
                <a:cs typeface="Helvetica Neue"/>
              </a:defRPr>
            </a:pPr>
            <a:r>
              <a:rPr sz="825" b="0">
                <a:solidFill>
                  <a:srgbClr val="776D79"/>
                </a:solidFill>
                <a:latin typeface="Helvetica Neue"/>
                <a:ea typeface="Helvetica Neue"/>
                <a:cs typeface="Helvetica Neue"/>
              </a:rPr>
              <a:t>Access recheck</a:t>
            </a:r>
          </a:p>
        </p:txBody>
      </p:sp>
      <p:sp>
        <p:nvSpPr>
          <p:cNvPr id="30" name="">
            <a:extLst xmlns:a="http://schemas.openxmlformats.org/drawingml/2006/main">
              <a:ext uri="{FF2B5EF4-FFF2-40B4-BE49-F238E27FC236}">
                <a16:creationId xmlns:a16="http://schemas.microsoft.com/office/drawing/2014/main" id="{F4B7B601-6910-4F04-A365-34B268752FDD}"/>
              </a:ext>
            </a:extLst>
          </p:cNvPr>
          <p:cNvSpPr>
            <a:spLocks xmlns:a="http://schemas.openxmlformats.org/drawingml/2006/main" noGrp="1"/>
          </p:cNvSpPr>
          <p:nvPr/>
        </p:nvSpPr>
        <p:spPr>
          <a:xfrm xmlns:a="http://schemas.openxmlformats.org/drawingml/2006/main">
            <a:off x="666750" y="4057650"/>
            <a:ext cx="5238750" cy="1333500"/>
          </a:xfrm>
          <a:prstGeom xmlns:a="http://schemas.openxmlformats.org/drawingml/2006/main" prst="roundRect">
            <a:avLst>
              <a:gd name="adj" fmla="val 12857"/>
            </a:avLst>
          </a:prstGeom>
          <a:solidFill xmlns:a="http://schemas.openxmlformats.org/drawingml/2006/main">
            <a:srgbClr val="25152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F07C81AC-9EA3-41B0-B323-57082FEE1D3C}"/>
              </a:ext>
            </a:extLst>
          </p:cNvPr>
          <p:cNvSpPr>
            <a:spLocks xmlns:a="http://schemas.openxmlformats.org/drawingml/2006/main" noGrp="1"/>
          </p:cNvSpPr>
          <p:nvPr/>
        </p:nvSpPr>
        <p:spPr>
          <a:xfrm xmlns:a="http://schemas.openxmlformats.org/drawingml/2006/main">
            <a:off x="895350" y="42767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9A76"/>
                </a:solidFill>
                <a:latin typeface="Helvetica Neue"/>
                <a:ea typeface="Helvetica Neue"/>
                <a:cs typeface="Helvetica Neue"/>
              </a:defRPr>
            </a:pPr>
            <a:r>
              <a:rPr sz="825" b="1">
                <a:solidFill>
                  <a:srgbClr val="FF9A76"/>
                </a:solidFill>
                <a:latin typeface="Helvetica Neue"/>
                <a:ea typeface="Helvetica Neue"/>
                <a:cs typeface="Helvetica Neue"/>
              </a:rPr>
              <a:t>INITIAL RELEASE EVIDENCE</a:t>
            </a:r>
          </a:p>
        </p:txBody>
      </p:sp>
      <p:sp>
        <p:nvSpPr>
          <p:cNvPr id="32" name="">
            <a:extLst xmlns:a="http://schemas.openxmlformats.org/drawingml/2006/main">
              <a:ext uri="{FF2B5EF4-FFF2-40B4-BE49-F238E27FC236}">
                <a16:creationId xmlns:a16="http://schemas.microsoft.com/office/drawing/2014/main" id="{B1DE68CA-52DB-4698-8F39-E970D27E2C2B}"/>
              </a:ext>
            </a:extLst>
          </p:cNvPr>
          <p:cNvSpPr>
            <a:spLocks xmlns:a="http://schemas.openxmlformats.org/drawingml/2006/main" noGrp="1"/>
          </p:cNvSpPr>
          <p:nvPr/>
        </p:nvSpPr>
        <p:spPr>
          <a:xfrm xmlns:a="http://schemas.openxmlformats.org/drawingml/2006/main">
            <a:off x="895350" y="46291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Nine automated checks pass</a:t>
            </a:r>
          </a:p>
        </p:txBody>
      </p:sp>
      <p:sp>
        <p:nvSpPr>
          <p:cNvPr id="33" name="">
            <a:extLst xmlns:a="http://schemas.openxmlformats.org/drawingml/2006/main">
              <a:ext uri="{FF2B5EF4-FFF2-40B4-BE49-F238E27FC236}">
                <a16:creationId xmlns:a16="http://schemas.microsoft.com/office/drawing/2014/main" id="{AD2B79E8-B160-4360-B7D9-3FA3DB7371F8}"/>
              </a:ext>
            </a:extLst>
          </p:cNvPr>
          <p:cNvSpPr>
            <a:spLocks xmlns:a="http://schemas.openxmlformats.org/drawingml/2006/main" noGrp="1"/>
          </p:cNvSpPr>
          <p:nvPr/>
        </p:nvSpPr>
        <p:spPr>
          <a:xfrm xmlns:a="http://schemas.openxmlformats.org/drawingml/2006/main">
            <a:off x="895350" y="5029200"/>
            <a:ext cx="447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0">
                <a:solidFill>
                  <a:srgbClr val="C9BECF"/>
                </a:solidFill>
                <a:latin typeface="Helvetica Neue"/>
                <a:ea typeface="Helvetica Neue"/>
                <a:cs typeface="Helvetica Neue"/>
              </a:defRPr>
            </a:pPr>
            <a:r>
              <a:rPr sz="900" b="0">
                <a:solidFill>
                  <a:srgbClr val="C9BECF"/>
                </a:solidFill>
                <a:latin typeface="Helvetica Neue"/>
                <a:ea typeface="Helvetica Neue"/>
                <a:cs typeface="Helvetica Neue"/>
              </a:rPr>
              <a:t>Policy, citation, injection, conflict, and context invariants.</a:t>
            </a:r>
          </a:p>
        </p:txBody>
      </p:sp>
      <p:sp>
        <p:nvSpPr>
          <p:cNvPr id="34" name="">
            <a:extLst xmlns:a="http://schemas.openxmlformats.org/drawingml/2006/main">
              <a:ext uri="{FF2B5EF4-FFF2-40B4-BE49-F238E27FC236}">
                <a16:creationId xmlns:a16="http://schemas.microsoft.com/office/drawing/2014/main" id="{E703766F-76BF-4ACD-AB66-809AA769F0DD}"/>
              </a:ext>
            </a:extLst>
          </p:cNvPr>
          <p:cNvSpPr>
            <a:spLocks xmlns:a="http://schemas.openxmlformats.org/drawingml/2006/main" noGrp="1"/>
          </p:cNvSpPr>
          <p:nvPr/>
        </p:nvSpPr>
        <p:spPr>
          <a:xfrm xmlns:a="http://schemas.openxmlformats.org/drawingml/2006/main">
            <a:off x="6191250" y="4057650"/>
            <a:ext cx="5334000" cy="1333500"/>
          </a:xfrm>
          <a:prstGeom xmlns:a="http://schemas.openxmlformats.org/drawingml/2006/main" prst="roundRect">
            <a:avLst>
              <a:gd name="adj" fmla="val 12857"/>
            </a:avLst>
          </a:prstGeom>
          <a:solidFill xmlns:a="http://schemas.openxmlformats.org/drawingml/2006/main">
            <a:srgbClr val="FFF5DF"/>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B2357820-9BA2-4F17-BE1B-600D4B94CD70}"/>
              </a:ext>
            </a:extLst>
          </p:cNvPr>
          <p:cNvSpPr>
            <a:spLocks xmlns:a="http://schemas.openxmlformats.org/drawingml/2006/main" noGrp="1"/>
          </p:cNvSpPr>
          <p:nvPr/>
        </p:nvSpPr>
        <p:spPr>
          <a:xfrm xmlns:a="http://schemas.openxmlformats.org/drawingml/2006/main">
            <a:off x="6419850" y="427672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B86A14"/>
                </a:solidFill>
                <a:latin typeface="Helvetica Neue"/>
                <a:ea typeface="Helvetica Neue"/>
                <a:cs typeface="Helvetica Neue"/>
              </a:defRPr>
            </a:pPr>
            <a:r>
              <a:rPr sz="825" b="1">
                <a:solidFill>
                  <a:srgbClr val="B86A14"/>
                </a:solidFill>
                <a:latin typeface="Helvetica Neue"/>
                <a:ea typeface="Helvetica Neue"/>
                <a:cs typeface="Helvetica Neue"/>
              </a:rPr>
              <a:t>RETRIEVED TEXT IS UNTRUSTED</a:t>
            </a:r>
          </a:p>
        </p:txBody>
      </p:sp>
      <p:sp>
        <p:nvSpPr>
          <p:cNvPr id="36" name="">
            <a:extLst xmlns:a="http://schemas.openxmlformats.org/drawingml/2006/main">
              <a:ext uri="{FF2B5EF4-FFF2-40B4-BE49-F238E27FC236}">
                <a16:creationId xmlns:a16="http://schemas.microsoft.com/office/drawing/2014/main" id="{1145BBE9-3336-4B44-9D80-7D28764D05C3}"/>
              </a:ext>
            </a:extLst>
          </p:cNvPr>
          <p:cNvSpPr>
            <a:spLocks xmlns:a="http://schemas.openxmlformats.org/drawingml/2006/main" noGrp="1"/>
          </p:cNvSpPr>
          <p:nvPr/>
        </p:nvSpPr>
        <p:spPr>
          <a:xfrm xmlns:a="http://schemas.openxmlformats.org/drawingml/2006/main">
            <a:off x="6419850" y="4629150"/>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25152B"/>
                </a:solidFill>
                <a:latin typeface="Helvetica Neue"/>
                <a:ea typeface="Helvetica Neue"/>
                <a:cs typeface="Helvetica Neue"/>
              </a:defRPr>
            </a:pPr>
            <a:r>
              <a:rPr sz="1500" b="1">
                <a:solidFill>
                  <a:srgbClr val="25152B"/>
                </a:solidFill>
                <a:latin typeface="Helvetica Neue"/>
                <a:ea typeface="Helvetica Neue"/>
                <a:cs typeface="Helvetica Neue"/>
              </a:rPr>
              <a:t>Reports and chat can contain prompt injection</a:t>
            </a:r>
          </a:p>
        </p:txBody>
      </p:sp>
      <p:sp>
        <p:nvSpPr>
          <p:cNvPr id="37" name="">
            <a:extLst xmlns:a="http://schemas.openxmlformats.org/drawingml/2006/main">
              <a:ext uri="{FF2B5EF4-FFF2-40B4-BE49-F238E27FC236}">
                <a16:creationId xmlns:a16="http://schemas.microsoft.com/office/drawing/2014/main" id="{01CAF6BF-9383-4385-8E53-4B80C438D0CB}"/>
              </a:ext>
            </a:extLst>
          </p:cNvPr>
          <p:cNvSpPr>
            <a:spLocks xmlns:a="http://schemas.openxmlformats.org/drawingml/2006/main" noGrp="1"/>
          </p:cNvSpPr>
          <p:nvPr/>
        </p:nvSpPr>
        <p:spPr>
          <a:xfrm xmlns:a="http://schemas.openxmlformats.org/drawingml/2006/main">
            <a:off x="6419850" y="5029200"/>
            <a:ext cx="466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0">
                <a:solidFill>
                  <a:srgbClr val="514753"/>
                </a:solidFill>
                <a:latin typeface="Helvetica Neue"/>
                <a:ea typeface="Helvetica Neue"/>
                <a:cs typeface="Helvetica Neue"/>
              </a:defRPr>
            </a:pPr>
            <a:r>
              <a:rPr sz="900" b="0">
                <a:solidFill>
                  <a:srgbClr val="514753"/>
                </a:solidFill>
                <a:latin typeface="Helvetica Neue"/>
                <a:ea typeface="Helvetica Neue"/>
                <a:cs typeface="Helvetica Neue"/>
              </a:rPr>
              <a:t>Scan, isolate tools, constrain output, and quarantine failures.</a:t>
            </a:r>
          </a:p>
        </p:txBody>
      </p:sp>
    </p:spTree>
    <p:extLst>
      <p:ext uri="{BB962C8B-B14F-4D97-AF65-F5344CB8AC3E}">
        <p14:creationId xmlns:p14="http://schemas.microsoft.com/office/powerpoint/2010/main" val="1878777792"/>
      </p:ext>
    </p:extLst>
  </p:cSld>
</p:sld>
</file>

<file path=ppt/slides/slide7.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B56593F6-0696-4738-91DD-4BE348B3FD2A}"/>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FAILURE MODES</a:t>
            </a:r>
          </a:p>
        </p:txBody>
      </p:sp>
      <p:sp>
        <p:nvSpPr>
          <p:cNvPr id="2" name="">
            <a:extLst xmlns:a="http://schemas.openxmlformats.org/drawingml/2006/main">
              <a:ext uri="{FF2B5EF4-FFF2-40B4-BE49-F238E27FC236}">
                <a16:creationId xmlns:a16="http://schemas.microsoft.com/office/drawing/2014/main" id="{CD76152B-9F7C-441D-996A-864937B27A6C}"/>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3ABF665D-F629-4417-8A72-62F7D7F79BA9}"/>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89159573-08C8-4EE3-9FC4-E0494C18600F}"/>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The product should fail visibly</a:t>
            </a:r>
          </a:p>
        </p:txBody>
      </p:sp>
      <p:sp>
        <p:nvSpPr>
          <p:cNvPr id="5" name="">
            <a:extLst xmlns:a="http://schemas.openxmlformats.org/drawingml/2006/main">
              <a:ext uri="{FF2B5EF4-FFF2-40B4-BE49-F238E27FC236}">
                <a16:creationId xmlns:a16="http://schemas.microsoft.com/office/drawing/2014/main" id="{421947E9-B9E5-422F-9C1A-0E07D4E66711}"/>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The safest response can be a conflict, a coverage gap, or an abstention.</a:t>
            </a:r>
          </a:p>
        </p:txBody>
      </p:sp>
      <p:sp>
        <p:nvSpPr>
          <p:cNvPr id="6" name="">
            <a:extLst xmlns:a="http://schemas.openxmlformats.org/drawingml/2006/main">
              <a:ext uri="{FF2B5EF4-FFF2-40B4-BE49-F238E27FC236}">
                <a16:creationId xmlns:a16="http://schemas.microsoft.com/office/drawing/2014/main" id="{08CDE131-DAAC-40F0-AF1E-FEE79AF7132F}"/>
              </a:ext>
            </a:extLst>
          </p:cNvPr>
          <p:cNvSpPr>
            <a:spLocks xmlns:a="http://schemas.openxmlformats.org/drawingml/2006/main" noGrp="1"/>
          </p:cNvSpPr>
          <p:nvPr/>
        </p:nvSpPr>
        <p:spPr>
          <a:xfrm xmlns:a="http://schemas.openxmlformats.org/drawingml/2006/main">
            <a:off x="666750" y="2057400"/>
            <a:ext cx="2428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657B3"/>
                </a:solidFill>
                <a:latin typeface="Helvetica Neue"/>
                <a:ea typeface="Helvetica Neue"/>
                <a:cs typeface="Helvetica Neue"/>
              </a:defRPr>
            </a:pPr>
            <a:r>
              <a:rPr sz="750" b="1">
                <a:solidFill>
                  <a:srgbClr val="7657B3"/>
                </a:solidFill>
                <a:latin typeface="Helvetica Neue"/>
                <a:ea typeface="Helvetica Neue"/>
                <a:cs typeface="Helvetica Neue"/>
              </a:rPr>
              <a:t>FAILURE</a:t>
            </a:r>
          </a:p>
        </p:txBody>
      </p:sp>
      <p:sp>
        <p:nvSpPr>
          <p:cNvPr id="7" name="">
            <a:extLst xmlns:a="http://schemas.openxmlformats.org/drawingml/2006/main">
              <a:ext uri="{FF2B5EF4-FFF2-40B4-BE49-F238E27FC236}">
                <a16:creationId xmlns:a16="http://schemas.microsoft.com/office/drawing/2014/main" id="{0641C61A-F3DC-4058-B1BB-2EC3BA20B8EF}"/>
              </a:ext>
            </a:extLst>
          </p:cNvPr>
          <p:cNvSpPr>
            <a:spLocks xmlns:a="http://schemas.openxmlformats.org/drawingml/2006/main" noGrp="1"/>
          </p:cNvSpPr>
          <p:nvPr/>
        </p:nvSpPr>
        <p:spPr>
          <a:xfrm xmlns:a="http://schemas.openxmlformats.org/drawingml/2006/main">
            <a:off x="3409950" y="20574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657B3"/>
                </a:solidFill>
                <a:latin typeface="Helvetica Neue"/>
                <a:ea typeface="Helvetica Neue"/>
                <a:cs typeface="Helvetica Neue"/>
              </a:defRPr>
            </a:pPr>
            <a:r>
              <a:rPr sz="750" b="1">
                <a:solidFill>
                  <a:srgbClr val="7657B3"/>
                </a:solidFill>
                <a:latin typeface="Helvetica Neue"/>
                <a:ea typeface="Helvetica Neue"/>
                <a:cs typeface="Helvetica Neue"/>
              </a:rPr>
              <a:t>PREVENTION</a:t>
            </a:r>
          </a:p>
        </p:txBody>
      </p:sp>
      <p:sp>
        <p:nvSpPr>
          <p:cNvPr id="8" name="">
            <a:extLst xmlns:a="http://schemas.openxmlformats.org/drawingml/2006/main">
              <a:ext uri="{FF2B5EF4-FFF2-40B4-BE49-F238E27FC236}">
                <a16:creationId xmlns:a16="http://schemas.microsoft.com/office/drawing/2014/main" id="{A01389C0-537B-4030-A697-5F5DC2BB00EC}"/>
              </a:ext>
            </a:extLst>
          </p:cNvPr>
          <p:cNvSpPr>
            <a:spLocks xmlns:a="http://schemas.openxmlformats.org/drawingml/2006/main" noGrp="1"/>
          </p:cNvSpPr>
          <p:nvPr/>
        </p:nvSpPr>
        <p:spPr>
          <a:xfrm xmlns:a="http://schemas.openxmlformats.org/drawingml/2006/main">
            <a:off x="7239000" y="2057400"/>
            <a:ext cx="361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657B3"/>
                </a:solidFill>
                <a:latin typeface="Helvetica Neue"/>
                <a:ea typeface="Helvetica Neue"/>
                <a:cs typeface="Helvetica Neue"/>
              </a:defRPr>
            </a:pPr>
            <a:r>
              <a:rPr sz="750" b="1">
                <a:solidFill>
                  <a:srgbClr val="7657B3"/>
                </a:solidFill>
                <a:latin typeface="Helvetica Neue"/>
                <a:ea typeface="Helvetica Neue"/>
                <a:cs typeface="Helvetica Neue"/>
              </a:rPr>
              <a:t>USER EXPERIENCE</a:t>
            </a:r>
          </a:p>
        </p:txBody>
      </p:sp>
      <p:sp>
        <p:nvSpPr>
          <p:cNvPr id="9" name="">
            <a:extLst xmlns:a="http://schemas.openxmlformats.org/drawingml/2006/main">
              <a:ext uri="{FF2B5EF4-FFF2-40B4-BE49-F238E27FC236}">
                <a16:creationId xmlns:a16="http://schemas.microsoft.com/office/drawing/2014/main" id="{F8F8CAB6-7E10-4F48-A7B6-9F915D5D8ECD}"/>
              </a:ext>
            </a:extLst>
          </p:cNvPr>
          <p:cNvSpPr>
            <a:spLocks xmlns:a="http://schemas.openxmlformats.org/drawingml/2006/main" noGrp="1"/>
          </p:cNvSpPr>
          <p:nvPr/>
        </p:nvSpPr>
        <p:spPr>
          <a:xfrm xmlns:a="http://schemas.openxmlformats.org/drawingml/2006/main">
            <a:off x="666750" y="2343150"/>
            <a:ext cx="1019175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10" name="">
            <a:extLst xmlns:a="http://schemas.openxmlformats.org/drawingml/2006/main">
              <a:ext uri="{FF2B5EF4-FFF2-40B4-BE49-F238E27FC236}">
                <a16:creationId xmlns:a16="http://schemas.microsoft.com/office/drawing/2014/main" id="{DE34C60F-A01A-4E57-A079-C76CE1399A7F}"/>
              </a:ext>
            </a:extLst>
          </p:cNvPr>
          <p:cNvSpPr>
            <a:spLocks xmlns:a="http://schemas.openxmlformats.org/drawingml/2006/main" noGrp="1"/>
          </p:cNvSpPr>
          <p:nvPr/>
        </p:nvSpPr>
        <p:spPr>
          <a:xfrm xmlns:a="http://schemas.openxmlformats.org/drawingml/2006/main">
            <a:off x="666750" y="2476500"/>
            <a:ext cx="10191750" cy="428625"/>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11F3C88-5D92-4FDF-82BD-6E073EEE1176}"/>
              </a:ext>
            </a:extLst>
          </p:cNvPr>
          <p:cNvSpPr>
            <a:spLocks xmlns:a="http://schemas.openxmlformats.org/drawingml/2006/main" noGrp="1"/>
          </p:cNvSpPr>
          <p:nvPr/>
        </p:nvSpPr>
        <p:spPr>
          <a:xfrm xmlns:a="http://schemas.openxmlformats.org/drawingml/2006/main">
            <a:off x="838200" y="256222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5152B"/>
                </a:solidFill>
                <a:latin typeface="Helvetica Neue"/>
                <a:ea typeface="Helvetica Neue"/>
                <a:cs typeface="Helvetica Neue"/>
              </a:defRPr>
            </a:pPr>
            <a:r>
              <a:rPr sz="975" b="1">
                <a:solidFill>
                  <a:srgbClr val="25152B"/>
                </a:solidFill>
                <a:latin typeface="Helvetica Neue"/>
                <a:ea typeface="Helvetica Neue"/>
                <a:cs typeface="Helvetica Neue"/>
              </a:rPr>
              <a:t>Permission leak</a:t>
            </a:r>
          </a:p>
        </p:txBody>
      </p:sp>
      <p:sp>
        <p:nvSpPr>
          <p:cNvPr id="12" name="">
            <a:extLst xmlns:a="http://schemas.openxmlformats.org/drawingml/2006/main">
              <a:ext uri="{FF2B5EF4-FFF2-40B4-BE49-F238E27FC236}">
                <a16:creationId xmlns:a16="http://schemas.microsoft.com/office/drawing/2014/main" id="{282C75B9-C53B-483A-B525-96742B15FE3A}"/>
              </a:ext>
            </a:extLst>
          </p:cNvPr>
          <p:cNvSpPr>
            <a:spLocks xmlns:a="http://schemas.openxmlformats.org/drawingml/2006/main" noGrp="1"/>
          </p:cNvSpPr>
          <p:nvPr/>
        </p:nvSpPr>
        <p:spPr>
          <a:xfrm xmlns:a="http://schemas.openxmlformats.org/drawingml/2006/main">
            <a:off x="3409950" y="256222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Block before retrieval</a:t>
            </a:r>
          </a:p>
        </p:txBody>
      </p:sp>
      <p:sp>
        <p:nvSpPr>
          <p:cNvPr id="13" name="">
            <a:extLst xmlns:a="http://schemas.openxmlformats.org/drawingml/2006/main">
              <a:ext uri="{FF2B5EF4-FFF2-40B4-BE49-F238E27FC236}">
                <a16:creationId xmlns:a16="http://schemas.microsoft.com/office/drawing/2014/main" id="{54ED55B6-5DED-43F7-B1F6-902DE24BB7EF}"/>
              </a:ext>
            </a:extLst>
          </p:cNvPr>
          <p:cNvSpPr>
            <a:spLocks xmlns:a="http://schemas.openxmlformats.org/drawingml/2006/main" noGrp="1"/>
          </p:cNvSpPr>
          <p:nvPr/>
        </p:nvSpPr>
        <p:spPr>
          <a:xfrm xmlns:a="http://schemas.openxmlformats.org/drawingml/2006/main">
            <a:off x="7239000" y="256222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E94B2A"/>
                </a:solidFill>
                <a:latin typeface="Helvetica Neue"/>
                <a:ea typeface="Helvetica Neue"/>
                <a:cs typeface="Helvetica Neue"/>
              </a:defRPr>
            </a:pPr>
            <a:r>
              <a:rPr sz="975" b="1">
                <a:solidFill>
                  <a:srgbClr val="E94B2A"/>
                </a:solidFill>
                <a:latin typeface="Helvetica Neue"/>
                <a:ea typeface="Helvetica Neue"/>
                <a:cs typeface="Helvetica Neue"/>
              </a:rPr>
              <a:t>Stop + security event</a:t>
            </a:r>
          </a:p>
        </p:txBody>
      </p:sp>
      <p:sp>
        <p:nvSpPr>
          <p:cNvPr id="14" name="">
            <a:extLst xmlns:a="http://schemas.openxmlformats.org/drawingml/2006/main">
              <a:ext uri="{FF2B5EF4-FFF2-40B4-BE49-F238E27FC236}">
                <a16:creationId xmlns:a16="http://schemas.microsoft.com/office/drawing/2014/main" id="{4DFB0318-FA0C-4392-8A07-40F865292333}"/>
              </a:ext>
            </a:extLst>
          </p:cNvPr>
          <p:cNvSpPr>
            <a:spLocks xmlns:a="http://schemas.openxmlformats.org/drawingml/2006/main" noGrp="1"/>
          </p:cNvSpPr>
          <p:nvPr/>
        </p:nvSpPr>
        <p:spPr>
          <a:xfrm xmlns:a="http://schemas.openxmlformats.org/drawingml/2006/main">
            <a:off x="838200" y="307657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5152B"/>
                </a:solidFill>
                <a:latin typeface="Helvetica Neue"/>
                <a:ea typeface="Helvetica Neue"/>
                <a:cs typeface="Helvetica Neue"/>
              </a:defRPr>
            </a:pPr>
            <a:r>
              <a:rPr sz="975" b="1">
                <a:solidFill>
                  <a:srgbClr val="25152B"/>
                </a:solidFill>
                <a:latin typeface="Helvetica Neue"/>
                <a:ea typeface="Helvetica Neue"/>
                <a:cs typeface="Helvetica Neue"/>
              </a:rPr>
              <a:t>Estimated ≠ actual</a:t>
            </a:r>
          </a:p>
        </p:txBody>
      </p:sp>
      <p:sp>
        <p:nvSpPr>
          <p:cNvPr id="15" name="">
            <a:extLst xmlns:a="http://schemas.openxmlformats.org/drawingml/2006/main">
              <a:ext uri="{FF2B5EF4-FFF2-40B4-BE49-F238E27FC236}">
                <a16:creationId xmlns:a16="http://schemas.microsoft.com/office/drawing/2014/main" id="{C7ED1356-7B46-4B01-B931-3A3FF796C68D}"/>
              </a:ext>
            </a:extLst>
          </p:cNvPr>
          <p:cNvSpPr>
            <a:spLocks xmlns:a="http://schemas.openxmlformats.org/drawingml/2006/main" noGrp="1"/>
          </p:cNvSpPr>
          <p:nvPr/>
        </p:nvSpPr>
        <p:spPr>
          <a:xfrm xmlns:a="http://schemas.openxmlformats.org/drawingml/2006/main">
            <a:off x="3409950" y="307657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Typed metrics + model version</a:t>
            </a:r>
          </a:p>
        </p:txBody>
      </p:sp>
      <p:sp>
        <p:nvSpPr>
          <p:cNvPr id="16" name="">
            <a:extLst xmlns:a="http://schemas.openxmlformats.org/drawingml/2006/main">
              <a:ext uri="{FF2B5EF4-FFF2-40B4-BE49-F238E27FC236}">
                <a16:creationId xmlns:a16="http://schemas.microsoft.com/office/drawing/2014/main" id="{8F8E6BEC-D595-4326-BCC7-43258BF302D0}"/>
              </a:ext>
            </a:extLst>
          </p:cNvPr>
          <p:cNvSpPr>
            <a:spLocks xmlns:a="http://schemas.openxmlformats.org/drawingml/2006/main" noGrp="1"/>
          </p:cNvSpPr>
          <p:nvPr/>
        </p:nvSpPr>
        <p:spPr>
          <a:xfrm xmlns:a="http://schemas.openxmlformats.org/drawingml/2006/main">
            <a:off x="7239000" y="307657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Compare with labels</a:t>
            </a:r>
          </a:p>
        </p:txBody>
      </p:sp>
      <p:sp>
        <p:nvSpPr>
          <p:cNvPr id="17" name="">
            <a:extLst xmlns:a="http://schemas.openxmlformats.org/drawingml/2006/main">
              <a:ext uri="{FF2B5EF4-FFF2-40B4-BE49-F238E27FC236}">
                <a16:creationId xmlns:a16="http://schemas.microsoft.com/office/drawing/2014/main" id="{FC5B73B1-A362-4B5C-BA46-519AD300DBE6}"/>
              </a:ext>
            </a:extLst>
          </p:cNvPr>
          <p:cNvSpPr>
            <a:spLocks xmlns:a="http://schemas.openxmlformats.org/drawingml/2006/main" noGrp="1"/>
          </p:cNvSpPr>
          <p:nvPr/>
        </p:nvSpPr>
        <p:spPr>
          <a:xfrm xmlns:a="http://schemas.openxmlformats.org/drawingml/2006/main">
            <a:off x="666750" y="3505200"/>
            <a:ext cx="10191750" cy="428625"/>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795C0C7-5F22-4C7D-B2B5-4F4D02F62E56}"/>
              </a:ext>
            </a:extLst>
          </p:cNvPr>
          <p:cNvSpPr>
            <a:spLocks xmlns:a="http://schemas.openxmlformats.org/drawingml/2006/main" noGrp="1"/>
          </p:cNvSpPr>
          <p:nvPr/>
        </p:nvSpPr>
        <p:spPr>
          <a:xfrm xmlns:a="http://schemas.openxmlformats.org/drawingml/2006/main">
            <a:off x="838200" y="359092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5152B"/>
                </a:solidFill>
                <a:latin typeface="Helvetica Neue"/>
                <a:ea typeface="Helvetica Neue"/>
                <a:cs typeface="Helvetica Neue"/>
              </a:defRPr>
            </a:pPr>
            <a:r>
              <a:rPr sz="975" b="1">
                <a:solidFill>
                  <a:srgbClr val="25152B"/>
                </a:solidFill>
                <a:latin typeface="Helvetica Neue"/>
                <a:ea typeface="Helvetica Neue"/>
                <a:cs typeface="Helvetica Neue"/>
              </a:rPr>
              <a:t>Conflicting records</a:t>
            </a:r>
          </a:p>
        </p:txBody>
      </p:sp>
      <p:sp>
        <p:nvSpPr>
          <p:cNvPr id="19" name="">
            <a:extLst xmlns:a="http://schemas.openxmlformats.org/drawingml/2006/main">
              <a:ext uri="{FF2B5EF4-FFF2-40B4-BE49-F238E27FC236}">
                <a16:creationId xmlns:a16="http://schemas.microsoft.com/office/drawing/2014/main" id="{C5EC450F-D7D7-4232-9F13-6D8C897FEC11}"/>
              </a:ext>
            </a:extLst>
          </p:cNvPr>
          <p:cNvSpPr>
            <a:spLocks xmlns:a="http://schemas.openxmlformats.org/drawingml/2006/main" noGrp="1"/>
          </p:cNvSpPr>
          <p:nvPr/>
        </p:nvSpPr>
        <p:spPr>
          <a:xfrm xmlns:a="http://schemas.openxmlformats.org/drawingml/2006/main">
            <a:off x="3409950" y="359092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Source-of-truth matrix</a:t>
            </a:r>
          </a:p>
        </p:txBody>
      </p:sp>
      <p:sp>
        <p:nvSpPr>
          <p:cNvPr id="20" name="">
            <a:extLst xmlns:a="http://schemas.openxmlformats.org/drawingml/2006/main">
              <a:ext uri="{FF2B5EF4-FFF2-40B4-BE49-F238E27FC236}">
                <a16:creationId xmlns:a16="http://schemas.microsoft.com/office/drawing/2014/main" id="{6A4F5342-0C6A-457A-B78B-6F7629C58918}"/>
              </a:ext>
            </a:extLst>
          </p:cNvPr>
          <p:cNvSpPr>
            <a:spLocks xmlns:a="http://schemas.openxmlformats.org/drawingml/2006/main" noGrp="1"/>
          </p:cNvSpPr>
          <p:nvPr/>
        </p:nvSpPr>
        <p:spPr>
          <a:xfrm xmlns:a="http://schemas.openxmlformats.org/drawingml/2006/main">
            <a:off x="7239000" y="359092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Show values, dates, owner</a:t>
            </a:r>
          </a:p>
        </p:txBody>
      </p:sp>
      <p:sp>
        <p:nvSpPr>
          <p:cNvPr id="21" name="">
            <a:extLst xmlns:a="http://schemas.openxmlformats.org/drawingml/2006/main">
              <a:ext uri="{FF2B5EF4-FFF2-40B4-BE49-F238E27FC236}">
                <a16:creationId xmlns:a16="http://schemas.microsoft.com/office/drawing/2014/main" id="{A794F5F4-98A2-47F0-B327-071E8AD7E67E}"/>
              </a:ext>
            </a:extLst>
          </p:cNvPr>
          <p:cNvSpPr>
            <a:spLocks xmlns:a="http://schemas.openxmlformats.org/drawingml/2006/main" noGrp="1"/>
          </p:cNvSpPr>
          <p:nvPr/>
        </p:nvSpPr>
        <p:spPr>
          <a:xfrm xmlns:a="http://schemas.openxmlformats.org/drawingml/2006/main">
            <a:off x="838200" y="410527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5152B"/>
                </a:solidFill>
                <a:latin typeface="Helvetica Neue"/>
                <a:ea typeface="Helvetica Neue"/>
                <a:cs typeface="Helvetica Neue"/>
              </a:defRPr>
            </a:pPr>
            <a:r>
              <a:rPr sz="975" b="1">
                <a:solidFill>
                  <a:srgbClr val="25152B"/>
                </a:solidFill>
                <a:latin typeface="Helvetica Neue"/>
                <a:ea typeface="Helvetica Neue"/>
                <a:cs typeface="Helvetica Neue"/>
              </a:rPr>
              <a:t>Wrong entity merge</a:t>
            </a:r>
          </a:p>
        </p:txBody>
      </p:sp>
      <p:sp>
        <p:nvSpPr>
          <p:cNvPr id="22" name="">
            <a:extLst xmlns:a="http://schemas.openxmlformats.org/drawingml/2006/main">
              <a:ext uri="{FF2B5EF4-FFF2-40B4-BE49-F238E27FC236}">
                <a16:creationId xmlns:a16="http://schemas.microsoft.com/office/drawing/2014/main" id="{9E03C18C-EB2E-4D61-8E14-32F726A7D36C}"/>
              </a:ext>
            </a:extLst>
          </p:cNvPr>
          <p:cNvSpPr>
            <a:spLocks xmlns:a="http://schemas.openxmlformats.org/drawingml/2006/main" noGrp="1"/>
          </p:cNvSpPr>
          <p:nvPr/>
        </p:nvSpPr>
        <p:spPr>
          <a:xfrm xmlns:a="http://schemas.openxmlformats.org/drawingml/2006/main">
            <a:off x="3409950" y="410527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Stable IDs + review queue</a:t>
            </a:r>
          </a:p>
        </p:txBody>
      </p:sp>
      <p:sp>
        <p:nvSpPr>
          <p:cNvPr id="23" name="">
            <a:extLst xmlns:a="http://schemas.openxmlformats.org/drawingml/2006/main">
              <a:ext uri="{FF2B5EF4-FFF2-40B4-BE49-F238E27FC236}">
                <a16:creationId xmlns:a16="http://schemas.microsoft.com/office/drawing/2014/main" id="{055EF880-189A-42E2-A715-1D1DDBB19E5A}"/>
              </a:ext>
            </a:extLst>
          </p:cNvPr>
          <p:cNvSpPr>
            <a:spLocks xmlns:a="http://schemas.openxmlformats.org/drawingml/2006/main" noGrp="1"/>
          </p:cNvSpPr>
          <p:nvPr/>
        </p:nvSpPr>
        <p:spPr>
          <a:xfrm xmlns:a="http://schemas.openxmlformats.org/drawingml/2006/main">
            <a:off x="7239000" y="410527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Keep separate</a:t>
            </a:r>
          </a:p>
        </p:txBody>
      </p:sp>
      <p:sp>
        <p:nvSpPr>
          <p:cNvPr id="24" name="">
            <a:extLst xmlns:a="http://schemas.openxmlformats.org/drawingml/2006/main">
              <a:ext uri="{FF2B5EF4-FFF2-40B4-BE49-F238E27FC236}">
                <a16:creationId xmlns:a16="http://schemas.microsoft.com/office/drawing/2014/main" id="{11EBFAD5-EC97-4330-8634-9D7A53475318}"/>
              </a:ext>
            </a:extLst>
          </p:cNvPr>
          <p:cNvSpPr>
            <a:spLocks xmlns:a="http://schemas.openxmlformats.org/drawingml/2006/main" noGrp="1"/>
          </p:cNvSpPr>
          <p:nvPr/>
        </p:nvSpPr>
        <p:spPr>
          <a:xfrm xmlns:a="http://schemas.openxmlformats.org/drawingml/2006/main">
            <a:off x="666750" y="4533900"/>
            <a:ext cx="10191750" cy="428625"/>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69EDE609-6A0B-4FB1-A10A-4D89796207AA}"/>
              </a:ext>
            </a:extLst>
          </p:cNvPr>
          <p:cNvSpPr>
            <a:spLocks xmlns:a="http://schemas.openxmlformats.org/drawingml/2006/main" noGrp="1"/>
          </p:cNvSpPr>
          <p:nvPr/>
        </p:nvSpPr>
        <p:spPr>
          <a:xfrm xmlns:a="http://schemas.openxmlformats.org/drawingml/2006/main">
            <a:off x="838200" y="461962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5152B"/>
                </a:solidFill>
                <a:latin typeface="Helvetica Neue"/>
                <a:ea typeface="Helvetica Neue"/>
                <a:cs typeface="Helvetica Neue"/>
              </a:defRPr>
            </a:pPr>
            <a:r>
              <a:rPr sz="975" b="1">
                <a:solidFill>
                  <a:srgbClr val="25152B"/>
                </a:solidFill>
                <a:latin typeface="Helvetica Neue"/>
                <a:ea typeface="Helvetica Neue"/>
                <a:cs typeface="Helvetica Neue"/>
              </a:rPr>
              <a:t>Missing Zoom history</a:t>
            </a:r>
          </a:p>
        </p:txBody>
      </p:sp>
      <p:sp>
        <p:nvSpPr>
          <p:cNvPr id="26" name="">
            <a:extLst xmlns:a="http://schemas.openxmlformats.org/drawingml/2006/main">
              <a:ext uri="{FF2B5EF4-FFF2-40B4-BE49-F238E27FC236}">
                <a16:creationId xmlns:a16="http://schemas.microsoft.com/office/drawing/2014/main" id="{F69A177F-95AE-41DD-A8E3-E3591CB6E847}"/>
              </a:ext>
            </a:extLst>
          </p:cNvPr>
          <p:cNvSpPr>
            <a:spLocks xmlns:a="http://schemas.openxmlformats.org/drawingml/2006/main" noGrp="1"/>
          </p:cNvSpPr>
          <p:nvPr/>
        </p:nvSpPr>
        <p:spPr>
          <a:xfrm xmlns:a="http://schemas.openxmlformats.org/drawingml/2006/main">
            <a:off x="3409950" y="461962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Retention audit</a:t>
            </a:r>
          </a:p>
        </p:txBody>
      </p:sp>
      <p:sp>
        <p:nvSpPr>
          <p:cNvPr id="27" name="">
            <a:extLst xmlns:a="http://schemas.openxmlformats.org/drawingml/2006/main">
              <a:ext uri="{FF2B5EF4-FFF2-40B4-BE49-F238E27FC236}">
                <a16:creationId xmlns:a16="http://schemas.microsoft.com/office/drawing/2014/main" id="{DEFDB3BE-2D9B-4787-B981-43BCB8140FC5}"/>
              </a:ext>
            </a:extLst>
          </p:cNvPr>
          <p:cNvSpPr>
            <a:spLocks xmlns:a="http://schemas.openxmlformats.org/drawingml/2006/main" noGrp="1"/>
          </p:cNvSpPr>
          <p:nvPr/>
        </p:nvSpPr>
        <p:spPr>
          <a:xfrm xmlns:a="http://schemas.openxmlformats.org/drawingml/2006/main">
            <a:off x="7239000" y="461962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Show date/channel gap</a:t>
            </a:r>
          </a:p>
        </p:txBody>
      </p:sp>
      <p:sp>
        <p:nvSpPr>
          <p:cNvPr id="28" name="">
            <a:extLst xmlns:a="http://schemas.openxmlformats.org/drawingml/2006/main">
              <a:ext uri="{FF2B5EF4-FFF2-40B4-BE49-F238E27FC236}">
                <a16:creationId xmlns:a16="http://schemas.microsoft.com/office/drawing/2014/main" id="{AD002026-880A-4D01-B81A-ED21B6878A3B}"/>
              </a:ext>
            </a:extLst>
          </p:cNvPr>
          <p:cNvSpPr>
            <a:spLocks xmlns:a="http://schemas.openxmlformats.org/drawingml/2006/main" noGrp="1"/>
          </p:cNvSpPr>
          <p:nvPr/>
        </p:nvSpPr>
        <p:spPr>
          <a:xfrm xmlns:a="http://schemas.openxmlformats.org/drawingml/2006/main">
            <a:off x="838200" y="513397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5152B"/>
                </a:solidFill>
                <a:latin typeface="Helvetica Neue"/>
                <a:ea typeface="Helvetica Neue"/>
                <a:cs typeface="Helvetica Neue"/>
              </a:defRPr>
            </a:pPr>
            <a:r>
              <a:rPr sz="975" b="1">
                <a:solidFill>
                  <a:srgbClr val="25152B"/>
                </a:solidFill>
                <a:latin typeface="Helvetica Neue"/>
                <a:ea typeface="Helvetica Neue"/>
                <a:cs typeface="Helvetica Neue"/>
              </a:rPr>
              <a:t>Weak evidence</a:t>
            </a:r>
          </a:p>
        </p:txBody>
      </p:sp>
      <p:sp>
        <p:nvSpPr>
          <p:cNvPr id="29" name="">
            <a:extLst xmlns:a="http://schemas.openxmlformats.org/drawingml/2006/main">
              <a:ext uri="{FF2B5EF4-FFF2-40B4-BE49-F238E27FC236}">
                <a16:creationId xmlns:a16="http://schemas.microsoft.com/office/drawing/2014/main" id="{2DB4B0BA-E89B-49AA-89EB-167B73BFB746}"/>
              </a:ext>
            </a:extLst>
          </p:cNvPr>
          <p:cNvSpPr>
            <a:spLocks xmlns:a="http://schemas.openxmlformats.org/drawingml/2006/main" noGrp="1"/>
          </p:cNvSpPr>
          <p:nvPr/>
        </p:nvSpPr>
        <p:spPr>
          <a:xfrm xmlns:a="http://schemas.openxmlformats.org/drawingml/2006/main">
            <a:off x="3409950" y="513397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Groundedness + citation gate</a:t>
            </a:r>
          </a:p>
        </p:txBody>
      </p:sp>
      <p:sp>
        <p:nvSpPr>
          <p:cNvPr id="30" name="">
            <a:extLst xmlns:a="http://schemas.openxmlformats.org/drawingml/2006/main">
              <a:ext uri="{FF2B5EF4-FFF2-40B4-BE49-F238E27FC236}">
                <a16:creationId xmlns:a16="http://schemas.microsoft.com/office/drawing/2014/main" id="{CA11E0E9-C845-47C3-9B26-08D313BED97A}"/>
              </a:ext>
            </a:extLst>
          </p:cNvPr>
          <p:cNvSpPr>
            <a:spLocks xmlns:a="http://schemas.openxmlformats.org/drawingml/2006/main" noGrp="1"/>
          </p:cNvSpPr>
          <p:nvPr/>
        </p:nvSpPr>
        <p:spPr>
          <a:xfrm xmlns:a="http://schemas.openxmlformats.org/drawingml/2006/main">
            <a:off x="7239000" y="513397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Abstain</a:t>
            </a:r>
          </a:p>
        </p:txBody>
      </p:sp>
      <p:sp>
        <p:nvSpPr>
          <p:cNvPr id="31" name="">
            <a:extLst xmlns:a="http://schemas.openxmlformats.org/drawingml/2006/main">
              <a:ext uri="{FF2B5EF4-FFF2-40B4-BE49-F238E27FC236}">
                <a16:creationId xmlns:a16="http://schemas.microsoft.com/office/drawing/2014/main" id="{034A8B3F-43BB-4DE2-BA60-052131AC1032}"/>
              </a:ext>
            </a:extLst>
          </p:cNvPr>
          <p:cNvSpPr>
            <a:spLocks xmlns:a="http://schemas.openxmlformats.org/drawingml/2006/main" noGrp="1"/>
          </p:cNvSpPr>
          <p:nvPr/>
        </p:nvSpPr>
        <p:spPr>
          <a:xfrm xmlns:a="http://schemas.openxmlformats.org/drawingml/2006/main">
            <a:off x="666750" y="5715000"/>
            <a:ext cx="10191750" cy="381000"/>
          </a:xfrm>
          <a:prstGeom xmlns:a="http://schemas.openxmlformats.org/drawingml/2006/main" prst="roundRect">
            <a:avLst>
              <a:gd name="adj" fmla="val 30000"/>
            </a:avLst>
          </a:prstGeom>
          <a:solidFill xmlns:a="http://schemas.openxmlformats.org/drawingml/2006/main">
            <a:srgbClr val="FFF0EA"/>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35ADDCE1-37C9-49C3-B180-F3D3FAB13FBA}"/>
              </a:ext>
            </a:extLst>
          </p:cNvPr>
          <p:cNvSpPr>
            <a:spLocks xmlns:a="http://schemas.openxmlformats.org/drawingml/2006/main" noGrp="1"/>
          </p:cNvSpPr>
          <p:nvPr/>
        </p:nvSpPr>
        <p:spPr>
          <a:xfrm xmlns:a="http://schemas.openxmlformats.org/drawingml/2006/main">
            <a:off x="876300" y="5781675"/>
            <a:ext cx="9772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E94B2A"/>
                </a:solidFill>
                <a:latin typeface="Helvetica Neue"/>
                <a:ea typeface="Helvetica Neue"/>
                <a:cs typeface="Helvetica Neue"/>
              </a:defRPr>
            </a:pPr>
            <a:r>
              <a:rPr sz="975" b="1">
                <a:solidFill>
                  <a:srgbClr val="E94B2A"/>
                </a:solidFill>
                <a:latin typeface="Helvetica Neue"/>
                <a:ea typeface="Helvetica Neue"/>
                <a:cs typeface="Helvetica Neue"/>
              </a:rPr>
              <a:t>Confidence describes evidence quality, never the model’s feelings.</a:t>
            </a:r>
          </a:p>
        </p:txBody>
      </p:sp>
    </p:spTree>
    <p:extLst>
      <p:ext uri="{BB962C8B-B14F-4D97-AF65-F5344CB8AC3E}">
        <p14:creationId xmlns:p14="http://schemas.microsoft.com/office/powerpoint/2010/main" val="94950759"/>
      </p:ext>
    </p:extLst>
  </p:cSld>
</p:sld>
</file>

<file path=ppt/slides/slide8.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B672B439-26CF-405E-BF24-8133122BED8B}"/>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BUILD STATUS</a:t>
            </a:r>
          </a:p>
        </p:txBody>
      </p:sp>
      <p:sp>
        <p:nvSpPr>
          <p:cNvPr id="2" name="">
            <a:extLst xmlns:a="http://schemas.openxmlformats.org/drawingml/2006/main">
              <a:ext uri="{FF2B5EF4-FFF2-40B4-BE49-F238E27FC236}">
                <a16:creationId xmlns:a16="http://schemas.microsoft.com/office/drawing/2014/main" id="{AC842D58-E8BC-4510-91D1-E08ACC63EC44}"/>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38115B18-FCFE-4753-9DFE-4C675C9FAD01}"/>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562810FE-94A0-4305-8A1B-B31A055CC5AE}"/>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A working slice now supports the case study</a:t>
            </a:r>
          </a:p>
        </p:txBody>
      </p:sp>
      <p:sp>
        <p:nvSpPr>
          <p:cNvPr id="5" name="">
            <a:extLst xmlns:a="http://schemas.openxmlformats.org/drawingml/2006/main">
              <a:ext uri="{FF2B5EF4-FFF2-40B4-BE49-F238E27FC236}">
                <a16:creationId xmlns:a16="http://schemas.microsoft.com/office/drawing/2014/main" id="{9BCE6FEE-61FD-485C-913A-B6182B8CAB73}"/>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The remaining gaps depend on Foundation access, ownership, and operating approval.</a:t>
            </a:r>
          </a:p>
        </p:txBody>
      </p:sp>
      <p:sp>
        <p:nvSpPr>
          <p:cNvPr id="6" name="">
            <a:extLst xmlns:a="http://schemas.openxmlformats.org/drawingml/2006/main">
              <a:ext uri="{FF2B5EF4-FFF2-40B4-BE49-F238E27FC236}">
                <a16:creationId xmlns:a16="http://schemas.microsoft.com/office/drawing/2014/main" id="{BD673F75-29C8-45D0-93BC-454A9CF87FBE}"/>
              </a:ext>
            </a:extLst>
          </p:cNvPr>
          <p:cNvSpPr>
            <a:spLocks xmlns:a="http://schemas.openxmlformats.org/drawingml/2006/main" noGrp="1"/>
          </p:cNvSpPr>
          <p:nvPr/>
        </p:nvSpPr>
        <p:spPr>
          <a:xfrm xmlns:a="http://schemas.openxmlformats.org/drawingml/2006/main">
            <a:off x="666750" y="20097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2F8A5D"/>
                </a:solidFill>
                <a:latin typeface="Helvetica Neue"/>
                <a:ea typeface="Helvetica Neue"/>
                <a:cs typeface="Helvetica Neue"/>
              </a:defRPr>
            </a:pPr>
            <a:r>
              <a:rPr sz="900" b="1">
                <a:solidFill>
                  <a:srgbClr val="2F8A5D"/>
                </a:solidFill>
                <a:latin typeface="Helvetica Neue"/>
                <a:ea typeface="Helvetica Neue"/>
                <a:cs typeface="Helvetica Neue"/>
              </a:rPr>
              <a:t>WORKING NOW</a:t>
            </a:r>
          </a:p>
        </p:txBody>
      </p:sp>
      <p:sp>
        <p:nvSpPr>
          <p:cNvPr id="7" name="">
            <a:extLst xmlns:a="http://schemas.openxmlformats.org/drawingml/2006/main">
              <a:ext uri="{FF2B5EF4-FFF2-40B4-BE49-F238E27FC236}">
                <a16:creationId xmlns:a16="http://schemas.microsoft.com/office/drawing/2014/main" id="{A8BFEA4F-E4E2-4BD7-B067-304718FBE6D7}"/>
              </a:ext>
            </a:extLst>
          </p:cNvPr>
          <p:cNvSpPr>
            <a:spLocks xmlns:a="http://schemas.openxmlformats.org/drawingml/2006/main" noGrp="1"/>
          </p:cNvSpPr>
          <p:nvPr/>
        </p:nvSpPr>
        <p:spPr>
          <a:xfrm xmlns:a="http://schemas.openxmlformats.org/drawingml/2006/main">
            <a:off x="6381750" y="2009775"/>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E94B2A"/>
                </a:solidFill>
                <a:latin typeface="Helvetica Neue"/>
                <a:ea typeface="Helvetica Neue"/>
                <a:cs typeface="Helvetica Neue"/>
              </a:defRPr>
            </a:pPr>
            <a:r>
              <a:rPr sz="900" b="1">
                <a:solidFill>
                  <a:srgbClr val="E94B2A"/>
                </a:solidFill>
                <a:latin typeface="Helvetica Neue"/>
                <a:ea typeface="Helvetica Neue"/>
                <a:cs typeface="Helvetica Neue"/>
              </a:rPr>
              <a:t>FOUNDATION-GATED NEXT</a:t>
            </a:r>
          </a:p>
        </p:txBody>
      </p:sp>
      <p:sp>
        <p:nvSpPr>
          <p:cNvPr id="8" name="">
            <a:extLst xmlns:a="http://schemas.openxmlformats.org/drawingml/2006/main">
              <a:ext uri="{FF2B5EF4-FFF2-40B4-BE49-F238E27FC236}">
                <a16:creationId xmlns:a16="http://schemas.microsoft.com/office/drawing/2014/main" id="{D4FCAE3F-5127-4BC6-97AE-04B0295330FC}"/>
              </a:ext>
            </a:extLst>
          </p:cNvPr>
          <p:cNvSpPr>
            <a:spLocks xmlns:a="http://schemas.openxmlformats.org/drawingml/2006/main" noGrp="1"/>
          </p:cNvSpPr>
          <p:nvPr/>
        </p:nvSpPr>
        <p:spPr>
          <a:xfrm xmlns:a="http://schemas.openxmlformats.org/drawingml/2006/main">
            <a:off x="666750" y="2409825"/>
            <a:ext cx="4857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9" name="">
            <a:extLst xmlns:a="http://schemas.openxmlformats.org/drawingml/2006/main">
              <a:ext uri="{FF2B5EF4-FFF2-40B4-BE49-F238E27FC236}">
                <a16:creationId xmlns:a16="http://schemas.microsoft.com/office/drawing/2014/main" id="{3BFF489A-5724-4628-9E25-D2E52BCBA1C8}"/>
              </a:ext>
            </a:extLst>
          </p:cNvPr>
          <p:cNvSpPr>
            <a:spLocks xmlns:a="http://schemas.openxmlformats.org/drawingml/2006/main" noGrp="1"/>
          </p:cNvSpPr>
          <p:nvPr/>
        </p:nvSpPr>
        <p:spPr>
          <a:xfrm xmlns:a="http://schemas.openxmlformats.org/drawingml/2006/main">
            <a:off x="838200" y="2543175"/>
            <a:ext cx="152400" cy="15240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143AF44-2D74-4069-8A7A-8D6F82944F28}"/>
              </a:ext>
            </a:extLst>
          </p:cNvPr>
          <p:cNvSpPr>
            <a:spLocks xmlns:a="http://schemas.openxmlformats.org/drawingml/2006/main" noGrp="1"/>
          </p:cNvSpPr>
          <p:nvPr/>
        </p:nvSpPr>
        <p:spPr>
          <a:xfrm xmlns:a="http://schemas.openxmlformats.org/drawingml/2006/main">
            <a:off x="838200" y="251460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571375C1-98E9-4AB8-A37B-F3623500083D}"/>
              </a:ext>
            </a:extLst>
          </p:cNvPr>
          <p:cNvSpPr>
            <a:spLocks xmlns:a="http://schemas.openxmlformats.org/drawingml/2006/main" noGrp="1"/>
          </p:cNvSpPr>
          <p:nvPr/>
        </p:nvSpPr>
        <p:spPr>
          <a:xfrm xmlns:a="http://schemas.openxmlformats.org/drawingml/2006/main">
            <a:off x="1123950" y="248602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Responsive app and four API routes</a:t>
            </a:r>
          </a:p>
        </p:txBody>
      </p:sp>
      <p:sp>
        <p:nvSpPr>
          <p:cNvPr id="12" name="">
            <a:extLst xmlns:a="http://schemas.openxmlformats.org/drawingml/2006/main">
              <a:ext uri="{FF2B5EF4-FFF2-40B4-BE49-F238E27FC236}">
                <a16:creationId xmlns:a16="http://schemas.microsoft.com/office/drawing/2014/main" id="{8E2D4BB0-23BE-4D98-87AA-5BD065E5A1BA}"/>
              </a:ext>
            </a:extLst>
          </p:cNvPr>
          <p:cNvSpPr>
            <a:spLocks xmlns:a="http://schemas.openxmlformats.org/drawingml/2006/main" noGrp="1"/>
          </p:cNvSpPr>
          <p:nvPr/>
        </p:nvSpPr>
        <p:spPr>
          <a:xfrm xmlns:a="http://schemas.openxmlformats.org/drawingml/2006/main">
            <a:off x="666750" y="2962275"/>
            <a:ext cx="4857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13" name="">
            <a:extLst xmlns:a="http://schemas.openxmlformats.org/drawingml/2006/main">
              <a:ext uri="{FF2B5EF4-FFF2-40B4-BE49-F238E27FC236}">
                <a16:creationId xmlns:a16="http://schemas.microsoft.com/office/drawing/2014/main" id="{706AA04A-8127-4B82-B03C-81B10D1B4016}"/>
              </a:ext>
            </a:extLst>
          </p:cNvPr>
          <p:cNvSpPr>
            <a:spLocks xmlns:a="http://schemas.openxmlformats.org/drawingml/2006/main" noGrp="1"/>
          </p:cNvSpPr>
          <p:nvPr/>
        </p:nvSpPr>
        <p:spPr>
          <a:xfrm xmlns:a="http://schemas.openxmlformats.org/drawingml/2006/main">
            <a:off x="838200" y="3095625"/>
            <a:ext cx="152400" cy="15240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F799208-B041-49B5-9EAC-79D67C79FD2E}"/>
              </a:ext>
            </a:extLst>
          </p:cNvPr>
          <p:cNvSpPr>
            <a:spLocks xmlns:a="http://schemas.openxmlformats.org/drawingml/2006/main" noGrp="1"/>
          </p:cNvSpPr>
          <p:nvPr/>
        </p:nvSpPr>
        <p:spPr>
          <a:xfrm xmlns:a="http://schemas.openxmlformats.org/drawingml/2006/main">
            <a:off x="838200" y="306705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15" name="">
            <a:extLst xmlns:a="http://schemas.openxmlformats.org/drawingml/2006/main">
              <a:ext uri="{FF2B5EF4-FFF2-40B4-BE49-F238E27FC236}">
                <a16:creationId xmlns:a16="http://schemas.microsoft.com/office/drawing/2014/main" id="{CB3D71EC-AE21-4DE7-B1B9-A499E366AA0D}"/>
              </a:ext>
            </a:extLst>
          </p:cNvPr>
          <p:cNvSpPr>
            <a:spLocks xmlns:a="http://schemas.openxmlformats.org/drawingml/2006/main" noGrp="1"/>
          </p:cNvSpPr>
          <p:nvPr/>
        </p:nvSpPr>
        <p:spPr>
          <a:xfrm xmlns:a="http://schemas.openxmlformats.org/drawingml/2006/main">
            <a:off x="1123950" y="303847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Exact-account admission logic</a:t>
            </a:r>
          </a:p>
        </p:txBody>
      </p:sp>
      <p:sp>
        <p:nvSpPr>
          <p:cNvPr id="16" name="">
            <a:extLst xmlns:a="http://schemas.openxmlformats.org/drawingml/2006/main">
              <a:ext uri="{FF2B5EF4-FFF2-40B4-BE49-F238E27FC236}">
                <a16:creationId xmlns:a16="http://schemas.microsoft.com/office/drawing/2014/main" id="{16C157DF-F438-4246-8104-BBDC9F6FC31B}"/>
              </a:ext>
            </a:extLst>
          </p:cNvPr>
          <p:cNvSpPr>
            <a:spLocks xmlns:a="http://schemas.openxmlformats.org/drawingml/2006/main" noGrp="1"/>
          </p:cNvSpPr>
          <p:nvPr/>
        </p:nvSpPr>
        <p:spPr>
          <a:xfrm xmlns:a="http://schemas.openxmlformats.org/drawingml/2006/main">
            <a:off x="666750" y="3514725"/>
            <a:ext cx="4857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17" name="">
            <a:extLst xmlns:a="http://schemas.openxmlformats.org/drawingml/2006/main">
              <a:ext uri="{FF2B5EF4-FFF2-40B4-BE49-F238E27FC236}">
                <a16:creationId xmlns:a16="http://schemas.microsoft.com/office/drawing/2014/main" id="{5E00B157-84B9-4FA2-BF8C-46355C5390AD}"/>
              </a:ext>
            </a:extLst>
          </p:cNvPr>
          <p:cNvSpPr>
            <a:spLocks xmlns:a="http://schemas.openxmlformats.org/drawingml/2006/main" noGrp="1"/>
          </p:cNvSpPr>
          <p:nvPr/>
        </p:nvSpPr>
        <p:spPr>
          <a:xfrm xmlns:a="http://schemas.openxmlformats.org/drawingml/2006/main">
            <a:off x="838200" y="3648075"/>
            <a:ext cx="152400" cy="15240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B185DFD-7298-402F-B719-5242E0DDBAC7}"/>
              </a:ext>
            </a:extLst>
          </p:cNvPr>
          <p:cNvSpPr>
            <a:spLocks xmlns:a="http://schemas.openxmlformats.org/drawingml/2006/main" noGrp="1"/>
          </p:cNvSpPr>
          <p:nvPr/>
        </p:nvSpPr>
        <p:spPr>
          <a:xfrm xmlns:a="http://schemas.openxmlformats.org/drawingml/2006/main">
            <a:off x="838200" y="361950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19" name="">
            <a:extLst xmlns:a="http://schemas.openxmlformats.org/drawingml/2006/main">
              <a:ext uri="{FF2B5EF4-FFF2-40B4-BE49-F238E27FC236}">
                <a16:creationId xmlns:a16="http://schemas.microsoft.com/office/drawing/2014/main" id="{28DF9796-5D12-4E23-81F9-B433B32C9ED7}"/>
              </a:ext>
            </a:extLst>
          </p:cNvPr>
          <p:cNvSpPr>
            <a:spLocks xmlns:a="http://schemas.openxmlformats.org/drawingml/2006/main" noGrp="1"/>
          </p:cNvSpPr>
          <p:nvPr/>
        </p:nvSpPr>
        <p:spPr>
          <a:xfrm xmlns:a="http://schemas.openxmlformats.org/drawingml/2006/main">
            <a:off x="1123950" y="359092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Pre-retrieval policy filtering</a:t>
            </a:r>
          </a:p>
        </p:txBody>
      </p:sp>
      <p:sp>
        <p:nvSpPr>
          <p:cNvPr id="20" name="">
            <a:extLst xmlns:a="http://schemas.openxmlformats.org/drawingml/2006/main">
              <a:ext uri="{FF2B5EF4-FFF2-40B4-BE49-F238E27FC236}">
                <a16:creationId xmlns:a16="http://schemas.microsoft.com/office/drawing/2014/main" id="{A4190431-F58D-4C61-86B6-5E049472BBE2}"/>
              </a:ext>
            </a:extLst>
          </p:cNvPr>
          <p:cNvSpPr>
            <a:spLocks xmlns:a="http://schemas.openxmlformats.org/drawingml/2006/main" noGrp="1"/>
          </p:cNvSpPr>
          <p:nvPr/>
        </p:nvSpPr>
        <p:spPr>
          <a:xfrm xmlns:a="http://schemas.openxmlformats.org/drawingml/2006/main">
            <a:off x="666750" y="4067175"/>
            <a:ext cx="4857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21" name="">
            <a:extLst xmlns:a="http://schemas.openxmlformats.org/drawingml/2006/main">
              <a:ext uri="{FF2B5EF4-FFF2-40B4-BE49-F238E27FC236}">
                <a16:creationId xmlns:a16="http://schemas.microsoft.com/office/drawing/2014/main" id="{58484C0D-641E-4C02-A30D-829F18308703}"/>
              </a:ext>
            </a:extLst>
          </p:cNvPr>
          <p:cNvSpPr>
            <a:spLocks xmlns:a="http://schemas.openxmlformats.org/drawingml/2006/main" noGrp="1"/>
          </p:cNvSpPr>
          <p:nvPr/>
        </p:nvSpPr>
        <p:spPr>
          <a:xfrm xmlns:a="http://schemas.openxmlformats.org/drawingml/2006/main">
            <a:off x="838200" y="4200525"/>
            <a:ext cx="152400" cy="15240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90BD821-73B3-4AF0-9ABF-00B043E787EE}"/>
              </a:ext>
            </a:extLst>
          </p:cNvPr>
          <p:cNvSpPr>
            <a:spLocks xmlns:a="http://schemas.openxmlformats.org/drawingml/2006/main" noGrp="1"/>
          </p:cNvSpPr>
          <p:nvPr/>
        </p:nvSpPr>
        <p:spPr>
          <a:xfrm xmlns:a="http://schemas.openxmlformats.org/drawingml/2006/main">
            <a:off x="838200" y="417195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23" name="">
            <a:extLst xmlns:a="http://schemas.openxmlformats.org/drawingml/2006/main">
              <a:ext uri="{FF2B5EF4-FFF2-40B4-BE49-F238E27FC236}">
                <a16:creationId xmlns:a16="http://schemas.microsoft.com/office/drawing/2014/main" id="{15D3EA43-372B-473B-8285-2630A1197A7A}"/>
              </a:ext>
            </a:extLst>
          </p:cNvPr>
          <p:cNvSpPr>
            <a:spLocks xmlns:a="http://schemas.openxmlformats.org/drawingml/2006/main" noGrp="1"/>
          </p:cNvSpPr>
          <p:nvPr/>
        </p:nvSpPr>
        <p:spPr>
          <a:xfrm xmlns:a="http://schemas.openxmlformats.org/drawingml/2006/main">
            <a:off x="1123950" y="414337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D1 review queue and audit events</a:t>
            </a:r>
          </a:p>
        </p:txBody>
      </p:sp>
      <p:sp>
        <p:nvSpPr>
          <p:cNvPr id="24" name="">
            <a:extLst xmlns:a="http://schemas.openxmlformats.org/drawingml/2006/main">
              <a:ext uri="{FF2B5EF4-FFF2-40B4-BE49-F238E27FC236}">
                <a16:creationId xmlns:a16="http://schemas.microsoft.com/office/drawing/2014/main" id="{223DA02F-1DCA-430B-A22C-D5067008BAB9}"/>
              </a:ext>
            </a:extLst>
          </p:cNvPr>
          <p:cNvSpPr>
            <a:spLocks xmlns:a="http://schemas.openxmlformats.org/drawingml/2006/main" noGrp="1"/>
          </p:cNvSpPr>
          <p:nvPr/>
        </p:nvSpPr>
        <p:spPr>
          <a:xfrm xmlns:a="http://schemas.openxmlformats.org/drawingml/2006/main">
            <a:off x="666750" y="4619625"/>
            <a:ext cx="4857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25" name="">
            <a:extLst xmlns:a="http://schemas.openxmlformats.org/drawingml/2006/main">
              <a:ext uri="{FF2B5EF4-FFF2-40B4-BE49-F238E27FC236}">
                <a16:creationId xmlns:a16="http://schemas.microsoft.com/office/drawing/2014/main" id="{8B58B645-8B4E-45A8-85A9-34CD89CC90C9}"/>
              </a:ext>
            </a:extLst>
          </p:cNvPr>
          <p:cNvSpPr>
            <a:spLocks xmlns:a="http://schemas.openxmlformats.org/drawingml/2006/main" noGrp="1"/>
          </p:cNvSpPr>
          <p:nvPr/>
        </p:nvSpPr>
        <p:spPr>
          <a:xfrm xmlns:a="http://schemas.openxmlformats.org/drawingml/2006/main">
            <a:off x="838200" y="4752975"/>
            <a:ext cx="152400" cy="15240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65DD72F-0F6B-4F57-A611-6DBAC506D772}"/>
              </a:ext>
            </a:extLst>
          </p:cNvPr>
          <p:cNvSpPr>
            <a:spLocks xmlns:a="http://schemas.openxmlformats.org/drawingml/2006/main" noGrp="1"/>
          </p:cNvSpPr>
          <p:nvPr/>
        </p:nvSpPr>
        <p:spPr>
          <a:xfrm xmlns:a="http://schemas.openxmlformats.org/drawingml/2006/main">
            <a:off x="838200" y="472440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27" name="">
            <a:extLst xmlns:a="http://schemas.openxmlformats.org/drawingml/2006/main">
              <a:ext uri="{FF2B5EF4-FFF2-40B4-BE49-F238E27FC236}">
                <a16:creationId xmlns:a16="http://schemas.microsoft.com/office/drawing/2014/main" id="{07DC733D-61B5-4068-A2A3-4EF19515C7BB}"/>
              </a:ext>
            </a:extLst>
          </p:cNvPr>
          <p:cNvSpPr>
            <a:spLocks xmlns:a="http://schemas.openxmlformats.org/drawingml/2006/main" noGrp="1"/>
          </p:cNvSpPr>
          <p:nvPr/>
        </p:nvSpPr>
        <p:spPr>
          <a:xfrm xmlns:a="http://schemas.openxmlformats.org/drawingml/2006/main">
            <a:off x="1123950" y="469582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Nine security and evaluation checks</a:t>
            </a:r>
          </a:p>
        </p:txBody>
      </p:sp>
      <p:sp>
        <p:nvSpPr>
          <p:cNvPr id="28" name="">
            <a:extLst xmlns:a="http://schemas.openxmlformats.org/drawingml/2006/main">
              <a:ext uri="{FF2B5EF4-FFF2-40B4-BE49-F238E27FC236}">
                <a16:creationId xmlns:a16="http://schemas.microsoft.com/office/drawing/2014/main" id="{1D45DFB1-D640-4801-938C-2481747EFFDA}"/>
              </a:ext>
            </a:extLst>
          </p:cNvPr>
          <p:cNvSpPr>
            <a:spLocks xmlns:a="http://schemas.openxmlformats.org/drawingml/2006/main" noGrp="1"/>
          </p:cNvSpPr>
          <p:nvPr/>
        </p:nvSpPr>
        <p:spPr>
          <a:xfrm xmlns:a="http://schemas.openxmlformats.org/drawingml/2006/main">
            <a:off x="6381750" y="2409825"/>
            <a:ext cx="4476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29" name="">
            <a:extLst xmlns:a="http://schemas.openxmlformats.org/drawingml/2006/main">
              <a:ext uri="{FF2B5EF4-FFF2-40B4-BE49-F238E27FC236}">
                <a16:creationId xmlns:a16="http://schemas.microsoft.com/office/drawing/2014/main" id="{1B4B5FF2-0340-417F-AA4A-81A0138D7CB0}"/>
              </a:ext>
            </a:extLst>
          </p:cNvPr>
          <p:cNvSpPr>
            <a:spLocks xmlns:a="http://schemas.openxmlformats.org/drawingml/2006/main" noGrp="1"/>
          </p:cNvSpPr>
          <p:nvPr/>
        </p:nvSpPr>
        <p:spPr>
          <a:xfrm xmlns:a="http://schemas.openxmlformats.org/drawingml/2006/main">
            <a:off x="6553200" y="2543175"/>
            <a:ext cx="152400" cy="15240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0B065FFC-D851-4B48-A61C-2EC61D4E7D79}"/>
              </a:ext>
            </a:extLst>
          </p:cNvPr>
          <p:cNvSpPr>
            <a:spLocks xmlns:a="http://schemas.openxmlformats.org/drawingml/2006/main" noGrp="1"/>
          </p:cNvSpPr>
          <p:nvPr/>
        </p:nvSpPr>
        <p:spPr>
          <a:xfrm xmlns:a="http://schemas.openxmlformats.org/drawingml/2006/main">
            <a:off x="6553200" y="251460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31" name="">
            <a:extLst xmlns:a="http://schemas.openxmlformats.org/drawingml/2006/main">
              <a:ext uri="{FF2B5EF4-FFF2-40B4-BE49-F238E27FC236}">
                <a16:creationId xmlns:a16="http://schemas.microsoft.com/office/drawing/2014/main" id="{08337160-F1F7-428C-A19B-DBBB1CDAFF53}"/>
              </a:ext>
            </a:extLst>
          </p:cNvPr>
          <p:cNvSpPr>
            <a:spLocks xmlns:a="http://schemas.openxmlformats.org/drawingml/2006/main" noGrp="1"/>
          </p:cNvSpPr>
          <p:nvPr/>
        </p:nvSpPr>
        <p:spPr>
          <a:xfrm xmlns:a="http://schemas.openxmlformats.org/drawingml/2006/main">
            <a:off x="6838950" y="248602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Tenant OAuth configuration</a:t>
            </a:r>
          </a:p>
        </p:txBody>
      </p:sp>
      <p:sp>
        <p:nvSpPr>
          <p:cNvPr id="32" name="">
            <a:extLst xmlns:a="http://schemas.openxmlformats.org/drawingml/2006/main">
              <a:ext uri="{FF2B5EF4-FFF2-40B4-BE49-F238E27FC236}">
                <a16:creationId xmlns:a16="http://schemas.microsoft.com/office/drawing/2014/main" id="{89096D07-4FBB-42E3-AE71-9AAE7701E3AB}"/>
              </a:ext>
            </a:extLst>
          </p:cNvPr>
          <p:cNvSpPr>
            <a:spLocks xmlns:a="http://schemas.openxmlformats.org/drawingml/2006/main" noGrp="1"/>
          </p:cNvSpPr>
          <p:nvPr/>
        </p:nvSpPr>
        <p:spPr>
          <a:xfrm xmlns:a="http://schemas.openxmlformats.org/drawingml/2006/main">
            <a:off x="6381750" y="2962275"/>
            <a:ext cx="4476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33" name="">
            <a:extLst xmlns:a="http://schemas.openxmlformats.org/drawingml/2006/main">
              <a:ext uri="{FF2B5EF4-FFF2-40B4-BE49-F238E27FC236}">
                <a16:creationId xmlns:a16="http://schemas.microsoft.com/office/drawing/2014/main" id="{084E173A-AB19-4CAA-8D64-B19DE64A807D}"/>
              </a:ext>
            </a:extLst>
          </p:cNvPr>
          <p:cNvSpPr>
            <a:spLocks xmlns:a="http://schemas.openxmlformats.org/drawingml/2006/main" noGrp="1"/>
          </p:cNvSpPr>
          <p:nvPr/>
        </p:nvSpPr>
        <p:spPr>
          <a:xfrm xmlns:a="http://schemas.openxmlformats.org/drawingml/2006/main">
            <a:off x="6553200" y="3095625"/>
            <a:ext cx="152400" cy="15240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6B32DEE8-35C7-41C5-8CEA-48B1840A18C8}"/>
              </a:ext>
            </a:extLst>
          </p:cNvPr>
          <p:cNvSpPr>
            <a:spLocks xmlns:a="http://schemas.openxmlformats.org/drawingml/2006/main" noGrp="1"/>
          </p:cNvSpPr>
          <p:nvPr/>
        </p:nvSpPr>
        <p:spPr>
          <a:xfrm xmlns:a="http://schemas.openxmlformats.org/drawingml/2006/main">
            <a:off x="6553200" y="306705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35" name="">
            <a:extLst xmlns:a="http://schemas.openxmlformats.org/drawingml/2006/main">
              <a:ext uri="{FF2B5EF4-FFF2-40B4-BE49-F238E27FC236}">
                <a16:creationId xmlns:a16="http://schemas.microsoft.com/office/drawing/2014/main" id="{17C6E54E-F033-458F-9870-9A0FCA6F8F45}"/>
              </a:ext>
            </a:extLst>
          </p:cNvPr>
          <p:cNvSpPr>
            <a:spLocks xmlns:a="http://schemas.openxmlformats.org/drawingml/2006/main" noGrp="1"/>
          </p:cNvSpPr>
          <p:nvPr/>
        </p:nvSpPr>
        <p:spPr>
          <a:xfrm xmlns:a="http://schemas.openxmlformats.org/drawingml/2006/main">
            <a:off x="6838950" y="30384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Drive and GivingData connectors</a:t>
            </a:r>
          </a:p>
        </p:txBody>
      </p:sp>
      <p:sp>
        <p:nvSpPr>
          <p:cNvPr id="36" name="">
            <a:extLst xmlns:a="http://schemas.openxmlformats.org/drawingml/2006/main">
              <a:ext uri="{FF2B5EF4-FFF2-40B4-BE49-F238E27FC236}">
                <a16:creationId xmlns:a16="http://schemas.microsoft.com/office/drawing/2014/main" id="{9D27DD2F-55F8-4128-89BA-DD70C5674DEF}"/>
              </a:ext>
            </a:extLst>
          </p:cNvPr>
          <p:cNvSpPr>
            <a:spLocks xmlns:a="http://schemas.openxmlformats.org/drawingml/2006/main" noGrp="1"/>
          </p:cNvSpPr>
          <p:nvPr/>
        </p:nvSpPr>
        <p:spPr>
          <a:xfrm xmlns:a="http://schemas.openxmlformats.org/drawingml/2006/main">
            <a:off x="6381750" y="3514725"/>
            <a:ext cx="4476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37" name="">
            <a:extLst xmlns:a="http://schemas.openxmlformats.org/drawingml/2006/main">
              <a:ext uri="{FF2B5EF4-FFF2-40B4-BE49-F238E27FC236}">
                <a16:creationId xmlns:a16="http://schemas.microsoft.com/office/drawing/2014/main" id="{37A1A4B4-9EF2-45AC-93DD-3A922F5CA9CB}"/>
              </a:ext>
            </a:extLst>
          </p:cNvPr>
          <p:cNvSpPr>
            <a:spLocks xmlns:a="http://schemas.openxmlformats.org/drawingml/2006/main" noGrp="1"/>
          </p:cNvSpPr>
          <p:nvPr/>
        </p:nvSpPr>
        <p:spPr>
          <a:xfrm xmlns:a="http://schemas.openxmlformats.org/drawingml/2006/main">
            <a:off x="6553200" y="3648075"/>
            <a:ext cx="152400" cy="15240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39DE7C6C-29CC-4B83-9D48-AB0AEA6D1AA1}"/>
              </a:ext>
            </a:extLst>
          </p:cNvPr>
          <p:cNvSpPr>
            <a:spLocks xmlns:a="http://schemas.openxmlformats.org/drawingml/2006/main" noGrp="1"/>
          </p:cNvSpPr>
          <p:nvPr/>
        </p:nvSpPr>
        <p:spPr>
          <a:xfrm xmlns:a="http://schemas.openxmlformats.org/drawingml/2006/main">
            <a:off x="6553200" y="361950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39" name="">
            <a:extLst xmlns:a="http://schemas.openxmlformats.org/drawingml/2006/main">
              <a:ext uri="{FF2B5EF4-FFF2-40B4-BE49-F238E27FC236}">
                <a16:creationId xmlns:a16="http://schemas.microsoft.com/office/drawing/2014/main" id="{9F8399A7-C21A-43C3-903C-7DE087B0268E}"/>
              </a:ext>
            </a:extLst>
          </p:cNvPr>
          <p:cNvSpPr>
            <a:spLocks xmlns:a="http://schemas.openxmlformats.org/drawingml/2006/main" noGrp="1"/>
          </p:cNvSpPr>
          <p:nvPr/>
        </p:nvSpPr>
        <p:spPr>
          <a:xfrm xmlns:a="http://schemas.openxmlformats.org/drawingml/2006/main">
            <a:off x="6838950" y="359092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Revocation and deletion propagation</a:t>
            </a:r>
          </a:p>
        </p:txBody>
      </p:sp>
      <p:sp>
        <p:nvSpPr>
          <p:cNvPr id="40" name="">
            <a:extLst xmlns:a="http://schemas.openxmlformats.org/drawingml/2006/main">
              <a:ext uri="{FF2B5EF4-FFF2-40B4-BE49-F238E27FC236}">
                <a16:creationId xmlns:a16="http://schemas.microsoft.com/office/drawing/2014/main" id="{80A4D642-62E9-4FA4-A9CD-BD843C704905}"/>
              </a:ext>
            </a:extLst>
          </p:cNvPr>
          <p:cNvSpPr>
            <a:spLocks xmlns:a="http://schemas.openxmlformats.org/drawingml/2006/main" noGrp="1"/>
          </p:cNvSpPr>
          <p:nvPr/>
        </p:nvSpPr>
        <p:spPr>
          <a:xfrm xmlns:a="http://schemas.openxmlformats.org/drawingml/2006/main">
            <a:off x="6381750" y="4067175"/>
            <a:ext cx="4476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41" name="">
            <a:extLst xmlns:a="http://schemas.openxmlformats.org/drawingml/2006/main">
              <a:ext uri="{FF2B5EF4-FFF2-40B4-BE49-F238E27FC236}">
                <a16:creationId xmlns:a16="http://schemas.microsoft.com/office/drawing/2014/main" id="{004A2926-DB1F-40C8-88B4-FB4B88F03AFA}"/>
              </a:ext>
            </a:extLst>
          </p:cNvPr>
          <p:cNvSpPr>
            <a:spLocks xmlns:a="http://schemas.openxmlformats.org/drawingml/2006/main" noGrp="1"/>
          </p:cNvSpPr>
          <p:nvPr/>
        </p:nvSpPr>
        <p:spPr>
          <a:xfrm xmlns:a="http://schemas.openxmlformats.org/drawingml/2006/main">
            <a:off x="6553200" y="4200525"/>
            <a:ext cx="152400" cy="15240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9407D0FE-DD00-4640-944A-2069CFD1C42B}"/>
              </a:ext>
            </a:extLst>
          </p:cNvPr>
          <p:cNvSpPr>
            <a:spLocks xmlns:a="http://schemas.openxmlformats.org/drawingml/2006/main" noGrp="1"/>
          </p:cNvSpPr>
          <p:nvPr/>
        </p:nvSpPr>
        <p:spPr>
          <a:xfrm xmlns:a="http://schemas.openxmlformats.org/drawingml/2006/main">
            <a:off x="6553200" y="417195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43" name="">
            <a:extLst xmlns:a="http://schemas.openxmlformats.org/drawingml/2006/main">
              <a:ext uri="{FF2B5EF4-FFF2-40B4-BE49-F238E27FC236}">
                <a16:creationId xmlns:a16="http://schemas.microsoft.com/office/drawing/2014/main" id="{F639FE33-E00F-4897-A501-9399845E93FD}"/>
              </a:ext>
            </a:extLst>
          </p:cNvPr>
          <p:cNvSpPr>
            <a:spLocks xmlns:a="http://schemas.openxmlformats.org/drawingml/2006/main" noGrp="1"/>
          </p:cNvSpPr>
          <p:nvPr/>
        </p:nvSpPr>
        <p:spPr>
          <a:xfrm xmlns:a="http://schemas.openxmlformats.org/drawingml/2006/main">
            <a:off x="6838950" y="41433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Real gold questions and baselines</a:t>
            </a:r>
          </a:p>
        </p:txBody>
      </p:sp>
      <p:sp>
        <p:nvSpPr>
          <p:cNvPr id="44" name="">
            <a:extLst xmlns:a="http://schemas.openxmlformats.org/drawingml/2006/main">
              <a:ext uri="{FF2B5EF4-FFF2-40B4-BE49-F238E27FC236}">
                <a16:creationId xmlns:a16="http://schemas.microsoft.com/office/drawing/2014/main" id="{E7FDC0B3-F532-4D02-9B0B-B7656C273BDE}"/>
              </a:ext>
            </a:extLst>
          </p:cNvPr>
          <p:cNvSpPr>
            <a:spLocks xmlns:a="http://schemas.openxmlformats.org/drawingml/2006/main" noGrp="1"/>
          </p:cNvSpPr>
          <p:nvPr/>
        </p:nvSpPr>
        <p:spPr>
          <a:xfrm xmlns:a="http://schemas.openxmlformats.org/drawingml/2006/main">
            <a:off x="6381750" y="4619625"/>
            <a:ext cx="4476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45" name="">
            <a:extLst xmlns:a="http://schemas.openxmlformats.org/drawingml/2006/main">
              <a:ext uri="{FF2B5EF4-FFF2-40B4-BE49-F238E27FC236}">
                <a16:creationId xmlns:a16="http://schemas.microsoft.com/office/drawing/2014/main" id="{9C35DCD6-08C4-496F-95AD-82EFF25F764C}"/>
              </a:ext>
            </a:extLst>
          </p:cNvPr>
          <p:cNvSpPr>
            <a:spLocks xmlns:a="http://schemas.openxmlformats.org/drawingml/2006/main" noGrp="1"/>
          </p:cNvSpPr>
          <p:nvPr/>
        </p:nvSpPr>
        <p:spPr>
          <a:xfrm xmlns:a="http://schemas.openxmlformats.org/drawingml/2006/main">
            <a:off x="6553200" y="4752975"/>
            <a:ext cx="152400" cy="15240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2FDF0DE1-01A2-43E6-B99B-758CCAA2F506}"/>
              </a:ext>
            </a:extLst>
          </p:cNvPr>
          <p:cNvSpPr>
            <a:spLocks xmlns:a="http://schemas.openxmlformats.org/drawingml/2006/main" noGrp="1"/>
          </p:cNvSpPr>
          <p:nvPr/>
        </p:nvSpPr>
        <p:spPr>
          <a:xfrm xmlns:a="http://schemas.openxmlformats.org/drawingml/2006/main">
            <a:off x="6553200" y="472440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47" name="">
            <a:extLst xmlns:a="http://schemas.openxmlformats.org/drawingml/2006/main">
              <a:ext uri="{FF2B5EF4-FFF2-40B4-BE49-F238E27FC236}">
                <a16:creationId xmlns:a16="http://schemas.microsoft.com/office/drawing/2014/main" id="{038FBA78-9B77-44B4-B286-0F5CCEFAF6A9}"/>
              </a:ext>
            </a:extLst>
          </p:cNvPr>
          <p:cNvSpPr>
            <a:spLocks xmlns:a="http://schemas.openxmlformats.org/drawingml/2006/main" noGrp="1"/>
          </p:cNvSpPr>
          <p:nvPr/>
        </p:nvSpPr>
        <p:spPr>
          <a:xfrm xmlns:a="http://schemas.openxmlformats.org/drawingml/2006/main">
            <a:off x="6838950" y="469582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Approved model terms and incident drills</a:t>
            </a:r>
          </a:p>
        </p:txBody>
      </p:sp>
      <p:sp>
        <p:nvSpPr>
          <p:cNvPr id="48" name="">
            <a:extLst xmlns:a="http://schemas.openxmlformats.org/drawingml/2006/main">
              <a:ext uri="{FF2B5EF4-FFF2-40B4-BE49-F238E27FC236}">
                <a16:creationId xmlns:a16="http://schemas.microsoft.com/office/drawing/2014/main" id="{3C0E524D-E6BD-4403-87C2-65A17C586E56}"/>
              </a:ext>
            </a:extLst>
          </p:cNvPr>
          <p:cNvSpPr>
            <a:spLocks xmlns:a="http://schemas.openxmlformats.org/drawingml/2006/main" noGrp="1"/>
          </p:cNvSpPr>
          <p:nvPr/>
        </p:nvSpPr>
        <p:spPr>
          <a:xfrm xmlns:a="http://schemas.openxmlformats.org/drawingml/2006/main">
            <a:off x="666750" y="5467350"/>
            <a:ext cx="10191750" cy="609600"/>
          </a:xfrm>
          <a:prstGeom xmlns:a="http://schemas.openxmlformats.org/drawingml/2006/main" prst="roundRect">
            <a:avLst>
              <a:gd name="adj" fmla="val 25000"/>
            </a:avLst>
          </a:prstGeom>
          <a:solidFill xmlns:a="http://schemas.openxmlformats.org/drawingml/2006/main">
            <a:srgbClr val="25152B"/>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C10A7DB4-85F8-4ECD-83B6-77821906251E}"/>
              </a:ext>
            </a:extLst>
          </p:cNvPr>
          <p:cNvSpPr>
            <a:spLocks xmlns:a="http://schemas.openxmlformats.org/drawingml/2006/main" noGrp="1"/>
          </p:cNvSpPr>
          <p:nvPr/>
        </p:nvSpPr>
        <p:spPr>
          <a:xfrm xmlns:a="http://schemas.openxmlformats.org/drawingml/2006/main">
            <a:off x="876300" y="5619750"/>
            <a:ext cx="9772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Working product slice on fictional evidence. No claim that Foundation systems or credentials are connected.</a:t>
            </a:r>
          </a:p>
        </p:txBody>
      </p:sp>
    </p:spTree>
    <p:extLst>
      <p:ext uri="{BB962C8B-B14F-4D97-AF65-F5344CB8AC3E}">
        <p14:creationId xmlns:p14="http://schemas.microsoft.com/office/powerpoint/2010/main" val="983605409"/>
      </p:ext>
    </p:extLst>
  </p:cSld>
</p:sld>
</file>

<file path=ppt/slides/slide9.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32E93564-1AD5-44ED-8517-517AD3B40273}"/>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IMPLEMENTATION</a:t>
            </a:r>
          </a:p>
        </p:txBody>
      </p:sp>
      <p:sp>
        <p:nvSpPr>
          <p:cNvPr id="2" name="">
            <a:extLst xmlns:a="http://schemas.openxmlformats.org/drawingml/2006/main">
              <a:ext uri="{FF2B5EF4-FFF2-40B4-BE49-F238E27FC236}">
                <a16:creationId xmlns:a16="http://schemas.microsoft.com/office/drawing/2014/main" id="{B45BD581-6B69-4E8D-9CA9-BB4BB1078AE2}"/>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F2BA9331-5224-4A47-9CDD-ED518B531D6E}"/>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EB5FCA98-7C6C-416F-BB0A-C194EDAFDC03}"/>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Sequential gates with aggressive target windows</a:t>
            </a:r>
          </a:p>
        </p:txBody>
      </p:sp>
      <p:sp>
        <p:nvSpPr>
          <p:cNvPr id="5" name="">
            <a:extLst xmlns:a="http://schemas.openxmlformats.org/drawingml/2006/main">
              <a:ext uri="{FF2B5EF4-FFF2-40B4-BE49-F238E27FC236}">
                <a16:creationId xmlns:a16="http://schemas.microsoft.com/office/drawing/2014/main" id="{3A850A2F-25B6-46AE-BBA0-FB4320759BC1}"/>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Work moves forward when an earlier dependency closes.</a:t>
            </a:r>
          </a:p>
        </p:txBody>
      </p:sp>
      <p:sp>
        <p:nvSpPr>
          <p:cNvPr id="6" name="">
            <a:extLst xmlns:a="http://schemas.openxmlformats.org/drawingml/2006/main">
              <a:ext uri="{FF2B5EF4-FFF2-40B4-BE49-F238E27FC236}">
                <a16:creationId xmlns:a16="http://schemas.microsoft.com/office/drawing/2014/main" id="{79C1AED2-728B-4534-9BC6-55E55B9B11CB}"/>
              </a:ext>
            </a:extLst>
          </p:cNvPr>
          <p:cNvSpPr>
            <a:spLocks xmlns:a="http://schemas.openxmlformats.org/drawingml/2006/main" noGrp="1"/>
          </p:cNvSpPr>
          <p:nvPr/>
        </p:nvSpPr>
        <p:spPr>
          <a:xfrm xmlns:a="http://schemas.openxmlformats.org/drawingml/2006/main">
            <a:off x="666750" y="2190750"/>
            <a:ext cx="2381250" cy="20002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ED8D2"/>
            </a:solidFill>
          </a:ln>
        </p:spPr>
      </p:sp>
      <p:sp>
        <p:nvSpPr>
          <p:cNvPr id="7" name="">
            <a:extLst xmlns:a="http://schemas.openxmlformats.org/drawingml/2006/main">
              <a:ext uri="{FF2B5EF4-FFF2-40B4-BE49-F238E27FC236}">
                <a16:creationId xmlns:a16="http://schemas.microsoft.com/office/drawing/2014/main" id="{D415D498-4D42-4353-9753-6632A3E286ED}"/>
              </a:ext>
            </a:extLst>
          </p:cNvPr>
          <p:cNvSpPr>
            <a:spLocks xmlns:a="http://schemas.openxmlformats.org/drawingml/2006/main" noGrp="1"/>
          </p:cNvSpPr>
          <p:nvPr/>
        </p:nvSpPr>
        <p:spPr>
          <a:xfrm xmlns:a="http://schemas.openxmlformats.org/drawingml/2006/main">
            <a:off x="857250" y="235267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E94B2A"/>
                </a:solidFill>
                <a:latin typeface="Helvetica Neue"/>
                <a:ea typeface="Helvetica Neue"/>
                <a:cs typeface="Helvetica Neue"/>
              </a:defRPr>
            </a:pPr>
            <a:r>
              <a:rPr sz="1350" b="1">
                <a:solidFill>
                  <a:srgbClr val="E94B2A"/>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2C287086-164D-483D-B2B7-D18D10BC1145}"/>
              </a:ext>
            </a:extLst>
          </p:cNvPr>
          <p:cNvSpPr>
            <a:spLocks xmlns:a="http://schemas.openxmlformats.org/drawingml/2006/main" noGrp="1"/>
          </p:cNvSpPr>
          <p:nvPr/>
        </p:nvSpPr>
        <p:spPr>
          <a:xfrm xmlns:a="http://schemas.openxmlformats.org/drawingml/2006/main">
            <a:off x="857250" y="27813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5152B"/>
                </a:solidFill>
                <a:latin typeface="Helvetica Neue"/>
                <a:ea typeface="Helvetica Neue"/>
                <a:cs typeface="Helvetica Neue"/>
              </a:defRPr>
            </a:pPr>
            <a:r>
              <a:rPr sz="1200" b="1">
                <a:solidFill>
                  <a:srgbClr val="25152B"/>
                </a:solidFill>
                <a:latin typeface="Helvetica Neue"/>
                <a:ea typeface="Helvetica Neue"/>
                <a:cs typeface="Helvetica Neue"/>
              </a:rPr>
              <a:t>ALIGN</a:t>
            </a:r>
          </a:p>
        </p:txBody>
      </p:sp>
      <p:sp>
        <p:nvSpPr>
          <p:cNvPr id="9" name="">
            <a:extLst xmlns:a="http://schemas.openxmlformats.org/drawingml/2006/main">
              <a:ext uri="{FF2B5EF4-FFF2-40B4-BE49-F238E27FC236}">
                <a16:creationId xmlns:a16="http://schemas.microsoft.com/office/drawing/2014/main" id="{4680F7F7-E3BC-4E73-AF4E-8DBA7B329BD8}"/>
              </a:ext>
            </a:extLst>
          </p:cNvPr>
          <p:cNvSpPr>
            <a:spLocks xmlns:a="http://schemas.openxmlformats.org/drawingml/2006/main" noGrp="1"/>
          </p:cNvSpPr>
          <p:nvPr/>
        </p:nvSpPr>
        <p:spPr>
          <a:xfrm xmlns:a="http://schemas.openxmlformats.org/drawingml/2006/main">
            <a:off x="857250" y="31051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1–2 SESSIONS</a:t>
            </a:r>
          </a:p>
        </p:txBody>
      </p:sp>
      <p:sp>
        <p:nvSpPr>
          <p:cNvPr id="10" name="">
            <a:extLst xmlns:a="http://schemas.openxmlformats.org/drawingml/2006/main">
              <a:ext uri="{FF2B5EF4-FFF2-40B4-BE49-F238E27FC236}">
                <a16:creationId xmlns:a16="http://schemas.microsoft.com/office/drawing/2014/main" id="{8E5965EF-ECDF-4E7E-8A00-D5EC42D791C9}"/>
              </a:ext>
            </a:extLst>
          </p:cNvPr>
          <p:cNvSpPr>
            <a:spLocks xmlns:a="http://schemas.openxmlformats.org/drawingml/2006/main" noGrp="1"/>
          </p:cNvSpPr>
          <p:nvPr/>
        </p:nvSpPr>
        <p:spPr>
          <a:xfrm xmlns:a="http://schemas.openxmlformats.org/drawingml/2006/main">
            <a:off x="857250" y="3438525"/>
            <a:ext cx="200025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11" name="">
            <a:extLst xmlns:a="http://schemas.openxmlformats.org/drawingml/2006/main">
              <a:ext uri="{FF2B5EF4-FFF2-40B4-BE49-F238E27FC236}">
                <a16:creationId xmlns:a16="http://schemas.microsoft.com/office/drawing/2014/main" id="{BFBD2771-6E3E-4601-80C8-872F0075C067}"/>
              </a:ext>
            </a:extLst>
          </p:cNvPr>
          <p:cNvSpPr>
            <a:spLocks xmlns:a="http://schemas.openxmlformats.org/drawingml/2006/main" noGrp="1"/>
          </p:cNvSpPr>
          <p:nvPr/>
        </p:nvSpPr>
        <p:spPr>
          <a:xfrm xmlns:a="http://schemas.openxmlformats.org/drawingml/2006/main">
            <a:off x="857250" y="3581400"/>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514753"/>
                </a:solidFill>
                <a:latin typeface="Helvetica Neue"/>
                <a:ea typeface="Helvetica Neue"/>
                <a:cs typeface="Helvetica Neue"/>
              </a:defRPr>
            </a:pPr>
            <a:r>
              <a:rPr sz="900" b="0">
                <a:solidFill>
                  <a:srgbClr val="514753"/>
                </a:solidFill>
                <a:latin typeface="Helvetica Neue"/>
                <a:ea typeface="Helvetica Neue"/>
                <a:cs typeface="Helvetica Neue"/>
              </a:rPr>
              <a:t>Decision workflow, owner, gold questions</a:t>
            </a:r>
          </a:p>
        </p:txBody>
      </p:sp>
      <p:sp>
        <p:nvSpPr>
          <p:cNvPr id="12" name="">
            <a:extLst xmlns:a="http://schemas.openxmlformats.org/drawingml/2006/main">
              <a:ext uri="{FF2B5EF4-FFF2-40B4-BE49-F238E27FC236}">
                <a16:creationId xmlns:a16="http://schemas.microsoft.com/office/drawing/2014/main" id="{C297D6E4-7687-459A-8914-D75290CF4802}"/>
              </a:ext>
            </a:extLst>
          </p:cNvPr>
          <p:cNvSpPr>
            <a:spLocks xmlns:a="http://schemas.openxmlformats.org/drawingml/2006/main" noGrp="1"/>
          </p:cNvSpPr>
          <p:nvPr/>
        </p:nvSpPr>
        <p:spPr>
          <a:xfrm xmlns:a="http://schemas.openxmlformats.org/drawingml/2006/main">
            <a:off x="3295650" y="2190750"/>
            <a:ext cx="2381250" cy="2000250"/>
          </a:xfrm>
          <a:prstGeom xmlns:a="http://schemas.openxmlformats.org/drawingml/2006/main" prst="roundRect">
            <a:avLst>
              <a:gd name="adj" fmla="val 8571"/>
            </a:avLst>
          </a:prstGeom>
          <a:solidFill xmlns:a="http://schemas.openxmlformats.org/drawingml/2006/main">
            <a:srgbClr val="F0EBF7"/>
          </a:solidFill>
          <a:ln xmlns:a="http://schemas.openxmlformats.org/drawingml/2006/main" w="9525">
            <a:solidFill>
              <a:srgbClr val="7657B3"/>
            </a:solidFill>
          </a:ln>
        </p:spPr>
      </p:sp>
      <p:sp>
        <p:nvSpPr>
          <p:cNvPr id="13" name="">
            <a:extLst xmlns:a="http://schemas.openxmlformats.org/drawingml/2006/main">
              <a:ext uri="{FF2B5EF4-FFF2-40B4-BE49-F238E27FC236}">
                <a16:creationId xmlns:a16="http://schemas.microsoft.com/office/drawing/2014/main" id="{503439F2-2B54-40F1-8E75-1C153B926EF1}"/>
              </a:ext>
            </a:extLst>
          </p:cNvPr>
          <p:cNvSpPr>
            <a:spLocks xmlns:a="http://schemas.openxmlformats.org/drawingml/2006/main" noGrp="1"/>
          </p:cNvSpPr>
          <p:nvPr/>
        </p:nvSpPr>
        <p:spPr>
          <a:xfrm xmlns:a="http://schemas.openxmlformats.org/drawingml/2006/main">
            <a:off x="3486150" y="235267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7657B3"/>
                </a:solidFill>
                <a:latin typeface="Helvetica Neue"/>
                <a:ea typeface="Helvetica Neue"/>
                <a:cs typeface="Helvetica Neue"/>
              </a:defRPr>
            </a:pPr>
            <a:r>
              <a:rPr sz="1350" b="1">
                <a:solidFill>
                  <a:srgbClr val="7657B3"/>
                </a:solidFill>
                <a:latin typeface="Helvetica Neue"/>
                <a:ea typeface="Helvetica Neue"/>
                <a:cs typeface="Helvetica Neue"/>
              </a:rPr>
              <a:t>2</a:t>
            </a:r>
          </a:p>
        </p:txBody>
      </p:sp>
      <p:sp>
        <p:nvSpPr>
          <p:cNvPr id="14" name="">
            <a:extLst xmlns:a="http://schemas.openxmlformats.org/drawingml/2006/main">
              <a:ext uri="{FF2B5EF4-FFF2-40B4-BE49-F238E27FC236}">
                <a16:creationId xmlns:a16="http://schemas.microsoft.com/office/drawing/2014/main" id="{E390FAFE-F9F6-4E2C-9E3C-32867875A675}"/>
              </a:ext>
            </a:extLst>
          </p:cNvPr>
          <p:cNvSpPr>
            <a:spLocks xmlns:a="http://schemas.openxmlformats.org/drawingml/2006/main" noGrp="1"/>
          </p:cNvSpPr>
          <p:nvPr/>
        </p:nvSpPr>
        <p:spPr>
          <a:xfrm xmlns:a="http://schemas.openxmlformats.org/drawingml/2006/main">
            <a:off x="3486150" y="27813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5152B"/>
                </a:solidFill>
                <a:latin typeface="Helvetica Neue"/>
                <a:ea typeface="Helvetica Neue"/>
                <a:cs typeface="Helvetica Neue"/>
              </a:defRPr>
            </a:pPr>
            <a:r>
              <a:rPr sz="1200" b="1">
                <a:solidFill>
                  <a:srgbClr val="25152B"/>
                </a:solidFill>
                <a:latin typeface="Helvetica Neue"/>
                <a:ea typeface="Helvetica Neue"/>
                <a:cs typeface="Helvetica Neue"/>
              </a:rPr>
              <a:t>CONNECT</a:t>
            </a:r>
          </a:p>
        </p:txBody>
      </p:sp>
      <p:sp>
        <p:nvSpPr>
          <p:cNvPr id="15" name="">
            <a:extLst xmlns:a="http://schemas.openxmlformats.org/drawingml/2006/main">
              <a:ext uri="{FF2B5EF4-FFF2-40B4-BE49-F238E27FC236}">
                <a16:creationId xmlns:a16="http://schemas.microsoft.com/office/drawing/2014/main" id="{30ACA18A-95EE-42CA-9E1E-FB07568DB86E}"/>
              </a:ext>
            </a:extLst>
          </p:cNvPr>
          <p:cNvSpPr>
            <a:spLocks xmlns:a="http://schemas.openxmlformats.org/drawingml/2006/main" noGrp="1"/>
          </p:cNvSpPr>
          <p:nvPr/>
        </p:nvSpPr>
        <p:spPr>
          <a:xfrm xmlns:a="http://schemas.openxmlformats.org/drawingml/2006/main">
            <a:off x="3486150" y="31051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1–3 AFTER ACCESS</a:t>
            </a:r>
          </a:p>
        </p:txBody>
      </p:sp>
      <p:sp>
        <p:nvSpPr>
          <p:cNvPr id="16" name="">
            <a:extLst xmlns:a="http://schemas.openxmlformats.org/drawingml/2006/main">
              <a:ext uri="{FF2B5EF4-FFF2-40B4-BE49-F238E27FC236}">
                <a16:creationId xmlns:a16="http://schemas.microsoft.com/office/drawing/2014/main" id="{38247866-62B8-40D8-AF01-8C7752D0D3AE}"/>
              </a:ext>
            </a:extLst>
          </p:cNvPr>
          <p:cNvSpPr>
            <a:spLocks xmlns:a="http://schemas.openxmlformats.org/drawingml/2006/main" noGrp="1"/>
          </p:cNvSpPr>
          <p:nvPr/>
        </p:nvSpPr>
        <p:spPr>
          <a:xfrm xmlns:a="http://schemas.openxmlformats.org/drawingml/2006/main">
            <a:off x="3486150" y="3438525"/>
            <a:ext cx="200025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17" name="">
            <a:extLst xmlns:a="http://schemas.openxmlformats.org/drawingml/2006/main">
              <a:ext uri="{FF2B5EF4-FFF2-40B4-BE49-F238E27FC236}">
                <a16:creationId xmlns:a16="http://schemas.microsoft.com/office/drawing/2014/main" id="{8BCF1334-AB24-48B5-A5F3-71467761FE1F}"/>
              </a:ext>
            </a:extLst>
          </p:cNvPr>
          <p:cNvSpPr>
            <a:spLocks xmlns:a="http://schemas.openxmlformats.org/drawingml/2006/main" noGrp="1"/>
          </p:cNvSpPr>
          <p:nvPr/>
        </p:nvSpPr>
        <p:spPr>
          <a:xfrm xmlns:a="http://schemas.openxmlformats.org/drawingml/2006/main">
            <a:off x="3486150" y="3581400"/>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514753"/>
                </a:solidFill>
                <a:latin typeface="Helvetica Neue"/>
                <a:ea typeface="Helvetica Neue"/>
                <a:cs typeface="Helvetica Neue"/>
              </a:defRPr>
            </a:pPr>
            <a:r>
              <a:rPr sz="900" b="0">
                <a:solidFill>
                  <a:srgbClr val="514753"/>
                </a:solidFill>
                <a:latin typeface="Helvetica Neue"/>
                <a:ea typeface="Helvetica Neue"/>
                <a:cs typeface="Helvetica Neue"/>
              </a:rPr>
              <a:t>Source contracts, OAuth, controlled corpus</a:t>
            </a:r>
          </a:p>
        </p:txBody>
      </p:sp>
      <p:sp>
        <p:nvSpPr>
          <p:cNvPr id="18" name="">
            <a:extLst xmlns:a="http://schemas.openxmlformats.org/drawingml/2006/main">
              <a:ext uri="{FF2B5EF4-FFF2-40B4-BE49-F238E27FC236}">
                <a16:creationId xmlns:a16="http://schemas.microsoft.com/office/drawing/2014/main" id="{9227D9CA-2BAE-4F78-B967-CCECAF807F9A}"/>
              </a:ext>
            </a:extLst>
          </p:cNvPr>
          <p:cNvSpPr>
            <a:spLocks xmlns:a="http://schemas.openxmlformats.org/drawingml/2006/main" noGrp="1"/>
          </p:cNvSpPr>
          <p:nvPr/>
        </p:nvSpPr>
        <p:spPr>
          <a:xfrm xmlns:a="http://schemas.openxmlformats.org/drawingml/2006/main">
            <a:off x="5924550" y="2190750"/>
            <a:ext cx="2381250" cy="20002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ED8D2"/>
            </a:solidFill>
          </a:ln>
        </p:spPr>
      </p:sp>
      <p:sp>
        <p:nvSpPr>
          <p:cNvPr id="19" name="">
            <a:extLst xmlns:a="http://schemas.openxmlformats.org/drawingml/2006/main">
              <a:ext uri="{FF2B5EF4-FFF2-40B4-BE49-F238E27FC236}">
                <a16:creationId xmlns:a16="http://schemas.microsoft.com/office/drawing/2014/main" id="{886D0071-DD4D-433F-B3B9-B8813E5E1652}"/>
              </a:ext>
            </a:extLst>
          </p:cNvPr>
          <p:cNvSpPr>
            <a:spLocks xmlns:a="http://schemas.openxmlformats.org/drawingml/2006/main" noGrp="1"/>
          </p:cNvSpPr>
          <p:nvPr/>
        </p:nvSpPr>
        <p:spPr>
          <a:xfrm xmlns:a="http://schemas.openxmlformats.org/drawingml/2006/main">
            <a:off x="6115050" y="235267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E94B2A"/>
                </a:solidFill>
                <a:latin typeface="Helvetica Neue"/>
                <a:ea typeface="Helvetica Neue"/>
                <a:cs typeface="Helvetica Neue"/>
              </a:defRPr>
            </a:pPr>
            <a:r>
              <a:rPr sz="1350" b="1">
                <a:solidFill>
                  <a:srgbClr val="E94B2A"/>
                </a:solidFill>
                <a:latin typeface="Helvetica Neue"/>
                <a:ea typeface="Helvetica Neue"/>
                <a:cs typeface="Helvetica Neue"/>
              </a:rPr>
              <a:t>3</a:t>
            </a:r>
          </a:p>
        </p:txBody>
      </p:sp>
      <p:sp>
        <p:nvSpPr>
          <p:cNvPr id="20" name="">
            <a:extLst xmlns:a="http://schemas.openxmlformats.org/drawingml/2006/main">
              <a:ext uri="{FF2B5EF4-FFF2-40B4-BE49-F238E27FC236}">
                <a16:creationId xmlns:a16="http://schemas.microsoft.com/office/drawing/2014/main" id="{1A7ADF93-0ED7-4E30-85AE-DB9F1960A294}"/>
              </a:ext>
            </a:extLst>
          </p:cNvPr>
          <p:cNvSpPr>
            <a:spLocks xmlns:a="http://schemas.openxmlformats.org/drawingml/2006/main" noGrp="1"/>
          </p:cNvSpPr>
          <p:nvPr/>
        </p:nvSpPr>
        <p:spPr>
          <a:xfrm xmlns:a="http://schemas.openxmlformats.org/drawingml/2006/main">
            <a:off x="6115050" y="27813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5152B"/>
                </a:solidFill>
                <a:latin typeface="Helvetica Neue"/>
                <a:ea typeface="Helvetica Neue"/>
                <a:cs typeface="Helvetica Neue"/>
              </a:defRPr>
            </a:pPr>
            <a:r>
              <a:rPr sz="1200" b="1">
                <a:solidFill>
                  <a:srgbClr val="25152B"/>
                </a:solidFill>
                <a:latin typeface="Helvetica Neue"/>
                <a:ea typeface="Helvetica Neue"/>
                <a:cs typeface="Helvetica Neue"/>
              </a:rPr>
              <a:t>PROVE</a:t>
            </a:r>
          </a:p>
        </p:txBody>
      </p:sp>
      <p:sp>
        <p:nvSpPr>
          <p:cNvPr id="21" name="">
            <a:extLst xmlns:a="http://schemas.openxmlformats.org/drawingml/2006/main">
              <a:ext uri="{FF2B5EF4-FFF2-40B4-BE49-F238E27FC236}">
                <a16:creationId xmlns:a16="http://schemas.microsoft.com/office/drawing/2014/main" id="{345C1917-B2E5-43D1-B9DB-0A2894B2F2B1}"/>
              </a:ext>
            </a:extLst>
          </p:cNvPr>
          <p:cNvSpPr>
            <a:spLocks xmlns:a="http://schemas.openxmlformats.org/drawingml/2006/main" noGrp="1"/>
          </p:cNvSpPr>
          <p:nvPr/>
        </p:nvSpPr>
        <p:spPr>
          <a:xfrm xmlns:a="http://schemas.openxmlformats.org/drawingml/2006/main">
            <a:off x="6115050" y="31051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2–5 SESSIONS</a:t>
            </a:r>
          </a:p>
        </p:txBody>
      </p:sp>
      <p:sp>
        <p:nvSpPr>
          <p:cNvPr id="22" name="">
            <a:extLst xmlns:a="http://schemas.openxmlformats.org/drawingml/2006/main">
              <a:ext uri="{FF2B5EF4-FFF2-40B4-BE49-F238E27FC236}">
                <a16:creationId xmlns:a16="http://schemas.microsoft.com/office/drawing/2014/main" id="{0FAEBF09-922C-4B27-ADBA-99E4A85C4981}"/>
              </a:ext>
            </a:extLst>
          </p:cNvPr>
          <p:cNvSpPr>
            <a:spLocks xmlns:a="http://schemas.openxmlformats.org/drawingml/2006/main" noGrp="1"/>
          </p:cNvSpPr>
          <p:nvPr/>
        </p:nvSpPr>
        <p:spPr>
          <a:xfrm xmlns:a="http://schemas.openxmlformats.org/drawingml/2006/main">
            <a:off x="6115050" y="3438525"/>
            <a:ext cx="200025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23" name="">
            <a:extLst xmlns:a="http://schemas.openxmlformats.org/drawingml/2006/main">
              <a:ext uri="{FF2B5EF4-FFF2-40B4-BE49-F238E27FC236}">
                <a16:creationId xmlns:a16="http://schemas.microsoft.com/office/drawing/2014/main" id="{8CA7E673-68A8-4BED-9BE6-B5C9E77F0BE8}"/>
              </a:ext>
            </a:extLst>
          </p:cNvPr>
          <p:cNvSpPr>
            <a:spLocks xmlns:a="http://schemas.openxmlformats.org/drawingml/2006/main" noGrp="1"/>
          </p:cNvSpPr>
          <p:nvPr/>
        </p:nvSpPr>
        <p:spPr>
          <a:xfrm xmlns:a="http://schemas.openxmlformats.org/drawingml/2006/main">
            <a:off x="6115050" y="3581400"/>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514753"/>
                </a:solidFill>
                <a:latin typeface="Helvetica Neue"/>
                <a:ea typeface="Helvetica Neue"/>
                <a:cs typeface="Helvetica Neue"/>
              </a:defRPr>
            </a:pPr>
            <a:r>
              <a:rPr sz="900" b="0">
                <a:solidFill>
                  <a:srgbClr val="514753"/>
                </a:solidFill>
                <a:latin typeface="Helvetica Neue"/>
                <a:ea typeface="Helvetica Neue"/>
                <a:cs typeface="Helvetica Neue"/>
              </a:rPr>
              <a:t>Real connector slice, policy, cited answer</a:t>
            </a:r>
          </a:p>
        </p:txBody>
      </p:sp>
      <p:sp>
        <p:nvSpPr>
          <p:cNvPr id="24" name="">
            <a:extLst xmlns:a="http://schemas.openxmlformats.org/drawingml/2006/main">
              <a:ext uri="{FF2B5EF4-FFF2-40B4-BE49-F238E27FC236}">
                <a16:creationId xmlns:a16="http://schemas.microsoft.com/office/drawing/2014/main" id="{BBD3A1B5-296D-4B98-8E77-D76ECCC19045}"/>
              </a:ext>
            </a:extLst>
          </p:cNvPr>
          <p:cNvSpPr>
            <a:spLocks xmlns:a="http://schemas.openxmlformats.org/drawingml/2006/main" noGrp="1"/>
          </p:cNvSpPr>
          <p:nvPr/>
        </p:nvSpPr>
        <p:spPr>
          <a:xfrm xmlns:a="http://schemas.openxmlformats.org/drawingml/2006/main">
            <a:off x="8553450" y="2190750"/>
            <a:ext cx="2381250" cy="20002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ED8D2"/>
            </a:solidFill>
          </a:ln>
        </p:spPr>
      </p:sp>
      <p:sp>
        <p:nvSpPr>
          <p:cNvPr id="25" name="">
            <a:extLst xmlns:a="http://schemas.openxmlformats.org/drawingml/2006/main">
              <a:ext uri="{FF2B5EF4-FFF2-40B4-BE49-F238E27FC236}">
                <a16:creationId xmlns:a16="http://schemas.microsoft.com/office/drawing/2014/main" id="{DCD3A3F5-1A4D-4E50-B38F-F568D7FD142C}"/>
              </a:ext>
            </a:extLst>
          </p:cNvPr>
          <p:cNvSpPr>
            <a:spLocks xmlns:a="http://schemas.openxmlformats.org/drawingml/2006/main" noGrp="1"/>
          </p:cNvSpPr>
          <p:nvPr/>
        </p:nvSpPr>
        <p:spPr>
          <a:xfrm xmlns:a="http://schemas.openxmlformats.org/drawingml/2006/main">
            <a:off x="8743950" y="235267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E94B2A"/>
                </a:solidFill>
                <a:latin typeface="Helvetica Neue"/>
                <a:ea typeface="Helvetica Neue"/>
                <a:cs typeface="Helvetica Neue"/>
              </a:defRPr>
            </a:pPr>
            <a:r>
              <a:rPr sz="1350" b="1">
                <a:solidFill>
                  <a:srgbClr val="E94B2A"/>
                </a:solidFill>
                <a:latin typeface="Helvetica Neue"/>
                <a:ea typeface="Helvetica Neue"/>
                <a:cs typeface="Helvetica Neue"/>
              </a:rPr>
              <a:t>4</a:t>
            </a:r>
          </a:p>
        </p:txBody>
      </p:sp>
      <p:sp>
        <p:nvSpPr>
          <p:cNvPr id="26" name="">
            <a:extLst xmlns:a="http://schemas.openxmlformats.org/drawingml/2006/main">
              <a:ext uri="{FF2B5EF4-FFF2-40B4-BE49-F238E27FC236}">
                <a16:creationId xmlns:a16="http://schemas.microsoft.com/office/drawing/2014/main" id="{9FC409ED-0F79-4B91-B776-71ACDB593AFA}"/>
              </a:ext>
            </a:extLst>
          </p:cNvPr>
          <p:cNvSpPr>
            <a:spLocks xmlns:a="http://schemas.openxmlformats.org/drawingml/2006/main" noGrp="1"/>
          </p:cNvSpPr>
          <p:nvPr/>
        </p:nvSpPr>
        <p:spPr>
          <a:xfrm xmlns:a="http://schemas.openxmlformats.org/drawingml/2006/main">
            <a:off x="8743950" y="27813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5152B"/>
                </a:solidFill>
                <a:latin typeface="Helvetica Neue"/>
                <a:ea typeface="Helvetica Neue"/>
                <a:cs typeface="Helvetica Neue"/>
              </a:defRPr>
            </a:pPr>
            <a:r>
              <a:rPr sz="1200" b="1">
                <a:solidFill>
                  <a:srgbClr val="25152B"/>
                </a:solidFill>
                <a:latin typeface="Helvetica Neue"/>
                <a:ea typeface="Helvetica Neue"/>
                <a:cs typeface="Helvetica Neue"/>
              </a:rPr>
              <a:t>HARDEN</a:t>
            </a:r>
          </a:p>
        </p:txBody>
      </p:sp>
      <p:sp>
        <p:nvSpPr>
          <p:cNvPr id="27" name="">
            <a:extLst xmlns:a="http://schemas.openxmlformats.org/drawingml/2006/main">
              <a:ext uri="{FF2B5EF4-FFF2-40B4-BE49-F238E27FC236}">
                <a16:creationId xmlns:a16="http://schemas.microsoft.com/office/drawing/2014/main" id="{36F2E0E2-3C6F-4ACD-9277-B7A391EB11C7}"/>
              </a:ext>
            </a:extLst>
          </p:cNvPr>
          <p:cNvSpPr>
            <a:spLocks xmlns:a="http://schemas.openxmlformats.org/drawingml/2006/main" noGrp="1"/>
          </p:cNvSpPr>
          <p:nvPr/>
        </p:nvSpPr>
        <p:spPr>
          <a:xfrm xmlns:a="http://schemas.openxmlformats.org/drawingml/2006/main">
            <a:off x="8743950" y="31051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2 DECISION CYCLES</a:t>
            </a:r>
          </a:p>
        </p:txBody>
      </p:sp>
      <p:sp>
        <p:nvSpPr>
          <p:cNvPr id="28" name="">
            <a:extLst xmlns:a="http://schemas.openxmlformats.org/drawingml/2006/main">
              <a:ext uri="{FF2B5EF4-FFF2-40B4-BE49-F238E27FC236}">
                <a16:creationId xmlns:a16="http://schemas.microsoft.com/office/drawing/2014/main" id="{0EF0751A-1484-4F32-A9E9-8F6E03B78616}"/>
              </a:ext>
            </a:extLst>
          </p:cNvPr>
          <p:cNvSpPr>
            <a:spLocks xmlns:a="http://schemas.openxmlformats.org/drawingml/2006/main" noGrp="1"/>
          </p:cNvSpPr>
          <p:nvPr/>
        </p:nvSpPr>
        <p:spPr>
          <a:xfrm xmlns:a="http://schemas.openxmlformats.org/drawingml/2006/main">
            <a:off x="8743950" y="3438525"/>
            <a:ext cx="200025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29" name="">
            <a:extLst xmlns:a="http://schemas.openxmlformats.org/drawingml/2006/main">
              <a:ext uri="{FF2B5EF4-FFF2-40B4-BE49-F238E27FC236}">
                <a16:creationId xmlns:a16="http://schemas.microsoft.com/office/drawing/2014/main" id="{40047E03-65D4-4E98-B84C-4C9ACB21B7E9}"/>
              </a:ext>
            </a:extLst>
          </p:cNvPr>
          <p:cNvSpPr>
            <a:spLocks xmlns:a="http://schemas.openxmlformats.org/drawingml/2006/main" noGrp="1"/>
          </p:cNvSpPr>
          <p:nvPr/>
        </p:nvSpPr>
        <p:spPr>
          <a:xfrm xmlns:a="http://schemas.openxmlformats.org/drawingml/2006/main">
            <a:off x="8743950" y="3581400"/>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514753"/>
                </a:solidFill>
                <a:latin typeface="Helvetica Neue"/>
                <a:ea typeface="Helvetica Neue"/>
                <a:cs typeface="Helvetica Neue"/>
              </a:defRPr>
            </a:pPr>
            <a:r>
              <a:rPr sz="900" b="0">
                <a:solidFill>
                  <a:srgbClr val="514753"/>
                </a:solidFill>
                <a:latin typeface="Helvetica Neue"/>
                <a:ea typeface="Helvetica Neue"/>
                <a:cs typeface="Helvetica Neue"/>
              </a:rPr>
              <a:t>Revocation, recovery, adoption, measured value</a:t>
            </a:r>
          </a:p>
        </p:txBody>
      </p:sp>
      <p:sp>
        <p:nvSpPr>
          <p:cNvPr id="30" name="">
            <a:extLst xmlns:a="http://schemas.openxmlformats.org/drawingml/2006/main">
              <a:ext uri="{FF2B5EF4-FFF2-40B4-BE49-F238E27FC236}">
                <a16:creationId xmlns:a16="http://schemas.microsoft.com/office/drawing/2014/main" id="{0FD30ACE-7B0D-45C9-BF71-BF289DEA3387}"/>
              </a:ext>
            </a:extLst>
          </p:cNvPr>
          <p:cNvSpPr>
            <a:spLocks xmlns:a="http://schemas.openxmlformats.org/drawingml/2006/main" noGrp="1"/>
          </p:cNvSpPr>
          <p:nvPr/>
        </p:nvSpPr>
        <p:spPr>
          <a:xfrm xmlns:a="http://schemas.openxmlformats.org/drawingml/2006/main">
            <a:off x="666750" y="46196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E94B2A"/>
                </a:solidFill>
                <a:latin typeface="Helvetica Neue"/>
                <a:ea typeface="Helvetica Neue"/>
                <a:cs typeface="Helvetica Neue"/>
              </a:defRPr>
            </a:pPr>
            <a:r>
              <a:rPr sz="900" b="1">
                <a:solidFill>
                  <a:srgbClr val="E94B2A"/>
                </a:solidFill>
                <a:latin typeface="Helvetica Neue"/>
                <a:ea typeface="Helvetica Neue"/>
                <a:cs typeface="Helvetica Neue"/>
              </a:rPr>
              <a:t>The strategic fit</a:t>
            </a:r>
          </a:p>
        </p:txBody>
      </p:sp>
      <p:sp>
        <p:nvSpPr>
          <p:cNvPr id="31" name="">
            <a:extLst xmlns:a="http://schemas.openxmlformats.org/drawingml/2006/main">
              <a:ext uri="{FF2B5EF4-FFF2-40B4-BE49-F238E27FC236}">
                <a16:creationId xmlns:a16="http://schemas.microsoft.com/office/drawing/2014/main" id="{BDB8551C-AAF7-4777-8F86-5A8CA17AB4ED}"/>
              </a:ext>
            </a:extLst>
          </p:cNvPr>
          <p:cNvSpPr>
            <a:spLocks xmlns:a="http://schemas.openxmlformats.org/drawingml/2006/main" noGrp="1"/>
          </p:cNvSpPr>
          <p:nvPr/>
        </p:nvSpPr>
        <p:spPr>
          <a:xfrm xmlns:a="http://schemas.openxmlformats.org/drawingml/2006/main">
            <a:off x="666750" y="4924425"/>
            <a:ext cx="1009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028"/>
          </a:bodyPr>
          <a:lstStyle xmlns:a="http://schemas.openxmlformats.org/drawingml/2006/main"/>
          <a:p xmlns:a="http://schemas.openxmlformats.org/drawingml/2006/main">
            <a:pPr>
              <a:defRPr sz="1800" b="1">
                <a:solidFill>
                  <a:srgbClr val="25152B"/>
                </a:solidFill>
                <a:latin typeface="Helvetica Neue"/>
                <a:ea typeface="Helvetica Neue"/>
                <a:cs typeface="Helvetica Neue"/>
              </a:defRPr>
            </a:pPr>
            <a:r>
              <a:rPr sz="1800" b="1">
                <a:solidFill>
                  <a:srgbClr val="25152B"/>
                </a:solidFill>
                <a:latin typeface="Helvetica Neue"/>
                <a:ea typeface="Helvetica Neue"/>
                <a:cs typeface="Helvetica Neue"/>
              </a:rPr>
              <a:t>Compass applies the Foundation’s CREDIT values through visible evidence, responsible iteration, and shared learning.</a:t>
            </a:r>
          </a:p>
        </p:txBody>
      </p:sp>
      <p:sp>
        <p:nvSpPr>
          <p:cNvPr id="32" name="">
            <a:extLst xmlns:a="http://schemas.openxmlformats.org/drawingml/2006/main">
              <a:ext uri="{FF2B5EF4-FFF2-40B4-BE49-F238E27FC236}">
                <a16:creationId xmlns:a16="http://schemas.microsoft.com/office/drawing/2014/main" id="{350D93BF-D3B9-457E-AC53-280E28215688}"/>
              </a:ext>
            </a:extLst>
          </p:cNvPr>
          <p:cNvSpPr>
            <a:spLocks xmlns:a="http://schemas.openxmlformats.org/drawingml/2006/main" noGrp="1"/>
          </p:cNvSpPr>
          <p:nvPr/>
        </p:nvSpPr>
        <p:spPr>
          <a:xfrm xmlns:a="http://schemas.openxmlformats.org/drawingml/2006/main">
            <a:off x="666750" y="5572125"/>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Each target window tracks planned, forecast, and actual progress. Security and evidence gates remain fixed even when the team moves faster.</a:t>
            </a:r>
          </a:p>
        </p:txBody>
      </p:sp>
    </p:spTree>
    <p:extLst>
      <p:ext uri="{BB962C8B-B14F-4D97-AF65-F5344CB8AC3E}">
        <p14:creationId xmlns:p14="http://schemas.microsoft.com/office/powerpoint/2010/main" val="12491189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2026-09-09T07:05:14.7040000Z</dcterms:created>
  <dcterms:modified xsi:type="dcterms:W3CDTF">2026-09-09T07:05:14.7040000Z</dcterms:modified>
</coreProperties>
</file>