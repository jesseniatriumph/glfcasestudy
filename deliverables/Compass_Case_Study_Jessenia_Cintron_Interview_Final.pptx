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08cee86b1f4373" /><Relationship Type="http://schemas.openxmlformats.org/officeDocument/2006/relationships/extended-properties" Target="/docProps/app.xml" Id="R3ec55352979c4385" /><Relationship Type="http://schemas.openxmlformats.org/officeDocument/2006/relationships/officeDocument" Target="/ppt/presentation.xml" Id="Rc1f106c6cbcc4f4b" /></Relationships>
</file>

<file path=ppt/presentation.xml><?xml version="1.0" encoding="utf-8"?>
<p:presentation xmlns:p="http://schemas.openxmlformats.org/presentationml/2006/main">
  <p:sldMasterIdLst>
    <p:sldMasterId xmlns:r="http://schemas.openxmlformats.org/officeDocument/2006/relationships" id="2147483648" r:id="R572a2921d69c401b"/>
  </p:sldMasterIdLst>
  <p:notesMasterIdLst>
    <p:notesMasterId xmlns:r="http://schemas.openxmlformats.org/officeDocument/2006/relationships" r:id="Rd64f68b44cae47d1"/>
  </p:notesMasterIdLst>
  <p:sldIdLst>
    <p:sldId xmlns:r="http://schemas.openxmlformats.org/officeDocument/2006/relationships" id="256" r:id="R9b5021700d4e4b9f"/>
    <p:sldId xmlns:r="http://schemas.openxmlformats.org/officeDocument/2006/relationships" id="257" r:id="R14607d1cf48d4866"/>
    <p:sldId xmlns:r="http://schemas.openxmlformats.org/officeDocument/2006/relationships" id="258" r:id="Rf497b52b86cf483c"/>
    <p:sldId xmlns:r="http://schemas.openxmlformats.org/officeDocument/2006/relationships" id="259" r:id="R914185b6dfcb48e2"/>
    <p:sldId xmlns:r="http://schemas.openxmlformats.org/officeDocument/2006/relationships" id="260" r:id="Rb9921f7ade6d43ce"/>
    <p:sldId xmlns:r="http://schemas.openxmlformats.org/officeDocument/2006/relationships" id="261" r:id="Ra1dcd2b0c2d44fc4"/>
    <p:sldId xmlns:r="http://schemas.openxmlformats.org/officeDocument/2006/relationships" id="262" r:id="R5657842dbe464a98"/>
    <p:sldId xmlns:r="http://schemas.openxmlformats.org/officeDocument/2006/relationships" id="263" r:id="R142944ce1efa4911"/>
    <p:sldId xmlns:r="http://schemas.openxmlformats.org/officeDocument/2006/relationships" id="264" r:id="R1535709976be4b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73c295d79943be" /><Relationship Type="http://schemas.openxmlformats.org/officeDocument/2006/relationships/slideMaster" Target="/ppt/slideMasters/slideMaster1.xml" Id="R572a2921d69c401b" /><Relationship Type="http://schemas.openxmlformats.org/officeDocument/2006/relationships/notesMaster" Target="/ppt/notesMasters/notesMaster1.xml" Id="Rd64f68b44cae47d1" /><Relationship Type="http://schemas.openxmlformats.org/officeDocument/2006/relationships/presProps" Target="/ppt/presProps.xml" Id="Rdbe5e32684e34e2f" /><Relationship Type="http://schemas.openxmlformats.org/officeDocument/2006/relationships/tableStyles" Target="/ppt/tableStyles.xml" Id="R0b7a9b210e2f4941" /><Relationship Type="http://schemas.openxmlformats.org/officeDocument/2006/relationships/slide" Target="/ppt/slides/slide1.xml" Id="R9b5021700d4e4b9f" /><Relationship Type="http://schemas.openxmlformats.org/officeDocument/2006/relationships/slide" Target="/ppt/slides/slide2.xml" Id="R14607d1cf48d4866" /><Relationship Type="http://schemas.openxmlformats.org/officeDocument/2006/relationships/slide" Target="/ppt/slides/slide3.xml" Id="Rf497b52b86cf483c" /><Relationship Type="http://schemas.openxmlformats.org/officeDocument/2006/relationships/slide" Target="/ppt/slides/slide4.xml" Id="R914185b6dfcb48e2" /><Relationship Type="http://schemas.openxmlformats.org/officeDocument/2006/relationships/slide" Target="/ppt/slides/slide5.xml" Id="Rb9921f7ade6d43ce" /><Relationship Type="http://schemas.openxmlformats.org/officeDocument/2006/relationships/slide" Target="/ppt/slides/slide6.xml" Id="Ra1dcd2b0c2d44fc4" /><Relationship Type="http://schemas.openxmlformats.org/officeDocument/2006/relationships/slide" Target="/ppt/slides/slide7.xml" Id="R5657842dbe464a98" /><Relationship Type="http://schemas.openxmlformats.org/officeDocument/2006/relationships/slide" Target="/ppt/slides/slide8.xml" Id="R142944ce1efa4911" /><Relationship Type="http://schemas.openxmlformats.org/officeDocument/2006/relationships/slide" Target="/ppt/slides/slide9.xml" Id="R1535709976be4b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16dffee2b94f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bf44d0be4b415d" /><Relationship Type="http://schemas.openxmlformats.org/officeDocument/2006/relationships/notesMaster" Target="/ppt/notesMasters/notesMaster1.xml" Id="R0df240f3fc284e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689a099e7046ec" /><Relationship Type="http://schemas.openxmlformats.org/officeDocument/2006/relationships/notesMaster" Target="/ppt/notesMasters/notesMaster1.xml" Id="Rd51cd4c2c3274d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51d462c44c4df9" /><Relationship Type="http://schemas.openxmlformats.org/officeDocument/2006/relationships/notesMaster" Target="/ppt/notesMasters/notesMaster1.xml" Id="R9de496d4c1114a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9adafa42b24c3d" /><Relationship Type="http://schemas.openxmlformats.org/officeDocument/2006/relationships/notesMaster" Target="/ppt/notesMasters/notesMaster1.xml" Id="Rd5c2c40eb27240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ebcff6bff94791" /><Relationship Type="http://schemas.openxmlformats.org/officeDocument/2006/relationships/notesMaster" Target="/ppt/notesMasters/notesMaster1.xml" Id="R4887fd30955340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d66f82387a407e" /><Relationship Type="http://schemas.openxmlformats.org/officeDocument/2006/relationships/notesMaster" Target="/ppt/notesMasters/notesMaster1.xml" Id="R67517a6eaf2c4e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830e7bf77f47b9" /><Relationship Type="http://schemas.openxmlformats.org/officeDocument/2006/relationships/notesMaster" Target="/ppt/notesMasters/notesMaster1.xml" Id="R241b0670a7e541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95c345ad3f4431" /><Relationship Type="http://schemas.openxmlformats.org/officeDocument/2006/relationships/notesMaster" Target="/ppt/notesMasters/notesMaster1.xml" Id="Rc2508e51d95f4c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9f75c5c1494b3f" /><Relationship Type="http://schemas.openxmlformats.org/officeDocument/2006/relationships/notesMaster" Target="/ppt/notesMasters/notesMaster1.xml" Id="Reaa5f4f4077049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asked for scope and process, so that is the presentation. Compass is my proposed approach, not a product I expect the team to adopt. After completing the scope, I built a small prototype with fictional evidence to pressure-test a few assumptions. I will use it only as optional supporting evidence. The team can evaluate the case study without seeing the demo.</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systems are not four copies of the same truth. GivingData should own grant transactions. Drive carries narrative evidence. Airtable carries flexible relationship context. Zoom captures decisions in motion. Before synthesizing, Compass has to preserve those roles.</a:t>
            </a:r>
          </a:p>
          <a:p xmlns:a="http://schemas.openxmlformats.org/drawingml/2006/main">
            <a:r>
              <a:t/>
            </a:r>
          </a:p>
          <a:p xmlns:a="http://schemas.openxmlformats.org/drawingml/2006/main">
            <a:r>
              <a:t>Sources:</a:t>
            </a:r>
          </a:p>
          <a:p xmlns:a="http://schemas.openxmlformats.org/drawingml/2006/main">
            <a:r>
              <a:t>https://knowledgebase.givingdata.com/data-structure</a:t>
            </a:r>
          </a:p>
          <a:p xmlns:a="http://schemas.openxmlformats.org/drawingml/2006/main">
            <a:r>
              <a:t>https://developers.google.com/workspace/drive/api/guides/about-files</a:t>
            </a:r>
          </a:p>
          <a:p xmlns:a="http://schemas.openxmlformats.org/drawingml/2006/main">
            <a:r>
              <a:t>https://support.airtable.com/articles/6292134965-getting-started-with-airtable-s-web-api</a:t>
            </a:r>
          </a:p>
          <a:p xmlns:a="http://schemas.openxmlformats.org/drawingml/2006/main">
            <a:r>
              <a:t>https://support.zoom.com/hc/en/article?id=zm_kb&amp;sysparm_article=KB0060329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not begin with the model. I would observe actual review and strategy workflows, then name the highest-value recurring questions. In parallel, I would map joins, definitions, owners, permissions, and exclusions. This creates the gold question set and data contracts that the build can be evaluated against.</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did not treat the prompt as permission to skip discovery or build around assumptions. I completed the scope first, then used a contained prototype to test one interaction: can the system show agreement, conflict, citations, and a next check without overstating certainty? The browser calls a local API and uses fictional records only. This is evidence about the design method, not a claim that the Foundation needs this interface or should adopt this code.</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the proposed system, not a completed Foundation deployment. The prototype implements a bounded browser, policy, answer, persistence, and test path so I could find weak assumptions early. The Foundation would still define source ownership, user groups, access rules, retention, and success measures before any real connector work. I kept retrieval deterministic because a model or vector index should earn its place against approved questions.</a:t>
            </a:r>
          </a:p>
          <a:p xmlns:a="http://schemas.openxmlformats.org/drawingml/2006/main">
            <a:r>
              <a:t/>
            </a:r>
          </a:p>
          <a:p xmlns:a="http://schemas.openxmlformats.org/drawingml/2006/main">
            <a:r>
              <a:t>Sources:</a:t>
            </a:r>
          </a:p>
          <a:p xmlns:a="http://schemas.openxmlformats.org/drawingml/2006/main">
            <a:r>
              <a:t>https://developers.google.com/workspace/drive/api/guides/manage-sharing</a:t>
            </a:r>
          </a:p>
          <a:p xmlns:a="http://schemas.openxmlformats.org/drawingml/2006/main">
            <a:r>
              <a:t>https://developers.google.com/workspace/drive/api/guides/manage-changes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design choice is where the constraints sit. A prompt cannot enforce access. The proposed server authenticates a stable subject, checks the approved account, and filters candidates before ranking or model context. The prototype has nine passing checks that exercise this pattern. Those tests support the proposal, but they do not replace Foundation security review, source revocation tests, or an incident exercise.</a:t>
            </a:r>
          </a:p>
          <a:p xmlns:a="http://schemas.openxmlformats.org/drawingml/2006/main">
            <a:r>
              <a:t/>
            </a:r>
          </a:p>
          <a:p xmlns:a="http://schemas.openxmlformats.org/drawingml/2006/main">
            <a:r>
              <a:t>Sources:</a:t>
            </a:r>
          </a:p>
          <a:p xmlns:a="http://schemas.openxmlformats.org/drawingml/2006/main">
            <a:r>
              <a:t>https://cheatsheetseries.owasp.org/cheatsheets/LLM_Prompt_Injection_Prevention_Cheat_Sheet.html</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designed the failure state as carefully as the happy path. A permission problem stops the answer. A data conflict appears with both values and an owner. Missing chat history appears as a coverage gap. Low evidence produces an abstention. The label “confidence” should describe coverage, source agreement, and evaluation results, not the model’s self-reported certainty.</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prompt asked for scoping and process, not a working product. I honored that by making the case study complete without the demo. The prototype came afterward as a private validation exercise using fictional evidence. I would show it only briefly or when asked. I deliberately left out live connections, production deployment, automated decisions, source writeback, and productization because each requires discovery and separate authority.</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sequence protects against building ahead of the people who will use and govern the system. Discovery defines the use case. The team approves the access map. A narrow pilot tests cited answers and refusal behavior. Users then decide whether the evidence supports further investment. My role would be to bring technical judgment and momentum while working with the people who already understand the Foundation’s programs and experiments.</a:t>
            </a:r>
          </a:p>
          <a:p xmlns:a="http://schemas.openxmlformats.org/drawingml/2006/main">
            <a:r>
              <a:t/>
            </a:r>
          </a:p>
          <a:p xmlns:a="http://schemas.openxmlformats.org/drawingml/2006/main">
            <a:r>
              <a:t>Sources:</a:t>
            </a:r>
          </a:p>
          <a:p xmlns:a="http://schemas.openxmlformats.org/drawingml/2006/main">
            <a:r>
              <a:t>https://gitlabfoundation.notion.site/Values-313cf60acc3b47c4b1f64e8352ce1707</a:t>
            </a:r>
          </a:p>
          <a:p xmlns:a="http://schemas.openxmlformats.org/drawingml/2006/main">
            <a:r>
              <a:t>https://www.gitlabfoundation.org/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152c6eefba49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bbc6e1e7e8401e" /><Relationship Type="http://schemas.openxmlformats.org/officeDocument/2006/relationships/slideLayout" Target="/ppt/slideLayouts/slideLayout1.xml" Id="R7c0574afcfa048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0574afcfa048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433b70fef94f76" /><Relationship Type="http://schemas.openxmlformats.org/officeDocument/2006/relationships/image" Target="/ppt/media/image.png" Id="R0d1f114307304964" /><Relationship Type="http://schemas.openxmlformats.org/officeDocument/2006/relationships/notesSlide" Target="/ppt/notesSlides/notesSlide1.xml" Id="R693e25092fb044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215ef736b54e89" /><Relationship Type="http://schemas.openxmlformats.org/officeDocument/2006/relationships/notesSlide" Target="/ppt/notesSlides/notesSlide2.xml" Id="R80f821e0d7b24a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a6a994c2a44aa4" /><Relationship Type="http://schemas.openxmlformats.org/officeDocument/2006/relationships/notesSlide" Target="/ppt/notesSlides/notesSlide3.xml" Id="Reb795ed7471a4e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8a7705958f4772" /><Relationship Type="http://schemas.openxmlformats.org/officeDocument/2006/relationships/notesSlide" Target="/ppt/notesSlides/notesSlide4.xml" Id="R17fb5ff46bb74e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e46c868a53452f" /><Relationship Type="http://schemas.openxmlformats.org/officeDocument/2006/relationships/notesSlide" Target="/ppt/notesSlides/notesSlide5.xml" Id="R7fbd31a5263a46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70499a88024bcd" /><Relationship Type="http://schemas.openxmlformats.org/officeDocument/2006/relationships/notesSlide" Target="/ppt/notesSlides/notesSlide6.xml" Id="Re9551bde6ed94d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356f59a5bf49b6" /><Relationship Type="http://schemas.openxmlformats.org/officeDocument/2006/relationships/notesSlide" Target="/ppt/notesSlides/notesSlide7.xml" Id="R8db2b6650fa44c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02df87f31d4b7a" /><Relationship Type="http://schemas.openxmlformats.org/officeDocument/2006/relationships/notesSlide" Target="/ppt/notesSlides/notesSlide8.xml" Id="R0973817bf09e40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b4432da93024660" /><Relationship Type="http://schemas.openxmlformats.org/officeDocument/2006/relationships/notesSlide" Target="/ppt/notesSlides/notesSlide9.xml" Id="Rcaf848a924244f5f" /></Relationships>
</file>

<file path=ppt/slides/slide1.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d1f114307304964"/>
          <a:srcRect xmlns:a="http://schemas.openxmlformats.org/drawingml/2006/main" l="3216" t="0" r="3216"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48154C8-7198-49B4-9A41-DD96F5626B8C}"/>
              </a:ext>
            </a:extLst>
          </p:cNvPr>
          <p:cNvSpPr>
            <a:spLocks xmlns:a="http://schemas.openxmlformats.org/drawingml/2006/main" noGrp="1"/>
          </p:cNvSpPr>
          <p:nvPr/>
        </p:nvSpPr>
        <p:spPr>
          <a:xfrm xmlns:a="http://schemas.openxmlformats.org/drawingml/2006/main">
            <a:off x="514350" y="438150"/>
            <a:ext cx="1866900" cy="323850"/>
          </a:xfrm>
          <a:prstGeom xmlns:a="http://schemas.openxmlformats.org/drawingml/2006/main" prst="roundRect">
            <a:avLst>
              <a:gd name="adj" fmla="val 50000"/>
            </a:avLst>
          </a:prstGeom>
          <a:solidFill xmlns:a="http://schemas.openxmlformats.org/drawingml/2006/main">
            <a:srgbClr val="2515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71B80D-7290-411B-BD6D-FA37A93B7600}"/>
              </a:ext>
            </a:extLst>
          </p:cNvPr>
          <p:cNvSpPr>
            <a:spLocks xmlns:a="http://schemas.openxmlformats.org/drawingml/2006/main" noGrp="1"/>
          </p:cNvSpPr>
          <p:nvPr/>
        </p:nvSpPr>
        <p:spPr>
          <a:xfrm xmlns:a="http://schemas.openxmlformats.org/drawingml/2006/main">
            <a:off x="676275" y="495300"/>
            <a:ext cx="1543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GITLAB FOUNDATION</a:t>
            </a:r>
          </a:p>
        </p:txBody>
      </p:sp>
      <p:sp>
        <p:nvSpPr>
          <p:cNvPr id="4" name="">
            <a:extLst xmlns:a="http://schemas.openxmlformats.org/drawingml/2006/main">
              <a:ext uri="{FF2B5EF4-FFF2-40B4-BE49-F238E27FC236}">
                <a16:creationId xmlns:a16="http://schemas.microsoft.com/office/drawing/2014/main" id="{BA3FE89C-2122-442C-B7F4-AA8103734D42}"/>
              </a:ext>
            </a:extLst>
          </p:cNvPr>
          <p:cNvSpPr>
            <a:spLocks xmlns:a="http://schemas.openxmlformats.org/drawingml/2006/main" noGrp="1"/>
          </p:cNvSpPr>
          <p:nvPr/>
        </p:nvSpPr>
        <p:spPr>
          <a:xfrm xmlns:a="http://schemas.openxmlformats.org/drawingml/2006/main">
            <a:off x="666750" y="6238875"/>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CASE STUDY WITH OPTIONAL PROTOTYPE EVIDENCE  SEPT 2026</a:t>
            </a:r>
          </a:p>
        </p:txBody>
      </p:sp>
      <p:sp>
        <p:nvSpPr>
          <p:cNvPr id="5" name="">
            <a:extLst xmlns:a="http://schemas.openxmlformats.org/drawingml/2006/main">
              <a:ext uri="{FF2B5EF4-FFF2-40B4-BE49-F238E27FC236}">
                <a16:creationId xmlns:a16="http://schemas.microsoft.com/office/drawing/2014/main" id="{84946851-1853-4B9C-A1D9-CFBE46455045}"/>
              </a:ext>
            </a:extLst>
          </p:cNvPr>
          <p:cNvSpPr>
            <a:spLocks xmlns:a="http://schemas.openxmlformats.org/drawingml/2006/main" noGrp="1"/>
          </p:cNvSpPr>
          <p:nvPr/>
        </p:nvSpPr>
        <p:spPr>
          <a:xfrm xmlns:a="http://schemas.openxmlformats.org/drawingml/2006/main">
            <a:off x="9525000" y="6238875"/>
            <a:ext cx="1981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Jessenia Cintron</a:t>
            </a:r>
          </a:p>
        </p:txBody>
      </p:sp>
    </p:spTree>
    <p:extLst>
      <p:ext uri="{BB962C8B-B14F-4D97-AF65-F5344CB8AC3E}">
        <p14:creationId xmlns:p14="http://schemas.microsoft.com/office/powerpoint/2010/main" val="1286625264"/>
      </p:ext>
    </p:extLst>
  </p:cSld>
</p:sld>
</file>

<file path=ppt/slides/slide2.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6965741-30E7-4B3C-9546-BF9FFBB73F5D}"/>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THE DECISION PROBLEM</a:t>
            </a:r>
          </a:p>
        </p:txBody>
      </p:sp>
      <p:sp>
        <p:nvSpPr>
          <p:cNvPr id="2" name="">
            <a:extLst xmlns:a="http://schemas.openxmlformats.org/drawingml/2006/main">
              <a:ext uri="{FF2B5EF4-FFF2-40B4-BE49-F238E27FC236}">
                <a16:creationId xmlns:a16="http://schemas.microsoft.com/office/drawing/2014/main" id="{0CA775CC-3D55-4A2E-8867-5A90DD98131C}"/>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9C956EDC-2B50-49A4-9E2A-4AD6547EA1FB}"/>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7B4666AA-E140-4E62-85B9-27333E8635BF}"/>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Four systems hold different kinds of truth</a:t>
            </a:r>
          </a:p>
        </p:txBody>
      </p:sp>
      <p:sp>
        <p:nvSpPr>
          <p:cNvPr id="5" name="">
            <a:extLst xmlns:a="http://schemas.openxmlformats.org/drawingml/2006/main">
              <a:ext uri="{FF2B5EF4-FFF2-40B4-BE49-F238E27FC236}">
                <a16:creationId xmlns:a16="http://schemas.microsoft.com/office/drawing/2014/main" id="{9A45FF8C-5834-4861-83CB-94BC3CB6E1A8}"/>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A useful answer must connect the records without flattening their meaning.</a:t>
            </a:r>
          </a:p>
        </p:txBody>
      </p:sp>
      <p:sp>
        <p:nvSpPr>
          <p:cNvPr id="6" name="">
            <a:extLst xmlns:a="http://schemas.openxmlformats.org/drawingml/2006/main">
              <a:ext uri="{FF2B5EF4-FFF2-40B4-BE49-F238E27FC236}">
                <a16:creationId xmlns:a16="http://schemas.microsoft.com/office/drawing/2014/main" id="{337FFF20-C5B5-45F8-A17B-4AE9CC217084}"/>
              </a:ext>
            </a:extLst>
          </p:cNvPr>
          <p:cNvSpPr>
            <a:spLocks xmlns:a="http://schemas.openxmlformats.org/drawingml/2006/main" noGrp="1"/>
          </p:cNvSpPr>
          <p:nvPr/>
        </p:nvSpPr>
        <p:spPr>
          <a:xfrm xmlns:a="http://schemas.openxmlformats.org/drawingml/2006/main">
            <a:off x="66675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25435E05-D391-4885-8332-F3C33B8D3FEE}"/>
              </a:ext>
            </a:extLst>
          </p:cNvPr>
          <p:cNvSpPr>
            <a:spLocks xmlns:a="http://schemas.openxmlformats.org/drawingml/2006/main" noGrp="1"/>
          </p:cNvSpPr>
          <p:nvPr/>
        </p:nvSpPr>
        <p:spPr>
          <a:xfrm xmlns:a="http://schemas.openxmlformats.org/drawingml/2006/main">
            <a:off x="666750" y="2152650"/>
            <a:ext cx="2476500" cy="85725"/>
          </a:xfrm>
          <a:prstGeom xmlns:a="http://schemas.openxmlformats.org/drawingml/2006/main" prst="roundRect">
            <a:avLst>
              <a:gd name="adj" fmla="val 44444"/>
            </a:avLst>
          </a:prstGeom>
          <a:solidFill xmlns:a="http://schemas.openxmlformats.org/drawingml/2006/main">
            <a:srgbClr val="2D67A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0E6933C-E17C-45D6-BC49-8D637421C0D1}"/>
              </a:ext>
            </a:extLst>
          </p:cNvPr>
          <p:cNvSpPr>
            <a:spLocks xmlns:a="http://schemas.openxmlformats.org/drawingml/2006/main" noGrp="1"/>
          </p:cNvSpPr>
          <p:nvPr/>
        </p:nvSpPr>
        <p:spPr>
          <a:xfrm xmlns:a="http://schemas.openxmlformats.org/drawingml/2006/main">
            <a:off x="85725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Google Drive</a:t>
            </a:r>
          </a:p>
        </p:txBody>
      </p:sp>
      <p:sp>
        <p:nvSpPr>
          <p:cNvPr id="9" name="">
            <a:extLst xmlns:a="http://schemas.openxmlformats.org/drawingml/2006/main">
              <a:ext uri="{FF2B5EF4-FFF2-40B4-BE49-F238E27FC236}">
                <a16:creationId xmlns:a16="http://schemas.microsoft.com/office/drawing/2014/main" id="{6E4E4DD6-53CF-4391-847B-8A6A73382CBC}"/>
              </a:ext>
            </a:extLst>
          </p:cNvPr>
          <p:cNvSpPr>
            <a:spLocks xmlns:a="http://schemas.openxmlformats.org/drawingml/2006/main" noGrp="1"/>
          </p:cNvSpPr>
          <p:nvPr/>
        </p:nvSpPr>
        <p:spPr>
          <a:xfrm xmlns:a="http://schemas.openxmlformats.org/drawingml/2006/main">
            <a:off x="85725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2D67A6"/>
                </a:solidFill>
                <a:latin typeface="Helvetica Neue"/>
                <a:ea typeface="Helvetica Neue"/>
                <a:cs typeface="Helvetica Neue"/>
              </a:defRPr>
            </a:pPr>
            <a:r>
              <a:rPr sz="975" b="1">
                <a:solidFill>
                  <a:srgbClr val="2D67A6"/>
                </a:solidFill>
                <a:latin typeface="Helvetica Neue"/>
                <a:ea typeface="Helvetica Neue"/>
                <a:cs typeface="Helvetica Neue"/>
              </a:rPr>
              <a:t>Narrative evidence</a:t>
            </a:r>
          </a:p>
        </p:txBody>
      </p:sp>
      <p:sp>
        <p:nvSpPr>
          <p:cNvPr id="10" name="">
            <a:extLst xmlns:a="http://schemas.openxmlformats.org/drawingml/2006/main">
              <a:ext uri="{FF2B5EF4-FFF2-40B4-BE49-F238E27FC236}">
                <a16:creationId xmlns:a16="http://schemas.microsoft.com/office/drawing/2014/main" id="{F902A662-2690-49F5-8DD8-B0561698CA2A}"/>
              </a:ext>
            </a:extLst>
          </p:cNvPr>
          <p:cNvSpPr>
            <a:spLocks xmlns:a="http://schemas.openxmlformats.org/drawingml/2006/main" noGrp="1"/>
          </p:cNvSpPr>
          <p:nvPr/>
        </p:nvSpPr>
        <p:spPr>
          <a:xfrm xmlns:a="http://schemas.openxmlformats.org/drawingml/2006/main">
            <a:off x="85725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1" name="">
            <a:extLst xmlns:a="http://schemas.openxmlformats.org/drawingml/2006/main">
              <a:ext uri="{FF2B5EF4-FFF2-40B4-BE49-F238E27FC236}">
                <a16:creationId xmlns:a16="http://schemas.microsoft.com/office/drawing/2014/main" id="{F053BFB5-0580-4BAB-833C-E10AB4EB1503}"/>
              </a:ext>
            </a:extLst>
          </p:cNvPr>
          <p:cNvSpPr>
            <a:spLocks xmlns:a="http://schemas.openxmlformats.org/drawingml/2006/main" noGrp="1"/>
          </p:cNvSpPr>
          <p:nvPr/>
        </p:nvSpPr>
        <p:spPr>
          <a:xfrm xmlns:a="http://schemas.openxmlformats.org/drawingml/2006/main">
            <a:off x="85725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Reports, proposals, memos, tables</a:t>
            </a:r>
          </a:p>
        </p:txBody>
      </p:sp>
      <p:sp>
        <p:nvSpPr>
          <p:cNvPr id="12" name="">
            <a:extLst xmlns:a="http://schemas.openxmlformats.org/drawingml/2006/main">
              <a:ext uri="{FF2B5EF4-FFF2-40B4-BE49-F238E27FC236}">
                <a16:creationId xmlns:a16="http://schemas.microsoft.com/office/drawing/2014/main" id="{10C71137-E11B-4F54-8159-0DD2C81AC203}"/>
              </a:ext>
            </a:extLst>
          </p:cNvPr>
          <p:cNvSpPr>
            <a:spLocks xmlns:a="http://schemas.openxmlformats.org/drawingml/2006/main" noGrp="1"/>
          </p:cNvSpPr>
          <p:nvPr/>
        </p:nvSpPr>
        <p:spPr>
          <a:xfrm xmlns:a="http://schemas.openxmlformats.org/drawingml/2006/main">
            <a:off x="339090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8A8BF23C-F06E-4ADD-AD72-B457D4E15F31}"/>
              </a:ext>
            </a:extLst>
          </p:cNvPr>
          <p:cNvSpPr>
            <a:spLocks xmlns:a="http://schemas.openxmlformats.org/drawingml/2006/main" noGrp="1"/>
          </p:cNvSpPr>
          <p:nvPr/>
        </p:nvSpPr>
        <p:spPr>
          <a:xfrm xmlns:a="http://schemas.openxmlformats.org/drawingml/2006/main">
            <a:off x="3390900" y="2152650"/>
            <a:ext cx="2476500" cy="85725"/>
          </a:xfrm>
          <a:prstGeom xmlns:a="http://schemas.openxmlformats.org/drawingml/2006/main" prst="roundRect">
            <a:avLst>
              <a:gd name="adj" fmla="val 44444"/>
            </a:avLst>
          </a:prstGeom>
          <a:solidFill xmlns:a="http://schemas.openxmlformats.org/drawingml/2006/main">
            <a:srgbClr val="C3472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AF9EEA6-B59E-4BAA-841C-9451D76FDF7B}"/>
              </a:ext>
            </a:extLst>
          </p:cNvPr>
          <p:cNvSpPr>
            <a:spLocks xmlns:a="http://schemas.openxmlformats.org/drawingml/2006/main" noGrp="1"/>
          </p:cNvSpPr>
          <p:nvPr/>
        </p:nvSpPr>
        <p:spPr>
          <a:xfrm xmlns:a="http://schemas.openxmlformats.org/drawingml/2006/main">
            <a:off x="358140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GivingData</a:t>
            </a:r>
          </a:p>
        </p:txBody>
      </p:sp>
      <p:sp>
        <p:nvSpPr>
          <p:cNvPr id="15" name="">
            <a:extLst xmlns:a="http://schemas.openxmlformats.org/drawingml/2006/main">
              <a:ext uri="{FF2B5EF4-FFF2-40B4-BE49-F238E27FC236}">
                <a16:creationId xmlns:a16="http://schemas.microsoft.com/office/drawing/2014/main" id="{C1A21A55-75A2-44AD-875D-A3A5B8B28D4D}"/>
              </a:ext>
            </a:extLst>
          </p:cNvPr>
          <p:cNvSpPr>
            <a:spLocks xmlns:a="http://schemas.openxmlformats.org/drawingml/2006/main" noGrp="1"/>
          </p:cNvSpPr>
          <p:nvPr/>
        </p:nvSpPr>
        <p:spPr>
          <a:xfrm xmlns:a="http://schemas.openxmlformats.org/drawingml/2006/main">
            <a:off x="358140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C34728"/>
                </a:solidFill>
                <a:latin typeface="Helvetica Neue"/>
                <a:ea typeface="Helvetica Neue"/>
                <a:cs typeface="Helvetica Neue"/>
              </a:defRPr>
            </a:pPr>
            <a:r>
              <a:rPr sz="975" b="1">
                <a:solidFill>
                  <a:srgbClr val="C34728"/>
                </a:solidFill>
                <a:latin typeface="Helvetica Neue"/>
                <a:ea typeface="Helvetica Neue"/>
                <a:cs typeface="Helvetica Neue"/>
              </a:rPr>
              <a:t>Grant truth</a:t>
            </a:r>
          </a:p>
        </p:txBody>
      </p:sp>
      <p:sp>
        <p:nvSpPr>
          <p:cNvPr id="16" name="">
            <a:extLst xmlns:a="http://schemas.openxmlformats.org/drawingml/2006/main">
              <a:ext uri="{FF2B5EF4-FFF2-40B4-BE49-F238E27FC236}">
                <a16:creationId xmlns:a16="http://schemas.microsoft.com/office/drawing/2014/main" id="{0513F7CD-564F-40AD-B8E2-70DA190B3DAB}"/>
              </a:ext>
            </a:extLst>
          </p:cNvPr>
          <p:cNvSpPr>
            <a:spLocks xmlns:a="http://schemas.openxmlformats.org/drawingml/2006/main" noGrp="1"/>
          </p:cNvSpPr>
          <p:nvPr/>
        </p:nvSpPr>
        <p:spPr>
          <a:xfrm xmlns:a="http://schemas.openxmlformats.org/drawingml/2006/main">
            <a:off x="358140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A386CD72-9A84-4DF6-BDDC-B937B1E1209C}"/>
              </a:ext>
            </a:extLst>
          </p:cNvPr>
          <p:cNvSpPr>
            <a:spLocks xmlns:a="http://schemas.openxmlformats.org/drawingml/2006/main" noGrp="1"/>
          </p:cNvSpPr>
          <p:nvPr/>
        </p:nvSpPr>
        <p:spPr>
          <a:xfrm xmlns:a="http://schemas.openxmlformats.org/drawingml/2006/main">
            <a:off x="358140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Organizations, requests, payments, requirements</a:t>
            </a:r>
          </a:p>
        </p:txBody>
      </p:sp>
      <p:sp>
        <p:nvSpPr>
          <p:cNvPr id="18" name="">
            <a:extLst xmlns:a="http://schemas.openxmlformats.org/drawingml/2006/main">
              <a:ext uri="{FF2B5EF4-FFF2-40B4-BE49-F238E27FC236}">
                <a16:creationId xmlns:a16="http://schemas.microsoft.com/office/drawing/2014/main" id="{94C08298-B70D-4004-BB0E-46C2465A515E}"/>
              </a:ext>
            </a:extLst>
          </p:cNvPr>
          <p:cNvSpPr>
            <a:spLocks xmlns:a="http://schemas.openxmlformats.org/drawingml/2006/main" noGrp="1"/>
          </p:cNvSpPr>
          <p:nvPr/>
        </p:nvSpPr>
        <p:spPr>
          <a:xfrm xmlns:a="http://schemas.openxmlformats.org/drawingml/2006/main">
            <a:off x="611505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19C109F8-F93A-4966-8F1A-2ED7D98A0632}"/>
              </a:ext>
            </a:extLst>
          </p:cNvPr>
          <p:cNvSpPr>
            <a:spLocks xmlns:a="http://schemas.openxmlformats.org/drawingml/2006/main" noGrp="1"/>
          </p:cNvSpPr>
          <p:nvPr/>
        </p:nvSpPr>
        <p:spPr>
          <a:xfrm xmlns:a="http://schemas.openxmlformats.org/drawingml/2006/main">
            <a:off x="6115050" y="2152650"/>
            <a:ext cx="2476500" cy="85725"/>
          </a:xfrm>
          <a:prstGeom xmlns:a="http://schemas.openxmlformats.org/drawingml/2006/main" prst="roundRect">
            <a:avLst>
              <a:gd name="adj" fmla="val 44444"/>
            </a:avLst>
          </a:prstGeom>
          <a:solidFill xmlns:a="http://schemas.openxmlformats.org/drawingml/2006/main">
            <a:srgbClr val="287A5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3485EF9-FDF5-4ADD-A835-4F1F3848B09E}"/>
              </a:ext>
            </a:extLst>
          </p:cNvPr>
          <p:cNvSpPr>
            <a:spLocks xmlns:a="http://schemas.openxmlformats.org/drawingml/2006/main" noGrp="1"/>
          </p:cNvSpPr>
          <p:nvPr/>
        </p:nvSpPr>
        <p:spPr>
          <a:xfrm xmlns:a="http://schemas.openxmlformats.org/drawingml/2006/main">
            <a:off x="630555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Airtable</a:t>
            </a:r>
          </a:p>
        </p:txBody>
      </p:sp>
      <p:sp>
        <p:nvSpPr>
          <p:cNvPr id="21" name="">
            <a:extLst xmlns:a="http://schemas.openxmlformats.org/drawingml/2006/main">
              <a:ext uri="{FF2B5EF4-FFF2-40B4-BE49-F238E27FC236}">
                <a16:creationId xmlns:a16="http://schemas.microsoft.com/office/drawing/2014/main" id="{68BC0BE8-114B-4961-9721-93567171B352}"/>
              </a:ext>
            </a:extLst>
          </p:cNvPr>
          <p:cNvSpPr>
            <a:spLocks xmlns:a="http://schemas.openxmlformats.org/drawingml/2006/main" noGrp="1"/>
          </p:cNvSpPr>
          <p:nvPr/>
        </p:nvSpPr>
        <p:spPr>
          <a:xfrm xmlns:a="http://schemas.openxmlformats.org/drawingml/2006/main">
            <a:off x="630555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287A50"/>
                </a:solidFill>
                <a:latin typeface="Helvetica Neue"/>
                <a:ea typeface="Helvetica Neue"/>
                <a:cs typeface="Helvetica Neue"/>
              </a:defRPr>
            </a:pPr>
            <a:r>
              <a:rPr sz="975" b="1">
                <a:solidFill>
                  <a:srgbClr val="287A50"/>
                </a:solidFill>
                <a:latin typeface="Helvetica Neue"/>
                <a:ea typeface="Helvetica Neue"/>
                <a:cs typeface="Helvetica Neue"/>
              </a:rPr>
              <a:t>Relationship context</a:t>
            </a:r>
          </a:p>
        </p:txBody>
      </p:sp>
      <p:sp>
        <p:nvSpPr>
          <p:cNvPr id="22" name="">
            <a:extLst xmlns:a="http://schemas.openxmlformats.org/drawingml/2006/main">
              <a:ext uri="{FF2B5EF4-FFF2-40B4-BE49-F238E27FC236}">
                <a16:creationId xmlns:a16="http://schemas.microsoft.com/office/drawing/2014/main" id="{FA97D544-19B8-4CDB-A6B2-CB5403B25BB3}"/>
              </a:ext>
            </a:extLst>
          </p:cNvPr>
          <p:cNvSpPr>
            <a:spLocks xmlns:a="http://schemas.openxmlformats.org/drawingml/2006/main" noGrp="1"/>
          </p:cNvSpPr>
          <p:nvPr/>
        </p:nvSpPr>
        <p:spPr>
          <a:xfrm xmlns:a="http://schemas.openxmlformats.org/drawingml/2006/main">
            <a:off x="630555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3" name="">
            <a:extLst xmlns:a="http://schemas.openxmlformats.org/drawingml/2006/main">
              <a:ext uri="{FF2B5EF4-FFF2-40B4-BE49-F238E27FC236}">
                <a16:creationId xmlns:a16="http://schemas.microsoft.com/office/drawing/2014/main" id="{1E1A850B-5946-4A98-8E9C-80BBF84744FC}"/>
              </a:ext>
            </a:extLst>
          </p:cNvPr>
          <p:cNvSpPr>
            <a:spLocks xmlns:a="http://schemas.openxmlformats.org/drawingml/2006/main" noGrp="1"/>
          </p:cNvSpPr>
          <p:nvPr/>
        </p:nvSpPr>
        <p:spPr>
          <a:xfrm xmlns:a="http://schemas.openxmlformats.org/drawingml/2006/main">
            <a:off x="630555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Partners, cohorts, projects, touchpoints</a:t>
            </a:r>
          </a:p>
        </p:txBody>
      </p:sp>
      <p:sp>
        <p:nvSpPr>
          <p:cNvPr id="24" name="">
            <a:extLst xmlns:a="http://schemas.openxmlformats.org/drawingml/2006/main">
              <a:ext uri="{FF2B5EF4-FFF2-40B4-BE49-F238E27FC236}">
                <a16:creationId xmlns:a16="http://schemas.microsoft.com/office/drawing/2014/main" id="{2E35F614-4100-4188-9B78-4839DFC03E64}"/>
              </a:ext>
            </a:extLst>
          </p:cNvPr>
          <p:cNvSpPr>
            <a:spLocks xmlns:a="http://schemas.openxmlformats.org/drawingml/2006/main" noGrp="1"/>
          </p:cNvSpPr>
          <p:nvPr/>
        </p:nvSpPr>
        <p:spPr>
          <a:xfrm xmlns:a="http://schemas.openxmlformats.org/drawingml/2006/main">
            <a:off x="883920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98CE0A81-7330-4100-BBF3-1B760037E79F}"/>
              </a:ext>
            </a:extLst>
          </p:cNvPr>
          <p:cNvSpPr>
            <a:spLocks xmlns:a="http://schemas.openxmlformats.org/drawingml/2006/main" noGrp="1"/>
          </p:cNvSpPr>
          <p:nvPr/>
        </p:nvSpPr>
        <p:spPr>
          <a:xfrm xmlns:a="http://schemas.openxmlformats.org/drawingml/2006/main">
            <a:off x="8839200" y="2152650"/>
            <a:ext cx="2476500" cy="85725"/>
          </a:xfrm>
          <a:prstGeom xmlns:a="http://schemas.openxmlformats.org/drawingml/2006/main" prst="roundRect">
            <a:avLst>
              <a:gd name="adj" fmla="val 44444"/>
            </a:avLst>
          </a:prstGeom>
          <a:solidFill xmlns:a="http://schemas.openxmlformats.org/drawingml/2006/main">
            <a:srgbClr val="69479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3EB2BF9-57B2-44FF-9ED0-8B0D3D5010DB}"/>
              </a:ext>
            </a:extLst>
          </p:cNvPr>
          <p:cNvSpPr>
            <a:spLocks xmlns:a="http://schemas.openxmlformats.org/drawingml/2006/main" noGrp="1"/>
          </p:cNvSpPr>
          <p:nvPr/>
        </p:nvSpPr>
        <p:spPr>
          <a:xfrm xmlns:a="http://schemas.openxmlformats.org/drawingml/2006/main">
            <a:off x="902970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Zoom Chat</a:t>
            </a:r>
          </a:p>
        </p:txBody>
      </p:sp>
      <p:sp>
        <p:nvSpPr>
          <p:cNvPr id="27" name="">
            <a:extLst xmlns:a="http://schemas.openxmlformats.org/drawingml/2006/main">
              <a:ext uri="{FF2B5EF4-FFF2-40B4-BE49-F238E27FC236}">
                <a16:creationId xmlns:a16="http://schemas.microsoft.com/office/drawing/2014/main" id="{86CA149D-8242-4A75-8578-A7022AECF0E8}"/>
              </a:ext>
            </a:extLst>
          </p:cNvPr>
          <p:cNvSpPr>
            <a:spLocks xmlns:a="http://schemas.openxmlformats.org/drawingml/2006/main" noGrp="1"/>
          </p:cNvSpPr>
          <p:nvPr/>
        </p:nvSpPr>
        <p:spPr>
          <a:xfrm xmlns:a="http://schemas.openxmlformats.org/drawingml/2006/main">
            <a:off x="902970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69479B"/>
                </a:solidFill>
                <a:latin typeface="Helvetica Neue"/>
                <a:ea typeface="Helvetica Neue"/>
                <a:cs typeface="Helvetica Neue"/>
              </a:defRPr>
            </a:pPr>
            <a:r>
              <a:rPr sz="975" b="1">
                <a:solidFill>
                  <a:srgbClr val="69479B"/>
                </a:solidFill>
                <a:latin typeface="Helvetica Neue"/>
                <a:ea typeface="Helvetica Neue"/>
                <a:cs typeface="Helvetica Neue"/>
              </a:rPr>
              <a:t>Decisions in motion</a:t>
            </a:r>
          </a:p>
        </p:txBody>
      </p:sp>
      <p:sp>
        <p:nvSpPr>
          <p:cNvPr id="28" name="">
            <a:extLst xmlns:a="http://schemas.openxmlformats.org/drawingml/2006/main">
              <a:ext uri="{FF2B5EF4-FFF2-40B4-BE49-F238E27FC236}">
                <a16:creationId xmlns:a16="http://schemas.microsoft.com/office/drawing/2014/main" id="{0C7978AE-1902-47BE-BE3A-B90B0CEB3BE3}"/>
              </a:ext>
            </a:extLst>
          </p:cNvPr>
          <p:cNvSpPr>
            <a:spLocks xmlns:a="http://schemas.openxmlformats.org/drawingml/2006/main" noGrp="1"/>
          </p:cNvSpPr>
          <p:nvPr/>
        </p:nvSpPr>
        <p:spPr>
          <a:xfrm xmlns:a="http://schemas.openxmlformats.org/drawingml/2006/main">
            <a:off x="902970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2F9501F0-64A3-4000-A9B2-FEDEF74EA88A}"/>
              </a:ext>
            </a:extLst>
          </p:cNvPr>
          <p:cNvSpPr>
            <a:spLocks xmlns:a="http://schemas.openxmlformats.org/drawingml/2006/main" noGrp="1"/>
          </p:cNvSpPr>
          <p:nvPr/>
        </p:nvSpPr>
        <p:spPr>
          <a:xfrm xmlns:a="http://schemas.openxmlformats.org/drawingml/2006/main">
            <a:off x="902970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Discussion, rationale, informal observations</a:t>
            </a:r>
          </a:p>
        </p:txBody>
      </p:sp>
      <p:sp>
        <p:nvSpPr>
          <p:cNvPr id="30" name="">
            <a:extLst xmlns:a="http://schemas.openxmlformats.org/drawingml/2006/main">
              <a:ext uri="{FF2B5EF4-FFF2-40B4-BE49-F238E27FC236}">
                <a16:creationId xmlns:a16="http://schemas.microsoft.com/office/drawing/2014/main" id="{EE184475-48D2-476E-98D0-62E96D419147}"/>
              </a:ext>
            </a:extLst>
          </p:cNvPr>
          <p:cNvSpPr>
            <a:spLocks xmlns:a="http://schemas.openxmlformats.org/drawingml/2006/main" noGrp="1"/>
          </p:cNvSpPr>
          <p:nvPr/>
        </p:nvSpPr>
        <p:spPr>
          <a:xfrm xmlns:a="http://schemas.openxmlformats.org/drawingml/2006/main">
            <a:off x="666750" y="48196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Design consequence</a:t>
            </a:r>
          </a:p>
        </p:txBody>
      </p:sp>
      <p:sp>
        <p:nvSpPr>
          <p:cNvPr id="31" name="">
            <a:extLst xmlns:a="http://schemas.openxmlformats.org/drawingml/2006/main">
              <a:ext uri="{FF2B5EF4-FFF2-40B4-BE49-F238E27FC236}">
                <a16:creationId xmlns:a16="http://schemas.microsoft.com/office/drawing/2014/main" id="{8830F486-DA3B-4943-9354-C1F89293C957}"/>
              </a:ext>
            </a:extLst>
          </p:cNvPr>
          <p:cNvSpPr>
            <a:spLocks xmlns:a="http://schemas.openxmlformats.org/drawingml/2006/main" noGrp="1"/>
          </p:cNvSpPr>
          <p:nvPr/>
        </p:nvSpPr>
        <p:spPr>
          <a:xfrm xmlns:a="http://schemas.openxmlformats.org/drawingml/2006/main">
            <a:off x="666750" y="5105400"/>
            <a:ext cx="1009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25152B"/>
                </a:solidFill>
                <a:latin typeface="Helvetica Neue"/>
                <a:ea typeface="Helvetica Neue"/>
                <a:cs typeface="Helvetica Neue"/>
              </a:defRPr>
            </a:pPr>
            <a:r>
              <a:rPr sz="1725" b="1">
                <a:solidFill>
                  <a:srgbClr val="25152B"/>
                </a:solidFill>
                <a:latin typeface="Helvetica Neue"/>
                <a:ea typeface="Helvetica Neue"/>
                <a:cs typeface="Helvetica Neue"/>
              </a:rPr>
              <a:t>Preserve source authority, date, status, metric definition, and permissions in every answer.</a:t>
            </a:r>
          </a:p>
        </p:txBody>
      </p:sp>
    </p:spTree>
    <p:extLst>
      <p:ext uri="{BB962C8B-B14F-4D97-AF65-F5344CB8AC3E}">
        <p14:creationId xmlns:p14="http://schemas.microsoft.com/office/powerpoint/2010/main" val="1105973906"/>
      </p:ext>
    </p:extLst>
  </p:cSld>
</p:sld>
</file>

<file path=ppt/slides/slide3.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BA22CC89-1546-4BFD-B1DB-11A8C91E0C1A}"/>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DISCOVERY</a:t>
            </a:r>
          </a:p>
        </p:txBody>
      </p:sp>
      <p:sp>
        <p:nvSpPr>
          <p:cNvPr id="2" name="">
            <a:extLst xmlns:a="http://schemas.openxmlformats.org/drawingml/2006/main">
              <a:ext uri="{FF2B5EF4-FFF2-40B4-BE49-F238E27FC236}">
                <a16:creationId xmlns:a16="http://schemas.microsoft.com/office/drawing/2014/main" id="{7487F3D2-8AF4-40F0-AEA4-4019F13A473C}"/>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3D731F9A-4F91-48E3-9412-9808CDC06F61}"/>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59E9AA70-4D11-40D0-A398-E5DC530AEE0B}"/>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Discovery defines the solution</a:t>
            </a:r>
          </a:p>
        </p:txBody>
      </p:sp>
      <p:sp>
        <p:nvSpPr>
          <p:cNvPr id="5" name="">
            <a:extLst xmlns:a="http://schemas.openxmlformats.org/drawingml/2006/main">
              <a:ext uri="{FF2B5EF4-FFF2-40B4-BE49-F238E27FC236}">
                <a16:creationId xmlns:a16="http://schemas.microsoft.com/office/drawing/2014/main" id="{1383091C-CEB4-404E-A8C6-74D1EB5A4932}"/>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first stage turns ambiguity into explicit user, data, and access agreements.</a:t>
            </a:r>
          </a:p>
        </p:txBody>
      </p:sp>
      <p:sp>
        <p:nvSpPr>
          <p:cNvPr id="6" name="">
            <a:extLst xmlns:a="http://schemas.openxmlformats.org/drawingml/2006/main">
              <a:ext uri="{FF2B5EF4-FFF2-40B4-BE49-F238E27FC236}">
                <a16:creationId xmlns:a16="http://schemas.microsoft.com/office/drawing/2014/main" id="{B8F284C5-2484-4C9A-95BB-041BD941E20F}"/>
              </a:ext>
            </a:extLst>
          </p:cNvPr>
          <p:cNvSpPr>
            <a:spLocks xmlns:a="http://schemas.openxmlformats.org/drawingml/2006/main" noGrp="1"/>
          </p:cNvSpPr>
          <p:nvPr/>
        </p:nvSpPr>
        <p:spPr>
          <a:xfrm xmlns:a="http://schemas.openxmlformats.org/drawingml/2006/main">
            <a:off x="6667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USERS + DECISIONS</a:t>
            </a:r>
          </a:p>
        </p:txBody>
      </p:sp>
      <p:sp>
        <p:nvSpPr>
          <p:cNvPr id="7" name="">
            <a:extLst xmlns:a="http://schemas.openxmlformats.org/drawingml/2006/main">
              <a:ext uri="{FF2B5EF4-FFF2-40B4-BE49-F238E27FC236}">
                <a16:creationId xmlns:a16="http://schemas.microsoft.com/office/drawing/2014/main" id="{228B8254-4232-4001-B656-B8C8D4CE1046}"/>
              </a:ext>
            </a:extLst>
          </p:cNvPr>
          <p:cNvSpPr>
            <a:spLocks xmlns:a="http://schemas.openxmlformats.org/drawingml/2006/main" noGrp="1"/>
          </p:cNvSpPr>
          <p:nvPr/>
        </p:nvSpPr>
        <p:spPr>
          <a:xfrm xmlns:a="http://schemas.openxmlformats.org/drawingml/2006/main">
            <a:off x="6667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8" name="">
            <a:extLst xmlns:a="http://schemas.openxmlformats.org/drawingml/2006/main">
              <a:ext uri="{FF2B5EF4-FFF2-40B4-BE49-F238E27FC236}">
                <a16:creationId xmlns:a16="http://schemas.microsoft.com/office/drawing/2014/main" id="{DAAA8E48-7FCB-4C5A-83CB-EED3818BFDB7}"/>
              </a:ext>
            </a:extLst>
          </p:cNvPr>
          <p:cNvSpPr>
            <a:spLocks xmlns:a="http://schemas.openxmlformats.org/drawingml/2006/main" noGrp="1"/>
          </p:cNvSpPr>
          <p:nvPr/>
        </p:nvSpPr>
        <p:spPr>
          <a:xfrm xmlns:a="http://schemas.openxmlformats.org/drawingml/2006/main">
            <a:off x="6667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8D25AB16-D598-40AD-82BF-BCE6269D50B7}"/>
              </a:ext>
            </a:extLst>
          </p:cNvPr>
          <p:cNvSpPr>
            <a:spLocks xmlns:a="http://schemas.openxmlformats.org/drawingml/2006/main" noGrp="1"/>
          </p:cNvSpPr>
          <p:nvPr/>
        </p:nvSpPr>
        <p:spPr>
          <a:xfrm xmlns:a="http://schemas.openxmlformats.org/drawingml/2006/main">
            <a:off x="666750" y="265747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B18DE5E-ADCD-4A70-927B-2FA80D7B44B0}"/>
              </a:ext>
            </a:extLst>
          </p:cNvPr>
          <p:cNvSpPr>
            <a:spLocks xmlns:a="http://schemas.openxmlformats.org/drawingml/2006/main" noGrp="1"/>
          </p:cNvSpPr>
          <p:nvPr/>
        </p:nvSpPr>
        <p:spPr>
          <a:xfrm xmlns:a="http://schemas.openxmlformats.org/drawingml/2006/main">
            <a:off x="10477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decisions recur?</a:t>
            </a:r>
          </a:p>
        </p:txBody>
      </p:sp>
      <p:sp>
        <p:nvSpPr>
          <p:cNvPr id="11" name="">
            <a:extLst xmlns:a="http://schemas.openxmlformats.org/drawingml/2006/main">
              <a:ext uri="{FF2B5EF4-FFF2-40B4-BE49-F238E27FC236}">
                <a16:creationId xmlns:a16="http://schemas.microsoft.com/office/drawing/2014/main" id="{8A123662-50B4-44BB-AD18-6CA96109AF7D}"/>
              </a:ext>
            </a:extLst>
          </p:cNvPr>
          <p:cNvSpPr>
            <a:spLocks xmlns:a="http://schemas.openxmlformats.org/drawingml/2006/main" noGrp="1"/>
          </p:cNvSpPr>
          <p:nvPr/>
        </p:nvSpPr>
        <p:spPr>
          <a:xfrm xmlns:a="http://schemas.openxmlformats.org/drawingml/2006/main">
            <a:off x="6667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CAC3977B-D7E8-4753-A56B-48567C3FC13C}"/>
              </a:ext>
            </a:extLst>
          </p:cNvPr>
          <p:cNvSpPr>
            <a:spLocks xmlns:a="http://schemas.openxmlformats.org/drawingml/2006/main" noGrp="1"/>
          </p:cNvSpPr>
          <p:nvPr/>
        </p:nvSpPr>
        <p:spPr>
          <a:xfrm xmlns:a="http://schemas.openxmlformats.org/drawingml/2006/main">
            <a:off x="666750" y="328612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11C9F00-181A-4D25-9C09-A9C2D4B6B78C}"/>
              </a:ext>
            </a:extLst>
          </p:cNvPr>
          <p:cNvSpPr>
            <a:spLocks xmlns:a="http://schemas.openxmlformats.org/drawingml/2006/main" noGrp="1"/>
          </p:cNvSpPr>
          <p:nvPr/>
        </p:nvSpPr>
        <p:spPr>
          <a:xfrm xmlns:a="http://schemas.openxmlformats.org/drawingml/2006/main">
            <a:off x="10477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makes an answer actionable?</a:t>
            </a:r>
          </a:p>
        </p:txBody>
      </p:sp>
      <p:sp>
        <p:nvSpPr>
          <p:cNvPr id="14" name="">
            <a:extLst xmlns:a="http://schemas.openxmlformats.org/drawingml/2006/main">
              <a:ext uri="{FF2B5EF4-FFF2-40B4-BE49-F238E27FC236}">
                <a16:creationId xmlns:a16="http://schemas.microsoft.com/office/drawing/2014/main" id="{CE284FEB-BE1F-4C59-978C-E9A573F40225}"/>
              </a:ext>
            </a:extLst>
          </p:cNvPr>
          <p:cNvSpPr>
            <a:spLocks xmlns:a="http://schemas.openxmlformats.org/drawingml/2006/main" noGrp="1"/>
          </p:cNvSpPr>
          <p:nvPr/>
        </p:nvSpPr>
        <p:spPr>
          <a:xfrm xmlns:a="http://schemas.openxmlformats.org/drawingml/2006/main">
            <a:off x="6667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B331DE8F-652C-4DDD-BD2C-947F464C6876}"/>
              </a:ext>
            </a:extLst>
          </p:cNvPr>
          <p:cNvSpPr>
            <a:spLocks xmlns:a="http://schemas.openxmlformats.org/drawingml/2006/main" noGrp="1"/>
          </p:cNvSpPr>
          <p:nvPr/>
        </p:nvSpPr>
        <p:spPr>
          <a:xfrm xmlns:a="http://schemas.openxmlformats.org/drawingml/2006/main">
            <a:off x="666750" y="391477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FC58D24-9A6A-4A6E-95BA-BD582CA056E0}"/>
              </a:ext>
            </a:extLst>
          </p:cNvPr>
          <p:cNvSpPr>
            <a:spLocks xmlns:a="http://schemas.openxmlformats.org/drawingml/2006/main" noGrp="1"/>
          </p:cNvSpPr>
          <p:nvPr/>
        </p:nvSpPr>
        <p:spPr>
          <a:xfrm xmlns:a="http://schemas.openxmlformats.org/drawingml/2006/main">
            <a:off x="10477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Where does context live only in someone’s head?</a:t>
            </a:r>
          </a:p>
        </p:txBody>
      </p:sp>
      <p:sp>
        <p:nvSpPr>
          <p:cNvPr id="17" name="">
            <a:extLst xmlns:a="http://schemas.openxmlformats.org/drawingml/2006/main">
              <a:ext uri="{FF2B5EF4-FFF2-40B4-BE49-F238E27FC236}">
                <a16:creationId xmlns:a16="http://schemas.microsoft.com/office/drawing/2014/main" id="{AFD58B8F-412D-4856-A2EC-070DAEC9CD3E}"/>
              </a:ext>
            </a:extLst>
          </p:cNvPr>
          <p:cNvSpPr>
            <a:spLocks xmlns:a="http://schemas.openxmlformats.org/drawingml/2006/main" noGrp="1"/>
          </p:cNvSpPr>
          <p:nvPr/>
        </p:nvSpPr>
        <p:spPr>
          <a:xfrm xmlns:a="http://schemas.openxmlformats.org/drawingml/2006/main">
            <a:off x="6667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767DAA59-3EED-41C3-85F5-3159789C1F9F}"/>
              </a:ext>
            </a:extLst>
          </p:cNvPr>
          <p:cNvSpPr>
            <a:spLocks xmlns:a="http://schemas.openxmlformats.org/drawingml/2006/main" noGrp="1"/>
          </p:cNvSpPr>
          <p:nvPr/>
        </p:nvSpPr>
        <p:spPr>
          <a:xfrm xmlns:a="http://schemas.openxmlformats.org/drawingml/2006/main">
            <a:off x="666750" y="454342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5CF612B-D24D-41F8-9F5F-21F03702B0E0}"/>
              </a:ext>
            </a:extLst>
          </p:cNvPr>
          <p:cNvSpPr>
            <a:spLocks xmlns:a="http://schemas.openxmlformats.org/drawingml/2006/main" noGrp="1"/>
          </p:cNvSpPr>
          <p:nvPr/>
        </p:nvSpPr>
        <p:spPr>
          <a:xfrm xmlns:a="http://schemas.openxmlformats.org/drawingml/2006/main">
            <a:off x="10477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wording could harm a grantee relationship?</a:t>
            </a:r>
          </a:p>
        </p:txBody>
      </p:sp>
      <p:sp>
        <p:nvSpPr>
          <p:cNvPr id="20" name="">
            <a:extLst xmlns:a="http://schemas.openxmlformats.org/drawingml/2006/main">
              <a:ext uri="{FF2B5EF4-FFF2-40B4-BE49-F238E27FC236}">
                <a16:creationId xmlns:a16="http://schemas.microsoft.com/office/drawing/2014/main" id="{340EDB74-975F-469A-98EA-7660D3805870}"/>
              </a:ext>
            </a:extLst>
          </p:cNvPr>
          <p:cNvSpPr>
            <a:spLocks xmlns:a="http://schemas.openxmlformats.org/drawingml/2006/main" noGrp="1"/>
          </p:cNvSpPr>
          <p:nvPr/>
        </p:nvSpPr>
        <p:spPr>
          <a:xfrm xmlns:a="http://schemas.openxmlformats.org/drawingml/2006/main">
            <a:off x="42481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DATA + MEANING</a:t>
            </a:r>
          </a:p>
        </p:txBody>
      </p:sp>
      <p:sp>
        <p:nvSpPr>
          <p:cNvPr id="21" name="">
            <a:extLst xmlns:a="http://schemas.openxmlformats.org/drawingml/2006/main">
              <a:ext uri="{FF2B5EF4-FFF2-40B4-BE49-F238E27FC236}">
                <a16:creationId xmlns:a16="http://schemas.microsoft.com/office/drawing/2014/main" id="{FF6ECB03-18BE-4CC0-8251-38721A79F814}"/>
              </a:ext>
            </a:extLst>
          </p:cNvPr>
          <p:cNvSpPr>
            <a:spLocks xmlns:a="http://schemas.openxmlformats.org/drawingml/2006/main" noGrp="1"/>
          </p:cNvSpPr>
          <p:nvPr/>
        </p:nvSpPr>
        <p:spPr>
          <a:xfrm xmlns:a="http://schemas.openxmlformats.org/drawingml/2006/main">
            <a:off x="42481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2" name="">
            <a:extLst xmlns:a="http://schemas.openxmlformats.org/drawingml/2006/main">
              <a:ext uri="{FF2B5EF4-FFF2-40B4-BE49-F238E27FC236}">
                <a16:creationId xmlns:a16="http://schemas.microsoft.com/office/drawing/2014/main" id="{D073618B-F3A0-4BCD-A2FC-C514D36F9478}"/>
              </a:ext>
            </a:extLst>
          </p:cNvPr>
          <p:cNvSpPr>
            <a:spLocks xmlns:a="http://schemas.openxmlformats.org/drawingml/2006/main" noGrp="1"/>
          </p:cNvSpPr>
          <p:nvPr/>
        </p:nvSpPr>
        <p:spPr>
          <a:xfrm xmlns:a="http://schemas.openxmlformats.org/drawingml/2006/main">
            <a:off x="42481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23" name="">
            <a:extLst xmlns:a="http://schemas.openxmlformats.org/drawingml/2006/main">
              <a:ext uri="{FF2B5EF4-FFF2-40B4-BE49-F238E27FC236}">
                <a16:creationId xmlns:a16="http://schemas.microsoft.com/office/drawing/2014/main" id="{82D9C6D5-1F7C-4EB9-A4BE-B0A94E0AFE33}"/>
              </a:ext>
            </a:extLst>
          </p:cNvPr>
          <p:cNvSpPr>
            <a:spLocks xmlns:a="http://schemas.openxmlformats.org/drawingml/2006/main" noGrp="1"/>
          </p:cNvSpPr>
          <p:nvPr/>
        </p:nvSpPr>
        <p:spPr>
          <a:xfrm xmlns:a="http://schemas.openxmlformats.org/drawingml/2006/main">
            <a:off x="4248150" y="265747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FEBEE7C-6EF3-4003-B60D-D31396CF394D}"/>
              </a:ext>
            </a:extLst>
          </p:cNvPr>
          <p:cNvSpPr>
            <a:spLocks xmlns:a="http://schemas.openxmlformats.org/drawingml/2006/main" noGrp="1"/>
          </p:cNvSpPr>
          <p:nvPr/>
        </p:nvSpPr>
        <p:spPr>
          <a:xfrm xmlns:a="http://schemas.openxmlformats.org/drawingml/2006/main">
            <a:off x="46291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links a grant across systems?</a:t>
            </a:r>
          </a:p>
        </p:txBody>
      </p:sp>
      <p:sp>
        <p:nvSpPr>
          <p:cNvPr id="25" name="">
            <a:extLst xmlns:a="http://schemas.openxmlformats.org/drawingml/2006/main">
              <a:ext uri="{FF2B5EF4-FFF2-40B4-BE49-F238E27FC236}">
                <a16:creationId xmlns:a16="http://schemas.microsoft.com/office/drawing/2014/main" id="{13E15CC5-2DF6-444F-8BBB-9CF448D36086}"/>
              </a:ext>
            </a:extLst>
          </p:cNvPr>
          <p:cNvSpPr>
            <a:spLocks xmlns:a="http://schemas.openxmlformats.org/drawingml/2006/main" noGrp="1"/>
          </p:cNvSpPr>
          <p:nvPr/>
        </p:nvSpPr>
        <p:spPr>
          <a:xfrm xmlns:a="http://schemas.openxmlformats.org/drawingml/2006/main">
            <a:off x="42481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26" name="">
            <a:extLst xmlns:a="http://schemas.openxmlformats.org/drawingml/2006/main">
              <a:ext uri="{FF2B5EF4-FFF2-40B4-BE49-F238E27FC236}">
                <a16:creationId xmlns:a16="http://schemas.microsoft.com/office/drawing/2014/main" id="{C99CFE0F-C919-4A53-8D82-7C33E682F05B}"/>
              </a:ext>
            </a:extLst>
          </p:cNvPr>
          <p:cNvSpPr>
            <a:spLocks xmlns:a="http://schemas.openxmlformats.org/drawingml/2006/main" noGrp="1"/>
          </p:cNvSpPr>
          <p:nvPr/>
        </p:nvSpPr>
        <p:spPr>
          <a:xfrm xmlns:a="http://schemas.openxmlformats.org/drawingml/2006/main">
            <a:off x="4248150" y="328612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41C1859-E703-4146-BCA4-54C2F7E3E087}"/>
              </a:ext>
            </a:extLst>
          </p:cNvPr>
          <p:cNvSpPr>
            <a:spLocks xmlns:a="http://schemas.openxmlformats.org/drawingml/2006/main" noGrp="1"/>
          </p:cNvSpPr>
          <p:nvPr/>
        </p:nvSpPr>
        <p:spPr>
          <a:xfrm xmlns:a="http://schemas.openxmlformats.org/drawingml/2006/main">
            <a:off x="46291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source wins each field?</a:t>
            </a:r>
          </a:p>
        </p:txBody>
      </p:sp>
      <p:sp>
        <p:nvSpPr>
          <p:cNvPr id="28" name="">
            <a:extLst xmlns:a="http://schemas.openxmlformats.org/drawingml/2006/main">
              <a:ext uri="{FF2B5EF4-FFF2-40B4-BE49-F238E27FC236}">
                <a16:creationId xmlns:a16="http://schemas.microsoft.com/office/drawing/2014/main" id="{1341CA44-7A90-4E7C-8813-7F106A4048B3}"/>
              </a:ext>
            </a:extLst>
          </p:cNvPr>
          <p:cNvSpPr>
            <a:spLocks xmlns:a="http://schemas.openxmlformats.org/drawingml/2006/main" noGrp="1"/>
          </p:cNvSpPr>
          <p:nvPr/>
        </p:nvSpPr>
        <p:spPr>
          <a:xfrm xmlns:a="http://schemas.openxmlformats.org/drawingml/2006/main">
            <a:off x="42481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55C1878A-4946-41CA-8395-B701DD466650}"/>
              </a:ext>
            </a:extLst>
          </p:cNvPr>
          <p:cNvSpPr>
            <a:spLocks xmlns:a="http://schemas.openxmlformats.org/drawingml/2006/main" noGrp="1"/>
          </p:cNvSpPr>
          <p:nvPr/>
        </p:nvSpPr>
        <p:spPr>
          <a:xfrm xmlns:a="http://schemas.openxmlformats.org/drawingml/2006/main">
            <a:off x="4248150" y="391477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F2DA70D-24CC-4075-9D0A-7202D9AC4D5E}"/>
              </a:ext>
            </a:extLst>
          </p:cNvPr>
          <p:cNvSpPr>
            <a:spLocks xmlns:a="http://schemas.openxmlformats.org/drawingml/2006/main" noGrp="1"/>
          </p:cNvSpPr>
          <p:nvPr/>
        </p:nvSpPr>
        <p:spPr>
          <a:xfrm xmlns:a="http://schemas.openxmlformats.org/drawingml/2006/main">
            <a:off x="46291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Estimated or observed impact?</a:t>
            </a:r>
          </a:p>
        </p:txBody>
      </p:sp>
      <p:sp>
        <p:nvSpPr>
          <p:cNvPr id="31" name="">
            <a:extLst xmlns:a="http://schemas.openxmlformats.org/drawingml/2006/main">
              <a:ext uri="{FF2B5EF4-FFF2-40B4-BE49-F238E27FC236}">
                <a16:creationId xmlns:a16="http://schemas.microsoft.com/office/drawing/2014/main" id="{525B7B7A-EFAC-488C-914A-AF73954489E7}"/>
              </a:ext>
            </a:extLst>
          </p:cNvPr>
          <p:cNvSpPr>
            <a:spLocks xmlns:a="http://schemas.openxmlformats.org/drawingml/2006/main" noGrp="1"/>
          </p:cNvSpPr>
          <p:nvPr/>
        </p:nvSpPr>
        <p:spPr>
          <a:xfrm xmlns:a="http://schemas.openxmlformats.org/drawingml/2006/main">
            <a:off x="42481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BD0F8A97-D6E6-4E28-B18C-B730858329D0}"/>
              </a:ext>
            </a:extLst>
          </p:cNvPr>
          <p:cNvSpPr>
            <a:spLocks xmlns:a="http://schemas.openxmlformats.org/drawingml/2006/main" noGrp="1"/>
          </p:cNvSpPr>
          <p:nvPr/>
        </p:nvSpPr>
        <p:spPr>
          <a:xfrm xmlns:a="http://schemas.openxmlformats.org/drawingml/2006/main">
            <a:off x="4248150" y="454342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5263EA6-4AAC-4FBA-BAC7-AE6B6D006CEA}"/>
              </a:ext>
            </a:extLst>
          </p:cNvPr>
          <p:cNvSpPr>
            <a:spLocks xmlns:a="http://schemas.openxmlformats.org/drawingml/2006/main" noGrp="1"/>
          </p:cNvSpPr>
          <p:nvPr/>
        </p:nvSpPr>
        <p:spPr>
          <a:xfrm xmlns:a="http://schemas.openxmlformats.org/drawingml/2006/main">
            <a:off x="46291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metric definitions changed over time?</a:t>
            </a:r>
          </a:p>
        </p:txBody>
      </p:sp>
      <p:sp>
        <p:nvSpPr>
          <p:cNvPr id="34" name="">
            <a:extLst xmlns:a="http://schemas.openxmlformats.org/drawingml/2006/main">
              <a:ext uri="{FF2B5EF4-FFF2-40B4-BE49-F238E27FC236}">
                <a16:creationId xmlns:a16="http://schemas.microsoft.com/office/drawing/2014/main" id="{AF988FDB-19AC-4809-9A3C-59BB95C2C9C1}"/>
              </a:ext>
            </a:extLst>
          </p:cNvPr>
          <p:cNvSpPr>
            <a:spLocks xmlns:a="http://schemas.openxmlformats.org/drawingml/2006/main" noGrp="1"/>
          </p:cNvSpPr>
          <p:nvPr/>
        </p:nvSpPr>
        <p:spPr>
          <a:xfrm xmlns:a="http://schemas.openxmlformats.org/drawingml/2006/main">
            <a:off x="78295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F8A5D"/>
                </a:solidFill>
                <a:latin typeface="Helvetica Neue"/>
                <a:ea typeface="Helvetica Neue"/>
                <a:cs typeface="Helvetica Neue"/>
              </a:defRPr>
            </a:pPr>
            <a:r>
              <a:rPr sz="900" b="1">
                <a:solidFill>
                  <a:srgbClr val="2F8A5D"/>
                </a:solidFill>
                <a:latin typeface="Helvetica Neue"/>
                <a:ea typeface="Helvetica Neue"/>
                <a:cs typeface="Helvetica Neue"/>
              </a:rPr>
              <a:t>ACCESS + GOVERNANCE</a:t>
            </a:r>
          </a:p>
        </p:txBody>
      </p:sp>
      <p:sp>
        <p:nvSpPr>
          <p:cNvPr id="35" name="">
            <a:extLst xmlns:a="http://schemas.openxmlformats.org/drawingml/2006/main">
              <a:ext uri="{FF2B5EF4-FFF2-40B4-BE49-F238E27FC236}">
                <a16:creationId xmlns:a16="http://schemas.microsoft.com/office/drawing/2014/main" id="{0EA73DBB-7D8B-4EB8-AA76-B8F93EC46F10}"/>
              </a:ext>
            </a:extLst>
          </p:cNvPr>
          <p:cNvSpPr>
            <a:spLocks xmlns:a="http://schemas.openxmlformats.org/drawingml/2006/main" noGrp="1"/>
          </p:cNvSpPr>
          <p:nvPr/>
        </p:nvSpPr>
        <p:spPr>
          <a:xfrm xmlns:a="http://schemas.openxmlformats.org/drawingml/2006/main">
            <a:off x="78295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36" name="">
            <a:extLst xmlns:a="http://schemas.openxmlformats.org/drawingml/2006/main">
              <a:ext uri="{FF2B5EF4-FFF2-40B4-BE49-F238E27FC236}">
                <a16:creationId xmlns:a16="http://schemas.microsoft.com/office/drawing/2014/main" id="{1C62B8C2-10A2-4D69-A548-E7B72020ED28}"/>
              </a:ext>
            </a:extLst>
          </p:cNvPr>
          <p:cNvSpPr>
            <a:spLocks xmlns:a="http://schemas.openxmlformats.org/drawingml/2006/main" noGrp="1"/>
          </p:cNvSpPr>
          <p:nvPr/>
        </p:nvSpPr>
        <p:spPr>
          <a:xfrm xmlns:a="http://schemas.openxmlformats.org/drawingml/2006/main">
            <a:off x="78295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37" name="">
            <a:extLst xmlns:a="http://schemas.openxmlformats.org/drawingml/2006/main">
              <a:ext uri="{FF2B5EF4-FFF2-40B4-BE49-F238E27FC236}">
                <a16:creationId xmlns:a16="http://schemas.microsoft.com/office/drawing/2014/main" id="{6391A22F-3552-4E71-A879-6917F29CAAE9}"/>
              </a:ext>
            </a:extLst>
          </p:cNvPr>
          <p:cNvSpPr>
            <a:spLocks xmlns:a="http://schemas.openxmlformats.org/drawingml/2006/main" noGrp="1"/>
          </p:cNvSpPr>
          <p:nvPr/>
        </p:nvSpPr>
        <p:spPr>
          <a:xfrm xmlns:a="http://schemas.openxmlformats.org/drawingml/2006/main">
            <a:off x="7829550" y="265747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B06CE31-02B8-456E-A28E-A141EE51021F}"/>
              </a:ext>
            </a:extLst>
          </p:cNvPr>
          <p:cNvSpPr>
            <a:spLocks xmlns:a="http://schemas.openxmlformats.org/drawingml/2006/main" noGrp="1"/>
          </p:cNvSpPr>
          <p:nvPr/>
        </p:nvSpPr>
        <p:spPr>
          <a:xfrm xmlns:a="http://schemas.openxmlformats.org/drawingml/2006/main">
            <a:off x="82105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Who may read each collection?</a:t>
            </a:r>
          </a:p>
        </p:txBody>
      </p:sp>
      <p:sp>
        <p:nvSpPr>
          <p:cNvPr id="39" name="">
            <a:extLst xmlns:a="http://schemas.openxmlformats.org/drawingml/2006/main">
              <a:ext uri="{FF2B5EF4-FFF2-40B4-BE49-F238E27FC236}">
                <a16:creationId xmlns:a16="http://schemas.microsoft.com/office/drawing/2014/main" id="{7366E25A-A109-4846-99C4-DFF3798E90F2}"/>
              </a:ext>
            </a:extLst>
          </p:cNvPr>
          <p:cNvSpPr>
            <a:spLocks xmlns:a="http://schemas.openxmlformats.org/drawingml/2006/main" noGrp="1"/>
          </p:cNvSpPr>
          <p:nvPr/>
        </p:nvSpPr>
        <p:spPr>
          <a:xfrm xmlns:a="http://schemas.openxmlformats.org/drawingml/2006/main">
            <a:off x="78295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40" name="">
            <a:extLst xmlns:a="http://schemas.openxmlformats.org/drawingml/2006/main">
              <a:ext uri="{FF2B5EF4-FFF2-40B4-BE49-F238E27FC236}">
                <a16:creationId xmlns:a16="http://schemas.microsoft.com/office/drawing/2014/main" id="{44672680-9A07-4059-89CA-E1DB417F9732}"/>
              </a:ext>
            </a:extLst>
          </p:cNvPr>
          <p:cNvSpPr>
            <a:spLocks xmlns:a="http://schemas.openxmlformats.org/drawingml/2006/main" noGrp="1"/>
          </p:cNvSpPr>
          <p:nvPr/>
        </p:nvSpPr>
        <p:spPr>
          <a:xfrm xmlns:a="http://schemas.openxmlformats.org/drawingml/2006/main">
            <a:off x="7829550" y="328612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4781003-2807-436A-9DBF-9C15938877CD}"/>
              </a:ext>
            </a:extLst>
          </p:cNvPr>
          <p:cNvSpPr>
            <a:spLocks xmlns:a="http://schemas.openxmlformats.org/drawingml/2006/main" noGrp="1"/>
          </p:cNvSpPr>
          <p:nvPr/>
        </p:nvSpPr>
        <p:spPr>
          <a:xfrm xmlns:a="http://schemas.openxmlformats.org/drawingml/2006/main">
            <a:off x="82105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content is never indexed?</a:t>
            </a:r>
          </a:p>
        </p:txBody>
      </p:sp>
      <p:sp>
        <p:nvSpPr>
          <p:cNvPr id="42" name="">
            <a:extLst xmlns:a="http://schemas.openxmlformats.org/drawingml/2006/main">
              <a:ext uri="{FF2B5EF4-FFF2-40B4-BE49-F238E27FC236}">
                <a16:creationId xmlns:a16="http://schemas.microsoft.com/office/drawing/2014/main" id="{C1C10F38-4F5F-45DE-A904-EEA87D645622}"/>
              </a:ext>
            </a:extLst>
          </p:cNvPr>
          <p:cNvSpPr>
            <a:spLocks xmlns:a="http://schemas.openxmlformats.org/drawingml/2006/main" noGrp="1"/>
          </p:cNvSpPr>
          <p:nvPr/>
        </p:nvSpPr>
        <p:spPr>
          <a:xfrm xmlns:a="http://schemas.openxmlformats.org/drawingml/2006/main">
            <a:off x="78295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43" name="">
            <a:extLst xmlns:a="http://schemas.openxmlformats.org/drawingml/2006/main">
              <a:ext uri="{FF2B5EF4-FFF2-40B4-BE49-F238E27FC236}">
                <a16:creationId xmlns:a16="http://schemas.microsoft.com/office/drawing/2014/main" id="{7242042F-5667-46E7-9DC5-85EF05A5D9FF}"/>
              </a:ext>
            </a:extLst>
          </p:cNvPr>
          <p:cNvSpPr>
            <a:spLocks xmlns:a="http://schemas.openxmlformats.org/drawingml/2006/main" noGrp="1"/>
          </p:cNvSpPr>
          <p:nvPr/>
        </p:nvSpPr>
        <p:spPr>
          <a:xfrm xmlns:a="http://schemas.openxmlformats.org/drawingml/2006/main">
            <a:off x="7829550" y="391477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68BFE92-301C-4ED9-B1C4-FC58B90F13D7}"/>
              </a:ext>
            </a:extLst>
          </p:cNvPr>
          <p:cNvSpPr>
            <a:spLocks xmlns:a="http://schemas.openxmlformats.org/drawingml/2006/main" noGrp="1"/>
          </p:cNvSpPr>
          <p:nvPr/>
        </p:nvSpPr>
        <p:spPr>
          <a:xfrm xmlns:a="http://schemas.openxmlformats.org/drawingml/2006/main">
            <a:off x="82105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Does Zoom retain five years?</a:t>
            </a:r>
          </a:p>
        </p:txBody>
      </p:sp>
      <p:sp>
        <p:nvSpPr>
          <p:cNvPr id="45" name="">
            <a:extLst xmlns:a="http://schemas.openxmlformats.org/drawingml/2006/main">
              <a:ext uri="{FF2B5EF4-FFF2-40B4-BE49-F238E27FC236}">
                <a16:creationId xmlns:a16="http://schemas.microsoft.com/office/drawing/2014/main" id="{8AB9A1E7-6D86-41A6-97DC-8F1B7B880E1D}"/>
              </a:ext>
            </a:extLst>
          </p:cNvPr>
          <p:cNvSpPr>
            <a:spLocks xmlns:a="http://schemas.openxmlformats.org/drawingml/2006/main" noGrp="1"/>
          </p:cNvSpPr>
          <p:nvPr/>
        </p:nvSpPr>
        <p:spPr>
          <a:xfrm xmlns:a="http://schemas.openxmlformats.org/drawingml/2006/main">
            <a:off x="78295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46" name="">
            <a:extLst xmlns:a="http://schemas.openxmlformats.org/drawingml/2006/main">
              <a:ext uri="{FF2B5EF4-FFF2-40B4-BE49-F238E27FC236}">
                <a16:creationId xmlns:a16="http://schemas.microsoft.com/office/drawing/2014/main" id="{BD670AB8-A2C4-44DF-9054-FFD8800E2EC5}"/>
              </a:ext>
            </a:extLst>
          </p:cNvPr>
          <p:cNvSpPr>
            <a:spLocks xmlns:a="http://schemas.openxmlformats.org/drawingml/2006/main" noGrp="1"/>
          </p:cNvSpPr>
          <p:nvPr/>
        </p:nvSpPr>
        <p:spPr>
          <a:xfrm xmlns:a="http://schemas.openxmlformats.org/drawingml/2006/main">
            <a:off x="7829550" y="454342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760BAAE-48E5-4BB6-8D80-231677B0AC16}"/>
              </a:ext>
            </a:extLst>
          </p:cNvPr>
          <p:cNvSpPr>
            <a:spLocks xmlns:a="http://schemas.openxmlformats.org/drawingml/2006/main" noGrp="1"/>
          </p:cNvSpPr>
          <p:nvPr/>
        </p:nvSpPr>
        <p:spPr>
          <a:xfrm xmlns:a="http://schemas.openxmlformats.org/drawingml/2006/main">
            <a:off x="82105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must delete when the source deletes?</a:t>
            </a:r>
          </a:p>
        </p:txBody>
      </p:sp>
      <p:sp>
        <p:nvSpPr>
          <p:cNvPr id="48" name="">
            <a:extLst xmlns:a="http://schemas.openxmlformats.org/drawingml/2006/main">
              <a:ext uri="{FF2B5EF4-FFF2-40B4-BE49-F238E27FC236}">
                <a16:creationId xmlns:a16="http://schemas.microsoft.com/office/drawing/2014/main" id="{C0CEA219-8CD9-4B32-89F9-CD6B98885D84}"/>
              </a:ext>
            </a:extLst>
          </p:cNvPr>
          <p:cNvSpPr>
            <a:spLocks xmlns:a="http://schemas.openxmlformats.org/drawingml/2006/main" noGrp="1"/>
          </p:cNvSpPr>
          <p:nvPr/>
        </p:nvSpPr>
        <p:spPr>
          <a:xfrm xmlns:a="http://schemas.openxmlformats.org/drawingml/2006/main">
            <a:off x="666750" y="5467350"/>
            <a:ext cx="10191750" cy="552450"/>
          </a:xfrm>
          <a:prstGeom xmlns:a="http://schemas.openxmlformats.org/drawingml/2006/main" prst="roundRect">
            <a:avLst>
              <a:gd name="adj" fmla="val 27586"/>
            </a:avLst>
          </a:prstGeom>
          <a:solidFill xmlns:a="http://schemas.openxmlformats.org/drawingml/2006/main">
            <a:srgbClr val="25152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260168D3-3B03-4966-98C2-92C24B37FD3B}"/>
              </a:ext>
            </a:extLst>
          </p:cNvPr>
          <p:cNvSpPr>
            <a:spLocks xmlns:a="http://schemas.openxmlformats.org/drawingml/2006/main" noGrp="1"/>
          </p:cNvSpPr>
          <p:nvPr/>
        </p:nvSpPr>
        <p:spPr>
          <a:xfrm xmlns:a="http://schemas.openxmlformats.org/drawingml/2006/main">
            <a:off x="895350" y="5581650"/>
            <a:ext cx="973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Output: gold questions, source ownership, permission map, and baseline task times</a:t>
            </a:r>
          </a:p>
        </p:txBody>
      </p:sp>
    </p:spTree>
    <p:extLst>
      <p:ext uri="{BB962C8B-B14F-4D97-AF65-F5344CB8AC3E}">
        <p14:creationId xmlns:p14="http://schemas.microsoft.com/office/powerpoint/2010/main" val="471816738"/>
      </p:ext>
    </p:extLst>
  </p:cSld>
</p:sld>
</file>

<file path=ppt/slides/slide4.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16F06867-27BE-4BB6-9BFA-2854CADDCE4F}"/>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OPTIONAL PROTOTYPE EVIDENCE</a:t>
            </a:r>
          </a:p>
        </p:txBody>
      </p:sp>
      <p:sp>
        <p:nvSpPr>
          <p:cNvPr id="2" name="">
            <a:extLst xmlns:a="http://schemas.openxmlformats.org/drawingml/2006/main">
              <a:ext uri="{FF2B5EF4-FFF2-40B4-BE49-F238E27FC236}">
                <a16:creationId xmlns:a16="http://schemas.microsoft.com/office/drawing/2014/main" id="{115755A8-B4EC-4194-9925-483171BC82A4}"/>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87C4B507-C3CB-4FEA-9294-A0ADFAE78515}"/>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C3915B0C-C21B-4A44-8259-AB30B0D5A346}"/>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A small prototype pressure-tests the scoped design</a:t>
            </a:r>
          </a:p>
        </p:txBody>
      </p:sp>
      <p:sp>
        <p:nvSpPr>
          <p:cNvPr id="5" name="">
            <a:extLst xmlns:a="http://schemas.openxmlformats.org/drawingml/2006/main">
              <a:ext uri="{FF2B5EF4-FFF2-40B4-BE49-F238E27FC236}">
                <a16:creationId xmlns:a16="http://schemas.microsoft.com/office/drawing/2014/main" id="{CA041350-EE1A-4E11-B0B3-0FEACF3D8B6C}"/>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It uses fictional records and no Foundation credentials, integrations, or data.</a:t>
            </a:r>
          </a:p>
        </p:txBody>
      </p:sp>
      <p:sp>
        <p:nvSpPr>
          <p:cNvPr id="6" name="">
            <a:extLst xmlns:a="http://schemas.openxmlformats.org/drawingml/2006/main">
              <a:ext uri="{FF2B5EF4-FFF2-40B4-BE49-F238E27FC236}">
                <a16:creationId xmlns:a16="http://schemas.microsoft.com/office/drawing/2014/main" id="{69255032-917B-4098-8579-48F00D829229}"/>
              </a:ext>
            </a:extLst>
          </p:cNvPr>
          <p:cNvSpPr>
            <a:spLocks xmlns:a="http://schemas.openxmlformats.org/drawingml/2006/main" noGrp="1"/>
          </p:cNvSpPr>
          <p:nvPr/>
        </p:nvSpPr>
        <p:spPr>
          <a:xfrm xmlns:a="http://schemas.openxmlformats.org/drawingml/2006/main">
            <a:off x="666750" y="1962150"/>
            <a:ext cx="10858500" cy="3733800"/>
          </a:xfrm>
          <a:prstGeom xmlns:a="http://schemas.openxmlformats.org/drawingml/2006/main" prst="roundRect">
            <a:avLst>
              <a:gd name="adj" fmla="val 5102"/>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2A0B0F39-DD23-49A2-A65F-5922B30E09F3}"/>
              </a:ext>
            </a:extLst>
          </p:cNvPr>
          <p:cNvSpPr>
            <a:spLocks xmlns:a="http://schemas.openxmlformats.org/drawingml/2006/main" noGrp="1"/>
          </p:cNvSpPr>
          <p:nvPr/>
        </p:nvSpPr>
        <p:spPr>
          <a:xfrm xmlns:a="http://schemas.openxmlformats.org/drawingml/2006/main">
            <a:off x="895350" y="2190750"/>
            <a:ext cx="10401300" cy="476250"/>
          </a:xfrm>
          <a:prstGeom xmlns:a="http://schemas.openxmlformats.org/drawingml/2006/main" prst="roundRect">
            <a:avLst>
              <a:gd name="adj" fmla="val 26000"/>
            </a:avLst>
          </a:prstGeom>
          <a:solidFill xmlns:a="http://schemas.openxmlformats.org/drawingml/2006/main">
            <a:srgbClr val="F7F4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353E9EB-21A7-48B4-927B-3F8E1A4715C3}"/>
              </a:ext>
            </a:extLst>
          </p:cNvPr>
          <p:cNvSpPr>
            <a:spLocks xmlns:a="http://schemas.openxmlformats.org/drawingml/2006/main" noGrp="1"/>
          </p:cNvSpPr>
          <p:nvPr/>
        </p:nvSpPr>
        <p:spPr>
          <a:xfrm xmlns:a="http://schemas.openxmlformats.org/drawingml/2006/main">
            <a:off x="1162050" y="22764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What did we decide about reporting for the AI opportunity cohort?</a:t>
            </a:r>
          </a:p>
        </p:txBody>
      </p:sp>
      <p:sp>
        <p:nvSpPr>
          <p:cNvPr id="9" name="">
            <a:extLst xmlns:a="http://schemas.openxmlformats.org/drawingml/2006/main">
              <a:ext uri="{FF2B5EF4-FFF2-40B4-BE49-F238E27FC236}">
                <a16:creationId xmlns:a16="http://schemas.microsoft.com/office/drawing/2014/main" id="{F8B408EF-8DAA-44FE-83A6-7E2C0D0701F9}"/>
              </a:ext>
            </a:extLst>
          </p:cNvPr>
          <p:cNvSpPr>
            <a:spLocks xmlns:a="http://schemas.openxmlformats.org/drawingml/2006/main" noGrp="1"/>
          </p:cNvSpPr>
          <p:nvPr/>
        </p:nvSpPr>
        <p:spPr>
          <a:xfrm xmlns:a="http://schemas.openxmlformats.org/drawingml/2006/main">
            <a:off x="10287000" y="2257425"/>
            <a:ext cx="857250" cy="342900"/>
          </a:xfrm>
          <a:prstGeom xmlns:a="http://schemas.openxmlformats.org/drawingml/2006/main" prst="roundRect">
            <a:avLst>
              <a:gd name="adj" fmla="val 33333"/>
            </a:avLst>
          </a:prstGeom>
          <a:solidFill xmlns:a="http://schemas.openxmlformats.org/drawingml/2006/main">
            <a:srgbClr val="E94B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21C0CC2-A6AA-467B-A53C-540558F71914}"/>
              </a:ext>
            </a:extLst>
          </p:cNvPr>
          <p:cNvSpPr>
            <a:spLocks xmlns:a="http://schemas.openxmlformats.org/drawingml/2006/main" noGrp="1"/>
          </p:cNvSpPr>
          <p:nvPr/>
        </p:nvSpPr>
        <p:spPr>
          <a:xfrm xmlns:a="http://schemas.openxmlformats.org/drawingml/2006/main">
            <a:off x="10496550" y="232410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Ask</a:t>
            </a:r>
          </a:p>
        </p:txBody>
      </p:sp>
      <p:sp>
        <p:nvSpPr>
          <p:cNvPr id="11" name="">
            <a:extLst xmlns:a="http://schemas.openxmlformats.org/drawingml/2006/main">
              <a:ext uri="{FF2B5EF4-FFF2-40B4-BE49-F238E27FC236}">
                <a16:creationId xmlns:a16="http://schemas.microsoft.com/office/drawing/2014/main" id="{215FBCD4-5F52-4B67-9DE6-057EB5907B09}"/>
              </a:ext>
            </a:extLst>
          </p:cNvPr>
          <p:cNvSpPr>
            <a:spLocks xmlns:a="http://schemas.openxmlformats.org/drawingml/2006/main" noGrp="1"/>
          </p:cNvSpPr>
          <p:nvPr/>
        </p:nvSpPr>
        <p:spPr>
          <a:xfrm xmlns:a="http://schemas.openxmlformats.org/drawingml/2006/main">
            <a:off x="895350" y="29051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2F8A5D"/>
                </a:solidFill>
                <a:latin typeface="Helvetica Neue"/>
                <a:ea typeface="Helvetica Neue"/>
                <a:cs typeface="Helvetica Neue"/>
              </a:defRPr>
            </a:pPr>
            <a:r>
              <a:rPr sz="750" b="1">
                <a:solidFill>
                  <a:srgbClr val="2F8A5D"/>
                </a:solidFill>
                <a:latin typeface="Helvetica Neue"/>
                <a:ea typeface="Helvetica Neue"/>
                <a:cs typeface="Helvetica Neue"/>
              </a:rPr>
              <a:t>HIGH EVIDENCE CONFIDENCE</a:t>
            </a:r>
          </a:p>
        </p:txBody>
      </p:sp>
      <p:sp>
        <p:nvSpPr>
          <p:cNvPr id="12" name="">
            <a:extLst xmlns:a="http://schemas.openxmlformats.org/drawingml/2006/main">
              <a:ext uri="{FF2B5EF4-FFF2-40B4-BE49-F238E27FC236}">
                <a16:creationId xmlns:a16="http://schemas.microsoft.com/office/drawing/2014/main" id="{A4C9FD62-482A-4E8A-BC5A-9778673BDA6B}"/>
              </a:ext>
            </a:extLst>
          </p:cNvPr>
          <p:cNvSpPr>
            <a:spLocks xmlns:a="http://schemas.openxmlformats.org/drawingml/2006/main" noGrp="1"/>
          </p:cNvSpPr>
          <p:nvPr/>
        </p:nvSpPr>
        <p:spPr>
          <a:xfrm xmlns:a="http://schemas.openxmlformats.org/drawingml/2006/main">
            <a:off x="895350" y="3209925"/>
            <a:ext cx="685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437"/>
          </a:bodyPr>
          <a:lstStyle xmlns:a="http://schemas.openxmlformats.org/drawingml/2006/main"/>
          <a:p xmlns:a="http://schemas.openxmlformats.org/drawingml/2006/main">
            <a:pPr>
              <a:defRPr sz="1725" b="1">
                <a:solidFill>
                  <a:srgbClr val="25152B"/>
                </a:solidFill>
                <a:latin typeface="Helvetica Neue"/>
                <a:ea typeface="Helvetica Neue"/>
                <a:cs typeface="Helvetica Neue"/>
              </a:defRPr>
            </a:pPr>
            <a:r>
              <a:rPr sz="1725" b="1">
                <a:solidFill>
                  <a:srgbClr val="25152B"/>
                </a:solidFill>
                <a:latin typeface="Helvetica Neue"/>
                <a:ea typeface="Helvetica Neue"/>
                <a:cs typeface="Helvetica Neue"/>
              </a:rPr>
              <a:t>A lighter monthly signal was proposed, but the source of record is unchanged</a:t>
            </a:r>
          </a:p>
        </p:txBody>
      </p:sp>
      <p:sp>
        <p:nvSpPr>
          <p:cNvPr id="13" name="">
            <a:extLst xmlns:a="http://schemas.openxmlformats.org/drawingml/2006/main">
              <a:ext uri="{FF2B5EF4-FFF2-40B4-BE49-F238E27FC236}">
                <a16:creationId xmlns:a16="http://schemas.microsoft.com/office/drawing/2014/main" id="{29754CF9-B016-4130-AA07-7750E1EB1501}"/>
              </a:ext>
            </a:extLst>
          </p:cNvPr>
          <p:cNvSpPr>
            <a:spLocks xmlns:a="http://schemas.openxmlformats.org/drawingml/2006/main" noGrp="1"/>
          </p:cNvSpPr>
          <p:nvPr/>
        </p:nvSpPr>
        <p:spPr>
          <a:xfrm xmlns:a="http://schemas.openxmlformats.org/drawingml/2006/main">
            <a:off x="895350" y="3790950"/>
            <a:ext cx="676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A conversation and draft memo support the new cadence. GivingData still holds the prior requirement, so Compass labels the decision proposed rather than final.</a:t>
            </a:r>
          </a:p>
        </p:txBody>
      </p:sp>
      <p:sp>
        <p:nvSpPr>
          <p:cNvPr id="14" name="">
            <a:extLst xmlns:a="http://schemas.openxmlformats.org/drawingml/2006/main">
              <a:ext uri="{FF2B5EF4-FFF2-40B4-BE49-F238E27FC236}">
                <a16:creationId xmlns:a16="http://schemas.microsoft.com/office/drawing/2014/main" id="{BD194FE2-39CA-4211-A0F8-7AA4E11E47B9}"/>
              </a:ext>
            </a:extLst>
          </p:cNvPr>
          <p:cNvSpPr>
            <a:spLocks xmlns:a="http://schemas.openxmlformats.org/drawingml/2006/main" noGrp="1"/>
          </p:cNvSpPr>
          <p:nvPr/>
        </p:nvSpPr>
        <p:spPr>
          <a:xfrm xmlns:a="http://schemas.openxmlformats.org/drawingml/2006/main">
            <a:off x="89535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7E129C1-AA51-468A-877A-FFC7E0748312}"/>
              </a:ext>
            </a:extLst>
          </p:cNvPr>
          <p:cNvSpPr>
            <a:spLocks xmlns:a="http://schemas.openxmlformats.org/drawingml/2006/main" noGrp="1"/>
          </p:cNvSpPr>
          <p:nvPr/>
        </p:nvSpPr>
        <p:spPr>
          <a:xfrm xmlns:a="http://schemas.openxmlformats.org/drawingml/2006/main">
            <a:off x="104775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F867E97E-F1FA-4B13-AB9D-06C91537A710}"/>
              </a:ext>
            </a:extLst>
          </p:cNvPr>
          <p:cNvSpPr>
            <a:spLocks xmlns:a="http://schemas.openxmlformats.org/drawingml/2006/main" noGrp="1"/>
          </p:cNvSpPr>
          <p:nvPr/>
        </p:nvSpPr>
        <p:spPr>
          <a:xfrm xmlns:a="http://schemas.openxmlformats.org/drawingml/2006/main">
            <a:off x="104775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cited records</a:t>
            </a:r>
          </a:p>
        </p:txBody>
      </p:sp>
      <p:sp>
        <p:nvSpPr>
          <p:cNvPr id="17" name="">
            <a:extLst xmlns:a="http://schemas.openxmlformats.org/drawingml/2006/main">
              <a:ext uri="{FF2B5EF4-FFF2-40B4-BE49-F238E27FC236}">
                <a16:creationId xmlns:a16="http://schemas.microsoft.com/office/drawing/2014/main" id="{3F4B6635-B90B-4853-9C74-3F156C98988A}"/>
              </a:ext>
            </a:extLst>
          </p:cNvPr>
          <p:cNvSpPr>
            <a:spLocks xmlns:a="http://schemas.openxmlformats.org/drawingml/2006/main" noGrp="1"/>
          </p:cNvSpPr>
          <p:nvPr/>
        </p:nvSpPr>
        <p:spPr>
          <a:xfrm xmlns:a="http://schemas.openxmlformats.org/drawingml/2006/main">
            <a:off x="289560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85357ED-7123-45F0-B2E6-6B9162B8EA2C}"/>
              </a:ext>
            </a:extLst>
          </p:cNvPr>
          <p:cNvSpPr>
            <a:spLocks xmlns:a="http://schemas.openxmlformats.org/drawingml/2006/main" noGrp="1"/>
          </p:cNvSpPr>
          <p:nvPr/>
        </p:nvSpPr>
        <p:spPr>
          <a:xfrm xmlns:a="http://schemas.openxmlformats.org/drawingml/2006/main">
            <a:off x="304800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3</a:t>
            </a:r>
          </a:p>
        </p:txBody>
      </p:sp>
      <p:sp>
        <p:nvSpPr>
          <p:cNvPr id="19" name="">
            <a:extLst xmlns:a="http://schemas.openxmlformats.org/drawingml/2006/main">
              <a:ext uri="{FF2B5EF4-FFF2-40B4-BE49-F238E27FC236}">
                <a16:creationId xmlns:a16="http://schemas.microsoft.com/office/drawing/2014/main" id="{57AF8FD3-C574-4A58-A38C-FB3430CB790A}"/>
              </a:ext>
            </a:extLst>
          </p:cNvPr>
          <p:cNvSpPr>
            <a:spLocks xmlns:a="http://schemas.openxmlformats.org/drawingml/2006/main" noGrp="1"/>
          </p:cNvSpPr>
          <p:nvPr/>
        </p:nvSpPr>
        <p:spPr>
          <a:xfrm xmlns:a="http://schemas.openxmlformats.org/drawingml/2006/main">
            <a:off x="304800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systems</a:t>
            </a:r>
          </a:p>
        </p:txBody>
      </p:sp>
      <p:sp>
        <p:nvSpPr>
          <p:cNvPr id="20" name="">
            <a:extLst xmlns:a="http://schemas.openxmlformats.org/drawingml/2006/main">
              <a:ext uri="{FF2B5EF4-FFF2-40B4-BE49-F238E27FC236}">
                <a16:creationId xmlns:a16="http://schemas.microsoft.com/office/drawing/2014/main" id="{40D51E60-35BA-4233-90D7-478BF5FE5BEC}"/>
              </a:ext>
            </a:extLst>
          </p:cNvPr>
          <p:cNvSpPr>
            <a:spLocks xmlns:a="http://schemas.openxmlformats.org/drawingml/2006/main" noGrp="1"/>
          </p:cNvSpPr>
          <p:nvPr/>
        </p:nvSpPr>
        <p:spPr>
          <a:xfrm xmlns:a="http://schemas.openxmlformats.org/drawingml/2006/main">
            <a:off x="489585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F0F790E-7F83-4B0B-9E03-F9F0DA89DD64}"/>
              </a:ext>
            </a:extLst>
          </p:cNvPr>
          <p:cNvSpPr>
            <a:spLocks xmlns:a="http://schemas.openxmlformats.org/drawingml/2006/main" noGrp="1"/>
          </p:cNvSpPr>
          <p:nvPr/>
        </p:nvSpPr>
        <p:spPr>
          <a:xfrm xmlns:a="http://schemas.openxmlformats.org/drawingml/2006/main">
            <a:off x="504825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1</a:t>
            </a:r>
          </a:p>
        </p:txBody>
      </p:sp>
      <p:sp>
        <p:nvSpPr>
          <p:cNvPr id="22" name="">
            <a:extLst xmlns:a="http://schemas.openxmlformats.org/drawingml/2006/main">
              <a:ext uri="{FF2B5EF4-FFF2-40B4-BE49-F238E27FC236}">
                <a16:creationId xmlns:a16="http://schemas.microsoft.com/office/drawing/2014/main" id="{7358D740-3585-4D6F-84FC-003F21259EE6}"/>
              </a:ext>
            </a:extLst>
          </p:cNvPr>
          <p:cNvSpPr>
            <a:spLocks xmlns:a="http://schemas.openxmlformats.org/drawingml/2006/main" noGrp="1"/>
          </p:cNvSpPr>
          <p:nvPr/>
        </p:nvSpPr>
        <p:spPr>
          <a:xfrm xmlns:a="http://schemas.openxmlformats.org/drawingml/2006/main">
            <a:off x="504825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source conflict</a:t>
            </a:r>
          </a:p>
        </p:txBody>
      </p:sp>
      <p:sp>
        <p:nvSpPr>
          <p:cNvPr id="23" name="">
            <a:extLst xmlns:a="http://schemas.openxmlformats.org/drawingml/2006/main">
              <a:ext uri="{FF2B5EF4-FFF2-40B4-BE49-F238E27FC236}">
                <a16:creationId xmlns:a16="http://schemas.microsoft.com/office/drawing/2014/main" id="{8863EF49-C575-433A-A7D6-78CDFFA605BC}"/>
              </a:ext>
            </a:extLst>
          </p:cNvPr>
          <p:cNvSpPr>
            <a:spLocks xmlns:a="http://schemas.openxmlformats.org/drawingml/2006/main" noGrp="1"/>
          </p:cNvSpPr>
          <p:nvPr/>
        </p:nvSpPr>
        <p:spPr>
          <a:xfrm xmlns:a="http://schemas.openxmlformats.org/drawingml/2006/main">
            <a:off x="7981950" y="2914650"/>
            <a:ext cx="0" cy="228600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4" name="">
            <a:extLst xmlns:a="http://schemas.openxmlformats.org/drawingml/2006/main">
              <a:ext uri="{FF2B5EF4-FFF2-40B4-BE49-F238E27FC236}">
                <a16:creationId xmlns:a16="http://schemas.microsoft.com/office/drawing/2014/main" id="{F8A7E271-2711-468E-B95D-BEDECCE6E450}"/>
              </a:ext>
            </a:extLst>
          </p:cNvPr>
          <p:cNvSpPr>
            <a:spLocks xmlns:a="http://schemas.openxmlformats.org/drawingml/2006/main" noGrp="1"/>
          </p:cNvSpPr>
          <p:nvPr/>
        </p:nvSpPr>
        <p:spPr>
          <a:xfrm xmlns:a="http://schemas.openxmlformats.org/drawingml/2006/main">
            <a:off x="8248650" y="2914650"/>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EVIDENCE COVERAGE</a:t>
            </a:r>
          </a:p>
        </p:txBody>
      </p:sp>
      <p:sp>
        <p:nvSpPr>
          <p:cNvPr id="25" name="">
            <a:extLst xmlns:a="http://schemas.openxmlformats.org/drawingml/2006/main">
              <a:ext uri="{FF2B5EF4-FFF2-40B4-BE49-F238E27FC236}">
                <a16:creationId xmlns:a16="http://schemas.microsoft.com/office/drawing/2014/main" id="{D22D5199-A623-4BCA-8E90-ED87FD5259CF}"/>
              </a:ext>
            </a:extLst>
          </p:cNvPr>
          <p:cNvSpPr>
            <a:spLocks xmlns:a="http://schemas.openxmlformats.org/drawingml/2006/main" noGrp="1"/>
          </p:cNvSpPr>
          <p:nvPr/>
        </p:nvSpPr>
        <p:spPr>
          <a:xfrm xmlns:a="http://schemas.openxmlformats.org/drawingml/2006/main">
            <a:off x="8248650" y="328612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Drive</a:t>
            </a:r>
          </a:p>
        </p:txBody>
      </p:sp>
      <p:sp>
        <p:nvSpPr>
          <p:cNvPr id="26" name="">
            <a:extLst xmlns:a="http://schemas.openxmlformats.org/drawingml/2006/main">
              <a:ext uri="{FF2B5EF4-FFF2-40B4-BE49-F238E27FC236}">
                <a16:creationId xmlns:a16="http://schemas.microsoft.com/office/drawing/2014/main" id="{8A5BEE43-70A0-4EE9-BC0D-D6F515D1C233}"/>
              </a:ext>
            </a:extLst>
          </p:cNvPr>
          <p:cNvSpPr>
            <a:spLocks xmlns:a="http://schemas.openxmlformats.org/drawingml/2006/main" noGrp="1"/>
          </p:cNvSpPr>
          <p:nvPr/>
        </p:nvSpPr>
        <p:spPr>
          <a:xfrm xmlns:a="http://schemas.openxmlformats.org/drawingml/2006/main">
            <a:off x="10629900" y="32861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27" name="">
            <a:extLst xmlns:a="http://schemas.openxmlformats.org/drawingml/2006/main">
              <a:ext uri="{FF2B5EF4-FFF2-40B4-BE49-F238E27FC236}">
                <a16:creationId xmlns:a16="http://schemas.microsoft.com/office/drawing/2014/main" id="{F7B8C682-1D65-4793-B9AF-1EC3495201AC}"/>
              </a:ext>
            </a:extLst>
          </p:cNvPr>
          <p:cNvSpPr>
            <a:spLocks xmlns:a="http://schemas.openxmlformats.org/drawingml/2006/main" noGrp="1"/>
          </p:cNvSpPr>
          <p:nvPr/>
        </p:nvSpPr>
        <p:spPr>
          <a:xfrm xmlns:a="http://schemas.openxmlformats.org/drawingml/2006/main">
            <a:off x="9277350" y="3352800"/>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B348170-41AF-4C78-9AEB-B7F69A77B13F}"/>
              </a:ext>
            </a:extLst>
          </p:cNvPr>
          <p:cNvSpPr>
            <a:spLocks xmlns:a="http://schemas.openxmlformats.org/drawingml/2006/main" noGrp="1"/>
          </p:cNvSpPr>
          <p:nvPr/>
        </p:nvSpPr>
        <p:spPr>
          <a:xfrm xmlns:a="http://schemas.openxmlformats.org/drawingml/2006/main">
            <a:off x="9277350" y="3352800"/>
            <a:ext cx="704850" cy="66675"/>
          </a:xfrm>
          <a:prstGeom xmlns:a="http://schemas.openxmlformats.org/drawingml/2006/main" prst="roundRect">
            <a:avLst>
              <a:gd name="adj" fmla="val 50000"/>
            </a:avLst>
          </a:prstGeom>
          <a:solidFill xmlns:a="http://schemas.openxmlformats.org/drawingml/2006/main">
            <a:srgbClr val="5790D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BF04F45-1FA2-4B65-8A9A-179EF41A78BD}"/>
              </a:ext>
            </a:extLst>
          </p:cNvPr>
          <p:cNvSpPr>
            <a:spLocks xmlns:a="http://schemas.openxmlformats.org/drawingml/2006/main" noGrp="1"/>
          </p:cNvSpPr>
          <p:nvPr/>
        </p:nvSpPr>
        <p:spPr>
          <a:xfrm xmlns:a="http://schemas.openxmlformats.org/drawingml/2006/main">
            <a:off x="8248650" y="36957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GivingData</a:t>
            </a:r>
          </a:p>
        </p:txBody>
      </p:sp>
      <p:sp>
        <p:nvSpPr>
          <p:cNvPr id="30" name="">
            <a:extLst xmlns:a="http://schemas.openxmlformats.org/drawingml/2006/main">
              <a:ext uri="{FF2B5EF4-FFF2-40B4-BE49-F238E27FC236}">
                <a16:creationId xmlns:a16="http://schemas.microsoft.com/office/drawing/2014/main" id="{662BB44D-FBF9-47BC-A539-DEDE61340A82}"/>
              </a:ext>
            </a:extLst>
          </p:cNvPr>
          <p:cNvSpPr>
            <a:spLocks xmlns:a="http://schemas.openxmlformats.org/drawingml/2006/main" noGrp="1"/>
          </p:cNvSpPr>
          <p:nvPr/>
        </p:nvSpPr>
        <p:spPr>
          <a:xfrm xmlns:a="http://schemas.openxmlformats.org/drawingml/2006/main">
            <a:off x="10629900" y="369570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31" name="">
            <a:extLst xmlns:a="http://schemas.openxmlformats.org/drawingml/2006/main">
              <a:ext uri="{FF2B5EF4-FFF2-40B4-BE49-F238E27FC236}">
                <a16:creationId xmlns:a16="http://schemas.microsoft.com/office/drawing/2014/main" id="{95FEEE60-0484-4062-B59D-0884323EEACA}"/>
              </a:ext>
            </a:extLst>
          </p:cNvPr>
          <p:cNvSpPr>
            <a:spLocks xmlns:a="http://schemas.openxmlformats.org/drawingml/2006/main" noGrp="1"/>
          </p:cNvSpPr>
          <p:nvPr/>
        </p:nvSpPr>
        <p:spPr>
          <a:xfrm xmlns:a="http://schemas.openxmlformats.org/drawingml/2006/main">
            <a:off x="9277350" y="3762375"/>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9592D96-A969-4F30-8D9F-53DD895BA0BB}"/>
              </a:ext>
            </a:extLst>
          </p:cNvPr>
          <p:cNvSpPr>
            <a:spLocks xmlns:a="http://schemas.openxmlformats.org/drawingml/2006/main" noGrp="1"/>
          </p:cNvSpPr>
          <p:nvPr/>
        </p:nvSpPr>
        <p:spPr>
          <a:xfrm xmlns:a="http://schemas.openxmlformats.org/drawingml/2006/main">
            <a:off x="9277350" y="3762375"/>
            <a:ext cx="704850" cy="66675"/>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F75A841-321C-4922-8891-673BC26783AB}"/>
              </a:ext>
            </a:extLst>
          </p:cNvPr>
          <p:cNvSpPr>
            <a:spLocks xmlns:a="http://schemas.openxmlformats.org/drawingml/2006/main" noGrp="1"/>
          </p:cNvSpPr>
          <p:nvPr/>
        </p:nvSpPr>
        <p:spPr>
          <a:xfrm xmlns:a="http://schemas.openxmlformats.org/drawingml/2006/main">
            <a:off x="8248650" y="41052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Airtable</a:t>
            </a:r>
          </a:p>
        </p:txBody>
      </p:sp>
      <p:sp>
        <p:nvSpPr>
          <p:cNvPr id="34" name="">
            <a:extLst xmlns:a="http://schemas.openxmlformats.org/drawingml/2006/main">
              <a:ext uri="{FF2B5EF4-FFF2-40B4-BE49-F238E27FC236}">
                <a16:creationId xmlns:a16="http://schemas.microsoft.com/office/drawing/2014/main" id="{4BF34207-2527-4D12-878F-22649848134B}"/>
              </a:ext>
            </a:extLst>
          </p:cNvPr>
          <p:cNvSpPr>
            <a:spLocks xmlns:a="http://schemas.openxmlformats.org/drawingml/2006/main" noGrp="1"/>
          </p:cNvSpPr>
          <p:nvPr/>
        </p:nvSpPr>
        <p:spPr>
          <a:xfrm xmlns:a="http://schemas.openxmlformats.org/drawingml/2006/main">
            <a:off x="10629900" y="41052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0</a:t>
            </a:r>
          </a:p>
        </p:txBody>
      </p:sp>
      <p:sp>
        <p:nvSpPr>
          <p:cNvPr id="35" name="">
            <a:extLst xmlns:a="http://schemas.openxmlformats.org/drawingml/2006/main">
              <a:ext uri="{FF2B5EF4-FFF2-40B4-BE49-F238E27FC236}">
                <a16:creationId xmlns:a16="http://schemas.microsoft.com/office/drawing/2014/main" id="{087538C7-05E5-434F-BDDF-26EF466102DB}"/>
              </a:ext>
            </a:extLst>
          </p:cNvPr>
          <p:cNvSpPr>
            <a:spLocks xmlns:a="http://schemas.openxmlformats.org/drawingml/2006/main" noGrp="1"/>
          </p:cNvSpPr>
          <p:nvPr/>
        </p:nvSpPr>
        <p:spPr>
          <a:xfrm xmlns:a="http://schemas.openxmlformats.org/drawingml/2006/main">
            <a:off x="9277350" y="4171950"/>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F747C71-675D-4CD5-9227-0D3F209AEDCC}"/>
              </a:ext>
            </a:extLst>
          </p:cNvPr>
          <p:cNvSpPr>
            <a:spLocks xmlns:a="http://schemas.openxmlformats.org/drawingml/2006/main" noGrp="1"/>
          </p:cNvSpPr>
          <p:nvPr/>
        </p:nvSpPr>
        <p:spPr>
          <a:xfrm xmlns:a="http://schemas.openxmlformats.org/drawingml/2006/main">
            <a:off x="8248650" y="45148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Zoom Chat</a:t>
            </a:r>
          </a:p>
        </p:txBody>
      </p:sp>
      <p:sp>
        <p:nvSpPr>
          <p:cNvPr id="37" name="">
            <a:extLst xmlns:a="http://schemas.openxmlformats.org/drawingml/2006/main">
              <a:ext uri="{FF2B5EF4-FFF2-40B4-BE49-F238E27FC236}">
                <a16:creationId xmlns:a16="http://schemas.microsoft.com/office/drawing/2014/main" id="{505CB463-8553-4757-91DF-D328639DC966}"/>
              </a:ext>
            </a:extLst>
          </p:cNvPr>
          <p:cNvSpPr>
            <a:spLocks xmlns:a="http://schemas.openxmlformats.org/drawingml/2006/main" noGrp="1"/>
          </p:cNvSpPr>
          <p:nvPr/>
        </p:nvSpPr>
        <p:spPr>
          <a:xfrm xmlns:a="http://schemas.openxmlformats.org/drawingml/2006/main">
            <a:off x="10629900" y="45148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38" name="">
            <a:extLst xmlns:a="http://schemas.openxmlformats.org/drawingml/2006/main">
              <a:ext uri="{FF2B5EF4-FFF2-40B4-BE49-F238E27FC236}">
                <a16:creationId xmlns:a16="http://schemas.microsoft.com/office/drawing/2014/main" id="{BC23FF03-0A62-484E-ADD3-6EE6898AC21E}"/>
              </a:ext>
            </a:extLst>
          </p:cNvPr>
          <p:cNvSpPr>
            <a:spLocks xmlns:a="http://schemas.openxmlformats.org/drawingml/2006/main" noGrp="1"/>
          </p:cNvSpPr>
          <p:nvPr/>
        </p:nvSpPr>
        <p:spPr>
          <a:xfrm xmlns:a="http://schemas.openxmlformats.org/drawingml/2006/main">
            <a:off x="9277350" y="4581525"/>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2E59DB00-6436-41DE-8DC9-D8193F8F76F8}"/>
              </a:ext>
            </a:extLst>
          </p:cNvPr>
          <p:cNvSpPr>
            <a:spLocks xmlns:a="http://schemas.openxmlformats.org/drawingml/2006/main" noGrp="1"/>
          </p:cNvSpPr>
          <p:nvPr/>
        </p:nvSpPr>
        <p:spPr>
          <a:xfrm xmlns:a="http://schemas.openxmlformats.org/drawingml/2006/main">
            <a:off x="9277350" y="4581525"/>
            <a:ext cx="704850" cy="66675"/>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C6BBB340-17FC-464E-BC48-D8D7EC9086A7}"/>
              </a:ext>
            </a:extLst>
          </p:cNvPr>
          <p:cNvSpPr>
            <a:spLocks xmlns:a="http://schemas.openxmlformats.org/drawingml/2006/main" noGrp="1"/>
          </p:cNvSpPr>
          <p:nvPr/>
        </p:nvSpPr>
        <p:spPr>
          <a:xfrm xmlns:a="http://schemas.openxmlformats.org/drawingml/2006/main">
            <a:off x="8115300" y="4962525"/>
            <a:ext cx="2971800" cy="457200"/>
          </a:xfrm>
          <a:prstGeom xmlns:a="http://schemas.openxmlformats.org/drawingml/2006/main" prst="roundRect">
            <a:avLst>
              <a:gd name="adj" fmla="val 25000"/>
            </a:avLst>
          </a:prstGeom>
          <a:solidFill xmlns:a="http://schemas.openxmlformats.org/drawingml/2006/main">
            <a:srgbClr val="FFF5D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69202670-A0B7-4540-8704-D083E517970A}"/>
              </a:ext>
            </a:extLst>
          </p:cNvPr>
          <p:cNvSpPr>
            <a:spLocks xmlns:a="http://schemas.openxmlformats.org/drawingml/2006/main" noGrp="1"/>
          </p:cNvSpPr>
          <p:nvPr/>
        </p:nvSpPr>
        <p:spPr>
          <a:xfrm xmlns:a="http://schemas.openxmlformats.org/drawingml/2006/main">
            <a:off x="8267700" y="50482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B86A14"/>
                </a:solidFill>
                <a:latin typeface="Helvetica Neue"/>
                <a:ea typeface="Helvetica Neue"/>
                <a:cs typeface="Helvetica Neue"/>
              </a:defRPr>
            </a:pPr>
            <a:r>
              <a:rPr sz="825" b="1">
                <a:solidFill>
                  <a:srgbClr val="B86A14"/>
                </a:solidFill>
                <a:latin typeface="Helvetica Neue"/>
                <a:ea typeface="Helvetica Neue"/>
                <a:cs typeface="Helvetica Neue"/>
              </a:rPr>
              <a:t>Next check: confirm owner and effective date</a:t>
            </a:r>
          </a:p>
        </p:txBody>
      </p:sp>
      <p:sp>
        <p:nvSpPr>
          <p:cNvPr id="42" name="">
            <a:extLst xmlns:a="http://schemas.openxmlformats.org/drawingml/2006/main">
              <a:ext uri="{FF2B5EF4-FFF2-40B4-BE49-F238E27FC236}">
                <a16:creationId xmlns:a16="http://schemas.microsoft.com/office/drawing/2014/main" id="{D59FFEFE-16AF-4C28-9E1D-113DBB3B308A}"/>
              </a:ext>
            </a:extLst>
          </p:cNvPr>
          <p:cNvSpPr>
            <a:spLocks xmlns:a="http://schemas.openxmlformats.org/drawingml/2006/main" noGrp="1"/>
          </p:cNvSpPr>
          <p:nvPr/>
        </p:nvSpPr>
        <p:spPr>
          <a:xfrm xmlns:a="http://schemas.openxmlformats.org/drawingml/2006/main">
            <a:off x="666750" y="59055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SUPPLEMENTAL EVIDENCE  The case study stands on its own</a:t>
            </a:r>
          </a:p>
        </p:txBody>
      </p:sp>
    </p:spTree>
    <p:extLst>
      <p:ext uri="{BB962C8B-B14F-4D97-AF65-F5344CB8AC3E}">
        <p14:creationId xmlns:p14="http://schemas.microsoft.com/office/powerpoint/2010/main" val="1850986598"/>
      </p:ext>
    </p:extLst>
  </p:cSld>
</p:sld>
</file>

<file path=ppt/slides/slide5.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314FB2BB-822C-41E2-BBC3-84CFFAB162C1}"/>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THE SYSTEM</a:t>
            </a:r>
          </a:p>
        </p:txBody>
      </p:sp>
      <p:sp>
        <p:nvSpPr>
          <p:cNvPr id="2" name="">
            <a:extLst xmlns:a="http://schemas.openxmlformats.org/drawingml/2006/main">
              <a:ext uri="{FF2B5EF4-FFF2-40B4-BE49-F238E27FC236}">
                <a16:creationId xmlns:a16="http://schemas.microsoft.com/office/drawing/2014/main" id="{A51E5CEB-B8D3-4C29-8875-3ACCAA6B3E18}"/>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20848EE0-9F81-4D53-ACC9-CF70E1C2A7FA}"/>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5DFC146D-40C8-4DC8-98A6-44CB439ADB23}"/>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Proposed end-to-end system</a:t>
            </a:r>
          </a:p>
        </p:txBody>
      </p:sp>
      <p:sp>
        <p:nvSpPr>
          <p:cNvPr id="5" name="">
            <a:extLst xmlns:a="http://schemas.openxmlformats.org/drawingml/2006/main">
              <a:ext uri="{FF2B5EF4-FFF2-40B4-BE49-F238E27FC236}">
                <a16:creationId xmlns:a16="http://schemas.microsoft.com/office/drawing/2014/main" id="{E4F9FF30-E253-4C04-8707-BC3C7978F936}"/>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prototype validates selected contracts inside a broader design that still requires team input.</a:t>
            </a:r>
          </a:p>
        </p:txBody>
      </p:sp>
      <p:sp>
        <p:nvSpPr>
          <p:cNvPr id="6" name="">
            <a:extLst xmlns:a="http://schemas.openxmlformats.org/drawingml/2006/main">
              <a:ext uri="{FF2B5EF4-FFF2-40B4-BE49-F238E27FC236}">
                <a16:creationId xmlns:a16="http://schemas.microsoft.com/office/drawing/2014/main" id="{1CC15973-0CF1-4408-853B-EDB3593ABAB6}"/>
              </a:ext>
            </a:extLst>
          </p:cNvPr>
          <p:cNvSpPr>
            <a:spLocks xmlns:a="http://schemas.openxmlformats.org/drawingml/2006/main" noGrp="1"/>
          </p:cNvSpPr>
          <p:nvPr/>
        </p:nvSpPr>
        <p:spPr>
          <a:xfrm xmlns:a="http://schemas.openxmlformats.org/drawingml/2006/main">
            <a:off x="4572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A88E7761-D532-44DC-894A-4FBE507BF8A4}"/>
              </a:ext>
            </a:extLst>
          </p:cNvPr>
          <p:cNvSpPr>
            <a:spLocks xmlns:a="http://schemas.openxmlformats.org/drawingml/2006/main" noGrp="1"/>
          </p:cNvSpPr>
          <p:nvPr/>
        </p:nvSpPr>
        <p:spPr>
          <a:xfrm xmlns:a="http://schemas.openxmlformats.org/drawingml/2006/main">
            <a:off x="6286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E94B2A"/>
                </a:solidFill>
                <a:latin typeface="Helvetica Neue"/>
                <a:ea typeface="Helvetica Neue"/>
                <a:cs typeface="Helvetica Neue"/>
              </a:defRPr>
            </a:pPr>
            <a:r>
              <a:rPr sz="825" b="1">
                <a:solidFill>
                  <a:srgbClr val="E94B2A"/>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80742705-9B88-4303-AF65-788BF4473858}"/>
              </a:ext>
            </a:extLst>
          </p:cNvPr>
          <p:cNvSpPr>
            <a:spLocks xmlns:a="http://schemas.openxmlformats.org/drawingml/2006/main" noGrp="1"/>
          </p:cNvSpPr>
          <p:nvPr/>
        </p:nvSpPr>
        <p:spPr>
          <a:xfrm xmlns:a="http://schemas.openxmlformats.org/drawingml/2006/main">
            <a:off x="6286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Admit</a:t>
            </a:r>
          </a:p>
        </p:txBody>
      </p:sp>
      <p:sp>
        <p:nvSpPr>
          <p:cNvPr id="9" name="">
            <a:extLst xmlns:a="http://schemas.openxmlformats.org/drawingml/2006/main">
              <a:ext uri="{FF2B5EF4-FFF2-40B4-BE49-F238E27FC236}">
                <a16:creationId xmlns:a16="http://schemas.microsoft.com/office/drawing/2014/main" id="{C866FC89-CA5B-4049-BD84-F86F6F6A0815}"/>
              </a:ext>
            </a:extLst>
          </p:cNvPr>
          <p:cNvSpPr>
            <a:spLocks xmlns:a="http://schemas.openxmlformats.org/drawingml/2006/main" noGrp="1"/>
          </p:cNvSpPr>
          <p:nvPr/>
        </p:nvSpPr>
        <p:spPr>
          <a:xfrm xmlns:a="http://schemas.openxmlformats.org/drawingml/2006/main">
            <a:off x="6286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Hosted subject</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+Exact email</a:t>
            </a:r>
          </a:p>
        </p:txBody>
      </p:sp>
      <p:sp>
        <p:nvSpPr>
          <p:cNvPr id="10" name="">
            <a:extLst xmlns:a="http://schemas.openxmlformats.org/drawingml/2006/main">
              <a:ext uri="{FF2B5EF4-FFF2-40B4-BE49-F238E27FC236}">
                <a16:creationId xmlns:a16="http://schemas.microsoft.com/office/drawing/2014/main" id="{E8392AFB-C40E-495A-80A9-3EDEAD8CA592}"/>
              </a:ext>
            </a:extLst>
          </p:cNvPr>
          <p:cNvSpPr>
            <a:spLocks xmlns:a="http://schemas.openxmlformats.org/drawingml/2006/main" noGrp="1"/>
          </p:cNvSpPr>
          <p:nvPr/>
        </p:nvSpPr>
        <p:spPr>
          <a:xfrm xmlns:a="http://schemas.openxmlformats.org/drawingml/2006/main">
            <a:off x="21145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1" name="">
            <a:extLst xmlns:a="http://schemas.openxmlformats.org/drawingml/2006/main">
              <a:ext uri="{FF2B5EF4-FFF2-40B4-BE49-F238E27FC236}">
                <a16:creationId xmlns:a16="http://schemas.microsoft.com/office/drawing/2014/main" id="{47258689-8B6B-4DE9-87E5-D5D51819AB28}"/>
              </a:ext>
            </a:extLst>
          </p:cNvPr>
          <p:cNvSpPr>
            <a:spLocks xmlns:a="http://schemas.openxmlformats.org/drawingml/2006/main" noGrp="1"/>
          </p:cNvSpPr>
          <p:nvPr/>
        </p:nvSpPr>
        <p:spPr>
          <a:xfrm xmlns:a="http://schemas.openxmlformats.org/drawingml/2006/main">
            <a:off x="23336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4EF28C5-C4B3-4421-98D6-1021B431CF08}"/>
              </a:ext>
            </a:extLst>
          </p:cNvPr>
          <p:cNvSpPr>
            <a:spLocks xmlns:a="http://schemas.openxmlformats.org/drawingml/2006/main" noGrp="1"/>
          </p:cNvSpPr>
          <p:nvPr/>
        </p:nvSpPr>
        <p:spPr>
          <a:xfrm xmlns:a="http://schemas.openxmlformats.org/drawingml/2006/main">
            <a:off x="24003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584B4DD0-F2C2-4F0B-B667-072D58AEAC78}"/>
              </a:ext>
            </a:extLst>
          </p:cNvPr>
          <p:cNvSpPr>
            <a:spLocks xmlns:a="http://schemas.openxmlformats.org/drawingml/2006/main" noGrp="1"/>
          </p:cNvSpPr>
          <p:nvPr/>
        </p:nvSpPr>
        <p:spPr>
          <a:xfrm xmlns:a="http://schemas.openxmlformats.org/drawingml/2006/main">
            <a:off x="25717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E94B2A"/>
                </a:solidFill>
                <a:latin typeface="Helvetica Neue"/>
                <a:ea typeface="Helvetica Neue"/>
                <a:cs typeface="Helvetica Neue"/>
              </a:defRPr>
            </a:pPr>
            <a:r>
              <a:rPr sz="825" b="1">
                <a:solidFill>
                  <a:srgbClr val="E94B2A"/>
                </a:solidFill>
                <a:latin typeface="Helvetica Neue"/>
                <a:ea typeface="Helvetica Neue"/>
                <a:cs typeface="Helvetica Neue"/>
              </a:rPr>
              <a:t>02</a:t>
            </a:r>
          </a:p>
        </p:txBody>
      </p:sp>
      <p:sp>
        <p:nvSpPr>
          <p:cNvPr id="14" name="">
            <a:extLst xmlns:a="http://schemas.openxmlformats.org/drawingml/2006/main">
              <a:ext uri="{FF2B5EF4-FFF2-40B4-BE49-F238E27FC236}">
                <a16:creationId xmlns:a16="http://schemas.microsoft.com/office/drawing/2014/main" id="{58321DE7-3662-41AA-A4DB-DC7BCA1E2915}"/>
              </a:ext>
            </a:extLst>
          </p:cNvPr>
          <p:cNvSpPr>
            <a:spLocks xmlns:a="http://schemas.openxmlformats.org/drawingml/2006/main" noGrp="1"/>
          </p:cNvSpPr>
          <p:nvPr/>
        </p:nvSpPr>
        <p:spPr>
          <a:xfrm xmlns:a="http://schemas.openxmlformats.org/drawingml/2006/main">
            <a:off x="25717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Filter</a:t>
            </a:r>
          </a:p>
        </p:txBody>
      </p:sp>
      <p:sp>
        <p:nvSpPr>
          <p:cNvPr id="15" name="">
            <a:extLst xmlns:a="http://schemas.openxmlformats.org/drawingml/2006/main">
              <a:ext uri="{FF2B5EF4-FFF2-40B4-BE49-F238E27FC236}">
                <a16:creationId xmlns:a16="http://schemas.microsoft.com/office/drawing/2014/main" id="{0BE2E3BB-E148-46FE-9CAD-44F48159A6ED}"/>
              </a:ext>
            </a:extLst>
          </p:cNvPr>
          <p:cNvSpPr>
            <a:spLocks xmlns:a="http://schemas.openxmlformats.org/drawingml/2006/main" noGrp="1"/>
          </p:cNvSpPr>
          <p:nvPr/>
        </p:nvSpPr>
        <p:spPr>
          <a:xfrm xmlns:a="http://schemas.openxmlformats.org/drawingml/2006/main">
            <a:off x="25717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Readable records</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before ranking</a:t>
            </a:r>
          </a:p>
        </p:txBody>
      </p:sp>
      <p:sp>
        <p:nvSpPr>
          <p:cNvPr id="16" name="">
            <a:extLst xmlns:a="http://schemas.openxmlformats.org/drawingml/2006/main">
              <a:ext uri="{FF2B5EF4-FFF2-40B4-BE49-F238E27FC236}">
                <a16:creationId xmlns:a16="http://schemas.microsoft.com/office/drawing/2014/main" id="{31AD86D8-9EAE-48CD-9BE0-99BF3FA73C11}"/>
              </a:ext>
            </a:extLst>
          </p:cNvPr>
          <p:cNvSpPr>
            <a:spLocks xmlns:a="http://schemas.openxmlformats.org/drawingml/2006/main" noGrp="1"/>
          </p:cNvSpPr>
          <p:nvPr/>
        </p:nvSpPr>
        <p:spPr>
          <a:xfrm xmlns:a="http://schemas.openxmlformats.org/drawingml/2006/main">
            <a:off x="40576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7" name="">
            <a:extLst xmlns:a="http://schemas.openxmlformats.org/drawingml/2006/main">
              <a:ext uri="{FF2B5EF4-FFF2-40B4-BE49-F238E27FC236}">
                <a16:creationId xmlns:a16="http://schemas.microsoft.com/office/drawing/2014/main" id="{7AF54780-CB5A-4C06-95D1-F715394DCBD2}"/>
              </a:ext>
            </a:extLst>
          </p:cNvPr>
          <p:cNvSpPr>
            <a:spLocks xmlns:a="http://schemas.openxmlformats.org/drawingml/2006/main" noGrp="1"/>
          </p:cNvSpPr>
          <p:nvPr/>
        </p:nvSpPr>
        <p:spPr>
          <a:xfrm xmlns:a="http://schemas.openxmlformats.org/drawingml/2006/main">
            <a:off x="42767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BAA0176-2350-4480-8C3C-A8C43F9ABF32}"/>
              </a:ext>
            </a:extLst>
          </p:cNvPr>
          <p:cNvSpPr>
            <a:spLocks xmlns:a="http://schemas.openxmlformats.org/drawingml/2006/main" noGrp="1"/>
          </p:cNvSpPr>
          <p:nvPr/>
        </p:nvSpPr>
        <p:spPr>
          <a:xfrm xmlns:a="http://schemas.openxmlformats.org/drawingml/2006/main">
            <a:off x="43434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5D696C8C-24EB-4FE4-9715-752DFD6D529C}"/>
              </a:ext>
            </a:extLst>
          </p:cNvPr>
          <p:cNvSpPr>
            <a:spLocks xmlns:a="http://schemas.openxmlformats.org/drawingml/2006/main" noGrp="1"/>
          </p:cNvSpPr>
          <p:nvPr/>
        </p:nvSpPr>
        <p:spPr>
          <a:xfrm xmlns:a="http://schemas.openxmlformats.org/drawingml/2006/main">
            <a:off x="45148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7657B3"/>
                </a:solidFill>
                <a:latin typeface="Helvetica Neue"/>
                <a:ea typeface="Helvetica Neue"/>
                <a:cs typeface="Helvetica Neue"/>
              </a:defRPr>
            </a:pPr>
            <a:r>
              <a:rPr sz="825" b="1">
                <a:solidFill>
                  <a:srgbClr val="7657B3"/>
                </a:solidFill>
                <a:latin typeface="Helvetica Neue"/>
                <a:ea typeface="Helvetica Neue"/>
                <a:cs typeface="Helvetica Neue"/>
              </a:rPr>
              <a:t>03</a:t>
            </a:r>
          </a:p>
        </p:txBody>
      </p:sp>
      <p:sp>
        <p:nvSpPr>
          <p:cNvPr id="20" name="">
            <a:extLst xmlns:a="http://schemas.openxmlformats.org/drawingml/2006/main">
              <a:ext uri="{FF2B5EF4-FFF2-40B4-BE49-F238E27FC236}">
                <a16:creationId xmlns:a16="http://schemas.microsoft.com/office/drawing/2014/main" id="{EC4A27BF-15A4-4933-96EB-92BE2DCEE3CE}"/>
              </a:ext>
            </a:extLst>
          </p:cNvPr>
          <p:cNvSpPr>
            <a:spLocks xmlns:a="http://schemas.openxmlformats.org/drawingml/2006/main" noGrp="1"/>
          </p:cNvSpPr>
          <p:nvPr/>
        </p:nvSpPr>
        <p:spPr>
          <a:xfrm xmlns:a="http://schemas.openxmlformats.org/drawingml/2006/main">
            <a:off x="45148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Retrieve</a:t>
            </a:r>
          </a:p>
        </p:txBody>
      </p:sp>
      <p:sp>
        <p:nvSpPr>
          <p:cNvPr id="21" name="">
            <a:extLst xmlns:a="http://schemas.openxmlformats.org/drawingml/2006/main">
              <a:ext uri="{FF2B5EF4-FFF2-40B4-BE49-F238E27FC236}">
                <a16:creationId xmlns:a16="http://schemas.microsoft.com/office/drawing/2014/main" id="{1FBAD664-8F80-462E-806C-1669CDC480EB}"/>
              </a:ext>
            </a:extLst>
          </p:cNvPr>
          <p:cNvSpPr>
            <a:spLocks xmlns:a="http://schemas.openxmlformats.org/drawingml/2006/main" noGrp="1"/>
          </p:cNvSpPr>
          <p:nvPr/>
        </p:nvSpPr>
        <p:spPr>
          <a:xfrm xmlns:a="http://schemas.openxmlformats.org/drawingml/2006/main">
            <a:off x="45148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Lexical baseline</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+Bounded corpus</a:t>
            </a:r>
          </a:p>
        </p:txBody>
      </p:sp>
      <p:sp>
        <p:nvSpPr>
          <p:cNvPr id="22" name="">
            <a:extLst xmlns:a="http://schemas.openxmlformats.org/drawingml/2006/main">
              <a:ext uri="{FF2B5EF4-FFF2-40B4-BE49-F238E27FC236}">
                <a16:creationId xmlns:a16="http://schemas.microsoft.com/office/drawing/2014/main" id="{9312D0CB-FCEB-4776-B195-526E298BBCF1}"/>
              </a:ext>
            </a:extLst>
          </p:cNvPr>
          <p:cNvSpPr>
            <a:spLocks xmlns:a="http://schemas.openxmlformats.org/drawingml/2006/main" noGrp="1"/>
          </p:cNvSpPr>
          <p:nvPr/>
        </p:nvSpPr>
        <p:spPr>
          <a:xfrm xmlns:a="http://schemas.openxmlformats.org/drawingml/2006/main">
            <a:off x="60007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3" name="">
            <a:extLst xmlns:a="http://schemas.openxmlformats.org/drawingml/2006/main">
              <a:ext uri="{FF2B5EF4-FFF2-40B4-BE49-F238E27FC236}">
                <a16:creationId xmlns:a16="http://schemas.microsoft.com/office/drawing/2014/main" id="{4B5834FF-60DF-42A8-9FA1-0A354E224876}"/>
              </a:ext>
            </a:extLst>
          </p:cNvPr>
          <p:cNvSpPr>
            <a:spLocks xmlns:a="http://schemas.openxmlformats.org/drawingml/2006/main" noGrp="1"/>
          </p:cNvSpPr>
          <p:nvPr/>
        </p:nvSpPr>
        <p:spPr>
          <a:xfrm xmlns:a="http://schemas.openxmlformats.org/drawingml/2006/main">
            <a:off x="62198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5C831DF-025F-4CEE-A1EF-CBC76C49BFD9}"/>
              </a:ext>
            </a:extLst>
          </p:cNvPr>
          <p:cNvSpPr>
            <a:spLocks xmlns:a="http://schemas.openxmlformats.org/drawingml/2006/main" noGrp="1"/>
          </p:cNvSpPr>
          <p:nvPr/>
        </p:nvSpPr>
        <p:spPr>
          <a:xfrm xmlns:a="http://schemas.openxmlformats.org/drawingml/2006/main">
            <a:off x="62865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5D69114D-F8AB-4879-BBB5-FE9DFABAD33B}"/>
              </a:ext>
            </a:extLst>
          </p:cNvPr>
          <p:cNvSpPr>
            <a:spLocks xmlns:a="http://schemas.openxmlformats.org/drawingml/2006/main" noGrp="1"/>
          </p:cNvSpPr>
          <p:nvPr/>
        </p:nvSpPr>
        <p:spPr>
          <a:xfrm xmlns:a="http://schemas.openxmlformats.org/drawingml/2006/main">
            <a:off x="64579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7657B3"/>
                </a:solidFill>
                <a:latin typeface="Helvetica Neue"/>
                <a:ea typeface="Helvetica Neue"/>
                <a:cs typeface="Helvetica Neue"/>
              </a:defRPr>
            </a:pPr>
            <a:r>
              <a:rPr sz="825" b="1">
                <a:solidFill>
                  <a:srgbClr val="7657B3"/>
                </a:solidFill>
                <a:latin typeface="Helvetica Neue"/>
                <a:ea typeface="Helvetica Neue"/>
                <a:cs typeface="Helvetica Neue"/>
              </a:rPr>
              <a:t>04</a:t>
            </a:r>
          </a:p>
        </p:txBody>
      </p:sp>
      <p:sp>
        <p:nvSpPr>
          <p:cNvPr id="26" name="">
            <a:extLst xmlns:a="http://schemas.openxmlformats.org/drawingml/2006/main">
              <a:ext uri="{FF2B5EF4-FFF2-40B4-BE49-F238E27FC236}">
                <a16:creationId xmlns:a16="http://schemas.microsoft.com/office/drawing/2014/main" id="{2B85E296-0EC5-497B-B47E-733EFBCA90A6}"/>
              </a:ext>
            </a:extLst>
          </p:cNvPr>
          <p:cNvSpPr>
            <a:spLocks xmlns:a="http://schemas.openxmlformats.org/drawingml/2006/main" noGrp="1"/>
          </p:cNvSpPr>
          <p:nvPr/>
        </p:nvSpPr>
        <p:spPr>
          <a:xfrm xmlns:a="http://schemas.openxmlformats.org/drawingml/2006/main">
            <a:off x="64579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Answer</a:t>
            </a:r>
          </a:p>
        </p:txBody>
      </p:sp>
      <p:sp>
        <p:nvSpPr>
          <p:cNvPr id="27" name="">
            <a:extLst xmlns:a="http://schemas.openxmlformats.org/drawingml/2006/main">
              <a:ext uri="{FF2B5EF4-FFF2-40B4-BE49-F238E27FC236}">
                <a16:creationId xmlns:a16="http://schemas.microsoft.com/office/drawing/2014/main" id="{1D4785BE-7A05-43E3-A06A-EC874B278557}"/>
              </a:ext>
            </a:extLst>
          </p:cNvPr>
          <p:cNvSpPr>
            <a:spLocks xmlns:a="http://schemas.openxmlformats.org/drawingml/2006/main" noGrp="1"/>
          </p:cNvSpPr>
          <p:nvPr/>
        </p:nvSpPr>
        <p:spPr>
          <a:xfrm xmlns:a="http://schemas.openxmlformats.org/drawingml/2006/main">
            <a:off x="64579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Typed brief</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+Claim citations</a:t>
            </a:r>
          </a:p>
        </p:txBody>
      </p:sp>
      <p:sp>
        <p:nvSpPr>
          <p:cNvPr id="28" name="">
            <a:extLst xmlns:a="http://schemas.openxmlformats.org/drawingml/2006/main">
              <a:ext uri="{FF2B5EF4-FFF2-40B4-BE49-F238E27FC236}">
                <a16:creationId xmlns:a16="http://schemas.microsoft.com/office/drawing/2014/main" id="{5BEC3C59-9F81-4143-BFC5-1F46017A7595}"/>
              </a:ext>
            </a:extLst>
          </p:cNvPr>
          <p:cNvSpPr>
            <a:spLocks xmlns:a="http://schemas.openxmlformats.org/drawingml/2006/main" noGrp="1"/>
          </p:cNvSpPr>
          <p:nvPr/>
        </p:nvSpPr>
        <p:spPr>
          <a:xfrm xmlns:a="http://schemas.openxmlformats.org/drawingml/2006/main">
            <a:off x="79438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9" name="">
            <a:extLst xmlns:a="http://schemas.openxmlformats.org/drawingml/2006/main">
              <a:ext uri="{FF2B5EF4-FFF2-40B4-BE49-F238E27FC236}">
                <a16:creationId xmlns:a16="http://schemas.microsoft.com/office/drawing/2014/main" id="{F8714954-44E8-40AB-8293-DF397E661777}"/>
              </a:ext>
            </a:extLst>
          </p:cNvPr>
          <p:cNvSpPr>
            <a:spLocks xmlns:a="http://schemas.openxmlformats.org/drawingml/2006/main" noGrp="1"/>
          </p:cNvSpPr>
          <p:nvPr/>
        </p:nvSpPr>
        <p:spPr>
          <a:xfrm xmlns:a="http://schemas.openxmlformats.org/drawingml/2006/main">
            <a:off x="81629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D9BE37F-5455-4EA2-A423-63882DEEBF0B}"/>
              </a:ext>
            </a:extLst>
          </p:cNvPr>
          <p:cNvSpPr>
            <a:spLocks xmlns:a="http://schemas.openxmlformats.org/drawingml/2006/main" noGrp="1"/>
          </p:cNvSpPr>
          <p:nvPr/>
        </p:nvSpPr>
        <p:spPr>
          <a:xfrm xmlns:a="http://schemas.openxmlformats.org/drawingml/2006/main">
            <a:off x="82296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31" name="">
            <a:extLst xmlns:a="http://schemas.openxmlformats.org/drawingml/2006/main">
              <a:ext uri="{FF2B5EF4-FFF2-40B4-BE49-F238E27FC236}">
                <a16:creationId xmlns:a16="http://schemas.microsoft.com/office/drawing/2014/main" id="{87759B90-6C11-493D-A902-71F58A85769D}"/>
              </a:ext>
            </a:extLst>
          </p:cNvPr>
          <p:cNvSpPr>
            <a:spLocks xmlns:a="http://schemas.openxmlformats.org/drawingml/2006/main" noGrp="1"/>
          </p:cNvSpPr>
          <p:nvPr/>
        </p:nvSpPr>
        <p:spPr>
          <a:xfrm xmlns:a="http://schemas.openxmlformats.org/drawingml/2006/main">
            <a:off x="84010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2F8A5D"/>
                </a:solidFill>
                <a:latin typeface="Helvetica Neue"/>
                <a:ea typeface="Helvetica Neue"/>
                <a:cs typeface="Helvetica Neue"/>
              </a:defRPr>
            </a:pPr>
            <a:r>
              <a:rPr sz="825" b="1">
                <a:solidFill>
                  <a:srgbClr val="2F8A5D"/>
                </a:solidFill>
                <a:latin typeface="Helvetica Neue"/>
                <a:ea typeface="Helvetica Neue"/>
                <a:cs typeface="Helvetica Neue"/>
              </a:rPr>
              <a:t>05</a:t>
            </a:r>
          </a:p>
        </p:txBody>
      </p:sp>
      <p:sp>
        <p:nvSpPr>
          <p:cNvPr id="32" name="">
            <a:extLst xmlns:a="http://schemas.openxmlformats.org/drawingml/2006/main">
              <a:ext uri="{FF2B5EF4-FFF2-40B4-BE49-F238E27FC236}">
                <a16:creationId xmlns:a16="http://schemas.microsoft.com/office/drawing/2014/main" id="{796A7AA8-CF98-4B0F-9907-0179EA309B8E}"/>
              </a:ext>
            </a:extLst>
          </p:cNvPr>
          <p:cNvSpPr>
            <a:spLocks xmlns:a="http://schemas.openxmlformats.org/drawingml/2006/main" noGrp="1"/>
          </p:cNvSpPr>
          <p:nvPr/>
        </p:nvSpPr>
        <p:spPr>
          <a:xfrm xmlns:a="http://schemas.openxmlformats.org/drawingml/2006/main">
            <a:off x="84010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Persist</a:t>
            </a:r>
          </a:p>
        </p:txBody>
      </p:sp>
      <p:sp>
        <p:nvSpPr>
          <p:cNvPr id="33" name="">
            <a:extLst xmlns:a="http://schemas.openxmlformats.org/drawingml/2006/main">
              <a:ext uri="{FF2B5EF4-FFF2-40B4-BE49-F238E27FC236}">
                <a16:creationId xmlns:a16="http://schemas.microsoft.com/office/drawing/2014/main" id="{D215E102-1399-4183-AE62-39833C2B53ED}"/>
              </a:ext>
            </a:extLst>
          </p:cNvPr>
          <p:cNvSpPr>
            <a:spLocks xmlns:a="http://schemas.openxmlformats.org/drawingml/2006/main" noGrp="1"/>
          </p:cNvSpPr>
          <p:nvPr/>
        </p:nvSpPr>
        <p:spPr>
          <a:xfrm xmlns:a="http://schemas.openxmlformats.org/drawingml/2006/main">
            <a:off x="84010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D1 feedback</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+Audit events</a:t>
            </a:r>
          </a:p>
        </p:txBody>
      </p:sp>
      <p:sp>
        <p:nvSpPr>
          <p:cNvPr id="34" name="">
            <a:extLst xmlns:a="http://schemas.openxmlformats.org/drawingml/2006/main">
              <a:ext uri="{FF2B5EF4-FFF2-40B4-BE49-F238E27FC236}">
                <a16:creationId xmlns:a16="http://schemas.microsoft.com/office/drawing/2014/main" id="{FC5B085B-8108-4904-B41D-AC87C4D593AF}"/>
              </a:ext>
            </a:extLst>
          </p:cNvPr>
          <p:cNvSpPr>
            <a:spLocks xmlns:a="http://schemas.openxmlformats.org/drawingml/2006/main" noGrp="1"/>
          </p:cNvSpPr>
          <p:nvPr/>
        </p:nvSpPr>
        <p:spPr>
          <a:xfrm xmlns:a="http://schemas.openxmlformats.org/drawingml/2006/main">
            <a:off x="98869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35" name="">
            <a:extLst xmlns:a="http://schemas.openxmlformats.org/drawingml/2006/main">
              <a:ext uri="{FF2B5EF4-FFF2-40B4-BE49-F238E27FC236}">
                <a16:creationId xmlns:a16="http://schemas.microsoft.com/office/drawing/2014/main" id="{F74530CB-4A63-4765-8CAF-6881B47727CE}"/>
              </a:ext>
            </a:extLst>
          </p:cNvPr>
          <p:cNvSpPr>
            <a:spLocks xmlns:a="http://schemas.openxmlformats.org/drawingml/2006/main" noGrp="1"/>
          </p:cNvSpPr>
          <p:nvPr/>
        </p:nvSpPr>
        <p:spPr>
          <a:xfrm xmlns:a="http://schemas.openxmlformats.org/drawingml/2006/main">
            <a:off x="101060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BB72A9D-BD84-4D2A-96DD-87B0EC12F61B}"/>
              </a:ext>
            </a:extLst>
          </p:cNvPr>
          <p:cNvSpPr>
            <a:spLocks xmlns:a="http://schemas.openxmlformats.org/drawingml/2006/main" noGrp="1"/>
          </p:cNvSpPr>
          <p:nvPr/>
        </p:nvSpPr>
        <p:spPr>
          <a:xfrm xmlns:a="http://schemas.openxmlformats.org/drawingml/2006/main">
            <a:off x="101727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37" name="">
            <a:extLst xmlns:a="http://schemas.openxmlformats.org/drawingml/2006/main">
              <a:ext uri="{FF2B5EF4-FFF2-40B4-BE49-F238E27FC236}">
                <a16:creationId xmlns:a16="http://schemas.microsoft.com/office/drawing/2014/main" id="{0FDC5CA2-7C1D-46D4-92F8-2741C996856A}"/>
              </a:ext>
            </a:extLst>
          </p:cNvPr>
          <p:cNvSpPr>
            <a:spLocks xmlns:a="http://schemas.openxmlformats.org/drawingml/2006/main" noGrp="1"/>
          </p:cNvSpPr>
          <p:nvPr/>
        </p:nvSpPr>
        <p:spPr>
          <a:xfrm xmlns:a="http://schemas.openxmlformats.org/drawingml/2006/main">
            <a:off x="103441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2F8A5D"/>
                </a:solidFill>
                <a:latin typeface="Helvetica Neue"/>
                <a:ea typeface="Helvetica Neue"/>
                <a:cs typeface="Helvetica Neue"/>
              </a:defRPr>
            </a:pPr>
            <a:r>
              <a:rPr sz="825" b="1">
                <a:solidFill>
                  <a:srgbClr val="2F8A5D"/>
                </a:solidFill>
                <a:latin typeface="Helvetica Neue"/>
                <a:ea typeface="Helvetica Neue"/>
                <a:cs typeface="Helvetica Neue"/>
              </a:rPr>
              <a:t>06</a:t>
            </a:r>
          </a:p>
        </p:txBody>
      </p:sp>
      <p:sp>
        <p:nvSpPr>
          <p:cNvPr id="38" name="">
            <a:extLst xmlns:a="http://schemas.openxmlformats.org/drawingml/2006/main">
              <a:ext uri="{FF2B5EF4-FFF2-40B4-BE49-F238E27FC236}">
                <a16:creationId xmlns:a16="http://schemas.microsoft.com/office/drawing/2014/main" id="{7F52F5B1-E168-4018-B7AA-39352DC468A4}"/>
              </a:ext>
            </a:extLst>
          </p:cNvPr>
          <p:cNvSpPr>
            <a:spLocks xmlns:a="http://schemas.openxmlformats.org/drawingml/2006/main" noGrp="1"/>
          </p:cNvSpPr>
          <p:nvPr/>
        </p:nvSpPr>
        <p:spPr>
          <a:xfrm xmlns:a="http://schemas.openxmlformats.org/drawingml/2006/main">
            <a:off x="103441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Evaluate</a:t>
            </a:r>
          </a:p>
        </p:txBody>
      </p:sp>
      <p:sp>
        <p:nvSpPr>
          <p:cNvPr id="39" name="">
            <a:extLst xmlns:a="http://schemas.openxmlformats.org/drawingml/2006/main">
              <a:ext uri="{FF2B5EF4-FFF2-40B4-BE49-F238E27FC236}">
                <a16:creationId xmlns:a16="http://schemas.microsoft.com/office/drawing/2014/main" id="{2785FE0A-322E-4FFE-B34C-950AEDE8CD84}"/>
              </a:ext>
            </a:extLst>
          </p:cNvPr>
          <p:cNvSpPr>
            <a:spLocks xmlns:a="http://schemas.openxmlformats.org/drawingml/2006/main" noGrp="1"/>
          </p:cNvSpPr>
          <p:nvPr/>
        </p:nvSpPr>
        <p:spPr>
          <a:xfrm xmlns:a="http://schemas.openxmlformats.org/drawingml/2006/main">
            <a:off x="103441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Security tests</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+Gold questions</a:t>
            </a:r>
          </a:p>
        </p:txBody>
      </p:sp>
      <p:sp>
        <p:nvSpPr>
          <p:cNvPr id="40" name="">
            <a:extLst xmlns:a="http://schemas.openxmlformats.org/drawingml/2006/main">
              <a:ext uri="{FF2B5EF4-FFF2-40B4-BE49-F238E27FC236}">
                <a16:creationId xmlns:a16="http://schemas.microsoft.com/office/drawing/2014/main" id="{DC7E62F9-2FE6-41CB-9397-AFC2BFAD8D8E}"/>
              </a:ext>
            </a:extLst>
          </p:cNvPr>
          <p:cNvSpPr>
            <a:spLocks xmlns:a="http://schemas.openxmlformats.org/drawingml/2006/main" noGrp="1"/>
          </p:cNvSpPr>
          <p:nvPr/>
        </p:nvSpPr>
        <p:spPr>
          <a:xfrm xmlns:a="http://schemas.openxmlformats.org/drawingml/2006/main">
            <a:off x="6667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API routes</a:t>
            </a:r>
          </a:p>
        </p:txBody>
      </p:sp>
      <p:sp>
        <p:nvSpPr>
          <p:cNvPr id="41" name="">
            <a:extLst xmlns:a="http://schemas.openxmlformats.org/drawingml/2006/main">
              <a:ext uri="{FF2B5EF4-FFF2-40B4-BE49-F238E27FC236}">
                <a16:creationId xmlns:a16="http://schemas.microsoft.com/office/drawing/2014/main" id="{1C99C463-B25E-46B8-87E8-104A318186F3}"/>
              </a:ext>
            </a:extLst>
          </p:cNvPr>
          <p:cNvSpPr>
            <a:spLocks xmlns:a="http://schemas.openxmlformats.org/drawingml/2006/main" noGrp="1"/>
          </p:cNvSpPr>
          <p:nvPr/>
        </p:nvSpPr>
        <p:spPr>
          <a:xfrm xmlns:a="http://schemas.openxmlformats.org/drawingml/2006/main">
            <a:off x="6667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4</a:t>
            </a:r>
          </a:p>
        </p:txBody>
      </p:sp>
      <p:sp>
        <p:nvSpPr>
          <p:cNvPr id="42" name="">
            <a:extLst xmlns:a="http://schemas.openxmlformats.org/drawingml/2006/main">
              <a:ext uri="{FF2B5EF4-FFF2-40B4-BE49-F238E27FC236}">
                <a16:creationId xmlns:a16="http://schemas.microsoft.com/office/drawing/2014/main" id="{3BFF0D55-208C-49B6-8224-45FF2DA19B55}"/>
              </a:ext>
            </a:extLst>
          </p:cNvPr>
          <p:cNvSpPr>
            <a:spLocks xmlns:a="http://schemas.openxmlformats.org/drawingml/2006/main" noGrp="1"/>
          </p:cNvSpPr>
          <p:nvPr/>
        </p:nvSpPr>
        <p:spPr>
          <a:xfrm xmlns:a="http://schemas.openxmlformats.org/drawingml/2006/main">
            <a:off x="27241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D1 tables</a:t>
            </a:r>
          </a:p>
        </p:txBody>
      </p:sp>
      <p:sp>
        <p:nvSpPr>
          <p:cNvPr id="43" name="">
            <a:extLst xmlns:a="http://schemas.openxmlformats.org/drawingml/2006/main">
              <a:ext uri="{FF2B5EF4-FFF2-40B4-BE49-F238E27FC236}">
                <a16:creationId xmlns:a16="http://schemas.microsoft.com/office/drawing/2014/main" id="{9C394A1E-C609-43AC-B0C0-BC2EEF681C09}"/>
              </a:ext>
            </a:extLst>
          </p:cNvPr>
          <p:cNvSpPr>
            <a:spLocks xmlns:a="http://schemas.openxmlformats.org/drawingml/2006/main" noGrp="1"/>
          </p:cNvSpPr>
          <p:nvPr/>
        </p:nvSpPr>
        <p:spPr>
          <a:xfrm xmlns:a="http://schemas.openxmlformats.org/drawingml/2006/main">
            <a:off x="27241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4</a:t>
            </a:r>
          </a:p>
        </p:txBody>
      </p:sp>
      <p:sp>
        <p:nvSpPr>
          <p:cNvPr id="44" name="">
            <a:extLst xmlns:a="http://schemas.openxmlformats.org/drawingml/2006/main">
              <a:ext uri="{FF2B5EF4-FFF2-40B4-BE49-F238E27FC236}">
                <a16:creationId xmlns:a16="http://schemas.microsoft.com/office/drawing/2014/main" id="{22ECA674-709D-465E-95EF-56227D4EA5FC}"/>
              </a:ext>
            </a:extLst>
          </p:cNvPr>
          <p:cNvSpPr>
            <a:spLocks xmlns:a="http://schemas.openxmlformats.org/drawingml/2006/main" noGrp="1"/>
          </p:cNvSpPr>
          <p:nvPr/>
        </p:nvSpPr>
        <p:spPr>
          <a:xfrm xmlns:a="http://schemas.openxmlformats.org/drawingml/2006/main">
            <a:off x="47815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Automated checks</a:t>
            </a:r>
          </a:p>
        </p:txBody>
      </p:sp>
      <p:sp>
        <p:nvSpPr>
          <p:cNvPr id="45" name="">
            <a:extLst xmlns:a="http://schemas.openxmlformats.org/drawingml/2006/main">
              <a:ext uri="{FF2B5EF4-FFF2-40B4-BE49-F238E27FC236}">
                <a16:creationId xmlns:a16="http://schemas.microsoft.com/office/drawing/2014/main" id="{D3A02C88-F971-4CCC-B506-3AA96C394759}"/>
              </a:ext>
            </a:extLst>
          </p:cNvPr>
          <p:cNvSpPr>
            <a:spLocks xmlns:a="http://schemas.openxmlformats.org/drawingml/2006/main" noGrp="1"/>
          </p:cNvSpPr>
          <p:nvPr/>
        </p:nvSpPr>
        <p:spPr>
          <a:xfrm xmlns:a="http://schemas.openxmlformats.org/drawingml/2006/main">
            <a:off x="47815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9</a:t>
            </a:r>
          </a:p>
        </p:txBody>
      </p:sp>
      <p:sp>
        <p:nvSpPr>
          <p:cNvPr id="46" name="">
            <a:extLst xmlns:a="http://schemas.openxmlformats.org/drawingml/2006/main">
              <a:ext uri="{FF2B5EF4-FFF2-40B4-BE49-F238E27FC236}">
                <a16:creationId xmlns:a16="http://schemas.microsoft.com/office/drawing/2014/main" id="{1A01E5A4-8FE0-4303-983B-98266909607A}"/>
              </a:ext>
            </a:extLst>
          </p:cNvPr>
          <p:cNvSpPr>
            <a:spLocks xmlns:a="http://schemas.openxmlformats.org/drawingml/2006/main" noGrp="1"/>
          </p:cNvSpPr>
          <p:nvPr/>
        </p:nvSpPr>
        <p:spPr>
          <a:xfrm xmlns:a="http://schemas.openxmlformats.org/drawingml/2006/main">
            <a:off x="68389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Corpus</a:t>
            </a:r>
          </a:p>
        </p:txBody>
      </p:sp>
      <p:sp>
        <p:nvSpPr>
          <p:cNvPr id="47" name="">
            <a:extLst xmlns:a="http://schemas.openxmlformats.org/drawingml/2006/main">
              <a:ext uri="{FF2B5EF4-FFF2-40B4-BE49-F238E27FC236}">
                <a16:creationId xmlns:a16="http://schemas.microsoft.com/office/drawing/2014/main" id="{2D195AD6-15CA-4496-A806-1EE5B9726287}"/>
              </a:ext>
            </a:extLst>
          </p:cNvPr>
          <p:cNvSpPr>
            <a:spLocks xmlns:a="http://schemas.openxmlformats.org/drawingml/2006/main" noGrp="1"/>
          </p:cNvSpPr>
          <p:nvPr/>
        </p:nvSpPr>
        <p:spPr>
          <a:xfrm xmlns:a="http://schemas.openxmlformats.org/drawingml/2006/main">
            <a:off x="68389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Fictional</a:t>
            </a:r>
          </a:p>
        </p:txBody>
      </p:sp>
      <p:sp>
        <p:nvSpPr>
          <p:cNvPr id="48" name="">
            <a:extLst xmlns:a="http://schemas.openxmlformats.org/drawingml/2006/main">
              <a:ext uri="{FF2B5EF4-FFF2-40B4-BE49-F238E27FC236}">
                <a16:creationId xmlns:a16="http://schemas.microsoft.com/office/drawing/2014/main" id="{0D80C000-7148-4C0B-B8B2-F59B010E4B33}"/>
              </a:ext>
            </a:extLst>
          </p:cNvPr>
          <p:cNvSpPr>
            <a:spLocks xmlns:a="http://schemas.openxmlformats.org/drawingml/2006/main" noGrp="1"/>
          </p:cNvSpPr>
          <p:nvPr/>
        </p:nvSpPr>
        <p:spPr>
          <a:xfrm xmlns:a="http://schemas.openxmlformats.org/drawingml/2006/main">
            <a:off x="88963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Source writes</a:t>
            </a:r>
          </a:p>
        </p:txBody>
      </p:sp>
      <p:sp>
        <p:nvSpPr>
          <p:cNvPr id="49" name="">
            <a:extLst xmlns:a="http://schemas.openxmlformats.org/drawingml/2006/main">
              <a:ext uri="{FF2B5EF4-FFF2-40B4-BE49-F238E27FC236}">
                <a16:creationId xmlns:a16="http://schemas.microsoft.com/office/drawing/2014/main" id="{13058E78-B13A-4C0C-849D-769D04B3B161}"/>
              </a:ext>
            </a:extLst>
          </p:cNvPr>
          <p:cNvSpPr>
            <a:spLocks xmlns:a="http://schemas.openxmlformats.org/drawingml/2006/main" noGrp="1"/>
          </p:cNvSpPr>
          <p:nvPr/>
        </p:nvSpPr>
        <p:spPr>
          <a:xfrm xmlns:a="http://schemas.openxmlformats.org/drawingml/2006/main">
            <a:off x="88963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None</a:t>
            </a:r>
          </a:p>
        </p:txBody>
      </p:sp>
      <p:sp>
        <p:nvSpPr>
          <p:cNvPr id="50" name="">
            <a:extLst xmlns:a="http://schemas.openxmlformats.org/drawingml/2006/main">
              <a:ext uri="{FF2B5EF4-FFF2-40B4-BE49-F238E27FC236}">
                <a16:creationId xmlns:a16="http://schemas.microsoft.com/office/drawing/2014/main" id="{ED253AE1-1C68-4FAC-981F-1D83D20896E4}"/>
              </a:ext>
            </a:extLst>
          </p:cNvPr>
          <p:cNvSpPr>
            <a:spLocks xmlns:a="http://schemas.openxmlformats.org/drawingml/2006/main" noGrp="1"/>
          </p:cNvSpPr>
          <p:nvPr/>
        </p:nvSpPr>
        <p:spPr>
          <a:xfrm xmlns:a="http://schemas.openxmlformats.org/drawingml/2006/main">
            <a:off x="666750" y="5429250"/>
            <a:ext cx="10858500" cy="476250"/>
          </a:xfrm>
          <a:prstGeom xmlns:a="http://schemas.openxmlformats.org/drawingml/2006/main" prst="roundRect">
            <a:avLst>
              <a:gd name="adj" fmla="val 28000"/>
            </a:avLst>
          </a:prstGeom>
          <a:solidFill xmlns:a="http://schemas.openxmlformats.org/drawingml/2006/main">
            <a:srgbClr val="F0EBF7"/>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10027A58-1D4D-4C29-89E9-E1C2E3C3BF90}"/>
              </a:ext>
            </a:extLst>
          </p:cNvPr>
          <p:cNvSpPr>
            <a:spLocks xmlns:a="http://schemas.openxmlformats.org/drawingml/2006/main" noGrp="1"/>
          </p:cNvSpPr>
          <p:nvPr/>
        </p:nvSpPr>
        <p:spPr>
          <a:xfrm xmlns:a="http://schemas.openxmlformats.org/drawingml/2006/main">
            <a:off x="876300" y="5524500"/>
            <a:ext cx="1043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7657B3"/>
                </a:solidFill>
                <a:latin typeface="Helvetica Neue"/>
                <a:ea typeface="Helvetica Neue"/>
                <a:cs typeface="Helvetica Neue"/>
              </a:defRPr>
            </a:pPr>
            <a:r>
              <a:rPr sz="1125" b="1">
                <a:solidFill>
                  <a:srgbClr val="7657B3"/>
                </a:solidFill>
                <a:latin typeface="Helvetica Neue"/>
                <a:ea typeface="Helvetica Neue"/>
                <a:cs typeface="Helvetica Neue"/>
              </a:rPr>
              <a:t>The prototype tests answer, policy, and review contracts. Real connectors require team approval and source access.</a:t>
            </a:r>
          </a:p>
        </p:txBody>
      </p:sp>
    </p:spTree>
    <p:extLst>
      <p:ext uri="{BB962C8B-B14F-4D97-AF65-F5344CB8AC3E}">
        <p14:creationId xmlns:p14="http://schemas.microsoft.com/office/powerpoint/2010/main" val="586176673"/>
      </p:ext>
    </p:extLst>
  </p:cSld>
</p:sld>
</file>

<file path=ppt/slides/slide6.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AE47F758-69AB-4031-A42F-0F56772E2B9E}"/>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TRUST AND PERMISSIONS</a:t>
            </a:r>
          </a:p>
        </p:txBody>
      </p:sp>
      <p:sp>
        <p:nvSpPr>
          <p:cNvPr id="2" name="">
            <a:extLst xmlns:a="http://schemas.openxmlformats.org/drawingml/2006/main">
              <a:ext uri="{FF2B5EF4-FFF2-40B4-BE49-F238E27FC236}">
                <a16:creationId xmlns:a16="http://schemas.microsoft.com/office/drawing/2014/main" id="{3DEFF452-0077-40DD-B5DD-AEB6F6A40D23}"/>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773D0DD9-C252-45DD-B087-BA8D31B69101}"/>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5A43182D-3B23-44AC-BD85-8C6F6A01FA38}"/>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Security gates in the proposed system</a:t>
            </a:r>
          </a:p>
        </p:txBody>
      </p:sp>
      <p:sp>
        <p:nvSpPr>
          <p:cNvPr id="5" name="">
            <a:extLst xmlns:a="http://schemas.openxmlformats.org/drawingml/2006/main">
              <a:ext uri="{FF2B5EF4-FFF2-40B4-BE49-F238E27FC236}">
                <a16:creationId xmlns:a16="http://schemas.microsoft.com/office/drawing/2014/main" id="{2D3468D8-E79E-48F8-A470-776B08AC3D83}"/>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A citation should open only when the user can open its source record.</a:t>
            </a:r>
          </a:p>
        </p:txBody>
      </p:sp>
      <p:sp>
        <p:nvSpPr>
          <p:cNvPr id="6" name="">
            <a:extLst xmlns:a="http://schemas.openxmlformats.org/drawingml/2006/main">
              <a:ext uri="{FF2B5EF4-FFF2-40B4-BE49-F238E27FC236}">
                <a16:creationId xmlns:a16="http://schemas.microsoft.com/office/drawing/2014/main" id="{8F09CA77-33A4-4ED7-920E-67AB998278AD}"/>
              </a:ext>
            </a:extLst>
          </p:cNvPr>
          <p:cNvSpPr>
            <a:spLocks xmlns:a="http://schemas.openxmlformats.org/drawingml/2006/main" noGrp="1"/>
          </p:cNvSpPr>
          <p:nvPr/>
        </p:nvSpPr>
        <p:spPr>
          <a:xfrm xmlns:a="http://schemas.openxmlformats.org/drawingml/2006/main">
            <a:off x="5905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AB3EE21E-1D00-4E6C-B421-208670258501}"/>
              </a:ext>
            </a:extLst>
          </p:cNvPr>
          <p:cNvSpPr>
            <a:spLocks xmlns:a="http://schemas.openxmlformats.org/drawingml/2006/main" noGrp="1"/>
          </p:cNvSpPr>
          <p:nvPr/>
        </p:nvSpPr>
        <p:spPr>
          <a:xfrm xmlns:a="http://schemas.openxmlformats.org/drawingml/2006/main">
            <a:off x="7429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7C1D65D2-95F2-4190-A750-659104DB0B0C}"/>
              </a:ext>
            </a:extLst>
          </p:cNvPr>
          <p:cNvSpPr>
            <a:spLocks xmlns:a="http://schemas.openxmlformats.org/drawingml/2006/main" noGrp="1"/>
          </p:cNvSpPr>
          <p:nvPr/>
        </p:nvSpPr>
        <p:spPr>
          <a:xfrm xmlns:a="http://schemas.openxmlformats.org/drawingml/2006/main">
            <a:off x="7429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Identity</a:t>
            </a:r>
          </a:p>
        </p:txBody>
      </p:sp>
      <p:sp>
        <p:nvSpPr>
          <p:cNvPr id="9" name="">
            <a:extLst xmlns:a="http://schemas.openxmlformats.org/drawingml/2006/main">
              <a:ext uri="{FF2B5EF4-FFF2-40B4-BE49-F238E27FC236}">
                <a16:creationId xmlns:a16="http://schemas.microsoft.com/office/drawing/2014/main" id="{6BFC5814-45C6-4FA5-98ED-76A03BA49F09}"/>
              </a:ext>
            </a:extLst>
          </p:cNvPr>
          <p:cNvSpPr>
            <a:spLocks xmlns:a="http://schemas.openxmlformats.org/drawingml/2006/main" noGrp="1"/>
          </p:cNvSpPr>
          <p:nvPr/>
        </p:nvSpPr>
        <p:spPr>
          <a:xfrm xmlns:a="http://schemas.openxmlformats.org/drawingml/2006/main">
            <a:off x="7429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Stable subject</a:t>
            </a:r>
          </a:p>
        </p:txBody>
      </p:sp>
      <p:sp>
        <p:nvSpPr>
          <p:cNvPr id="10" name="">
            <a:extLst xmlns:a="http://schemas.openxmlformats.org/drawingml/2006/main">
              <a:ext uri="{FF2B5EF4-FFF2-40B4-BE49-F238E27FC236}">
                <a16:creationId xmlns:a16="http://schemas.microsoft.com/office/drawing/2014/main" id="{D11F93F6-CB11-434A-AED1-F20B367CBEC1}"/>
              </a:ext>
            </a:extLst>
          </p:cNvPr>
          <p:cNvSpPr>
            <a:spLocks xmlns:a="http://schemas.openxmlformats.org/drawingml/2006/main" noGrp="1"/>
          </p:cNvSpPr>
          <p:nvPr/>
        </p:nvSpPr>
        <p:spPr>
          <a:xfrm xmlns:a="http://schemas.openxmlformats.org/drawingml/2006/main">
            <a:off x="240030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1" name="">
            <a:extLst xmlns:a="http://schemas.openxmlformats.org/drawingml/2006/main">
              <a:ext uri="{FF2B5EF4-FFF2-40B4-BE49-F238E27FC236}">
                <a16:creationId xmlns:a16="http://schemas.microsoft.com/office/drawing/2014/main" id="{2BA04F50-51F9-42BA-A895-DDF974EFC7B7}"/>
              </a:ext>
            </a:extLst>
          </p:cNvPr>
          <p:cNvSpPr>
            <a:spLocks xmlns:a="http://schemas.openxmlformats.org/drawingml/2006/main" noGrp="1"/>
          </p:cNvSpPr>
          <p:nvPr/>
        </p:nvSpPr>
        <p:spPr>
          <a:xfrm xmlns:a="http://schemas.openxmlformats.org/drawingml/2006/main">
            <a:off x="281940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12" name="">
            <a:extLst xmlns:a="http://schemas.openxmlformats.org/drawingml/2006/main">
              <a:ext uri="{FF2B5EF4-FFF2-40B4-BE49-F238E27FC236}">
                <a16:creationId xmlns:a16="http://schemas.microsoft.com/office/drawing/2014/main" id="{D54FB576-F1C4-4328-BB42-F69B7AA83533}"/>
              </a:ext>
            </a:extLst>
          </p:cNvPr>
          <p:cNvSpPr>
            <a:spLocks xmlns:a="http://schemas.openxmlformats.org/drawingml/2006/main" noGrp="1"/>
          </p:cNvSpPr>
          <p:nvPr/>
        </p:nvSpPr>
        <p:spPr>
          <a:xfrm xmlns:a="http://schemas.openxmlformats.org/drawingml/2006/main">
            <a:off x="297180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93A09063-C754-438E-B906-EA59BA6EE384}"/>
              </a:ext>
            </a:extLst>
          </p:cNvPr>
          <p:cNvSpPr>
            <a:spLocks xmlns:a="http://schemas.openxmlformats.org/drawingml/2006/main" noGrp="1"/>
          </p:cNvSpPr>
          <p:nvPr/>
        </p:nvSpPr>
        <p:spPr>
          <a:xfrm xmlns:a="http://schemas.openxmlformats.org/drawingml/2006/main">
            <a:off x="297180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Admission</a:t>
            </a:r>
          </a:p>
        </p:txBody>
      </p:sp>
      <p:sp>
        <p:nvSpPr>
          <p:cNvPr id="14" name="">
            <a:extLst xmlns:a="http://schemas.openxmlformats.org/drawingml/2006/main">
              <a:ext uri="{FF2B5EF4-FFF2-40B4-BE49-F238E27FC236}">
                <a16:creationId xmlns:a16="http://schemas.microsoft.com/office/drawing/2014/main" id="{31FE171F-DA61-4AF5-8389-E6861A925F30}"/>
              </a:ext>
            </a:extLst>
          </p:cNvPr>
          <p:cNvSpPr>
            <a:spLocks xmlns:a="http://schemas.openxmlformats.org/drawingml/2006/main" noGrp="1"/>
          </p:cNvSpPr>
          <p:nvPr/>
        </p:nvSpPr>
        <p:spPr>
          <a:xfrm xmlns:a="http://schemas.openxmlformats.org/drawingml/2006/main">
            <a:off x="297180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Exact email</a:t>
            </a:r>
          </a:p>
        </p:txBody>
      </p:sp>
      <p:sp>
        <p:nvSpPr>
          <p:cNvPr id="15" name="">
            <a:extLst xmlns:a="http://schemas.openxmlformats.org/drawingml/2006/main">
              <a:ext uri="{FF2B5EF4-FFF2-40B4-BE49-F238E27FC236}">
                <a16:creationId xmlns:a16="http://schemas.microsoft.com/office/drawing/2014/main" id="{7BE2D0B5-D3DF-4F0F-BBEC-774C041B570B}"/>
              </a:ext>
            </a:extLst>
          </p:cNvPr>
          <p:cNvSpPr>
            <a:spLocks xmlns:a="http://schemas.openxmlformats.org/drawingml/2006/main" noGrp="1"/>
          </p:cNvSpPr>
          <p:nvPr/>
        </p:nvSpPr>
        <p:spPr>
          <a:xfrm xmlns:a="http://schemas.openxmlformats.org/drawingml/2006/main">
            <a:off x="462915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6" name="">
            <a:extLst xmlns:a="http://schemas.openxmlformats.org/drawingml/2006/main">
              <a:ext uri="{FF2B5EF4-FFF2-40B4-BE49-F238E27FC236}">
                <a16:creationId xmlns:a16="http://schemas.microsoft.com/office/drawing/2014/main" id="{6D237D02-27A6-4169-8AE1-428A61AEBCAE}"/>
              </a:ext>
            </a:extLst>
          </p:cNvPr>
          <p:cNvSpPr>
            <a:spLocks xmlns:a="http://schemas.openxmlformats.org/drawingml/2006/main" noGrp="1"/>
          </p:cNvSpPr>
          <p:nvPr/>
        </p:nvSpPr>
        <p:spPr>
          <a:xfrm xmlns:a="http://schemas.openxmlformats.org/drawingml/2006/main">
            <a:off x="50482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1D05C864-176A-459E-BC5E-4D5298ADF309}"/>
              </a:ext>
            </a:extLst>
          </p:cNvPr>
          <p:cNvSpPr>
            <a:spLocks xmlns:a="http://schemas.openxmlformats.org/drawingml/2006/main" noGrp="1"/>
          </p:cNvSpPr>
          <p:nvPr/>
        </p:nvSpPr>
        <p:spPr>
          <a:xfrm xmlns:a="http://schemas.openxmlformats.org/drawingml/2006/main">
            <a:off x="52006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1E11F2A9-8D13-4E04-80CD-82980F631E92}"/>
              </a:ext>
            </a:extLst>
          </p:cNvPr>
          <p:cNvSpPr>
            <a:spLocks xmlns:a="http://schemas.openxmlformats.org/drawingml/2006/main" noGrp="1"/>
          </p:cNvSpPr>
          <p:nvPr/>
        </p:nvSpPr>
        <p:spPr>
          <a:xfrm xmlns:a="http://schemas.openxmlformats.org/drawingml/2006/main">
            <a:off x="52006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Candidates</a:t>
            </a:r>
          </a:p>
        </p:txBody>
      </p:sp>
      <p:sp>
        <p:nvSpPr>
          <p:cNvPr id="19" name="">
            <a:extLst xmlns:a="http://schemas.openxmlformats.org/drawingml/2006/main">
              <a:ext uri="{FF2B5EF4-FFF2-40B4-BE49-F238E27FC236}">
                <a16:creationId xmlns:a16="http://schemas.microsoft.com/office/drawing/2014/main" id="{A8601C8B-8782-47E6-A326-73B52FC5F614}"/>
              </a:ext>
            </a:extLst>
          </p:cNvPr>
          <p:cNvSpPr>
            <a:spLocks xmlns:a="http://schemas.openxmlformats.org/drawingml/2006/main" noGrp="1"/>
          </p:cNvSpPr>
          <p:nvPr/>
        </p:nvSpPr>
        <p:spPr>
          <a:xfrm xmlns:a="http://schemas.openxmlformats.org/drawingml/2006/main">
            <a:off x="52006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Policy filtered</a:t>
            </a:r>
          </a:p>
        </p:txBody>
      </p:sp>
      <p:sp>
        <p:nvSpPr>
          <p:cNvPr id="20" name="">
            <a:extLst xmlns:a="http://schemas.openxmlformats.org/drawingml/2006/main">
              <a:ext uri="{FF2B5EF4-FFF2-40B4-BE49-F238E27FC236}">
                <a16:creationId xmlns:a16="http://schemas.microsoft.com/office/drawing/2014/main" id="{B6F0823A-BF86-4E41-B2AB-0EFAE13099D6}"/>
              </a:ext>
            </a:extLst>
          </p:cNvPr>
          <p:cNvSpPr>
            <a:spLocks xmlns:a="http://schemas.openxmlformats.org/drawingml/2006/main" noGrp="1"/>
          </p:cNvSpPr>
          <p:nvPr/>
        </p:nvSpPr>
        <p:spPr>
          <a:xfrm xmlns:a="http://schemas.openxmlformats.org/drawingml/2006/main">
            <a:off x="685800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1" name="">
            <a:extLst xmlns:a="http://schemas.openxmlformats.org/drawingml/2006/main">
              <a:ext uri="{FF2B5EF4-FFF2-40B4-BE49-F238E27FC236}">
                <a16:creationId xmlns:a16="http://schemas.microsoft.com/office/drawing/2014/main" id="{C8CF906A-AB62-4480-8E95-65F35DB8BCB3}"/>
              </a:ext>
            </a:extLst>
          </p:cNvPr>
          <p:cNvSpPr>
            <a:spLocks xmlns:a="http://schemas.openxmlformats.org/drawingml/2006/main" noGrp="1"/>
          </p:cNvSpPr>
          <p:nvPr/>
        </p:nvSpPr>
        <p:spPr>
          <a:xfrm xmlns:a="http://schemas.openxmlformats.org/drawingml/2006/main">
            <a:off x="7277100" y="2400300"/>
            <a:ext cx="1809750" cy="1162050"/>
          </a:xfrm>
          <a:prstGeom xmlns:a="http://schemas.openxmlformats.org/drawingml/2006/main" prst="roundRect">
            <a:avLst>
              <a:gd name="adj" fmla="val 13115"/>
            </a:avLst>
          </a:prstGeom>
          <a:solidFill xmlns:a="http://schemas.openxmlformats.org/drawingml/2006/main">
            <a:srgbClr val="F0EBF7"/>
          </a:solidFill>
          <a:ln xmlns:a="http://schemas.openxmlformats.org/drawingml/2006/main" w="9525">
            <a:solidFill>
              <a:srgbClr val="7657B3"/>
            </a:solidFill>
          </a:ln>
        </p:spPr>
      </p:sp>
      <p:sp>
        <p:nvSpPr>
          <p:cNvPr id="22" name="">
            <a:extLst xmlns:a="http://schemas.openxmlformats.org/drawingml/2006/main">
              <a:ext uri="{FF2B5EF4-FFF2-40B4-BE49-F238E27FC236}">
                <a16:creationId xmlns:a16="http://schemas.microsoft.com/office/drawing/2014/main" id="{E9EB119C-C645-4D1B-A11E-2294C05B8A7D}"/>
              </a:ext>
            </a:extLst>
          </p:cNvPr>
          <p:cNvSpPr>
            <a:spLocks xmlns:a="http://schemas.openxmlformats.org/drawingml/2006/main" noGrp="1"/>
          </p:cNvSpPr>
          <p:nvPr/>
        </p:nvSpPr>
        <p:spPr>
          <a:xfrm xmlns:a="http://schemas.openxmlformats.org/drawingml/2006/main">
            <a:off x="742950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352F253B-B048-4E4E-9A0A-F47371FEDFF9}"/>
              </a:ext>
            </a:extLst>
          </p:cNvPr>
          <p:cNvSpPr>
            <a:spLocks xmlns:a="http://schemas.openxmlformats.org/drawingml/2006/main" noGrp="1"/>
          </p:cNvSpPr>
          <p:nvPr/>
        </p:nvSpPr>
        <p:spPr>
          <a:xfrm xmlns:a="http://schemas.openxmlformats.org/drawingml/2006/main">
            <a:off x="742950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Brief</a:t>
            </a:r>
          </a:p>
        </p:txBody>
      </p:sp>
      <p:sp>
        <p:nvSpPr>
          <p:cNvPr id="24" name="">
            <a:extLst xmlns:a="http://schemas.openxmlformats.org/drawingml/2006/main">
              <a:ext uri="{FF2B5EF4-FFF2-40B4-BE49-F238E27FC236}">
                <a16:creationId xmlns:a16="http://schemas.microsoft.com/office/drawing/2014/main" id="{0B2D9781-FC56-426C-9DD3-85581AC6FD44}"/>
              </a:ext>
            </a:extLst>
          </p:cNvPr>
          <p:cNvSpPr>
            <a:spLocks xmlns:a="http://schemas.openxmlformats.org/drawingml/2006/main" noGrp="1"/>
          </p:cNvSpPr>
          <p:nvPr/>
        </p:nvSpPr>
        <p:spPr>
          <a:xfrm xmlns:a="http://schemas.openxmlformats.org/drawingml/2006/main">
            <a:off x="742950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Cited claims</a:t>
            </a:r>
          </a:p>
        </p:txBody>
      </p:sp>
      <p:sp>
        <p:nvSpPr>
          <p:cNvPr id="25" name="">
            <a:extLst xmlns:a="http://schemas.openxmlformats.org/drawingml/2006/main">
              <a:ext uri="{FF2B5EF4-FFF2-40B4-BE49-F238E27FC236}">
                <a16:creationId xmlns:a16="http://schemas.microsoft.com/office/drawing/2014/main" id="{15155333-D111-4FBC-8234-E4F8D346AC55}"/>
              </a:ext>
            </a:extLst>
          </p:cNvPr>
          <p:cNvSpPr>
            <a:spLocks xmlns:a="http://schemas.openxmlformats.org/drawingml/2006/main" noGrp="1"/>
          </p:cNvSpPr>
          <p:nvPr/>
        </p:nvSpPr>
        <p:spPr>
          <a:xfrm xmlns:a="http://schemas.openxmlformats.org/drawingml/2006/main">
            <a:off x="908685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6" name="">
            <a:extLst xmlns:a="http://schemas.openxmlformats.org/drawingml/2006/main">
              <a:ext uri="{FF2B5EF4-FFF2-40B4-BE49-F238E27FC236}">
                <a16:creationId xmlns:a16="http://schemas.microsoft.com/office/drawing/2014/main" id="{5D30927E-5B93-42BD-A8E5-704EAB168664}"/>
              </a:ext>
            </a:extLst>
          </p:cNvPr>
          <p:cNvSpPr>
            <a:spLocks xmlns:a="http://schemas.openxmlformats.org/drawingml/2006/main" noGrp="1"/>
          </p:cNvSpPr>
          <p:nvPr/>
        </p:nvSpPr>
        <p:spPr>
          <a:xfrm xmlns:a="http://schemas.openxmlformats.org/drawingml/2006/main">
            <a:off x="95059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27" name="">
            <a:extLst xmlns:a="http://schemas.openxmlformats.org/drawingml/2006/main">
              <a:ext uri="{FF2B5EF4-FFF2-40B4-BE49-F238E27FC236}">
                <a16:creationId xmlns:a16="http://schemas.microsoft.com/office/drawing/2014/main" id="{E9D395AF-9A1B-49D2-986A-9C5B1EEB7203}"/>
              </a:ext>
            </a:extLst>
          </p:cNvPr>
          <p:cNvSpPr>
            <a:spLocks xmlns:a="http://schemas.openxmlformats.org/drawingml/2006/main" noGrp="1"/>
          </p:cNvSpPr>
          <p:nvPr/>
        </p:nvSpPr>
        <p:spPr>
          <a:xfrm xmlns:a="http://schemas.openxmlformats.org/drawingml/2006/main">
            <a:off x="96583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5</a:t>
            </a:r>
          </a:p>
        </p:txBody>
      </p:sp>
      <p:sp>
        <p:nvSpPr>
          <p:cNvPr id="28" name="">
            <a:extLst xmlns:a="http://schemas.openxmlformats.org/drawingml/2006/main">
              <a:ext uri="{FF2B5EF4-FFF2-40B4-BE49-F238E27FC236}">
                <a16:creationId xmlns:a16="http://schemas.microsoft.com/office/drawing/2014/main" id="{9ACF095C-5AD2-485D-89E4-C7E5F4825DBF}"/>
              </a:ext>
            </a:extLst>
          </p:cNvPr>
          <p:cNvSpPr>
            <a:spLocks xmlns:a="http://schemas.openxmlformats.org/drawingml/2006/main" noGrp="1"/>
          </p:cNvSpPr>
          <p:nvPr/>
        </p:nvSpPr>
        <p:spPr>
          <a:xfrm xmlns:a="http://schemas.openxmlformats.org/drawingml/2006/main">
            <a:off x="96583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Citation</a:t>
            </a:r>
          </a:p>
        </p:txBody>
      </p:sp>
      <p:sp>
        <p:nvSpPr>
          <p:cNvPr id="29" name="">
            <a:extLst xmlns:a="http://schemas.openxmlformats.org/drawingml/2006/main">
              <a:ext uri="{FF2B5EF4-FFF2-40B4-BE49-F238E27FC236}">
                <a16:creationId xmlns:a16="http://schemas.microsoft.com/office/drawing/2014/main" id="{1A8B0EF2-50FE-40A3-B892-77BCF3BB13D7}"/>
              </a:ext>
            </a:extLst>
          </p:cNvPr>
          <p:cNvSpPr>
            <a:spLocks xmlns:a="http://schemas.openxmlformats.org/drawingml/2006/main" noGrp="1"/>
          </p:cNvSpPr>
          <p:nvPr/>
        </p:nvSpPr>
        <p:spPr>
          <a:xfrm xmlns:a="http://schemas.openxmlformats.org/drawingml/2006/main">
            <a:off x="96583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Access recheck</a:t>
            </a:r>
          </a:p>
        </p:txBody>
      </p:sp>
      <p:sp>
        <p:nvSpPr>
          <p:cNvPr id="30" name="">
            <a:extLst xmlns:a="http://schemas.openxmlformats.org/drawingml/2006/main">
              <a:ext uri="{FF2B5EF4-FFF2-40B4-BE49-F238E27FC236}">
                <a16:creationId xmlns:a16="http://schemas.microsoft.com/office/drawing/2014/main" id="{6B3A356A-9C7C-49E2-A985-876989D2607F}"/>
              </a:ext>
            </a:extLst>
          </p:cNvPr>
          <p:cNvSpPr>
            <a:spLocks xmlns:a="http://schemas.openxmlformats.org/drawingml/2006/main" noGrp="1"/>
          </p:cNvSpPr>
          <p:nvPr/>
        </p:nvSpPr>
        <p:spPr>
          <a:xfrm xmlns:a="http://schemas.openxmlformats.org/drawingml/2006/main">
            <a:off x="666750" y="4057650"/>
            <a:ext cx="5238750" cy="1333500"/>
          </a:xfrm>
          <a:prstGeom xmlns:a="http://schemas.openxmlformats.org/drawingml/2006/main" prst="roundRect">
            <a:avLst>
              <a:gd name="adj" fmla="val 12857"/>
            </a:avLst>
          </a:prstGeom>
          <a:solidFill xmlns:a="http://schemas.openxmlformats.org/drawingml/2006/main">
            <a:srgbClr val="25152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E30C0ED-6C91-439E-81B3-DFFEA37E2F37}"/>
              </a:ext>
            </a:extLst>
          </p:cNvPr>
          <p:cNvSpPr>
            <a:spLocks xmlns:a="http://schemas.openxmlformats.org/drawingml/2006/main" noGrp="1"/>
          </p:cNvSpPr>
          <p:nvPr/>
        </p:nvSpPr>
        <p:spPr>
          <a:xfrm xmlns:a="http://schemas.openxmlformats.org/drawingml/2006/main">
            <a:off x="895350" y="42767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9A76"/>
                </a:solidFill>
                <a:latin typeface="Helvetica Neue"/>
                <a:ea typeface="Helvetica Neue"/>
                <a:cs typeface="Helvetica Neue"/>
              </a:defRPr>
            </a:pPr>
            <a:r>
              <a:rPr sz="825" b="1">
                <a:solidFill>
                  <a:srgbClr val="FF9A76"/>
                </a:solidFill>
                <a:latin typeface="Helvetica Neue"/>
                <a:ea typeface="Helvetica Neue"/>
                <a:cs typeface="Helvetica Neue"/>
              </a:rPr>
              <a:t>PROTOTYPE TEST EVIDENCE</a:t>
            </a:r>
          </a:p>
        </p:txBody>
      </p:sp>
      <p:sp>
        <p:nvSpPr>
          <p:cNvPr id="32" name="">
            <a:extLst xmlns:a="http://schemas.openxmlformats.org/drawingml/2006/main">
              <a:ext uri="{FF2B5EF4-FFF2-40B4-BE49-F238E27FC236}">
                <a16:creationId xmlns:a16="http://schemas.microsoft.com/office/drawing/2014/main" id="{5066FDF2-BD26-4B00-825D-E0C3ACED2C95}"/>
              </a:ext>
            </a:extLst>
          </p:cNvPr>
          <p:cNvSpPr>
            <a:spLocks xmlns:a="http://schemas.openxmlformats.org/drawingml/2006/main" noGrp="1"/>
          </p:cNvSpPr>
          <p:nvPr/>
        </p:nvSpPr>
        <p:spPr>
          <a:xfrm xmlns:a="http://schemas.openxmlformats.org/drawingml/2006/main">
            <a:off x="895350" y="46291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Nine automated checks pass</a:t>
            </a:r>
          </a:p>
        </p:txBody>
      </p:sp>
      <p:sp>
        <p:nvSpPr>
          <p:cNvPr id="33" name="">
            <a:extLst xmlns:a="http://schemas.openxmlformats.org/drawingml/2006/main">
              <a:ext uri="{FF2B5EF4-FFF2-40B4-BE49-F238E27FC236}">
                <a16:creationId xmlns:a16="http://schemas.microsoft.com/office/drawing/2014/main" id="{26F668D5-3667-4EB7-9571-5ED754F49A97}"/>
              </a:ext>
            </a:extLst>
          </p:cNvPr>
          <p:cNvSpPr>
            <a:spLocks xmlns:a="http://schemas.openxmlformats.org/drawingml/2006/main" noGrp="1"/>
          </p:cNvSpPr>
          <p:nvPr/>
        </p:nvSpPr>
        <p:spPr>
          <a:xfrm xmlns:a="http://schemas.openxmlformats.org/drawingml/2006/main">
            <a:off x="895350" y="5029200"/>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C9BECF"/>
                </a:solidFill>
                <a:latin typeface="Helvetica Neue"/>
                <a:ea typeface="Helvetica Neue"/>
                <a:cs typeface="Helvetica Neue"/>
              </a:defRPr>
            </a:pPr>
            <a:r>
              <a:rPr sz="900" b="0">
                <a:solidFill>
                  <a:srgbClr val="C9BECF"/>
                </a:solidFill>
                <a:latin typeface="Helvetica Neue"/>
                <a:ea typeface="Helvetica Neue"/>
                <a:cs typeface="Helvetica Neue"/>
              </a:rPr>
              <a:t>Policy, citation, injection, conflict, and context invariants.</a:t>
            </a:r>
          </a:p>
        </p:txBody>
      </p:sp>
      <p:sp>
        <p:nvSpPr>
          <p:cNvPr id="34" name="">
            <a:extLst xmlns:a="http://schemas.openxmlformats.org/drawingml/2006/main">
              <a:ext uri="{FF2B5EF4-FFF2-40B4-BE49-F238E27FC236}">
                <a16:creationId xmlns:a16="http://schemas.microsoft.com/office/drawing/2014/main" id="{3BAAFC33-D3FB-4656-8AE9-1BA6B96E0AF2}"/>
              </a:ext>
            </a:extLst>
          </p:cNvPr>
          <p:cNvSpPr>
            <a:spLocks xmlns:a="http://schemas.openxmlformats.org/drawingml/2006/main" noGrp="1"/>
          </p:cNvSpPr>
          <p:nvPr/>
        </p:nvSpPr>
        <p:spPr>
          <a:xfrm xmlns:a="http://schemas.openxmlformats.org/drawingml/2006/main">
            <a:off x="6191250" y="4057650"/>
            <a:ext cx="5334000" cy="1333500"/>
          </a:xfrm>
          <a:prstGeom xmlns:a="http://schemas.openxmlformats.org/drawingml/2006/main" prst="roundRect">
            <a:avLst>
              <a:gd name="adj" fmla="val 12857"/>
            </a:avLst>
          </a:prstGeom>
          <a:solidFill xmlns:a="http://schemas.openxmlformats.org/drawingml/2006/main">
            <a:srgbClr val="FFF5D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9D58E563-C404-4FAA-9C3B-70569564903F}"/>
              </a:ext>
            </a:extLst>
          </p:cNvPr>
          <p:cNvSpPr>
            <a:spLocks xmlns:a="http://schemas.openxmlformats.org/drawingml/2006/main" noGrp="1"/>
          </p:cNvSpPr>
          <p:nvPr/>
        </p:nvSpPr>
        <p:spPr>
          <a:xfrm xmlns:a="http://schemas.openxmlformats.org/drawingml/2006/main">
            <a:off x="6419850" y="42767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B86A14"/>
                </a:solidFill>
                <a:latin typeface="Helvetica Neue"/>
                <a:ea typeface="Helvetica Neue"/>
                <a:cs typeface="Helvetica Neue"/>
              </a:defRPr>
            </a:pPr>
            <a:r>
              <a:rPr sz="825" b="1">
                <a:solidFill>
                  <a:srgbClr val="B86A14"/>
                </a:solidFill>
                <a:latin typeface="Helvetica Neue"/>
                <a:ea typeface="Helvetica Neue"/>
                <a:cs typeface="Helvetica Neue"/>
              </a:rPr>
              <a:t>RETRIEVED TEXT IS UNTRUSTED</a:t>
            </a:r>
          </a:p>
        </p:txBody>
      </p:sp>
      <p:sp>
        <p:nvSpPr>
          <p:cNvPr id="36" name="">
            <a:extLst xmlns:a="http://schemas.openxmlformats.org/drawingml/2006/main">
              <a:ext uri="{FF2B5EF4-FFF2-40B4-BE49-F238E27FC236}">
                <a16:creationId xmlns:a16="http://schemas.microsoft.com/office/drawing/2014/main" id="{3EAAEA9A-83E4-411C-B86A-BF4241CF85B8}"/>
              </a:ext>
            </a:extLst>
          </p:cNvPr>
          <p:cNvSpPr>
            <a:spLocks xmlns:a="http://schemas.openxmlformats.org/drawingml/2006/main" noGrp="1"/>
          </p:cNvSpPr>
          <p:nvPr/>
        </p:nvSpPr>
        <p:spPr>
          <a:xfrm xmlns:a="http://schemas.openxmlformats.org/drawingml/2006/main">
            <a:off x="6419850" y="46291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25152B"/>
                </a:solidFill>
                <a:latin typeface="Helvetica Neue"/>
                <a:ea typeface="Helvetica Neue"/>
                <a:cs typeface="Helvetica Neue"/>
              </a:defRPr>
            </a:pPr>
            <a:r>
              <a:rPr sz="1500" b="1">
                <a:solidFill>
                  <a:srgbClr val="25152B"/>
                </a:solidFill>
                <a:latin typeface="Helvetica Neue"/>
                <a:ea typeface="Helvetica Neue"/>
                <a:cs typeface="Helvetica Neue"/>
              </a:rPr>
              <a:t>Reports and chat can contain prompt injection</a:t>
            </a:r>
          </a:p>
        </p:txBody>
      </p:sp>
      <p:sp>
        <p:nvSpPr>
          <p:cNvPr id="37" name="">
            <a:extLst xmlns:a="http://schemas.openxmlformats.org/drawingml/2006/main">
              <a:ext uri="{FF2B5EF4-FFF2-40B4-BE49-F238E27FC236}">
                <a16:creationId xmlns:a16="http://schemas.microsoft.com/office/drawing/2014/main" id="{F71ED8D0-F52D-4E20-847C-EDF9BF8FBE1B}"/>
              </a:ext>
            </a:extLst>
          </p:cNvPr>
          <p:cNvSpPr>
            <a:spLocks xmlns:a="http://schemas.openxmlformats.org/drawingml/2006/main" noGrp="1"/>
          </p:cNvSpPr>
          <p:nvPr/>
        </p:nvSpPr>
        <p:spPr>
          <a:xfrm xmlns:a="http://schemas.openxmlformats.org/drawingml/2006/main">
            <a:off x="6419850" y="5029200"/>
            <a:ext cx="466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Scan, isolate tools, constrain output, and quarantine failures.</a:t>
            </a:r>
          </a:p>
        </p:txBody>
      </p:sp>
    </p:spTree>
    <p:extLst>
      <p:ext uri="{BB962C8B-B14F-4D97-AF65-F5344CB8AC3E}">
        <p14:creationId xmlns:p14="http://schemas.microsoft.com/office/powerpoint/2010/main" val="453418927"/>
      </p:ext>
    </p:extLst>
  </p:cSld>
</p:sld>
</file>

<file path=ppt/slides/slide7.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1562F4D-F773-49D4-A365-B94D1BF6A1E9}"/>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FAILURE MODES</a:t>
            </a:r>
          </a:p>
        </p:txBody>
      </p:sp>
      <p:sp>
        <p:nvSpPr>
          <p:cNvPr id="2" name="">
            <a:extLst xmlns:a="http://schemas.openxmlformats.org/drawingml/2006/main">
              <a:ext uri="{FF2B5EF4-FFF2-40B4-BE49-F238E27FC236}">
                <a16:creationId xmlns:a16="http://schemas.microsoft.com/office/drawing/2014/main" id="{3BDB2C5C-BBD6-4288-B0FD-12123FC3E272}"/>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6759B676-BE4A-448D-AD80-FED1B8BCA775}"/>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4354D93C-4112-4D49-BD55-B5BC60CA3BF5}"/>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The product should fail visibly</a:t>
            </a:r>
          </a:p>
        </p:txBody>
      </p:sp>
      <p:sp>
        <p:nvSpPr>
          <p:cNvPr id="5" name="">
            <a:extLst xmlns:a="http://schemas.openxmlformats.org/drawingml/2006/main">
              <a:ext uri="{FF2B5EF4-FFF2-40B4-BE49-F238E27FC236}">
                <a16:creationId xmlns:a16="http://schemas.microsoft.com/office/drawing/2014/main" id="{D7AFA480-E10A-4E89-9D2B-39B749959DC0}"/>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safest response can be a conflict, a coverage gap, or an abstention.</a:t>
            </a:r>
          </a:p>
        </p:txBody>
      </p:sp>
      <p:sp>
        <p:nvSpPr>
          <p:cNvPr id="6" name="">
            <a:extLst xmlns:a="http://schemas.openxmlformats.org/drawingml/2006/main">
              <a:ext uri="{FF2B5EF4-FFF2-40B4-BE49-F238E27FC236}">
                <a16:creationId xmlns:a16="http://schemas.microsoft.com/office/drawing/2014/main" id="{B663C33D-F48F-4250-9412-1703ED60F183}"/>
              </a:ext>
            </a:extLst>
          </p:cNvPr>
          <p:cNvSpPr>
            <a:spLocks xmlns:a="http://schemas.openxmlformats.org/drawingml/2006/main" noGrp="1"/>
          </p:cNvSpPr>
          <p:nvPr/>
        </p:nvSpPr>
        <p:spPr>
          <a:xfrm xmlns:a="http://schemas.openxmlformats.org/drawingml/2006/main">
            <a:off x="666750" y="2057400"/>
            <a:ext cx="2428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FAILURE</a:t>
            </a:r>
          </a:p>
        </p:txBody>
      </p:sp>
      <p:sp>
        <p:nvSpPr>
          <p:cNvPr id="7" name="">
            <a:extLst xmlns:a="http://schemas.openxmlformats.org/drawingml/2006/main">
              <a:ext uri="{FF2B5EF4-FFF2-40B4-BE49-F238E27FC236}">
                <a16:creationId xmlns:a16="http://schemas.microsoft.com/office/drawing/2014/main" id="{94E14E69-5CD0-4CFD-B898-FB14BAFD0874}"/>
              </a:ext>
            </a:extLst>
          </p:cNvPr>
          <p:cNvSpPr>
            <a:spLocks xmlns:a="http://schemas.openxmlformats.org/drawingml/2006/main" noGrp="1"/>
          </p:cNvSpPr>
          <p:nvPr/>
        </p:nvSpPr>
        <p:spPr>
          <a:xfrm xmlns:a="http://schemas.openxmlformats.org/drawingml/2006/main">
            <a:off x="3409950" y="20574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PREVENTION</a:t>
            </a:r>
          </a:p>
        </p:txBody>
      </p:sp>
      <p:sp>
        <p:nvSpPr>
          <p:cNvPr id="8" name="">
            <a:extLst xmlns:a="http://schemas.openxmlformats.org/drawingml/2006/main">
              <a:ext uri="{FF2B5EF4-FFF2-40B4-BE49-F238E27FC236}">
                <a16:creationId xmlns:a16="http://schemas.microsoft.com/office/drawing/2014/main" id="{BE7948FA-8AAA-4A52-A506-CB99557AC886}"/>
              </a:ext>
            </a:extLst>
          </p:cNvPr>
          <p:cNvSpPr>
            <a:spLocks xmlns:a="http://schemas.openxmlformats.org/drawingml/2006/main" noGrp="1"/>
          </p:cNvSpPr>
          <p:nvPr/>
        </p:nvSpPr>
        <p:spPr>
          <a:xfrm xmlns:a="http://schemas.openxmlformats.org/drawingml/2006/main">
            <a:off x="7239000" y="205740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USER EXPERIENCE</a:t>
            </a:r>
          </a:p>
        </p:txBody>
      </p:sp>
      <p:sp>
        <p:nvSpPr>
          <p:cNvPr id="9" name="">
            <a:extLst xmlns:a="http://schemas.openxmlformats.org/drawingml/2006/main">
              <a:ext uri="{FF2B5EF4-FFF2-40B4-BE49-F238E27FC236}">
                <a16:creationId xmlns:a16="http://schemas.microsoft.com/office/drawing/2014/main" id="{7360CB74-868A-4D71-9377-3ACF50FE86E4}"/>
              </a:ext>
            </a:extLst>
          </p:cNvPr>
          <p:cNvSpPr>
            <a:spLocks xmlns:a="http://schemas.openxmlformats.org/drawingml/2006/main" noGrp="1"/>
          </p:cNvSpPr>
          <p:nvPr/>
        </p:nvSpPr>
        <p:spPr>
          <a:xfrm xmlns:a="http://schemas.openxmlformats.org/drawingml/2006/main">
            <a:off x="666750" y="2343150"/>
            <a:ext cx="101917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0" name="">
            <a:extLst xmlns:a="http://schemas.openxmlformats.org/drawingml/2006/main">
              <a:ext uri="{FF2B5EF4-FFF2-40B4-BE49-F238E27FC236}">
                <a16:creationId xmlns:a16="http://schemas.microsoft.com/office/drawing/2014/main" id="{4447C4D3-5AA9-4B44-96EC-B9A4CF3A59ED}"/>
              </a:ext>
            </a:extLst>
          </p:cNvPr>
          <p:cNvSpPr>
            <a:spLocks xmlns:a="http://schemas.openxmlformats.org/drawingml/2006/main" noGrp="1"/>
          </p:cNvSpPr>
          <p:nvPr/>
        </p:nvSpPr>
        <p:spPr>
          <a:xfrm xmlns:a="http://schemas.openxmlformats.org/drawingml/2006/main">
            <a:off x="666750" y="24765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8975768-816C-4879-9D9A-73696AF7C019}"/>
              </a:ext>
            </a:extLst>
          </p:cNvPr>
          <p:cNvSpPr>
            <a:spLocks xmlns:a="http://schemas.openxmlformats.org/drawingml/2006/main" noGrp="1"/>
          </p:cNvSpPr>
          <p:nvPr/>
        </p:nvSpPr>
        <p:spPr>
          <a:xfrm xmlns:a="http://schemas.openxmlformats.org/drawingml/2006/main">
            <a:off x="838200" y="25622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Permission leak</a:t>
            </a:r>
          </a:p>
        </p:txBody>
      </p:sp>
      <p:sp>
        <p:nvSpPr>
          <p:cNvPr id="12" name="">
            <a:extLst xmlns:a="http://schemas.openxmlformats.org/drawingml/2006/main">
              <a:ext uri="{FF2B5EF4-FFF2-40B4-BE49-F238E27FC236}">
                <a16:creationId xmlns:a16="http://schemas.microsoft.com/office/drawing/2014/main" id="{C7C6B011-4E81-45DE-8677-D676BA5C37DF}"/>
              </a:ext>
            </a:extLst>
          </p:cNvPr>
          <p:cNvSpPr>
            <a:spLocks xmlns:a="http://schemas.openxmlformats.org/drawingml/2006/main" noGrp="1"/>
          </p:cNvSpPr>
          <p:nvPr/>
        </p:nvSpPr>
        <p:spPr>
          <a:xfrm xmlns:a="http://schemas.openxmlformats.org/drawingml/2006/main">
            <a:off x="3409950" y="25622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Block before retrieval</a:t>
            </a:r>
          </a:p>
        </p:txBody>
      </p:sp>
      <p:sp>
        <p:nvSpPr>
          <p:cNvPr id="13" name="">
            <a:extLst xmlns:a="http://schemas.openxmlformats.org/drawingml/2006/main">
              <a:ext uri="{FF2B5EF4-FFF2-40B4-BE49-F238E27FC236}">
                <a16:creationId xmlns:a16="http://schemas.microsoft.com/office/drawing/2014/main" id="{F9F02686-6596-4029-B61A-D942FB7AD143}"/>
              </a:ext>
            </a:extLst>
          </p:cNvPr>
          <p:cNvSpPr>
            <a:spLocks xmlns:a="http://schemas.openxmlformats.org/drawingml/2006/main" noGrp="1"/>
          </p:cNvSpPr>
          <p:nvPr/>
        </p:nvSpPr>
        <p:spPr>
          <a:xfrm xmlns:a="http://schemas.openxmlformats.org/drawingml/2006/main">
            <a:off x="7239000" y="25622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E94B2A"/>
                </a:solidFill>
                <a:latin typeface="Helvetica Neue"/>
                <a:ea typeface="Helvetica Neue"/>
                <a:cs typeface="Helvetica Neue"/>
              </a:defRPr>
            </a:pPr>
            <a:r>
              <a:rPr sz="975" b="1">
                <a:solidFill>
                  <a:srgbClr val="E94B2A"/>
                </a:solidFill>
                <a:latin typeface="Helvetica Neue"/>
                <a:ea typeface="Helvetica Neue"/>
                <a:cs typeface="Helvetica Neue"/>
              </a:rPr>
              <a:t>Stop + security event</a:t>
            </a:r>
          </a:p>
        </p:txBody>
      </p:sp>
      <p:sp>
        <p:nvSpPr>
          <p:cNvPr id="14" name="">
            <a:extLst xmlns:a="http://schemas.openxmlformats.org/drawingml/2006/main">
              <a:ext uri="{FF2B5EF4-FFF2-40B4-BE49-F238E27FC236}">
                <a16:creationId xmlns:a16="http://schemas.microsoft.com/office/drawing/2014/main" id="{3AC11992-FEF1-434A-AF0D-A42EB6402A24}"/>
              </a:ext>
            </a:extLst>
          </p:cNvPr>
          <p:cNvSpPr>
            <a:spLocks xmlns:a="http://schemas.openxmlformats.org/drawingml/2006/main" noGrp="1"/>
          </p:cNvSpPr>
          <p:nvPr/>
        </p:nvSpPr>
        <p:spPr>
          <a:xfrm xmlns:a="http://schemas.openxmlformats.org/drawingml/2006/main">
            <a:off x="838200" y="30765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Estimated ≠ actual</a:t>
            </a:r>
          </a:p>
        </p:txBody>
      </p:sp>
      <p:sp>
        <p:nvSpPr>
          <p:cNvPr id="15" name="">
            <a:extLst xmlns:a="http://schemas.openxmlformats.org/drawingml/2006/main">
              <a:ext uri="{FF2B5EF4-FFF2-40B4-BE49-F238E27FC236}">
                <a16:creationId xmlns:a16="http://schemas.microsoft.com/office/drawing/2014/main" id="{8101CA9E-0260-4A8E-943E-28018B42C535}"/>
              </a:ext>
            </a:extLst>
          </p:cNvPr>
          <p:cNvSpPr>
            <a:spLocks xmlns:a="http://schemas.openxmlformats.org/drawingml/2006/main" noGrp="1"/>
          </p:cNvSpPr>
          <p:nvPr/>
        </p:nvSpPr>
        <p:spPr>
          <a:xfrm xmlns:a="http://schemas.openxmlformats.org/drawingml/2006/main">
            <a:off x="3409950" y="3076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Typed metrics + model version</a:t>
            </a:r>
          </a:p>
        </p:txBody>
      </p:sp>
      <p:sp>
        <p:nvSpPr>
          <p:cNvPr id="16" name="">
            <a:extLst xmlns:a="http://schemas.openxmlformats.org/drawingml/2006/main">
              <a:ext uri="{FF2B5EF4-FFF2-40B4-BE49-F238E27FC236}">
                <a16:creationId xmlns:a16="http://schemas.microsoft.com/office/drawing/2014/main" id="{DC6A199E-1D27-4CD2-92BD-2268FC1F4760}"/>
              </a:ext>
            </a:extLst>
          </p:cNvPr>
          <p:cNvSpPr>
            <a:spLocks xmlns:a="http://schemas.openxmlformats.org/drawingml/2006/main" noGrp="1"/>
          </p:cNvSpPr>
          <p:nvPr/>
        </p:nvSpPr>
        <p:spPr>
          <a:xfrm xmlns:a="http://schemas.openxmlformats.org/drawingml/2006/main">
            <a:off x="7239000" y="30765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Compare with labels</a:t>
            </a:r>
          </a:p>
        </p:txBody>
      </p:sp>
      <p:sp>
        <p:nvSpPr>
          <p:cNvPr id="17" name="">
            <a:extLst xmlns:a="http://schemas.openxmlformats.org/drawingml/2006/main">
              <a:ext uri="{FF2B5EF4-FFF2-40B4-BE49-F238E27FC236}">
                <a16:creationId xmlns:a16="http://schemas.microsoft.com/office/drawing/2014/main" id="{97D651EA-69C5-4411-AFFD-8A8283E80D44}"/>
              </a:ext>
            </a:extLst>
          </p:cNvPr>
          <p:cNvSpPr>
            <a:spLocks xmlns:a="http://schemas.openxmlformats.org/drawingml/2006/main" noGrp="1"/>
          </p:cNvSpPr>
          <p:nvPr/>
        </p:nvSpPr>
        <p:spPr>
          <a:xfrm xmlns:a="http://schemas.openxmlformats.org/drawingml/2006/main">
            <a:off x="666750" y="35052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0FC0302-77A6-4406-B689-D0010FB888D6}"/>
              </a:ext>
            </a:extLst>
          </p:cNvPr>
          <p:cNvSpPr>
            <a:spLocks xmlns:a="http://schemas.openxmlformats.org/drawingml/2006/main" noGrp="1"/>
          </p:cNvSpPr>
          <p:nvPr/>
        </p:nvSpPr>
        <p:spPr>
          <a:xfrm xmlns:a="http://schemas.openxmlformats.org/drawingml/2006/main">
            <a:off x="838200" y="35909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Conflicting records</a:t>
            </a:r>
          </a:p>
        </p:txBody>
      </p:sp>
      <p:sp>
        <p:nvSpPr>
          <p:cNvPr id="19" name="">
            <a:extLst xmlns:a="http://schemas.openxmlformats.org/drawingml/2006/main">
              <a:ext uri="{FF2B5EF4-FFF2-40B4-BE49-F238E27FC236}">
                <a16:creationId xmlns:a16="http://schemas.microsoft.com/office/drawing/2014/main" id="{CBB7F1D4-54F6-476A-A816-1C17C98E71AB}"/>
              </a:ext>
            </a:extLst>
          </p:cNvPr>
          <p:cNvSpPr>
            <a:spLocks xmlns:a="http://schemas.openxmlformats.org/drawingml/2006/main" noGrp="1"/>
          </p:cNvSpPr>
          <p:nvPr/>
        </p:nvSpPr>
        <p:spPr>
          <a:xfrm xmlns:a="http://schemas.openxmlformats.org/drawingml/2006/main">
            <a:off x="3409950" y="35909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Source-of-truth matrix</a:t>
            </a:r>
          </a:p>
        </p:txBody>
      </p:sp>
      <p:sp>
        <p:nvSpPr>
          <p:cNvPr id="20" name="">
            <a:extLst xmlns:a="http://schemas.openxmlformats.org/drawingml/2006/main">
              <a:ext uri="{FF2B5EF4-FFF2-40B4-BE49-F238E27FC236}">
                <a16:creationId xmlns:a16="http://schemas.microsoft.com/office/drawing/2014/main" id="{2913D627-56AE-42A0-A1D1-EAA9FB5892B4}"/>
              </a:ext>
            </a:extLst>
          </p:cNvPr>
          <p:cNvSpPr>
            <a:spLocks xmlns:a="http://schemas.openxmlformats.org/drawingml/2006/main" noGrp="1"/>
          </p:cNvSpPr>
          <p:nvPr/>
        </p:nvSpPr>
        <p:spPr>
          <a:xfrm xmlns:a="http://schemas.openxmlformats.org/drawingml/2006/main">
            <a:off x="7239000" y="35909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Show values, dates, owner</a:t>
            </a:r>
          </a:p>
        </p:txBody>
      </p:sp>
      <p:sp>
        <p:nvSpPr>
          <p:cNvPr id="21" name="">
            <a:extLst xmlns:a="http://schemas.openxmlformats.org/drawingml/2006/main">
              <a:ext uri="{FF2B5EF4-FFF2-40B4-BE49-F238E27FC236}">
                <a16:creationId xmlns:a16="http://schemas.microsoft.com/office/drawing/2014/main" id="{FD900977-1565-4970-9B84-3BCAC86D4403}"/>
              </a:ext>
            </a:extLst>
          </p:cNvPr>
          <p:cNvSpPr>
            <a:spLocks xmlns:a="http://schemas.openxmlformats.org/drawingml/2006/main" noGrp="1"/>
          </p:cNvSpPr>
          <p:nvPr/>
        </p:nvSpPr>
        <p:spPr>
          <a:xfrm xmlns:a="http://schemas.openxmlformats.org/drawingml/2006/main">
            <a:off x="838200" y="41052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Wrong entity merge</a:t>
            </a:r>
          </a:p>
        </p:txBody>
      </p:sp>
      <p:sp>
        <p:nvSpPr>
          <p:cNvPr id="22" name="">
            <a:extLst xmlns:a="http://schemas.openxmlformats.org/drawingml/2006/main">
              <a:ext uri="{FF2B5EF4-FFF2-40B4-BE49-F238E27FC236}">
                <a16:creationId xmlns:a16="http://schemas.microsoft.com/office/drawing/2014/main" id="{B66E8EF7-BAB8-455A-A787-4B2FAF72C7D9}"/>
              </a:ext>
            </a:extLst>
          </p:cNvPr>
          <p:cNvSpPr>
            <a:spLocks xmlns:a="http://schemas.openxmlformats.org/drawingml/2006/main" noGrp="1"/>
          </p:cNvSpPr>
          <p:nvPr/>
        </p:nvSpPr>
        <p:spPr>
          <a:xfrm xmlns:a="http://schemas.openxmlformats.org/drawingml/2006/main">
            <a:off x="3409950" y="41052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Stable IDs + review queue</a:t>
            </a:r>
          </a:p>
        </p:txBody>
      </p:sp>
      <p:sp>
        <p:nvSpPr>
          <p:cNvPr id="23" name="">
            <a:extLst xmlns:a="http://schemas.openxmlformats.org/drawingml/2006/main">
              <a:ext uri="{FF2B5EF4-FFF2-40B4-BE49-F238E27FC236}">
                <a16:creationId xmlns:a16="http://schemas.microsoft.com/office/drawing/2014/main" id="{431D4F5F-F795-427B-AD10-B5059E3B3242}"/>
              </a:ext>
            </a:extLst>
          </p:cNvPr>
          <p:cNvSpPr>
            <a:spLocks xmlns:a="http://schemas.openxmlformats.org/drawingml/2006/main" noGrp="1"/>
          </p:cNvSpPr>
          <p:nvPr/>
        </p:nvSpPr>
        <p:spPr>
          <a:xfrm xmlns:a="http://schemas.openxmlformats.org/drawingml/2006/main">
            <a:off x="7239000" y="41052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Keep separate</a:t>
            </a:r>
          </a:p>
        </p:txBody>
      </p:sp>
      <p:sp>
        <p:nvSpPr>
          <p:cNvPr id="24" name="">
            <a:extLst xmlns:a="http://schemas.openxmlformats.org/drawingml/2006/main">
              <a:ext uri="{FF2B5EF4-FFF2-40B4-BE49-F238E27FC236}">
                <a16:creationId xmlns:a16="http://schemas.microsoft.com/office/drawing/2014/main" id="{382AB372-9F5C-4673-94E3-602A361AE572}"/>
              </a:ext>
            </a:extLst>
          </p:cNvPr>
          <p:cNvSpPr>
            <a:spLocks xmlns:a="http://schemas.openxmlformats.org/drawingml/2006/main" noGrp="1"/>
          </p:cNvSpPr>
          <p:nvPr/>
        </p:nvSpPr>
        <p:spPr>
          <a:xfrm xmlns:a="http://schemas.openxmlformats.org/drawingml/2006/main">
            <a:off x="666750" y="45339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D380BAD-B1FB-4A81-BA76-5F74635EC1CA}"/>
              </a:ext>
            </a:extLst>
          </p:cNvPr>
          <p:cNvSpPr>
            <a:spLocks xmlns:a="http://schemas.openxmlformats.org/drawingml/2006/main" noGrp="1"/>
          </p:cNvSpPr>
          <p:nvPr/>
        </p:nvSpPr>
        <p:spPr>
          <a:xfrm xmlns:a="http://schemas.openxmlformats.org/drawingml/2006/main">
            <a:off x="838200" y="46196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Missing Zoom history</a:t>
            </a:r>
          </a:p>
        </p:txBody>
      </p:sp>
      <p:sp>
        <p:nvSpPr>
          <p:cNvPr id="26" name="">
            <a:extLst xmlns:a="http://schemas.openxmlformats.org/drawingml/2006/main">
              <a:ext uri="{FF2B5EF4-FFF2-40B4-BE49-F238E27FC236}">
                <a16:creationId xmlns:a16="http://schemas.microsoft.com/office/drawing/2014/main" id="{E791F810-8825-414C-BF61-12E7FFC65F74}"/>
              </a:ext>
            </a:extLst>
          </p:cNvPr>
          <p:cNvSpPr>
            <a:spLocks xmlns:a="http://schemas.openxmlformats.org/drawingml/2006/main" noGrp="1"/>
          </p:cNvSpPr>
          <p:nvPr/>
        </p:nvSpPr>
        <p:spPr>
          <a:xfrm xmlns:a="http://schemas.openxmlformats.org/drawingml/2006/main">
            <a:off x="3409950" y="46196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Retention audit</a:t>
            </a:r>
          </a:p>
        </p:txBody>
      </p:sp>
      <p:sp>
        <p:nvSpPr>
          <p:cNvPr id="27" name="">
            <a:extLst xmlns:a="http://schemas.openxmlformats.org/drawingml/2006/main">
              <a:ext uri="{FF2B5EF4-FFF2-40B4-BE49-F238E27FC236}">
                <a16:creationId xmlns:a16="http://schemas.microsoft.com/office/drawing/2014/main" id="{33437507-0E80-4D66-A27A-A2F9EDEE72BE}"/>
              </a:ext>
            </a:extLst>
          </p:cNvPr>
          <p:cNvSpPr>
            <a:spLocks xmlns:a="http://schemas.openxmlformats.org/drawingml/2006/main" noGrp="1"/>
          </p:cNvSpPr>
          <p:nvPr/>
        </p:nvSpPr>
        <p:spPr>
          <a:xfrm xmlns:a="http://schemas.openxmlformats.org/drawingml/2006/main">
            <a:off x="7239000" y="46196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Show date/channel gap</a:t>
            </a:r>
          </a:p>
        </p:txBody>
      </p:sp>
      <p:sp>
        <p:nvSpPr>
          <p:cNvPr id="28" name="">
            <a:extLst xmlns:a="http://schemas.openxmlformats.org/drawingml/2006/main">
              <a:ext uri="{FF2B5EF4-FFF2-40B4-BE49-F238E27FC236}">
                <a16:creationId xmlns:a16="http://schemas.microsoft.com/office/drawing/2014/main" id="{681FCC7B-4736-4957-9AE8-3712BED54905}"/>
              </a:ext>
            </a:extLst>
          </p:cNvPr>
          <p:cNvSpPr>
            <a:spLocks xmlns:a="http://schemas.openxmlformats.org/drawingml/2006/main" noGrp="1"/>
          </p:cNvSpPr>
          <p:nvPr/>
        </p:nvSpPr>
        <p:spPr>
          <a:xfrm xmlns:a="http://schemas.openxmlformats.org/drawingml/2006/main">
            <a:off x="838200" y="51339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Weak evidence</a:t>
            </a:r>
          </a:p>
        </p:txBody>
      </p:sp>
      <p:sp>
        <p:nvSpPr>
          <p:cNvPr id="29" name="">
            <a:extLst xmlns:a="http://schemas.openxmlformats.org/drawingml/2006/main">
              <a:ext uri="{FF2B5EF4-FFF2-40B4-BE49-F238E27FC236}">
                <a16:creationId xmlns:a16="http://schemas.microsoft.com/office/drawing/2014/main" id="{9425EFA2-DD66-44C4-B592-A240FB5F67A2}"/>
              </a:ext>
            </a:extLst>
          </p:cNvPr>
          <p:cNvSpPr>
            <a:spLocks xmlns:a="http://schemas.openxmlformats.org/drawingml/2006/main" noGrp="1"/>
          </p:cNvSpPr>
          <p:nvPr/>
        </p:nvSpPr>
        <p:spPr>
          <a:xfrm xmlns:a="http://schemas.openxmlformats.org/drawingml/2006/main">
            <a:off x="3409950" y="51339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Groundedness + citation gate</a:t>
            </a:r>
          </a:p>
        </p:txBody>
      </p:sp>
      <p:sp>
        <p:nvSpPr>
          <p:cNvPr id="30" name="">
            <a:extLst xmlns:a="http://schemas.openxmlformats.org/drawingml/2006/main">
              <a:ext uri="{FF2B5EF4-FFF2-40B4-BE49-F238E27FC236}">
                <a16:creationId xmlns:a16="http://schemas.microsoft.com/office/drawing/2014/main" id="{4A83D8AD-44FA-4151-967E-629509395605}"/>
              </a:ext>
            </a:extLst>
          </p:cNvPr>
          <p:cNvSpPr>
            <a:spLocks xmlns:a="http://schemas.openxmlformats.org/drawingml/2006/main" noGrp="1"/>
          </p:cNvSpPr>
          <p:nvPr/>
        </p:nvSpPr>
        <p:spPr>
          <a:xfrm xmlns:a="http://schemas.openxmlformats.org/drawingml/2006/main">
            <a:off x="7239000" y="51339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Abstain</a:t>
            </a:r>
          </a:p>
        </p:txBody>
      </p:sp>
      <p:sp>
        <p:nvSpPr>
          <p:cNvPr id="31" name="">
            <a:extLst xmlns:a="http://schemas.openxmlformats.org/drawingml/2006/main">
              <a:ext uri="{FF2B5EF4-FFF2-40B4-BE49-F238E27FC236}">
                <a16:creationId xmlns:a16="http://schemas.microsoft.com/office/drawing/2014/main" id="{51E07C0D-8EB1-451B-A435-DD7149A41743}"/>
              </a:ext>
            </a:extLst>
          </p:cNvPr>
          <p:cNvSpPr>
            <a:spLocks xmlns:a="http://schemas.openxmlformats.org/drawingml/2006/main" noGrp="1"/>
          </p:cNvSpPr>
          <p:nvPr/>
        </p:nvSpPr>
        <p:spPr>
          <a:xfrm xmlns:a="http://schemas.openxmlformats.org/drawingml/2006/main">
            <a:off x="666750" y="5715000"/>
            <a:ext cx="10191750" cy="381000"/>
          </a:xfrm>
          <a:prstGeom xmlns:a="http://schemas.openxmlformats.org/drawingml/2006/main" prst="roundRect">
            <a:avLst>
              <a:gd name="adj" fmla="val 30000"/>
            </a:avLst>
          </a:prstGeom>
          <a:solidFill xmlns:a="http://schemas.openxmlformats.org/drawingml/2006/main">
            <a:srgbClr val="FFF0E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CF5A953-A59E-4C4E-AA3B-756A268CCE86}"/>
              </a:ext>
            </a:extLst>
          </p:cNvPr>
          <p:cNvSpPr>
            <a:spLocks xmlns:a="http://schemas.openxmlformats.org/drawingml/2006/main" noGrp="1"/>
          </p:cNvSpPr>
          <p:nvPr/>
        </p:nvSpPr>
        <p:spPr>
          <a:xfrm xmlns:a="http://schemas.openxmlformats.org/drawingml/2006/main">
            <a:off x="876300" y="5781675"/>
            <a:ext cx="9772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E94B2A"/>
                </a:solidFill>
                <a:latin typeface="Helvetica Neue"/>
                <a:ea typeface="Helvetica Neue"/>
                <a:cs typeface="Helvetica Neue"/>
              </a:defRPr>
            </a:pPr>
            <a:r>
              <a:rPr sz="975" b="1">
                <a:solidFill>
                  <a:srgbClr val="E94B2A"/>
                </a:solidFill>
                <a:latin typeface="Helvetica Neue"/>
                <a:ea typeface="Helvetica Neue"/>
                <a:cs typeface="Helvetica Neue"/>
              </a:rPr>
              <a:t>Confidence describes evidence quality, never the model’s feelings.</a:t>
            </a:r>
          </a:p>
        </p:txBody>
      </p:sp>
    </p:spTree>
    <p:extLst>
      <p:ext uri="{BB962C8B-B14F-4D97-AF65-F5344CB8AC3E}">
        <p14:creationId xmlns:p14="http://schemas.microsoft.com/office/powerpoint/2010/main" val="1031933448"/>
      </p:ext>
    </p:extLst>
  </p:cSld>
</p:sld>
</file>

<file path=ppt/slides/slide8.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8A26BECD-87A4-4EA9-B83A-2C3F3C09A1E0}"/>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TRADEOFFS</a:t>
            </a:r>
          </a:p>
        </p:txBody>
      </p:sp>
      <p:sp>
        <p:nvSpPr>
          <p:cNvPr id="2" name="">
            <a:extLst xmlns:a="http://schemas.openxmlformats.org/drawingml/2006/main">
              <a:ext uri="{FF2B5EF4-FFF2-40B4-BE49-F238E27FC236}">
                <a16:creationId xmlns:a16="http://schemas.microsoft.com/office/drawing/2014/main" id="{402A4D09-2887-42BB-A103-8273C28E09A0}"/>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022E8694-B2B1-4765-B375-64F8298A3F89}"/>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BB566B5C-9E78-4871-90C6-AF6375871292}"/>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The first version stays deliberately narrow</a:t>
            </a:r>
          </a:p>
        </p:txBody>
      </p:sp>
      <p:sp>
        <p:nvSpPr>
          <p:cNvPr id="5" name="">
            <a:extLst xmlns:a="http://schemas.openxmlformats.org/drawingml/2006/main">
              <a:ext uri="{FF2B5EF4-FFF2-40B4-BE49-F238E27FC236}">
                <a16:creationId xmlns:a16="http://schemas.microsoft.com/office/drawing/2014/main" id="{061BAE82-10B7-4F02-A405-1DB829A11A20}"/>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case-study scope remains primary. Prototype evidence is supplemental.</a:t>
            </a:r>
          </a:p>
        </p:txBody>
      </p:sp>
      <p:sp>
        <p:nvSpPr>
          <p:cNvPr id="6" name="">
            <a:extLst xmlns:a="http://schemas.openxmlformats.org/drawingml/2006/main">
              <a:ext uri="{FF2B5EF4-FFF2-40B4-BE49-F238E27FC236}">
                <a16:creationId xmlns:a16="http://schemas.microsoft.com/office/drawing/2014/main" id="{B8D041BB-320B-405F-93A2-2FD6AA911C20}"/>
              </a:ext>
            </a:extLst>
          </p:cNvPr>
          <p:cNvSpPr>
            <a:spLocks xmlns:a="http://schemas.openxmlformats.org/drawingml/2006/main" noGrp="1"/>
          </p:cNvSpPr>
          <p:nvPr/>
        </p:nvSpPr>
        <p:spPr>
          <a:xfrm xmlns:a="http://schemas.openxmlformats.org/drawingml/2006/main">
            <a:off x="666750" y="20097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F8A5D"/>
                </a:solidFill>
                <a:latin typeface="Helvetica Neue"/>
                <a:ea typeface="Helvetica Neue"/>
                <a:cs typeface="Helvetica Neue"/>
              </a:defRPr>
            </a:pPr>
            <a:r>
              <a:rPr sz="900" b="1">
                <a:solidFill>
                  <a:srgbClr val="2F8A5D"/>
                </a:solidFill>
                <a:latin typeface="Helvetica Neue"/>
                <a:ea typeface="Helvetica Neue"/>
                <a:cs typeface="Helvetica Neue"/>
              </a:rPr>
              <a:t>IN THE CASE STUDY</a:t>
            </a:r>
          </a:p>
        </p:txBody>
      </p:sp>
      <p:sp>
        <p:nvSpPr>
          <p:cNvPr id="7" name="">
            <a:extLst xmlns:a="http://schemas.openxmlformats.org/drawingml/2006/main">
              <a:ext uri="{FF2B5EF4-FFF2-40B4-BE49-F238E27FC236}">
                <a16:creationId xmlns:a16="http://schemas.microsoft.com/office/drawing/2014/main" id="{7A998CFF-4BA8-4650-B3E1-CF4CA6805B44}"/>
              </a:ext>
            </a:extLst>
          </p:cNvPr>
          <p:cNvSpPr>
            <a:spLocks xmlns:a="http://schemas.openxmlformats.org/drawingml/2006/main" noGrp="1"/>
          </p:cNvSpPr>
          <p:nvPr/>
        </p:nvSpPr>
        <p:spPr>
          <a:xfrm xmlns:a="http://schemas.openxmlformats.org/drawingml/2006/main">
            <a:off x="6381750" y="20097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LEFT OUT OF THE FIRST VERSION</a:t>
            </a:r>
          </a:p>
        </p:txBody>
      </p:sp>
      <p:sp>
        <p:nvSpPr>
          <p:cNvPr id="8" name="">
            <a:extLst xmlns:a="http://schemas.openxmlformats.org/drawingml/2006/main">
              <a:ext uri="{FF2B5EF4-FFF2-40B4-BE49-F238E27FC236}">
                <a16:creationId xmlns:a16="http://schemas.microsoft.com/office/drawing/2014/main" id="{4892AA05-1022-4964-9FF0-74BCA4AB4237}"/>
              </a:ext>
            </a:extLst>
          </p:cNvPr>
          <p:cNvSpPr>
            <a:spLocks xmlns:a="http://schemas.openxmlformats.org/drawingml/2006/main" noGrp="1"/>
          </p:cNvSpPr>
          <p:nvPr/>
        </p:nvSpPr>
        <p:spPr>
          <a:xfrm xmlns:a="http://schemas.openxmlformats.org/drawingml/2006/main">
            <a:off x="666750" y="24098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9" name="">
            <a:extLst xmlns:a="http://schemas.openxmlformats.org/drawingml/2006/main">
              <a:ext uri="{FF2B5EF4-FFF2-40B4-BE49-F238E27FC236}">
                <a16:creationId xmlns:a16="http://schemas.microsoft.com/office/drawing/2014/main" id="{456E4A17-4AC0-4EFD-817D-CF3FDA39C983}"/>
              </a:ext>
            </a:extLst>
          </p:cNvPr>
          <p:cNvSpPr>
            <a:spLocks xmlns:a="http://schemas.openxmlformats.org/drawingml/2006/main" noGrp="1"/>
          </p:cNvSpPr>
          <p:nvPr/>
        </p:nvSpPr>
        <p:spPr>
          <a:xfrm xmlns:a="http://schemas.openxmlformats.org/drawingml/2006/main">
            <a:off x="838200" y="25431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67408A0-C4DA-42B1-80B1-4D44FB89615C}"/>
              </a:ext>
            </a:extLst>
          </p:cNvPr>
          <p:cNvSpPr>
            <a:spLocks xmlns:a="http://schemas.openxmlformats.org/drawingml/2006/main" noGrp="1"/>
          </p:cNvSpPr>
          <p:nvPr/>
        </p:nvSpPr>
        <p:spPr>
          <a:xfrm xmlns:a="http://schemas.openxmlformats.org/drawingml/2006/main">
            <a:off x="838200" y="25146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930A9D5C-767E-482E-836C-D6169192D4D2}"/>
              </a:ext>
            </a:extLst>
          </p:cNvPr>
          <p:cNvSpPr>
            <a:spLocks xmlns:a="http://schemas.openxmlformats.org/drawingml/2006/main" noGrp="1"/>
          </p:cNvSpPr>
          <p:nvPr/>
        </p:nvSpPr>
        <p:spPr>
          <a:xfrm xmlns:a="http://schemas.openxmlformats.org/drawingml/2006/main">
            <a:off x="1123950" y="24860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Users, decisions, and discovery questions</a:t>
            </a:r>
          </a:p>
        </p:txBody>
      </p:sp>
      <p:sp>
        <p:nvSpPr>
          <p:cNvPr id="12" name="">
            <a:extLst xmlns:a="http://schemas.openxmlformats.org/drawingml/2006/main">
              <a:ext uri="{FF2B5EF4-FFF2-40B4-BE49-F238E27FC236}">
                <a16:creationId xmlns:a16="http://schemas.microsoft.com/office/drawing/2014/main" id="{EEB31ADD-8931-40D4-B0FB-2AFDF598CF9E}"/>
              </a:ext>
            </a:extLst>
          </p:cNvPr>
          <p:cNvSpPr>
            <a:spLocks xmlns:a="http://schemas.openxmlformats.org/drawingml/2006/main" noGrp="1"/>
          </p:cNvSpPr>
          <p:nvPr/>
        </p:nvSpPr>
        <p:spPr>
          <a:xfrm xmlns:a="http://schemas.openxmlformats.org/drawingml/2006/main">
            <a:off x="666750" y="296227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7D5C41A9-9CCD-416D-AB30-9A05A10E7C13}"/>
              </a:ext>
            </a:extLst>
          </p:cNvPr>
          <p:cNvSpPr>
            <a:spLocks xmlns:a="http://schemas.openxmlformats.org/drawingml/2006/main" noGrp="1"/>
          </p:cNvSpPr>
          <p:nvPr/>
        </p:nvSpPr>
        <p:spPr>
          <a:xfrm xmlns:a="http://schemas.openxmlformats.org/drawingml/2006/main">
            <a:off x="838200" y="309562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964D9CA-A0BE-49DF-9A55-648A4569866B}"/>
              </a:ext>
            </a:extLst>
          </p:cNvPr>
          <p:cNvSpPr>
            <a:spLocks xmlns:a="http://schemas.openxmlformats.org/drawingml/2006/main" noGrp="1"/>
          </p:cNvSpPr>
          <p:nvPr/>
        </p:nvSpPr>
        <p:spPr>
          <a:xfrm xmlns:a="http://schemas.openxmlformats.org/drawingml/2006/main">
            <a:off x="838200" y="30670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5" name="">
            <a:extLst xmlns:a="http://schemas.openxmlformats.org/drawingml/2006/main">
              <a:ext uri="{FF2B5EF4-FFF2-40B4-BE49-F238E27FC236}">
                <a16:creationId xmlns:a16="http://schemas.microsoft.com/office/drawing/2014/main" id="{691BB532-975A-448C-8834-36034DC7BA58}"/>
              </a:ext>
            </a:extLst>
          </p:cNvPr>
          <p:cNvSpPr>
            <a:spLocks xmlns:a="http://schemas.openxmlformats.org/drawingml/2006/main" noGrp="1"/>
          </p:cNvSpPr>
          <p:nvPr/>
        </p:nvSpPr>
        <p:spPr>
          <a:xfrm xmlns:a="http://schemas.openxmlformats.org/drawingml/2006/main">
            <a:off x="1123950" y="30384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Source authority and access map</a:t>
            </a:r>
          </a:p>
        </p:txBody>
      </p:sp>
      <p:sp>
        <p:nvSpPr>
          <p:cNvPr id="16" name="">
            <a:extLst xmlns:a="http://schemas.openxmlformats.org/drawingml/2006/main">
              <a:ext uri="{FF2B5EF4-FFF2-40B4-BE49-F238E27FC236}">
                <a16:creationId xmlns:a16="http://schemas.microsoft.com/office/drawing/2014/main" id="{61DF4921-7883-43DD-B464-403005F0B259}"/>
              </a:ext>
            </a:extLst>
          </p:cNvPr>
          <p:cNvSpPr>
            <a:spLocks xmlns:a="http://schemas.openxmlformats.org/drawingml/2006/main" noGrp="1"/>
          </p:cNvSpPr>
          <p:nvPr/>
        </p:nvSpPr>
        <p:spPr>
          <a:xfrm xmlns:a="http://schemas.openxmlformats.org/drawingml/2006/main">
            <a:off x="666750" y="35147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5286870E-F0F7-449F-9024-E2921C5203A2}"/>
              </a:ext>
            </a:extLst>
          </p:cNvPr>
          <p:cNvSpPr>
            <a:spLocks xmlns:a="http://schemas.openxmlformats.org/drawingml/2006/main" noGrp="1"/>
          </p:cNvSpPr>
          <p:nvPr/>
        </p:nvSpPr>
        <p:spPr>
          <a:xfrm xmlns:a="http://schemas.openxmlformats.org/drawingml/2006/main">
            <a:off x="838200" y="36480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458C324-0A9E-46D3-9569-357AEA5A6D5F}"/>
              </a:ext>
            </a:extLst>
          </p:cNvPr>
          <p:cNvSpPr>
            <a:spLocks xmlns:a="http://schemas.openxmlformats.org/drawingml/2006/main" noGrp="1"/>
          </p:cNvSpPr>
          <p:nvPr/>
        </p:nvSpPr>
        <p:spPr>
          <a:xfrm xmlns:a="http://schemas.openxmlformats.org/drawingml/2006/main">
            <a:off x="838200" y="36195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F53A0898-777D-4019-922D-D580A1DDFEB4}"/>
              </a:ext>
            </a:extLst>
          </p:cNvPr>
          <p:cNvSpPr>
            <a:spLocks xmlns:a="http://schemas.openxmlformats.org/drawingml/2006/main" noGrp="1"/>
          </p:cNvSpPr>
          <p:nvPr/>
        </p:nvSpPr>
        <p:spPr>
          <a:xfrm xmlns:a="http://schemas.openxmlformats.org/drawingml/2006/main">
            <a:off x="1123950" y="35909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End-to-end system proposal</a:t>
            </a:r>
          </a:p>
        </p:txBody>
      </p:sp>
      <p:sp>
        <p:nvSpPr>
          <p:cNvPr id="20" name="">
            <a:extLst xmlns:a="http://schemas.openxmlformats.org/drawingml/2006/main">
              <a:ext uri="{FF2B5EF4-FFF2-40B4-BE49-F238E27FC236}">
                <a16:creationId xmlns:a16="http://schemas.microsoft.com/office/drawing/2014/main" id="{2F6A9A27-C212-43D9-A42A-3CB3F0A8DDAF}"/>
              </a:ext>
            </a:extLst>
          </p:cNvPr>
          <p:cNvSpPr>
            <a:spLocks xmlns:a="http://schemas.openxmlformats.org/drawingml/2006/main" noGrp="1"/>
          </p:cNvSpPr>
          <p:nvPr/>
        </p:nvSpPr>
        <p:spPr>
          <a:xfrm xmlns:a="http://schemas.openxmlformats.org/drawingml/2006/main">
            <a:off x="666750" y="406717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1" name="">
            <a:extLst xmlns:a="http://schemas.openxmlformats.org/drawingml/2006/main">
              <a:ext uri="{FF2B5EF4-FFF2-40B4-BE49-F238E27FC236}">
                <a16:creationId xmlns:a16="http://schemas.microsoft.com/office/drawing/2014/main" id="{5904598D-5F7E-46A7-B67C-F6DC45B29B33}"/>
              </a:ext>
            </a:extLst>
          </p:cNvPr>
          <p:cNvSpPr>
            <a:spLocks xmlns:a="http://schemas.openxmlformats.org/drawingml/2006/main" noGrp="1"/>
          </p:cNvSpPr>
          <p:nvPr/>
        </p:nvSpPr>
        <p:spPr>
          <a:xfrm xmlns:a="http://schemas.openxmlformats.org/drawingml/2006/main">
            <a:off x="838200" y="420052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8A60690-AEA0-4564-819C-B2B6EE20BBC4}"/>
              </a:ext>
            </a:extLst>
          </p:cNvPr>
          <p:cNvSpPr>
            <a:spLocks xmlns:a="http://schemas.openxmlformats.org/drawingml/2006/main" noGrp="1"/>
          </p:cNvSpPr>
          <p:nvPr/>
        </p:nvSpPr>
        <p:spPr>
          <a:xfrm xmlns:a="http://schemas.openxmlformats.org/drawingml/2006/main">
            <a:off x="838200" y="41719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63A12C52-5583-4B1F-9797-9A8F2DAC072F}"/>
              </a:ext>
            </a:extLst>
          </p:cNvPr>
          <p:cNvSpPr>
            <a:spLocks xmlns:a="http://schemas.openxmlformats.org/drawingml/2006/main" noGrp="1"/>
          </p:cNvSpPr>
          <p:nvPr/>
        </p:nvSpPr>
        <p:spPr>
          <a:xfrm xmlns:a="http://schemas.openxmlformats.org/drawingml/2006/main">
            <a:off x="1123950" y="41433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Visible failure and refusal states</a:t>
            </a:r>
          </a:p>
        </p:txBody>
      </p:sp>
      <p:sp>
        <p:nvSpPr>
          <p:cNvPr id="24" name="">
            <a:extLst xmlns:a="http://schemas.openxmlformats.org/drawingml/2006/main">
              <a:ext uri="{FF2B5EF4-FFF2-40B4-BE49-F238E27FC236}">
                <a16:creationId xmlns:a16="http://schemas.microsoft.com/office/drawing/2014/main" id="{2F1E396D-9836-48DA-A000-E460CAEA34DB}"/>
              </a:ext>
            </a:extLst>
          </p:cNvPr>
          <p:cNvSpPr>
            <a:spLocks xmlns:a="http://schemas.openxmlformats.org/drawingml/2006/main" noGrp="1"/>
          </p:cNvSpPr>
          <p:nvPr/>
        </p:nvSpPr>
        <p:spPr>
          <a:xfrm xmlns:a="http://schemas.openxmlformats.org/drawingml/2006/main">
            <a:off x="666750" y="46196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7261DD84-3F68-4E3C-BB70-4CD8EA654762}"/>
              </a:ext>
            </a:extLst>
          </p:cNvPr>
          <p:cNvSpPr>
            <a:spLocks xmlns:a="http://schemas.openxmlformats.org/drawingml/2006/main" noGrp="1"/>
          </p:cNvSpPr>
          <p:nvPr/>
        </p:nvSpPr>
        <p:spPr>
          <a:xfrm xmlns:a="http://schemas.openxmlformats.org/drawingml/2006/main">
            <a:off x="838200" y="47529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CADBCF0-3D51-40D7-B411-47015D8F8346}"/>
              </a:ext>
            </a:extLst>
          </p:cNvPr>
          <p:cNvSpPr>
            <a:spLocks xmlns:a="http://schemas.openxmlformats.org/drawingml/2006/main" noGrp="1"/>
          </p:cNvSpPr>
          <p:nvPr/>
        </p:nvSpPr>
        <p:spPr>
          <a:xfrm xmlns:a="http://schemas.openxmlformats.org/drawingml/2006/main">
            <a:off x="838200" y="47244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27" name="">
            <a:extLst xmlns:a="http://schemas.openxmlformats.org/drawingml/2006/main">
              <a:ext uri="{FF2B5EF4-FFF2-40B4-BE49-F238E27FC236}">
                <a16:creationId xmlns:a16="http://schemas.microsoft.com/office/drawing/2014/main" id="{9EDF649D-CF15-422F-8DAC-2DB1BA1B7094}"/>
              </a:ext>
            </a:extLst>
          </p:cNvPr>
          <p:cNvSpPr>
            <a:spLocks xmlns:a="http://schemas.openxmlformats.org/drawingml/2006/main" noGrp="1"/>
          </p:cNvSpPr>
          <p:nvPr/>
        </p:nvSpPr>
        <p:spPr>
          <a:xfrm xmlns:a="http://schemas.openxmlformats.org/drawingml/2006/main">
            <a:off x="1123950" y="46958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Phased validation and implementation gates</a:t>
            </a:r>
          </a:p>
        </p:txBody>
      </p:sp>
      <p:sp>
        <p:nvSpPr>
          <p:cNvPr id="28" name="">
            <a:extLst xmlns:a="http://schemas.openxmlformats.org/drawingml/2006/main">
              <a:ext uri="{FF2B5EF4-FFF2-40B4-BE49-F238E27FC236}">
                <a16:creationId xmlns:a16="http://schemas.microsoft.com/office/drawing/2014/main" id="{15091D5F-EA51-41E0-BBF8-CCA23450CC48}"/>
              </a:ext>
            </a:extLst>
          </p:cNvPr>
          <p:cNvSpPr>
            <a:spLocks xmlns:a="http://schemas.openxmlformats.org/drawingml/2006/main" noGrp="1"/>
          </p:cNvSpPr>
          <p:nvPr/>
        </p:nvSpPr>
        <p:spPr>
          <a:xfrm xmlns:a="http://schemas.openxmlformats.org/drawingml/2006/main">
            <a:off x="6381750" y="24098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A850CFC3-DC9F-4AA3-9090-A314BFEC60E1}"/>
              </a:ext>
            </a:extLst>
          </p:cNvPr>
          <p:cNvSpPr>
            <a:spLocks xmlns:a="http://schemas.openxmlformats.org/drawingml/2006/main" noGrp="1"/>
          </p:cNvSpPr>
          <p:nvPr/>
        </p:nvSpPr>
        <p:spPr>
          <a:xfrm xmlns:a="http://schemas.openxmlformats.org/drawingml/2006/main">
            <a:off x="6553200" y="25431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0ECB82F-9AE2-4E1C-B49F-FAE312279F00}"/>
              </a:ext>
            </a:extLst>
          </p:cNvPr>
          <p:cNvSpPr>
            <a:spLocks xmlns:a="http://schemas.openxmlformats.org/drawingml/2006/main" noGrp="1"/>
          </p:cNvSpPr>
          <p:nvPr/>
        </p:nvSpPr>
        <p:spPr>
          <a:xfrm xmlns:a="http://schemas.openxmlformats.org/drawingml/2006/main">
            <a:off x="6553200" y="25146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1" name="">
            <a:extLst xmlns:a="http://schemas.openxmlformats.org/drawingml/2006/main">
              <a:ext uri="{FF2B5EF4-FFF2-40B4-BE49-F238E27FC236}">
                <a16:creationId xmlns:a16="http://schemas.microsoft.com/office/drawing/2014/main" id="{ABF2DA37-1944-4BF3-A9DE-5283A0D0B125}"/>
              </a:ext>
            </a:extLst>
          </p:cNvPr>
          <p:cNvSpPr>
            <a:spLocks xmlns:a="http://schemas.openxmlformats.org/drawingml/2006/main" noGrp="1"/>
          </p:cNvSpPr>
          <p:nvPr/>
        </p:nvSpPr>
        <p:spPr>
          <a:xfrm xmlns:a="http://schemas.openxmlformats.org/drawingml/2006/main">
            <a:off x="6838950" y="24860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Live Foundation connectors</a:t>
            </a:r>
          </a:p>
        </p:txBody>
      </p:sp>
      <p:sp>
        <p:nvSpPr>
          <p:cNvPr id="32" name="">
            <a:extLst xmlns:a="http://schemas.openxmlformats.org/drawingml/2006/main">
              <a:ext uri="{FF2B5EF4-FFF2-40B4-BE49-F238E27FC236}">
                <a16:creationId xmlns:a16="http://schemas.microsoft.com/office/drawing/2014/main" id="{58CF8827-5673-47B0-9365-0ECE166515A9}"/>
              </a:ext>
            </a:extLst>
          </p:cNvPr>
          <p:cNvSpPr>
            <a:spLocks xmlns:a="http://schemas.openxmlformats.org/drawingml/2006/main" noGrp="1"/>
          </p:cNvSpPr>
          <p:nvPr/>
        </p:nvSpPr>
        <p:spPr>
          <a:xfrm xmlns:a="http://schemas.openxmlformats.org/drawingml/2006/main">
            <a:off x="6381750" y="296227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33" name="">
            <a:extLst xmlns:a="http://schemas.openxmlformats.org/drawingml/2006/main">
              <a:ext uri="{FF2B5EF4-FFF2-40B4-BE49-F238E27FC236}">
                <a16:creationId xmlns:a16="http://schemas.microsoft.com/office/drawing/2014/main" id="{F18C5684-4827-44A3-92C0-24464EC4E861}"/>
              </a:ext>
            </a:extLst>
          </p:cNvPr>
          <p:cNvSpPr>
            <a:spLocks xmlns:a="http://schemas.openxmlformats.org/drawingml/2006/main" noGrp="1"/>
          </p:cNvSpPr>
          <p:nvPr/>
        </p:nvSpPr>
        <p:spPr>
          <a:xfrm xmlns:a="http://schemas.openxmlformats.org/drawingml/2006/main">
            <a:off x="6553200" y="309562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5874E90-2002-4584-AE84-76510D45E87A}"/>
              </a:ext>
            </a:extLst>
          </p:cNvPr>
          <p:cNvSpPr>
            <a:spLocks xmlns:a="http://schemas.openxmlformats.org/drawingml/2006/main" noGrp="1"/>
          </p:cNvSpPr>
          <p:nvPr/>
        </p:nvSpPr>
        <p:spPr>
          <a:xfrm xmlns:a="http://schemas.openxmlformats.org/drawingml/2006/main">
            <a:off x="6553200" y="30670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5" name="">
            <a:extLst xmlns:a="http://schemas.openxmlformats.org/drawingml/2006/main">
              <a:ext uri="{FF2B5EF4-FFF2-40B4-BE49-F238E27FC236}">
                <a16:creationId xmlns:a16="http://schemas.microsoft.com/office/drawing/2014/main" id="{1BA11381-B8CD-436F-AF61-57E859E0EDDB}"/>
              </a:ext>
            </a:extLst>
          </p:cNvPr>
          <p:cNvSpPr>
            <a:spLocks xmlns:a="http://schemas.openxmlformats.org/drawingml/2006/main" noGrp="1"/>
          </p:cNvSpPr>
          <p:nvPr/>
        </p:nvSpPr>
        <p:spPr>
          <a:xfrm xmlns:a="http://schemas.openxmlformats.org/drawingml/2006/main">
            <a:off x="6838950" y="30384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Production identity and deployment</a:t>
            </a:r>
          </a:p>
        </p:txBody>
      </p:sp>
      <p:sp>
        <p:nvSpPr>
          <p:cNvPr id="36" name="">
            <a:extLst xmlns:a="http://schemas.openxmlformats.org/drawingml/2006/main">
              <a:ext uri="{FF2B5EF4-FFF2-40B4-BE49-F238E27FC236}">
                <a16:creationId xmlns:a16="http://schemas.microsoft.com/office/drawing/2014/main" id="{46CFE675-13F3-4A8A-9EC4-AC35874BC4BC}"/>
              </a:ext>
            </a:extLst>
          </p:cNvPr>
          <p:cNvSpPr>
            <a:spLocks xmlns:a="http://schemas.openxmlformats.org/drawingml/2006/main" noGrp="1"/>
          </p:cNvSpPr>
          <p:nvPr/>
        </p:nvSpPr>
        <p:spPr>
          <a:xfrm xmlns:a="http://schemas.openxmlformats.org/drawingml/2006/main">
            <a:off x="6381750" y="35147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37" name="">
            <a:extLst xmlns:a="http://schemas.openxmlformats.org/drawingml/2006/main">
              <a:ext uri="{FF2B5EF4-FFF2-40B4-BE49-F238E27FC236}">
                <a16:creationId xmlns:a16="http://schemas.microsoft.com/office/drawing/2014/main" id="{7D461875-1A94-402A-976F-0AC280E816EF}"/>
              </a:ext>
            </a:extLst>
          </p:cNvPr>
          <p:cNvSpPr>
            <a:spLocks xmlns:a="http://schemas.openxmlformats.org/drawingml/2006/main" noGrp="1"/>
          </p:cNvSpPr>
          <p:nvPr/>
        </p:nvSpPr>
        <p:spPr>
          <a:xfrm xmlns:a="http://schemas.openxmlformats.org/drawingml/2006/main">
            <a:off x="6553200" y="36480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F5E8878-C539-4523-BAC0-3605B5CF2F36}"/>
              </a:ext>
            </a:extLst>
          </p:cNvPr>
          <p:cNvSpPr>
            <a:spLocks xmlns:a="http://schemas.openxmlformats.org/drawingml/2006/main" noGrp="1"/>
          </p:cNvSpPr>
          <p:nvPr/>
        </p:nvSpPr>
        <p:spPr>
          <a:xfrm xmlns:a="http://schemas.openxmlformats.org/drawingml/2006/main">
            <a:off x="6553200" y="36195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9" name="">
            <a:extLst xmlns:a="http://schemas.openxmlformats.org/drawingml/2006/main">
              <a:ext uri="{FF2B5EF4-FFF2-40B4-BE49-F238E27FC236}">
                <a16:creationId xmlns:a16="http://schemas.microsoft.com/office/drawing/2014/main" id="{F36BC625-74AD-494F-B46A-B58FB7989CF4}"/>
              </a:ext>
            </a:extLst>
          </p:cNvPr>
          <p:cNvSpPr>
            <a:spLocks xmlns:a="http://schemas.openxmlformats.org/drawingml/2006/main" noGrp="1"/>
          </p:cNvSpPr>
          <p:nvPr/>
        </p:nvSpPr>
        <p:spPr>
          <a:xfrm xmlns:a="http://schemas.openxmlformats.org/drawingml/2006/main">
            <a:off x="6838950" y="35909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Automated scoring or grant decisions</a:t>
            </a:r>
          </a:p>
        </p:txBody>
      </p:sp>
      <p:sp>
        <p:nvSpPr>
          <p:cNvPr id="40" name="">
            <a:extLst xmlns:a="http://schemas.openxmlformats.org/drawingml/2006/main">
              <a:ext uri="{FF2B5EF4-FFF2-40B4-BE49-F238E27FC236}">
                <a16:creationId xmlns:a16="http://schemas.microsoft.com/office/drawing/2014/main" id="{B3F1BCAC-6E43-4409-99F8-09FF0850AFDA}"/>
              </a:ext>
            </a:extLst>
          </p:cNvPr>
          <p:cNvSpPr>
            <a:spLocks xmlns:a="http://schemas.openxmlformats.org/drawingml/2006/main" noGrp="1"/>
          </p:cNvSpPr>
          <p:nvPr/>
        </p:nvSpPr>
        <p:spPr>
          <a:xfrm xmlns:a="http://schemas.openxmlformats.org/drawingml/2006/main">
            <a:off x="6381750" y="406717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41" name="">
            <a:extLst xmlns:a="http://schemas.openxmlformats.org/drawingml/2006/main">
              <a:ext uri="{FF2B5EF4-FFF2-40B4-BE49-F238E27FC236}">
                <a16:creationId xmlns:a16="http://schemas.microsoft.com/office/drawing/2014/main" id="{FDFE83D8-62A3-4301-9CD9-05310109D30F}"/>
              </a:ext>
            </a:extLst>
          </p:cNvPr>
          <p:cNvSpPr>
            <a:spLocks xmlns:a="http://schemas.openxmlformats.org/drawingml/2006/main" noGrp="1"/>
          </p:cNvSpPr>
          <p:nvPr/>
        </p:nvSpPr>
        <p:spPr>
          <a:xfrm xmlns:a="http://schemas.openxmlformats.org/drawingml/2006/main">
            <a:off x="6553200" y="420052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26C6BCD-E525-411A-A4E2-359C38662600}"/>
              </a:ext>
            </a:extLst>
          </p:cNvPr>
          <p:cNvSpPr>
            <a:spLocks xmlns:a="http://schemas.openxmlformats.org/drawingml/2006/main" noGrp="1"/>
          </p:cNvSpPr>
          <p:nvPr/>
        </p:nvSpPr>
        <p:spPr>
          <a:xfrm xmlns:a="http://schemas.openxmlformats.org/drawingml/2006/main">
            <a:off x="6553200" y="41719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43" name="">
            <a:extLst xmlns:a="http://schemas.openxmlformats.org/drawingml/2006/main">
              <a:ext uri="{FF2B5EF4-FFF2-40B4-BE49-F238E27FC236}">
                <a16:creationId xmlns:a16="http://schemas.microsoft.com/office/drawing/2014/main" id="{37677A30-258C-4489-A2EB-3B619474F6F6}"/>
              </a:ext>
            </a:extLst>
          </p:cNvPr>
          <p:cNvSpPr>
            <a:spLocks xmlns:a="http://schemas.openxmlformats.org/drawingml/2006/main" noGrp="1"/>
          </p:cNvSpPr>
          <p:nvPr/>
        </p:nvSpPr>
        <p:spPr>
          <a:xfrm xmlns:a="http://schemas.openxmlformats.org/drawingml/2006/main">
            <a:off x="6838950" y="4143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Writeback actions into source systems</a:t>
            </a:r>
          </a:p>
        </p:txBody>
      </p:sp>
      <p:sp>
        <p:nvSpPr>
          <p:cNvPr id="44" name="">
            <a:extLst xmlns:a="http://schemas.openxmlformats.org/drawingml/2006/main">
              <a:ext uri="{FF2B5EF4-FFF2-40B4-BE49-F238E27FC236}">
                <a16:creationId xmlns:a16="http://schemas.microsoft.com/office/drawing/2014/main" id="{4A54325B-FF4D-465F-86A8-EE65524107B5}"/>
              </a:ext>
            </a:extLst>
          </p:cNvPr>
          <p:cNvSpPr>
            <a:spLocks xmlns:a="http://schemas.openxmlformats.org/drawingml/2006/main" noGrp="1"/>
          </p:cNvSpPr>
          <p:nvPr/>
        </p:nvSpPr>
        <p:spPr>
          <a:xfrm xmlns:a="http://schemas.openxmlformats.org/drawingml/2006/main">
            <a:off x="6381750" y="46196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45" name="">
            <a:extLst xmlns:a="http://schemas.openxmlformats.org/drawingml/2006/main">
              <a:ext uri="{FF2B5EF4-FFF2-40B4-BE49-F238E27FC236}">
                <a16:creationId xmlns:a16="http://schemas.microsoft.com/office/drawing/2014/main" id="{C7CF03DE-1D27-4A1D-B762-5AC4C0130A09}"/>
              </a:ext>
            </a:extLst>
          </p:cNvPr>
          <p:cNvSpPr>
            <a:spLocks xmlns:a="http://schemas.openxmlformats.org/drawingml/2006/main" noGrp="1"/>
          </p:cNvSpPr>
          <p:nvPr/>
        </p:nvSpPr>
        <p:spPr>
          <a:xfrm xmlns:a="http://schemas.openxmlformats.org/drawingml/2006/main">
            <a:off x="6553200" y="47529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994062D5-A1A1-49A4-BBFC-5CA10BB1104F}"/>
              </a:ext>
            </a:extLst>
          </p:cNvPr>
          <p:cNvSpPr>
            <a:spLocks xmlns:a="http://schemas.openxmlformats.org/drawingml/2006/main" noGrp="1"/>
          </p:cNvSpPr>
          <p:nvPr/>
        </p:nvSpPr>
        <p:spPr>
          <a:xfrm xmlns:a="http://schemas.openxmlformats.org/drawingml/2006/main">
            <a:off x="6553200" y="47244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47" name="">
            <a:extLst xmlns:a="http://schemas.openxmlformats.org/drawingml/2006/main">
              <a:ext uri="{FF2B5EF4-FFF2-40B4-BE49-F238E27FC236}">
                <a16:creationId xmlns:a16="http://schemas.microsoft.com/office/drawing/2014/main" id="{3F14E7E1-6778-4A14-8A94-3C8D9C83D40E}"/>
              </a:ext>
            </a:extLst>
          </p:cNvPr>
          <p:cNvSpPr>
            <a:spLocks xmlns:a="http://schemas.openxmlformats.org/drawingml/2006/main" noGrp="1"/>
          </p:cNvSpPr>
          <p:nvPr/>
        </p:nvSpPr>
        <p:spPr>
          <a:xfrm xmlns:a="http://schemas.openxmlformats.org/drawingml/2006/main">
            <a:off x="6838950" y="46958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A product for other foundations</a:t>
            </a:r>
          </a:p>
        </p:txBody>
      </p:sp>
      <p:sp>
        <p:nvSpPr>
          <p:cNvPr id="48" name="">
            <a:extLst xmlns:a="http://schemas.openxmlformats.org/drawingml/2006/main">
              <a:ext uri="{FF2B5EF4-FFF2-40B4-BE49-F238E27FC236}">
                <a16:creationId xmlns:a16="http://schemas.microsoft.com/office/drawing/2014/main" id="{0A8A7953-F218-42A1-BE9D-E007FF431215}"/>
              </a:ext>
            </a:extLst>
          </p:cNvPr>
          <p:cNvSpPr>
            <a:spLocks xmlns:a="http://schemas.openxmlformats.org/drawingml/2006/main" noGrp="1"/>
          </p:cNvSpPr>
          <p:nvPr/>
        </p:nvSpPr>
        <p:spPr>
          <a:xfrm xmlns:a="http://schemas.openxmlformats.org/drawingml/2006/main">
            <a:off x="666750" y="5467350"/>
            <a:ext cx="10191750" cy="609600"/>
          </a:xfrm>
          <a:prstGeom xmlns:a="http://schemas.openxmlformats.org/drawingml/2006/main" prst="roundRect">
            <a:avLst>
              <a:gd name="adj" fmla="val 25000"/>
            </a:avLst>
          </a:prstGeom>
          <a:solidFill xmlns:a="http://schemas.openxmlformats.org/drawingml/2006/main">
            <a:srgbClr val="25152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C594BABF-C6F8-4DA5-B2A0-B09274855538}"/>
              </a:ext>
            </a:extLst>
          </p:cNvPr>
          <p:cNvSpPr>
            <a:spLocks xmlns:a="http://schemas.openxmlformats.org/drawingml/2006/main" noGrp="1"/>
          </p:cNvSpPr>
          <p:nvPr/>
        </p:nvSpPr>
        <p:spPr>
          <a:xfrm xmlns:a="http://schemas.openxmlformats.org/drawingml/2006/main">
            <a:off x="876300" y="5619750"/>
            <a:ext cx="9772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The fictional prototype tests assumptions. It does not expand the requested scope or commit the team to this design.</a:t>
            </a:r>
          </a:p>
        </p:txBody>
      </p:sp>
    </p:spTree>
    <p:extLst>
      <p:ext uri="{BB962C8B-B14F-4D97-AF65-F5344CB8AC3E}">
        <p14:creationId xmlns:p14="http://schemas.microsoft.com/office/powerpoint/2010/main" val="113040704"/>
      </p:ext>
    </p:extLst>
  </p:cSld>
</p:sld>
</file>

<file path=ppt/slides/slide9.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E68A2744-795B-4DFA-BA4A-1F5B2BBBE9A9}"/>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IMPLEMENTATION</a:t>
            </a:r>
          </a:p>
        </p:txBody>
      </p:sp>
      <p:sp>
        <p:nvSpPr>
          <p:cNvPr id="2" name="">
            <a:extLst xmlns:a="http://schemas.openxmlformats.org/drawingml/2006/main">
              <a:ext uri="{FF2B5EF4-FFF2-40B4-BE49-F238E27FC236}">
                <a16:creationId xmlns:a16="http://schemas.microsoft.com/office/drawing/2014/main" id="{4F6DDEE8-D0D1-47C6-9B6C-8F2B7EADF48B}"/>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ED219906-57F0-4007-B642-F5A54F9B7362}"/>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93FDFF5B-E107-4E11-99A4-23F15F86976B}"/>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A sequence for validating the proposal</a:t>
            </a:r>
          </a:p>
        </p:txBody>
      </p:sp>
      <p:sp>
        <p:nvSpPr>
          <p:cNvPr id="5" name="">
            <a:extLst xmlns:a="http://schemas.openxmlformats.org/drawingml/2006/main">
              <a:ext uri="{FF2B5EF4-FFF2-40B4-BE49-F238E27FC236}">
                <a16:creationId xmlns:a16="http://schemas.microsoft.com/office/drawing/2014/main" id="{6DCD3385-A8D7-43EF-A162-A313218D2F5C}"/>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Each phase begins only after the team confirms the prior assumptions.</a:t>
            </a:r>
          </a:p>
        </p:txBody>
      </p:sp>
      <p:sp>
        <p:nvSpPr>
          <p:cNvPr id="6" name="">
            <a:extLst xmlns:a="http://schemas.openxmlformats.org/drawingml/2006/main">
              <a:ext uri="{FF2B5EF4-FFF2-40B4-BE49-F238E27FC236}">
                <a16:creationId xmlns:a16="http://schemas.microsoft.com/office/drawing/2014/main" id="{B339146C-C3A9-4A7C-9BF4-41E84B02F8BA}"/>
              </a:ext>
            </a:extLst>
          </p:cNvPr>
          <p:cNvSpPr>
            <a:spLocks xmlns:a="http://schemas.openxmlformats.org/drawingml/2006/main" noGrp="1"/>
          </p:cNvSpPr>
          <p:nvPr/>
        </p:nvSpPr>
        <p:spPr>
          <a:xfrm xmlns:a="http://schemas.openxmlformats.org/drawingml/2006/main">
            <a:off x="6667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81F729FB-A26F-41BB-B8E9-9D714BDF54FE}"/>
              </a:ext>
            </a:extLst>
          </p:cNvPr>
          <p:cNvSpPr>
            <a:spLocks xmlns:a="http://schemas.openxmlformats.org/drawingml/2006/main" noGrp="1"/>
          </p:cNvSpPr>
          <p:nvPr/>
        </p:nvSpPr>
        <p:spPr>
          <a:xfrm xmlns:a="http://schemas.openxmlformats.org/drawingml/2006/main">
            <a:off x="8572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DA864302-103E-4391-A75E-7D1F43FA03BB}"/>
              </a:ext>
            </a:extLst>
          </p:cNvPr>
          <p:cNvSpPr>
            <a:spLocks xmlns:a="http://schemas.openxmlformats.org/drawingml/2006/main" noGrp="1"/>
          </p:cNvSpPr>
          <p:nvPr/>
        </p:nvSpPr>
        <p:spPr>
          <a:xfrm xmlns:a="http://schemas.openxmlformats.org/drawingml/2006/main">
            <a:off x="8572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DISCOVER</a:t>
            </a:r>
          </a:p>
        </p:txBody>
      </p:sp>
      <p:sp>
        <p:nvSpPr>
          <p:cNvPr id="9" name="">
            <a:extLst xmlns:a="http://schemas.openxmlformats.org/drawingml/2006/main">
              <a:ext uri="{FF2B5EF4-FFF2-40B4-BE49-F238E27FC236}">
                <a16:creationId xmlns:a16="http://schemas.microsoft.com/office/drawing/2014/main" id="{8CF6005C-7D96-432C-8E15-4C1551FCF777}"/>
              </a:ext>
            </a:extLst>
          </p:cNvPr>
          <p:cNvSpPr>
            <a:spLocks xmlns:a="http://schemas.openxmlformats.org/drawingml/2006/main" noGrp="1"/>
          </p:cNvSpPr>
          <p:nvPr/>
        </p:nvSpPr>
        <p:spPr>
          <a:xfrm xmlns:a="http://schemas.openxmlformats.org/drawingml/2006/main">
            <a:off x="8572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TEAM CONFIRMS USE CASE</a:t>
            </a:r>
          </a:p>
        </p:txBody>
      </p:sp>
      <p:sp>
        <p:nvSpPr>
          <p:cNvPr id="10" name="">
            <a:extLst xmlns:a="http://schemas.openxmlformats.org/drawingml/2006/main">
              <a:ext uri="{FF2B5EF4-FFF2-40B4-BE49-F238E27FC236}">
                <a16:creationId xmlns:a16="http://schemas.microsoft.com/office/drawing/2014/main" id="{D6D44C8A-4E1D-4A78-A405-332EDE9B8F4B}"/>
              </a:ext>
            </a:extLst>
          </p:cNvPr>
          <p:cNvSpPr>
            <a:spLocks xmlns:a="http://schemas.openxmlformats.org/drawingml/2006/main" noGrp="1"/>
          </p:cNvSpPr>
          <p:nvPr/>
        </p:nvSpPr>
        <p:spPr>
          <a:xfrm xmlns:a="http://schemas.openxmlformats.org/drawingml/2006/main">
            <a:off x="8572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1" name="">
            <a:extLst xmlns:a="http://schemas.openxmlformats.org/drawingml/2006/main">
              <a:ext uri="{FF2B5EF4-FFF2-40B4-BE49-F238E27FC236}">
                <a16:creationId xmlns:a16="http://schemas.microsoft.com/office/drawing/2014/main" id="{179FE464-7E5C-4751-A308-16B237AD50B8}"/>
              </a:ext>
            </a:extLst>
          </p:cNvPr>
          <p:cNvSpPr>
            <a:spLocks xmlns:a="http://schemas.openxmlformats.org/drawingml/2006/main" noGrp="1"/>
          </p:cNvSpPr>
          <p:nvPr/>
        </p:nvSpPr>
        <p:spPr>
          <a:xfrm xmlns:a="http://schemas.openxmlformats.org/drawingml/2006/main">
            <a:off x="8572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Observe decisions, name owners, define gold questions</a:t>
            </a:r>
          </a:p>
        </p:txBody>
      </p:sp>
      <p:sp>
        <p:nvSpPr>
          <p:cNvPr id="12" name="">
            <a:extLst xmlns:a="http://schemas.openxmlformats.org/drawingml/2006/main">
              <a:ext uri="{FF2B5EF4-FFF2-40B4-BE49-F238E27FC236}">
                <a16:creationId xmlns:a16="http://schemas.microsoft.com/office/drawing/2014/main" id="{41C26108-64E6-4356-AE4D-53B77176D5B9}"/>
              </a:ext>
            </a:extLst>
          </p:cNvPr>
          <p:cNvSpPr>
            <a:spLocks xmlns:a="http://schemas.openxmlformats.org/drawingml/2006/main" noGrp="1"/>
          </p:cNvSpPr>
          <p:nvPr/>
        </p:nvSpPr>
        <p:spPr>
          <a:xfrm xmlns:a="http://schemas.openxmlformats.org/drawingml/2006/main">
            <a:off x="3295650" y="2190750"/>
            <a:ext cx="2381250" cy="2000250"/>
          </a:xfrm>
          <a:prstGeom xmlns:a="http://schemas.openxmlformats.org/drawingml/2006/main" prst="roundRect">
            <a:avLst>
              <a:gd name="adj" fmla="val 8571"/>
            </a:avLst>
          </a:prstGeom>
          <a:solidFill xmlns:a="http://schemas.openxmlformats.org/drawingml/2006/main">
            <a:srgbClr val="F0EBF7"/>
          </a:solidFill>
          <a:ln xmlns:a="http://schemas.openxmlformats.org/drawingml/2006/main" w="9525">
            <a:solidFill>
              <a:srgbClr val="7657B3"/>
            </a:solidFill>
          </a:ln>
        </p:spPr>
      </p:sp>
      <p:sp>
        <p:nvSpPr>
          <p:cNvPr id="13" name="">
            <a:extLst xmlns:a="http://schemas.openxmlformats.org/drawingml/2006/main">
              <a:ext uri="{FF2B5EF4-FFF2-40B4-BE49-F238E27FC236}">
                <a16:creationId xmlns:a16="http://schemas.microsoft.com/office/drawing/2014/main" id="{F87319F2-F651-41F7-973C-B1A55A883CF7}"/>
              </a:ext>
            </a:extLst>
          </p:cNvPr>
          <p:cNvSpPr>
            <a:spLocks xmlns:a="http://schemas.openxmlformats.org/drawingml/2006/main" noGrp="1"/>
          </p:cNvSpPr>
          <p:nvPr/>
        </p:nvSpPr>
        <p:spPr>
          <a:xfrm xmlns:a="http://schemas.openxmlformats.org/drawingml/2006/main">
            <a:off x="34861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7657B3"/>
                </a:solidFill>
                <a:latin typeface="Helvetica Neue"/>
                <a:ea typeface="Helvetica Neue"/>
                <a:cs typeface="Helvetica Neue"/>
              </a:defRPr>
            </a:pPr>
            <a:r>
              <a:rPr sz="1350" b="1">
                <a:solidFill>
                  <a:srgbClr val="7657B3"/>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28C13D0D-1D32-4948-88D5-9D70C206B29F}"/>
              </a:ext>
            </a:extLst>
          </p:cNvPr>
          <p:cNvSpPr>
            <a:spLocks xmlns:a="http://schemas.openxmlformats.org/drawingml/2006/main" noGrp="1"/>
          </p:cNvSpPr>
          <p:nvPr/>
        </p:nvSpPr>
        <p:spPr>
          <a:xfrm xmlns:a="http://schemas.openxmlformats.org/drawingml/2006/main">
            <a:off x="34861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DESIGN</a:t>
            </a:r>
          </a:p>
        </p:txBody>
      </p:sp>
      <p:sp>
        <p:nvSpPr>
          <p:cNvPr id="15" name="">
            <a:extLst xmlns:a="http://schemas.openxmlformats.org/drawingml/2006/main">
              <a:ext uri="{FF2B5EF4-FFF2-40B4-BE49-F238E27FC236}">
                <a16:creationId xmlns:a16="http://schemas.microsoft.com/office/drawing/2014/main" id="{77F56CDF-17F0-4ED0-905A-73AB7E395923}"/>
              </a:ext>
            </a:extLst>
          </p:cNvPr>
          <p:cNvSpPr>
            <a:spLocks xmlns:a="http://schemas.openxmlformats.org/drawingml/2006/main" noGrp="1"/>
          </p:cNvSpPr>
          <p:nvPr/>
        </p:nvSpPr>
        <p:spPr>
          <a:xfrm xmlns:a="http://schemas.openxmlformats.org/drawingml/2006/main">
            <a:off x="34861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ACCESS MAP APPROVED</a:t>
            </a:r>
          </a:p>
        </p:txBody>
      </p:sp>
      <p:sp>
        <p:nvSpPr>
          <p:cNvPr id="16" name="">
            <a:extLst xmlns:a="http://schemas.openxmlformats.org/drawingml/2006/main">
              <a:ext uri="{FF2B5EF4-FFF2-40B4-BE49-F238E27FC236}">
                <a16:creationId xmlns:a16="http://schemas.microsoft.com/office/drawing/2014/main" id="{69F58565-7C6B-407D-8CEE-B2ACC0532AB2}"/>
              </a:ext>
            </a:extLst>
          </p:cNvPr>
          <p:cNvSpPr>
            <a:spLocks xmlns:a="http://schemas.openxmlformats.org/drawingml/2006/main" noGrp="1"/>
          </p:cNvSpPr>
          <p:nvPr/>
        </p:nvSpPr>
        <p:spPr>
          <a:xfrm xmlns:a="http://schemas.openxmlformats.org/drawingml/2006/main">
            <a:off x="34861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E123C631-1160-46C3-B9D7-3F8B6BC4BAA8}"/>
              </a:ext>
            </a:extLst>
          </p:cNvPr>
          <p:cNvSpPr>
            <a:spLocks xmlns:a="http://schemas.openxmlformats.org/drawingml/2006/main" noGrp="1"/>
          </p:cNvSpPr>
          <p:nvPr/>
        </p:nvSpPr>
        <p:spPr>
          <a:xfrm xmlns:a="http://schemas.openxmlformats.org/drawingml/2006/main">
            <a:off x="34861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Source contracts, permission model, deletion behavior</a:t>
            </a:r>
          </a:p>
        </p:txBody>
      </p:sp>
      <p:sp>
        <p:nvSpPr>
          <p:cNvPr id="18" name="">
            <a:extLst xmlns:a="http://schemas.openxmlformats.org/drawingml/2006/main">
              <a:ext uri="{FF2B5EF4-FFF2-40B4-BE49-F238E27FC236}">
                <a16:creationId xmlns:a16="http://schemas.microsoft.com/office/drawing/2014/main" id="{F818B861-735F-490F-8F8D-4687ED5007F0}"/>
              </a:ext>
            </a:extLst>
          </p:cNvPr>
          <p:cNvSpPr>
            <a:spLocks xmlns:a="http://schemas.openxmlformats.org/drawingml/2006/main" noGrp="1"/>
          </p:cNvSpPr>
          <p:nvPr/>
        </p:nvSpPr>
        <p:spPr>
          <a:xfrm xmlns:a="http://schemas.openxmlformats.org/drawingml/2006/main">
            <a:off x="59245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9D7F9B8E-4962-467A-8752-0A2AA5319983}"/>
              </a:ext>
            </a:extLst>
          </p:cNvPr>
          <p:cNvSpPr>
            <a:spLocks xmlns:a="http://schemas.openxmlformats.org/drawingml/2006/main" noGrp="1"/>
          </p:cNvSpPr>
          <p:nvPr/>
        </p:nvSpPr>
        <p:spPr>
          <a:xfrm xmlns:a="http://schemas.openxmlformats.org/drawingml/2006/main">
            <a:off x="61150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CCC37077-0045-488E-B50E-166C9D1A2130}"/>
              </a:ext>
            </a:extLst>
          </p:cNvPr>
          <p:cNvSpPr>
            <a:spLocks xmlns:a="http://schemas.openxmlformats.org/drawingml/2006/main" noGrp="1"/>
          </p:cNvSpPr>
          <p:nvPr/>
        </p:nvSpPr>
        <p:spPr>
          <a:xfrm xmlns:a="http://schemas.openxmlformats.org/drawingml/2006/main">
            <a:off x="61150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PILOT</a:t>
            </a:r>
          </a:p>
        </p:txBody>
      </p:sp>
      <p:sp>
        <p:nvSpPr>
          <p:cNvPr id="21" name="">
            <a:extLst xmlns:a="http://schemas.openxmlformats.org/drawingml/2006/main">
              <a:ext uri="{FF2B5EF4-FFF2-40B4-BE49-F238E27FC236}">
                <a16:creationId xmlns:a16="http://schemas.microsoft.com/office/drawing/2014/main" id="{1386B9EC-6F2A-438F-B900-15BA614A82E2}"/>
              </a:ext>
            </a:extLst>
          </p:cNvPr>
          <p:cNvSpPr>
            <a:spLocks xmlns:a="http://schemas.openxmlformats.org/drawingml/2006/main" noGrp="1"/>
          </p:cNvSpPr>
          <p:nvPr/>
        </p:nvSpPr>
        <p:spPr>
          <a:xfrm xmlns:a="http://schemas.openxmlformats.org/drawingml/2006/main">
            <a:off x="61150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SYNTHETIC TESTS PASS</a:t>
            </a:r>
          </a:p>
        </p:txBody>
      </p:sp>
      <p:sp>
        <p:nvSpPr>
          <p:cNvPr id="22" name="">
            <a:extLst xmlns:a="http://schemas.openxmlformats.org/drawingml/2006/main">
              <a:ext uri="{FF2B5EF4-FFF2-40B4-BE49-F238E27FC236}">
                <a16:creationId xmlns:a16="http://schemas.microsoft.com/office/drawing/2014/main" id="{FC281281-A756-44AD-B735-BA376D04A8AD}"/>
              </a:ext>
            </a:extLst>
          </p:cNvPr>
          <p:cNvSpPr>
            <a:spLocks xmlns:a="http://schemas.openxmlformats.org/drawingml/2006/main" noGrp="1"/>
          </p:cNvSpPr>
          <p:nvPr/>
        </p:nvSpPr>
        <p:spPr>
          <a:xfrm xmlns:a="http://schemas.openxmlformats.org/drawingml/2006/main">
            <a:off x="61150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3" name="">
            <a:extLst xmlns:a="http://schemas.openxmlformats.org/drawingml/2006/main">
              <a:ext uri="{FF2B5EF4-FFF2-40B4-BE49-F238E27FC236}">
                <a16:creationId xmlns:a16="http://schemas.microsoft.com/office/drawing/2014/main" id="{FCF93AF6-6FED-467B-9B6E-0AE7A49D01A3}"/>
              </a:ext>
            </a:extLst>
          </p:cNvPr>
          <p:cNvSpPr>
            <a:spLocks xmlns:a="http://schemas.openxmlformats.org/drawingml/2006/main" noGrp="1"/>
          </p:cNvSpPr>
          <p:nvPr/>
        </p:nvSpPr>
        <p:spPr>
          <a:xfrm xmlns:a="http://schemas.openxmlformats.org/drawingml/2006/main">
            <a:off x="61150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One source pair, cited answers, refusal behavior</a:t>
            </a:r>
          </a:p>
        </p:txBody>
      </p:sp>
      <p:sp>
        <p:nvSpPr>
          <p:cNvPr id="24" name="">
            <a:extLst xmlns:a="http://schemas.openxmlformats.org/drawingml/2006/main">
              <a:ext uri="{FF2B5EF4-FFF2-40B4-BE49-F238E27FC236}">
                <a16:creationId xmlns:a16="http://schemas.microsoft.com/office/drawing/2014/main" id="{DD1CB0FB-AF8C-4E1A-8750-932FBDFC72CA}"/>
              </a:ext>
            </a:extLst>
          </p:cNvPr>
          <p:cNvSpPr>
            <a:spLocks xmlns:a="http://schemas.openxmlformats.org/drawingml/2006/main" noGrp="1"/>
          </p:cNvSpPr>
          <p:nvPr/>
        </p:nvSpPr>
        <p:spPr>
          <a:xfrm xmlns:a="http://schemas.openxmlformats.org/drawingml/2006/main">
            <a:off x="85534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5D619E53-4A99-47F8-A893-9F5E3E610AF9}"/>
              </a:ext>
            </a:extLst>
          </p:cNvPr>
          <p:cNvSpPr>
            <a:spLocks xmlns:a="http://schemas.openxmlformats.org/drawingml/2006/main" noGrp="1"/>
          </p:cNvSpPr>
          <p:nvPr/>
        </p:nvSpPr>
        <p:spPr>
          <a:xfrm xmlns:a="http://schemas.openxmlformats.org/drawingml/2006/main">
            <a:off x="87439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4</a:t>
            </a:r>
          </a:p>
        </p:txBody>
      </p:sp>
      <p:sp>
        <p:nvSpPr>
          <p:cNvPr id="26" name="">
            <a:extLst xmlns:a="http://schemas.openxmlformats.org/drawingml/2006/main">
              <a:ext uri="{FF2B5EF4-FFF2-40B4-BE49-F238E27FC236}">
                <a16:creationId xmlns:a16="http://schemas.microsoft.com/office/drawing/2014/main" id="{7B74DC44-D2A3-47BE-961E-33C2F858B715}"/>
              </a:ext>
            </a:extLst>
          </p:cNvPr>
          <p:cNvSpPr>
            <a:spLocks xmlns:a="http://schemas.openxmlformats.org/drawingml/2006/main" noGrp="1"/>
          </p:cNvSpPr>
          <p:nvPr/>
        </p:nvSpPr>
        <p:spPr>
          <a:xfrm xmlns:a="http://schemas.openxmlformats.org/drawingml/2006/main">
            <a:off x="87439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DECIDE</a:t>
            </a:r>
          </a:p>
        </p:txBody>
      </p:sp>
      <p:sp>
        <p:nvSpPr>
          <p:cNvPr id="27" name="">
            <a:extLst xmlns:a="http://schemas.openxmlformats.org/drawingml/2006/main">
              <a:ext uri="{FF2B5EF4-FFF2-40B4-BE49-F238E27FC236}">
                <a16:creationId xmlns:a16="http://schemas.microsoft.com/office/drawing/2014/main" id="{C5BD8C87-8197-4E40-B8D8-290FA83CAAFF}"/>
              </a:ext>
            </a:extLst>
          </p:cNvPr>
          <p:cNvSpPr>
            <a:spLocks xmlns:a="http://schemas.openxmlformats.org/drawingml/2006/main" noGrp="1"/>
          </p:cNvSpPr>
          <p:nvPr/>
        </p:nvSpPr>
        <p:spPr>
          <a:xfrm xmlns:a="http://schemas.openxmlformats.org/drawingml/2006/main">
            <a:off x="87439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USERS REVIEW EVIDENCE</a:t>
            </a:r>
          </a:p>
        </p:txBody>
      </p:sp>
      <p:sp>
        <p:nvSpPr>
          <p:cNvPr id="28" name="">
            <a:extLst xmlns:a="http://schemas.openxmlformats.org/drawingml/2006/main">
              <a:ext uri="{FF2B5EF4-FFF2-40B4-BE49-F238E27FC236}">
                <a16:creationId xmlns:a16="http://schemas.microsoft.com/office/drawing/2014/main" id="{20C943C6-4A32-4A7B-8324-C51494AB2791}"/>
              </a:ext>
            </a:extLst>
          </p:cNvPr>
          <p:cNvSpPr>
            <a:spLocks xmlns:a="http://schemas.openxmlformats.org/drawingml/2006/main" noGrp="1"/>
          </p:cNvSpPr>
          <p:nvPr/>
        </p:nvSpPr>
        <p:spPr>
          <a:xfrm xmlns:a="http://schemas.openxmlformats.org/drawingml/2006/main">
            <a:off x="87439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B0448570-6BA6-4C72-9C05-F714EBE17F2F}"/>
              </a:ext>
            </a:extLst>
          </p:cNvPr>
          <p:cNvSpPr>
            <a:spLocks xmlns:a="http://schemas.openxmlformats.org/drawingml/2006/main" noGrp="1"/>
          </p:cNvSpPr>
          <p:nvPr/>
        </p:nvSpPr>
        <p:spPr>
          <a:xfrm xmlns:a="http://schemas.openxmlformats.org/drawingml/2006/main">
            <a:off x="87439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Measure accuracy, time saved, and trust before the next scope</a:t>
            </a:r>
          </a:p>
        </p:txBody>
      </p:sp>
      <p:sp>
        <p:nvSpPr>
          <p:cNvPr id="30" name="">
            <a:extLst xmlns:a="http://schemas.openxmlformats.org/drawingml/2006/main">
              <a:ext uri="{FF2B5EF4-FFF2-40B4-BE49-F238E27FC236}">
                <a16:creationId xmlns:a16="http://schemas.microsoft.com/office/drawing/2014/main" id="{A87AC669-BCB8-4C35-9E39-828BED9054FC}"/>
              </a:ext>
            </a:extLst>
          </p:cNvPr>
          <p:cNvSpPr>
            <a:spLocks xmlns:a="http://schemas.openxmlformats.org/drawingml/2006/main" noGrp="1"/>
          </p:cNvSpPr>
          <p:nvPr/>
        </p:nvSpPr>
        <p:spPr>
          <a:xfrm xmlns:a="http://schemas.openxmlformats.org/drawingml/2006/main">
            <a:off x="666750" y="4619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The collaboration model</a:t>
            </a:r>
          </a:p>
        </p:txBody>
      </p:sp>
      <p:sp>
        <p:nvSpPr>
          <p:cNvPr id="31" name="">
            <a:extLst xmlns:a="http://schemas.openxmlformats.org/drawingml/2006/main">
              <a:ext uri="{FF2B5EF4-FFF2-40B4-BE49-F238E27FC236}">
                <a16:creationId xmlns:a16="http://schemas.microsoft.com/office/drawing/2014/main" id="{1F533F04-3C0D-4EF5-9579-9ABF35A2C632}"/>
              </a:ext>
            </a:extLst>
          </p:cNvPr>
          <p:cNvSpPr>
            <a:spLocks xmlns:a="http://schemas.openxmlformats.org/drawingml/2006/main" noGrp="1"/>
          </p:cNvSpPr>
          <p:nvPr/>
        </p:nvSpPr>
        <p:spPr>
          <a:xfrm xmlns:a="http://schemas.openxmlformats.org/drawingml/2006/main">
            <a:off x="666750" y="4924425"/>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28"/>
          </a:bodyPr>
          <a:lstStyle xmlns:a="http://schemas.openxmlformats.org/drawingml/2006/main"/>
          <a:p xmlns:a="http://schemas.openxmlformats.org/drawingml/2006/main">
            <a:pPr>
              <a:defRPr sz="1800" b="1">
                <a:solidFill>
                  <a:srgbClr val="25152B"/>
                </a:solidFill>
                <a:latin typeface="Helvetica Neue"/>
                <a:ea typeface="Helvetica Neue"/>
                <a:cs typeface="Helvetica Neue"/>
              </a:defRPr>
            </a:pPr>
            <a:r>
              <a:rPr sz="1800" b="1">
                <a:solidFill>
                  <a:srgbClr val="25152B"/>
                </a:solidFill>
                <a:latin typeface="Helvetica Neue"/>
                <a:ea typeface="Helvetica Neue"/>
                <a:cs typeface="Helvetica Neue"/>
              </a:rPr>
              <a:t>Compass would support the team’s existing experiments and decisions. The people doing the work retain ownership of the workflow.</a:t>
            </a:r>
          </a:p>
        </p:txBody>
      </p:sp>
      <p:sp>
        <p:nvSpPr>
          <p:cNvPr id="32" name="">
            <a:extLst xmlns:a="http://schemas.openxmlformats.org/drawingml/2006/main">
              <a:ext uri="{FF2B5EF4-FFF2-40B4-BE49-F238E27FC236}">
                <a16:creationId xmlns:a16="http://schemas.microsoft.com/office/drawing/2014/main" id="{B8F13449-1DE4-4507-9BAF-259837B0044E}"/>
              </a:ext>
            </a:extLst>
          </p:cNvPr>
          <p:cNvSpPr>
            <a:spLocks xmlns:a="http://schemas.openxmlformats.org/drawingml/2006/main" noGrp="1"/>
          </p:cNvSpPr>
          <p:nvPr/>
        </p:nvSpPr>
        <p:spPr>
          <a:xfrm xmlns:a="http://schemas.openxmlformats.org/drawingml/2006/main">
            <a:off x="666750" y="55721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The team decides whether evidence supports a pilot, another design pass, or stopping the work.</a:t>
            </a:r>
          </a:p>
        </p:txBody>
      </p:sp>
    </p:spTree>
    <p:extLst>
      <p:ext uri="{BB962C8B-B14F-4D97-AF65-F5344CB8AC3E}">
        <p14:creationId xmlns:p14="http://schemas.microsoft.com/office/powerpoint/2010/main" val="17276627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2026-09-09T11:33:48.2320000Z</dcterms:created>
  <dcterms:modified xsi:type="dcterms:W3CDTF">2026-09-09T11:33:48.2320000Z</dcterms:modified>
</coreProperties>
</file>