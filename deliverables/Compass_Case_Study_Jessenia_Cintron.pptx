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71aa173531849c3" /><Relationship Type="http://schemas.openxmlformats.org/officeDocument/2006/relationships/extended-properties" Target="/docProps/app.xml" Id="R99631974c5ec4c86" /><Relationship Type="http://schemas.openxmlformats.org/officeDocument/2006/relationships/officeDocument" Target="/ppt/presentation.xml" Id="R61c6726b048d49aa" /></Relationships>
</file>

<file path=ppt/presentation.xml><?xml version="1.0" encoding="utf-8"?>
<p:presentation xmlns:p="http://schemas.openxmlformats.org/presentationml/2006/main">
  <p:sldMasterIdLst>
    <p:sldMasterId xmlns:r="http://schemas.openxmlformats.org/officeDocument/2006/relationships" id="2147483648" r:id="R19aac75ca06e4796"/>
  </p:sldMasterIdLst>
  <p:notesMasterIdLst>
    <p:notesMasterId xmlns:r="http://schemas.openxmlformats.org/officeDocument/2006/relationships" r:id="Re8fa21dff9784f7f"/>
  </p:notesMasterIdLst>
  <p:sldIdLst>
    <p:sldId xmlns:r="http://schemas.openxmlformats.org/officeDocument/2006/relationships" id="256" r:id="Rcb3d6e5d1f264eb7"/>
    <p:sldId xmlns:r="http://schemas.openxmlformats.org/officeDocument/2006/relationships" id="257" r:id="Re39e78ddbf3f4743"/>
    <p:sldId xmlns:r="http://schemas.openxmlformats.org/officeDocument/2006/relationships" id="258" r:id="Rcafb550a919e4eaf"/>
    <p:sldId xmlns:r="http://schemas.openxmlformats.org/officeDocument/2006/relationships" id="259" r:id="Ra4dd6b042b4f4072"/>
    <p:sldId xmlns:r="http://schemas.openxmlformats.org/officeDocument/2006/relationships" id="260" r:id="R89a51c1cc6e04254"/>
    <p:sldId xmlns:r="http://schemas.openxmlformats.org/officeDocument/2006/relationships" id="261" r:id="Rf6521e9840864d67"/>
    <p:sldId xmlns:r="http://schemas.openxmlformats.org/officeDocument/2006/relationships" id="262" r:id="R5cd92ba0d1564b92"/>
    <p:sldId xmlns:r="http://schemas.openxmlformats.org/officeDocument/2006/relationships" id="263" r:id="R2c24caaa4af7478e"/>
    <p:sldId xmlns:r="http://schemas.openxmlformats.org/officeDocument/2006/relationships" id="264" r:id="R0ff09d167596467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b961a65e744708" /><Relationship Type="http://schemas.openxmlformats.org/officeDocument/2006/relationships/slideMaster" Target="/ppt/slideMasters/slideMaster1.xml" Id="R19aac75ca06e4796" /><Relationship Type="http://schemas.openxmlformats.org/officeDocument/2006/relationships/notesMaster" Target="/ppt/notesMasters/notesMaster1.xml" Id="Re8fa21dff9784f7f" /><Relationship Type="http://schemas.openxmlformats.org/officeDocument/2006/relationships/presProps" Target="/ppt/presProps.xml" Id="Raadd9b10e91449da" /><Relationship Type="http://schemas.openxmlformats.org/officeDocument/2006/relationships/tableStyles" Target="/ppt/tableStyles.xml" Id="R0be7048201954487" /><Relationship Type="http://schemas.openxmlformats.org/officeDocument/2006/relationships/slide" Target="/ppt/slides/slide1.xml" Id="Rcb3d6e5d1f264eb7" /><Relationship Type="http://schemas.openxmlformats.org/officeDocument/2006/relationships/slide" Target="/ppt/slides/slide2.xml" Id="Re39e78ddbf3f4743" /><Relationship Type="http://schemas.openxmlformats.org/officeDocument/2006/relationships/slide" Target="/ppt/slides/slide3.xml" Id="Rcafb550a919e4eaf" /><Relationship Type="http://schemas.openxmlformats.org/officeDocument/2006/relationships/slide" Target="/ppt/slides/slide4.xml" Id="Ra4dd6b042b4f4072" /><Relationship Type="http://schemas.openxmlformats.org/officeDocument/2006/relationships/slide" Target="/ppt/slides/slide5.xml" Id="R89a51c1cc6e04254" /><Relationship Type="http://schemas.openxmlformats.org/officeDocument/2006/relationships/slide" Target="/ppt/slides/slide6.xml" Id="Rf6521e9840864d67" /><Relationship Type="http://schemas.openxmlformats.org/officeDocument/2006/relationships/slide" Target="/ppt/slides/slide7.xml" Id="R5cd92ba0d1564b92" /><Relationship Type="http://schemas.openxmlformats.org/officeDocument/2006/relationships/slide" Target="/ppt/slides/slide8.xml" Id="R2c24caaa4af7478e" /><Relationship Type="http://schemas.openxmlformats.org/officeDocument/2006/relationships/slide" Target="/ppt/slides/slide9.xml" Id="R0ff09d16759646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e8b5fc49d048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088f53d67942fd" /><Relationship Type="http://schemas.openxmlformats.org/officeDocument/2006/relationships/notesMaster" Target="/ppt/notesMasters/notesMaster1.xml" Id="R6e0f89d4c16f48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09b737456c4bad" /><Relationship Type="http://schemas.openxmlformats.org/officeDocument/2006/relationships/notesMaster" Target="/ppt/notesMasters/notesMaster1.xml" Id="R6bbec26f227447c8"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6c1cb8233e484b" /><Relationship Type="http://schemas.openxmlformats.org/officeDocument/2006/relationships/notesMaster" Target="/ppt/notesMasters/notesMaster1.xml" Id="R9eea66f856a644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69b10661814e65" /><Relationship Type="http://schemas.openxmlformats.org/officeDocument/2006/relationships/notesMaster" Target="/ppt/notesMasters/notesMaster1.xml" Id="Rbfde5d6cd18d44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9fda0021954bdb" /><Relationship Type="http://schemas.openxmlformats.org/officeDocument/2006/relationships/notesMaster" Target="/ppt/notesMasters/notesMaster1.xml" Id="R3b4c607cfd164f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44df9845184654" /><Relationship Type="http://schemas.openxmlformats.org/officeDocument/2006/relationships/notesMaster" Target="/ppt/notesMasters/notesMaster1.xml" Id="Ra9a1120a260142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b3cd67faca2f4b9a" /><Relationship Type="http://schemas.openxmlformats.org/officeDocument/2006/relationships/notesMaster" Target="/ppt/notesMasters/notesMaster1.xml" Id="Ra05055d18deb40c2" /></Relationships>
</file>

<file path=ppt/notesSlides/_rels/notesSlide8.xml.rels>&#65279;<?xml version="1.0" encoding="utf-8"?><Relationships xmlns="http://schemas.openxmlformats.org/package/2006/relationships"><Relationship Type="http://schemas.openxmlformats.org/officeDocument/2006/relationships/slide" Target="/ppt/slides/slide8.xml" Id="Rce62de1d5ce1481c" /><Relationship Type="http://schemas.openxmlformats.org/officeDocument/2006/relationships/notesMaster" Target="/ppt/notesMasters/notesMaster1.xml" Id="Rb0ac0c4d70a049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2d4f7790a2420e" /><Relationship Type="http://schemas.openxmlformats.org/officeDocument/2006/relationships/notesMaster" Target="/ppt/notesMasters/notesMaster1.xml" Id="Ra500b7cc698d43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designed Compass around one rule: if a program officer cannot open the evidence behind a sentence, Compass should not say it. I will show the decision problem, the product, the system behind it, and the boundaries that make the first release safe and useful.</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systems are not four copies of the same truth. GivingData should own grant transactions. Drive carries narrative evidence. Airtable carries flexible relationship context. Zoom captures decisions in motion. Before synthesizing, Compass has to preserve those roles.</a:t>
            </a:r>
          </a:p>
          <a:p xmlns:a="http://schemas.openxmlformats.org/drawingml/2006/main">
            <a:r>
              <a:t/>
            </a:r>
          </a:p>
          <a:p xmlns:a="http://schemas.openxmlformats.org/drawingml/2006/main">
            <a:r>
              <a:t>Sources:</a:t>
            </a:r>
          </a:p>
          <a:p xmlns:a="http://schemas.openxmlformats.org/drawingml/2006/main">
            <a:r>
              <a:t>https://knowledgebase.givingdata.com/data-structure</a:t>
            </a:r>
          </a:p>
          <a:p xmlns:a="http://schemas.openxmlformats.org/drawingml/2006/main">
            <a:r>
              <a:t>https://developers.google.com/workspace/drive/api/guides/about-files</a:t>
            </a:r>
          </a:p>
          <a:p xmlns:a="http://schemas.openxmlformats.org/drawingml/2006/main">
            <a:r>
              <a:t>https://support.airtable.com/articles/6292134965-getting-started-with-airtable-s-web-api</a:t>
            </a:r>
          </a:p>
          <a:p xmlns:a="http://schemas.openxmlformats.org/drawingml/2006/main">
            <a:r>
              <a:t>https://support.zoom.com/hc/en/article?id=zm_kb&amp;sysparm_article=KB0060329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would not begin with the model. I would observe actual review and strategy workflows, then name the highest-value recurring questions. In parallel, I would map joins, definitions, owners, permissions, and exclusions. This creates the gold question set and data contracts that the build can be evaluated against.</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user experience I would test. The answer leads with a plain-language synthesis, then shows exactly what supports it. Coverage says what Compass searched, not that the corpus is complete. The evidence-gap box matters most: the tool helps a program officer see what still requires judgment or a grantee conversation. I would click the prototype now and open one citation.</a:t>
            </a:r>
          </a:p>
          <a:p xmlns:a="http://schemas.openxmlformats.org/drawingml/2006/main">
            <a:r>
              <a:t/>
            </a:r>
          </a:p>
          <a:p xmlns:a="http://schemas.openxmlformats.org/drawingml/2006/main">
            <a:r>
              <a:t>Sources:</a:t>
            </a:r>
          </a:p>
          <a:p xmlns:a="http://schemas.openxmlformats.org/drawingml/2006/main">
            <a:r>
              <a:t>https://compass-gitlab-foundation.jesseniatriumph.chatgpt.site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connector begins with a contract for scope, owner, refresh, retention, and permissions. I preserve the raw object and lineage, then resolve only the minimum canonical entities. Retrieval combines exact structured filters with keyword and semantic search. The model receives permitted evidence and a strict answer contract. Feedback joins the evaluation set.</a:t>
            </a:r>
          </a:p>
          <a:p xmlns:a="http://schemas.openxmlformats.org/drawingml/2006/main">
            <a:r>
              <a:t/>
            </a:r>
          </a:p>
          <a:p xmlns:a="http://schemas.openxmlformats.org/drawingml/2006/main">
            <a:r>
              <a:t>Sources:</a:t>
            </a:r>
          </a:p>
          <a:p xmlns:a="http://schemas.openxmlformats.org/drawingml/2006/main">
            <a:r>
              <a:t>https://developers.google.com/workspace/drive/api/guides/manage-sharing</a:t>
            </a:r>
          </a:p>
          <a:p xmlns:a="http://schemas.openxmlformats.org/drawingml/2006/main">
            <a:r>
              <a:t>https://knowledgebase.givingdata.com/custom-fields</a:t>
            </a:r>
          </a:p>
          <a:p xmlns:a="http://schemas.openxmlformats.org/drawingml/2006/main">
            <a:r>
              <a:t>https://support.airtable.com/articles/7735693959-managing-api-call-limits-in-airtable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Permissions cannot rely on a prompt such as “do not reveal confidential data.” Identity filters the retrieval candidates before any text enters the model context, and the product rechecks access before opening a citation. Retrieved reports and chat are also untrusted input. This addresses the prompt-injection and sensitive-disclosure risks that OWASP ranks among the most serious LLM application risks.</a:t>
            </a:r>
          </a:p>
          <a:p xmlns:a="http://schemas.openxmlformats.org/drawingml/2006/main">
            <a:r>
              <a:t/>
            </a:r>
          </a:p>
          <a:p xmlns:a="http://schemas.openxmlformats.org/drawingml/2006/main">
            <a:r>
              <a:t>Sources:</a:t>
            </a:r>
          </a:p>
          <a:p xmlns:a="http://schemas.openxmlformats.org/drawingml/2006/main">
            <a:r>
              <a:t>https://cheatsheetseries.owasp.org/cheatsheets/RAG_Security_Cheat_Sheet.html</a:t>
            </a:r>
          </a:p>
          <a:p xmlns:a="http://schemas.openxmlformats.org/drawingml/2006/main">
            <a:r>
              <a:t>https://www.nist.gov/publications/artificial-intelligence-risk-management-framework-generative-artificial-intelligence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designed the failure state as carefully as the happy path. A permission problem stops the answer. A data conflict appears with both values and an owner. Missing chat history appears as a coverage gap. Low evidence produces an abstention. The label “confidence” should describe coverage, source agreement, and evaluation results, not the model’s self-reported certainty.</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would rather prove ten consequential questions with excellent citations and zero permission leaks than index five years of content and create false confidence. I would start with GivingData and one controlled Drive folder. Chat direct messages, automated scoring, write-back, broad access, and real-time sync wait until the team has evidence that the core workflow works.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roadmap advances only when a phase meets its exit criteria. By week six, the team has a real vertical slice and evidence about usefulness and safety. By week ten, the operating system is documented and monitored. Governed chat and wider access come last. This fits the Foundation’s CREDIT values and creates the foundations for the small product and engineering function described in the role. Compass prepares the evidence. People interpret it and own the decision.</a:t>
            </a:r>
          </a:p>
          <a:p xmlns:a="http://schemas.openxmlformats.org/drawingml/2006/main">
            <a:r>
              <a:t/>
            </a:r>
          </a:p>
          <a:p xmlns:a="http://schemas.openxmlformats.org/drawingml/2006/main">
            <a:r>
              <a:t>Sources:</a:t>
            </a:r>
          </a:p>
          <a:p xmlns:a="http://schemas.openxmlformats.org/drawingml/2006/main">
            <a:r>
              <a:t>https://www.gitlabfoundation.org/our-journey/transparency-in-action-understanding-gitlab-foundations-handbooknbsp</a:t>
            </a:r>
          </a:p>
          <a:p xmlns:a="http://schemas.openxmlformats.org/drawingml/2006/main">
            <a:r>
              <a:t>https://www.philanthropy.com/news/can-ai-make-grant-seeking-easier-and-grant-making-more-refined/</a:t>
            </a:r>
          </a:p>
          <a:p xmlns:a="http://schemas.openxmlformats.org/drawingml/2006/main">
            <a:r>
              <a:t>https://www.gitlabfoundation.org/team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e230a0b24247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ad1c271a084d49" /><Relationship Type="http://schemas.openxmlformats.org/officeDocument/2006/relationships/slideLayout" Target="/ppt/slideLayouts/slideLayout1.xml" Id="R2bbf18d5023d47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bf18d5023d47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094cd249ff94fe7" /><Relationship Type="http://schemas.openxmlformats.org/officeDocument/2006/relationships/image" Target="/ppt/media/image.png" Id="R67ceaba0c4ef4f45" /><Relationship Type="http://schemas.openxmlformats.org/officeDocument/2006/relationships/notesSlide" Target="/ppt/notesSlides/notesSlide1.xml" Id="Rbae16cf1f22844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ed3a6f8ff5e4516" /><Relationship Type="http://schemas.openxmlformats.org/officeDocument/2006/relationships/notesSlide" Target="/ppt/notesSlides/notesSlide2.xml" Id="R191ccbee32f741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e0242e087904640" /><Relationship Type="http://schemas.openxmlformats.org/officeDocument/2006/relationships/notesSlide" Target="/ppt/notesSlides/notesSlide3.xml" Id="R3f52ddd0b8df43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cab6ddfcf14efc" /><Relationship Type="http://schemas.openxmlformats.org/officeDocument/2006/relationships/notesSlide" Target="/ppt/notesSlides/notesSlide4.xml" Id="Rbac342e6551f49c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e65831734684ee5" /><Relationship Type="http://schemas.openxmlformats.org/officeDocument/2006/relationships/notesSlide" Target="/ppt/notesSlides/notesSlide5.xml" Id="Ra1a1a37171fb423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7e282499804ffa" /><Relationship Type="http://schemas.openxmlformats.org/officeDocument/2006/relationships/notesSlide" Target="/ppt/notesSlides/notesSlide6.xml" Id="R9aa742fd489f4b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3805d9bba1945ab" /><Relationship Type="http://schemas.openxmlformats.org/officeDocument/2006/relationships/notesSlide" Target="/ppt/notesSlides/notesSlide7.xml" Id="R73175c0816544a6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76fab1af6b94cdd" /><Relationship Type="http://schemas.openxmlformats.org/officeDocument/2006/relationships/notesSlide" Target="/ppt/notesSlides/notesSlide8.xml" Id="Rfd871c60ac98492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3772ca628d24ecc" /><Relationship Type="http://schemas.openxmlformats.org/officeDocument/2006/relationships/notesSlide" Target="/ppt/notesSlides/notesSlide9.xml" Id="R86c10777bc254cef" /></Relationships>
</file>

<file path=ppt/slides/slide1.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7ceaba0c4ef4f45"/>
          <a:srcRect xmlns:a="http://schemas.openxmlformats.org/drawingml/2006/main" l="3216" t="0" r="3216"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F290D14-6022-44B6-BEB1-539D81A2F4F1}"/>
              </a:ext>
            </a:extLst>
          </p:cNvPr>
          <p:cNvSpPr>
            <a:spLocks xmlns:a="http://schemas.openxmlformats.org/drawingml/2006/main" noGrp="1"/>
          </p:cNvSpPr>
          <p:nvPr/>
        </p:nvSpPr>
        <p:spPr>
          <a:xfrm xmlns:a="http://schemas.openxmlformats.org/drawingml/2006/main">
            <a:off x="514350" y="438150"/>
            <a:ext cx="1866900" cy="323850"/>
          </a:xfrm>
          <a:prstGeom xmlns:a="http://schemas.openxmlformats.org/drawingml/2006/main" prst="roundRect">
            <a:avLst>
              <a:gd name="adj" fmla="val 50000"/>
            </a:avLst>
          </a:prstGeom>
          <a:solidFill xmlns:a="http://schemas.openxmlformats.org/drawingml/2006/main">
            <a:srgbClr val="25152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0CFB0F9-674E-4B94-A8BB-E62628E91069}"/>
              </a:ext>
            </a:extLst>
          </p:cNvPr>
          <p:cNvSpPr>
            <a:spLocks xmlns:a="http://schemas.openxmlformats.org/drawingml/2006/main" noGrp="1"/>
          </p:cNvSpPr>
          <p:nvPr/>
        </p:nvSpPr>
        <p:spPr>
          <a:xfrm xmlns:a="http://schemas.openxmlformats.org/drawingml/2006/main">
            <a:off x="676275" y="495300"/>
            <a:ext cx="1543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GITLAB FOUNDATION</a:t>
            </a:r>
          </a:p>
        </p:txBody>
      </p:sp>
      <p:sp>
        <p:nvSpPr>
          <p:cNvPr id="4" name="">
            <a:extLst xmlns:a="http://schemas.openxmlformats.org/drawingml/2006/main">
              <a:ext uri="{FF2B5EF4-FFF2-40B4-BE49-F238E27FC236}">
                <a16:creationId xmlns:a16="http://schemas.microsoft.com/office/drawing/2014/main" id="{FD060708-DEAC-43F8-94B7-EDB77FF8140A}"/>
              </a:ext>
            </a:extLst>
          </p:cNvPr>
          <p:cNvSpPr>
            <a:spLocks xmlns:a="http://schemas.openxmlformats.org/drawingml/2006/main" noGrp="1"/>
          </p:cNvSpPr>
          <p:nvPr/>
        </p:nvSpPr>
        <p:spPr>
          <a:xfrm xmlns:a="http://schemas.openxmlformats.org/drawingml/2006/main">
            <a:off x="666750" y="623887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CASE STUDY  •  SEPT 2026</a:t>
            </a:r>
          </a:p>
        </p:txBody>
      </p:sp>
      <p:sp>
        <p:nvSpPr>
          <p:cNvPr id="5" name="">
            <a:extLst xmlns:a="http://schemas.openxmlformats.org/drawingml/2006/main">
              <a:ext uri="{FF2B5EF4-FFF2-40B4-BE49-F238E27FC236}">
                <a16:creationId xmlns:a16="http://schemas.microsoft.com/office/drawing/2014/main" id="{1633D65E-93FE-4697-AA0D-534296FA2AB0}"/>
              </a:ext>
            </a:extLst>
          </p:cNvPr>
          <p:cNvSpPr>
            <a:spLocks xmlns:a="http://schemas.openxmlformats.org/drawingml/2006/main" noGrp="1"/>
          </p:cNvSpPr>
          <p:nvPr/>
        </p:nvSpPr>
        <p:spPr>
          <a:xfrm xmlns:a="http://schemas.openxmlformats.org/drawingml/2006/main">
            <a:off x="9525000" y="6238875"/>
            <a:ext cx="1981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Jessenia Cintron</a:t>
            </a:r>
          </a:p>
        </p:txBody>
      </p:sp>
    </p:spTree>
    <p:extLst>
      <p:ext uri="{BB962C8B-B14F-4D97-AF65-F5344CB8AC3E}">
        <p14:creationId xmlns:p14="http://schemas.microsoft.com/office/powerpoint/2010/main" val="1274647555"/>
      </p:ext>
    </p:extLst>
  </p:cSld>
</p:sld>
</file>

<file path=ppt/slides/slide2.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CE2D662B-92F4-4433-AEB8-7B886F27CA31}"/>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THE DECISION PROBLEM</a:t>
            </a:r>
          </a:p>
        </p:txBody>
      </p:sp>
      <p:sp>
        <p:nvSpPr>
          <p:cNvPr id="2" name="">
            <a:extLst xmlns:a="http://schemas.openxmlformats.org/drawingml/2006/main">
              <a:ext uri="{FF2B5EF4-FFF2-40B4-BE49-F238E27FC236}">
                <a16:creationId xmlns:a16="http://schemas.microsoft.com/office/drawing/2014/main" id="{AD2D7F5A-DE9C-47EA-878B-8CD4E2D9265E}"/>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2C1B259D-0988-4370-A9D1-CD81BC26AF92}"/>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6C2518F3-140F-4D59-80CC-3E9C921244A1}"/>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Four systems hold different kinds of truth</a:t>
            </a:r>
          </a:p>
        </p:txBody>
      </p:sp>
      <p:sp>
        <p:nvSpPr>
          <p:cNvPr id="5" name="">
            <a:extLst xmlns:a="http://schemas.openxmlformats.org/drawingml/2006/main">
              <a:ext uri="{FF2B5EF4-FFF2-40B4-BE49-F238E27FC236}">
                <a16:creationId xmlns:a16="http://schemas.microsoft.com/office/drawing/2014/main" id="{D321E877-DA09-4232-82B7-1D86F424E1FE}"/>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A useful answer must connect the records without flattening their meaning.</a:t>
            </a:r>
          </a:p>
        </p:txBody>
      </p:sp>
      <p:sp>
        <p:nvSpPr>
          <p:cNvPr id="6" name="">
            <a:extLst xmlns:a="http://schemas.openxmlformats.org/drawingml/2006/main">
              <a:ext uri="{FF2B5EF4-FFF2-40B4-BE49-F238E27FC236}">
                <a16:creationId xmlns:a16="http://schemas.microsoft.com/office/drawing/2014/main" id="{DC315E76-D470-49AC-A150-6C19FEA1C344}"/>
              </a:ext>
            </a:extLst>
          </p:cNvPr>
          <p:cNvSpPr>
            <a:spLocks xmlns:a="http://schemas.openxmlformats.org/drawingml/2006/main" noGrp="1"/>
          </p:cNvSpPr>
          <p:nvPr/>
        </p:nvSpPr>
        <p:spPr>
          <a:xfrm xmlns:a="http://schemas.openxmlformats.org/drawingml/2006/main">
            <a:off x="666750" y="2152650"/>
            <a:ext cx="2476500" cy="2324100"/>
          </a:xfrm>
          <a:prstGeom xmlns:a="http://schemas.openxmlformats.org/drawingml/2006/main" prst="roundRect">
            <a:avLst>
              <a:gd name="adj" fmla="val 7377"/>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4F1CA0D1-8ED8-4FDD-BE21-C2B350F17A30}"/>
              </a:ext>
            </a:extLst>
          </p:cNvPr>
          <p:cNvSpPr>
            <a:spLocks xmlns:a="http://schemas.openxmlformats.org/drawingml/2006/main" noGrp="1"/>
          </p:cNvSpPr>
          <p:nvPr/>
        </p:nvSpPr>
        <p:spPr>
          <a:xfrm xmlns:a="http://schemas.openxmlformats.org/drawingml/2006/main">
            <a:off x="666750" y="2152650"/>
            <a:ext cx="2476500" cy="85725"/>
          </a:xfrm>
          <a:prstGeom xmlns:a="http://schemas.openxmlformats.org/drawingml/2006/main" prst="roundRect">
            <a:avLst>
              <a:gd name="adj" fmla="val 44444"/>
            </a:avLst>
          </a:prstGeom>
          <a:solidFill xmlns:a="http://schemas.openxmlformats.org/drawingml/2006/main">
            <a:srgbClr val="2D67A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4D218C1-D064-4171-AB64-F0EFCF063C00}"/>
              </a:ext>
            </a:extLst>
          </p:cNvPr>
          <p:cNvSpPr>
            <a:spLocks xmlns:a="http://schemas.openxmlformats.org/drawingml/2006/main" noGrp="1"/>
          </p:cNvSpPr>
          <p:nvPr/>
        </p:nvSpPr>
        <p:spPr>
          <a:xfrm xmlns:a="http://schemas.openxmlformats.org/drawingml/2006/main">
            <a:off x="857250" y="2457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5152B"/>
                </a:solidFill>
                <a:latin typeface="Helvetica Neue"/>
                <a:ea typeface="Helvetica Neue"/>
                <a:cs typeface="Helvetica Neue"/>
              </a:defRPr>
            </a:pPr>
            <a:r>
              <a:rPr sz="1425" b="1">
                <a:solidFill>
                  <a:srgbClr val="25152B"/>
                </a:solidFill>
                <a:latin typeface="Helvetica Neue"/>
                <a:ea typeface="Helvetica Neue"/>
                <a:cs typeface="Helvetica Neue"/>
              </a:rPr>
              <a:t>Google Drive</a:t>
            </a:r>
          </a:p>
        </p:txBody>
      </p:sp>
      <p:sp>
        <p:nvSpPr>
          <p:cNvPr id="9" name="">
            <a:extLst xmlns:a="http://schemas.openxmlformats.org/drawingml/2006/main">
              <a:ext uri="{FF2B5EF4-FFF2-40B4-BE49-F238E27FC236}">
                <a16:creationId xmlns:a16="http://schemas.microsoft.com/office/drawing/2014/main" id="{019B6E9F-6946-4FC5-BF63-249FF4DEEE14}"/>
              </a:ext>
            </a:extLst>
          </p:cNvPr>
          <p:cNvSpPr>
            <a:spLocks xmlns:a="http://schemas.openxmlformats.org/drawingml/2006/main" noGrp="1"/>
          </p:cNvSpPr>
          <p:nvPr/>
        </p:nvSpPr>
        <p:spPr>
          <a:xfrm xmlns:a="http://schemas.openxmlformats.org/drawingml/2006/main">
            <a:off x="857250" y="29146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2D67A6"/>
                </a:solidFill>
                <a:latin typeface="Helvetica Neue"/>
                <a:ea typeface="Helvetica Neue"/>
                <a:cs typeface="Helvetica Neue"/>
              </a:defRPr>
            </a:pPr>
            <a:r>
              <a:rPr sz="975" b="1">
                <a:solidFill>
                  <a:srgbClr val="2D67A6"/>
                </a:solidFill>
                <a:latin typeface="Helvetica Neue"/>
                <a:ea typeface="Helvetica Neue"/>
                <a:cs typeface="Helvetica Neue"/>
              </a:rPr>
              <a:t>Narrative evidence</a:t>
            </a:r>
          </a:p>
        </p:txBody>
      </p:sp>
      <p:sp>
        <p:nvSpPr>
          <p:cNvPr id="10" name="">
            <a:extLst xmlns:a="http://schemas.openxmlformats.org/drawingml/2006/main">
              <a:ext uri="{FF2B5EF4-FFF2-40B4-BE49-F238E27FC236}">
                <a16:creationId xmlns:a16="http://schemas.microsoft.com/office/drawing/2014/main" id="{121A486A-545E-4D07-B69F-271646C0D34D}"/>
              </a:ext>
            </a:extLst>
          </p:cNvPr>
          <p:cNvSpPr>
            <a:spLocks xmlns:a="http://schemas.openxmlformats.org/drawingml/2006/main" noGrp="1"/>
          </p:cNvSpPr>
          <p:nvPr/>
        </p:nvSpPr>
        <p:spPr>
          <a:xfrm xmlns:a="http://schemas.openxmlformats.org/drawingml/2006/main">
            <a:off x="857250" y="3295650"/>
            <a:ext cx="20955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1" name="">
            <a:extLst xmlns:a="http://schemas.openxmlformats.org/drawingml/2006/main">
              <a:ext uri="{FF2B5EF4-FFF2-40B4-BE49-F238E27FC236}">
                <a16:creationId xmlns:a16="http://schemas.microsoft.com/office/drawing/2014/main" id="{B305BCBA-AB82-4A0D-B379-3E29BD522F88}"/>
              </a:ext>
            </a:extLst>
          </p:cNvPr>
          <p:cNvSpPr>
            <a:spLocks xmlns:a="http://schemas.openxmlformats.org/drawingml/2006/main" noGrp="1"/>
          </p:cNvSpPr>
          <p:nvPr/>
        </p:nvSpPr>
        <p:spPr>
          <a:xfrm xmlns:a="http://schemas.openxmlformats.org/drawingml/2006/main">
            <a:off x="857250" y="34575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Reports, proposals, memos, tables</a:t>
            </a:r>
          </a:p>
        </p:txBody>
      </p:sp>
      <p:sp>
        <p:nvSpPr>
          <p:cNvPr id="12" name="">
            <a:extLst xmlns:a="http://schemas.openxmlformats.org/drawingml/2006/main">
              <a:ext uri="{FF2B5EF4-FFF2-40B4-BE49-F238E27FC236}">
                <a16:creationId xmlns:a16="http://schemas.microsoft.com/office/drawing/2014/main" id="{24B5F747-AD2D-47F5-A257-CCCA296101CA}"/>
              </a:ext>
            </a:extLst>
          </p:cNvPr>
          <p:cNvSpPr>
            <a:spLocks xmlns:a="http://schemas.openxmlformats.org/drawingml/2006/main" noGrp="1"/>
          </p:cNvSpPr>
          <p:nvPr/>
        </p:nvSpPr>
        <p:spPr>
          <a:xfrm xmlns:a="http://schemas.openxmlformats.org/drawingml/2006/main">
            <a:off x="3390900" y="2152650"/>
            <a:ext cx="2476500" cy="2324100"/>
          </a:xfrm>
          <a:prstGeom xmlns:a="http://schemas.openxmlformats.org/drawingml/2006/main" prst="roundRect">
            <a:avLst>
              <a:gd name="adj" fmla="val 7377"/>
            </a:avLst>
          </a:prstGeom>
          <a:solidFill xmlns:a="http://schemas.openxmlformats.org/drawingml/2006/main">
            <a:srgbClr val="FFFFFF"/>
          </a:solidFill>
          <a:ln xmlns:a="http://schemas.openxmlformats.org/drawingml/2006/main" w="9525">
            <a:solidFill>
              <a:srgbClr val="DED8D2"/>
            </a:solidFill>
          </a:ln>
        </p:spPr>
      </p:sp>
      <p:sp>
        <p:nvSpPr>
          <p:cNvPr id="13" name="">
            <a:extLst xmlns:a="http://schemas.openxmlformats.org/drawingml/2006/main">
              <a:ext uri="{FF2B5EF4-FFF2-40B4-BE49-F238E27FC236}">
                <a16:creationId xmlns:a16="http://schemas.microsoft.com/office/drawing/2014/main" id="{CE5F25F4-F079-4B49-8DC1-A84FBA520DAC}"/>
              </a:ext>
            </a:extLst>
          </p:cNvPr>
          <p:cNvSpPr>
            <a:spLocks xmlns:a="http://schemas.openxmlformats.org/drawingml/2006/main" noGrp="1"/>
          </p:cNvSpPr>
          <p:nvPr/>
        </p:nvSpPr>
        <p:spPr>
          <a:xfrm xmlns:a="http://schemas.openxmlformats.org/drawingml/2006/main">
            <a:off x="3390900" y="2152650"/>
            <a:ext cx="2476500" cy="85725"/>
          </a:xfrm>
          <a:prstGeom xmlns:a="http://schemas.openxmlformats.org/drawingml/2006/main" prst="roundRect">
            <a:avLst>
              <a:gd name="adj" fmla="val 44444"/>
            </a:avLst>
          </a:prstGeom>
          <a:solidFill xmlns:a="http://schemas.openxmlformats.org/drawingml/2006/main">
            <a:srgbClr val="C3472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33297E2-0B15-4CC4-8B1C-031B38310EC0}"/>
              </a:ext>
            </a:extLst>
          </p:cNvPr>
          <p:cNvSpPr>
            <a:spLocks xmlns:a="http://schemas.openxmlformats.org/drawingml/2006/main" noGrp="1"/>
          </p:cNvSpPr>
          <p:nvPr/>
        </p:nvSpPr>
        <p:spPr>
          <a:xfrm xmlns:a="http://schemas.openxmlformats.org/drawingml/2006/main">
            <a:off x="3581400" y="2457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5152B"/>
                </a:solidFill>
                <a:latin typeface="Helvetica Neue"/>
                <a:ea typeface="Helvetica Neue"/>
                <a:cs typeface="Helvetica Neue"/>
              </a:defRPr>
            </a:pPr>
            <a:r>
              <a:rPr sz="1425" b="1">
                <a:solidFill>
                  <a:srgbClr val="25152B"/>
                </a:solidFill>
                <a:latin typeface="Helvetica Neue"/>
                <a:ea typeface="Helvetica Neue"/>
                <a:cs typeface="Helvetica Neue"/>
              </a:rPr>
              <a:t>GivingData</a:t>
            </a:r>
          </a:p>
        </p:txBody>
      </p:sp>
      <p:sp>
        <p:nvSpPr>
          <p:cNvPr id="15" name="">
            <a:extLst xmlns:a="http://schemas.openxmlformats.org/drawingml/2006/main">
              <a:ext uri="{FF2B5EF4-FFF2-40B4-BE49-F238E27FC236}">
                <a16:creationId xmlns:a16="http://schemas.microsoft.com/office/drawing/2014/main" id="{B2B2857A-61D4-49C6-8415-B7AB7088BB82}"/>
              </a:ext>
            </a:extLst>
          </p:cNvPr>
          <p:cNvSpPr>
            <a:spLocks xmlns:a="http://schemas.openxmlformats.org/drawingml/2006/main" noGrp="1"/>
          </p:cNvSpPr>
          <p:nvPr/>
        </p:nvSpPr>
        <p:spPr>
          <a:xfrm xmlns:a="http://schemas.openxmlformats.org/drawingml/2006/main">
            <a:off x="3581400" y="29146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C34728"/>
                </a:solidFill>
                <a:latin typeface="Helvetica Neue"/>
                <a:ea typeface="Helvetica Neue"/>
                <a:cs typeface="Helvetica Neue"/>
              </a:defRPr>
            </a:pPr>
            <a:r>
              <a:rPr sz="975" b="1">
                <a:solidFill>
                  <a:srgbClr val="C34728"/>
                </a:solidFill>
                <a:latin typeface="Helvetica Neue"/>
                <a:ea typeface="Helvetica Neue"/>
                <a:cs typeface="Helvetica Neue"/>
              </a:rPr>
              <a:t>Grant truth</a:t>
            </a:r>
          </a:p>
        </p:txBody>
      </p:sp>
      <p:sp>
        <p:nvSpPr>
          <p:cNvPr id="16" name="">
            <a:extLst xmlns:a="http://schemas.openxmlformats.org/drawingml/2006/main">
              <a:ext uri="{FF2B5EF4-FFF2-40B4-BE49-F238E27FC236}">
                <a16:creationId xmlns:a16="http://schemas.microsoft.com/office/drawing/2014/main" id="{DD0B24C8-4217-4214-82F2-8A37CBC5CED6}"/>
              </a:ext>
            </a:extLst>
          </p:cNvPr>
          <p:cNvSpPr>
            <a:spLocks xmlns:a="http://schemas.openxmlformats.org/drawingml/2006/main" noGrp="1"/>
          </p:cNvSpPr>
          <p:nvPr/>
        </p:nvSpPr>
        <p:spPr>
          <a:xfrm xmlns:a="http://schemas.openxmlformats.org/drawingml/2006/main">
            <a:off x="3581400" y="3295650"/>
            <a:ext cx="20955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7" name="">
            <a:extLst xmlns:a="http://schemas.openxmlformats.org/drawingml/2006/main">
              <a:ext uri="{FF2B5EF4-FFF2-40B4-BE49-F238E27FC236}">
                <a16:creationId xmlns:a16="http://schemas.microsoft.com/office/drawing/2014/main" id="{08079403-A530-429C-BF27-655056EC41CE}"/>
              </a:ext>
            </a:extLst>
          </p:cNvPr>
          <p:cNvSpPr>
            <a:spLocks xmlns:a="http://schemas.openxmlformats.org/drawingml/2006/main" noGrp="1"/>
          </p:cNvSpPr>
          <p:nvPr/>
        </p:nvSpPr>
        <p:spPr>
          <a:xfrm xmlns:a="http://schemas.openxmlformats.org/drawingml/2006/main">
            <a:off x="3581400" y="34575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Organizations, requests, payments, requirements</a:t>
            </a:r>
          </a:p>
        </p:txBody>
      </p:sp>
      <p:sp>
        <p:nvSpPr>
          <p:cNvPr id="18" name="">
            <a:extLst xmlns:a="http://schemas.openxmlformats.org/drawingml/2006/main">
              <a:ext uri="{FF2B5EF4-FFF2-40B4-BE49-F238E27FC236}">
                <a16:creationId xmlns:a16="http://schemas.microsoft.com/office/drawing/2014/main" id="{6774D808-A038-4D83-83E7-6A6DB9D04F6C}"/>
              </a:ext>
            </a:extLst>
          </p:cNvPr>
          <p:cNvSpPr>
            <a:spLocks xmlns:a="http://schemas.openxmlformats.org/drawingml/2006/main" noGrp="1"/>
          </p:cNvSpPr>
          <p:nvPr/>
        </p:nvSpPr>
        <p:spPr>
          <a:xfrm xmlns:a="http://schemas.openxmlformats.org/drawingml/2006/main">
            <a:off x="6115050" y="2152650"/>
            <a:ext cx="2476500" cy="2324100"/>
          </a:xfrm>
          <a:prstGeom xmlns:a="http://schemas.openxmlformats.org/drawingml/2006/main" prst="roundRect">
            <a:avLst>
              <a:gd name="adj" fmla="val 7377"/>
            </a:avLst>
          </a:prstGeom>
          <a:solidFill xmlns:a="http://schemas.openxmlformats.org/drawingml/2006/main">
            <a:srgbClr val="FFFFFF"/>
          </a:solidFill>
          <a:ln xmlns:a="http://schemas.openxmlformats.org/drawingml/2006/main" w="9525">
            <a:solidFill>
              <a:srgbClr val="DED8D2"/>
            </a:solidFill>
          </a:ln>
        </p:spPr>
      </p:sp>
      <p:sp>
        <p:nvSpPr>
          <p:cNvPr id="19" name="">
            <a:extLst xmlns:a="http://schemas.openxmlformats.org/drawingml/2006/main">
              <a:ext uri="{FF2B5EF4-FFF2-40B4-BE49-F238E27FC236}">
                <a16:creationId xmlns:a16="http://schemas.microsoft.com/office/drawing/2014/main" id="{7BC59F4F-D825-4BC6-9DAE-094D7BA50CA8}"/>
              </a:ext>
            </a:extLst>
          </p:cNvPr>
          <p:cNvSpPr>
            <a:spLocks xmlns:a="http://schemas.openxmlformats.org/drawingml/2006/main" noGrp="1"/>
          </p:cNvSpPr>
          <p:nvPr/>
        </p:nvSpPr>
        <p:spPr>
          <a:xfrm xmlns:a="http://schemas.openxmlformats.org/drawingml/2006/main">
            <a:off x="6115050" y="2152650"/>
            <a:ext cx="2476500" cy="85725"/>
          </a:xfrm>
          <a:prstGeom xmlns:a="http://schemas.openxmlformats.org/drawingml/2006/main" prst="roundRect">
            <a:avLst>
              <a:gd name="adj" fmla="val 44444"/>
            </a:avLst>
          </a:prstGeom>
          <a:solidFill xmlns:a="http://schemas.openxmlformats.org/drawingml/2006/main">
            <a:srgbClr val="287A5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6C96672-FFD8-45F0-978F-3717493F6D86}"/>
              </a:ext>
            </a:extLst>
          </p:cNvPr>
          <p:cNvSpPr>
            <a:spLocks xmlns:a="http://schemas.openxmlformats.org/drawingml/2006/main" noGrp="1"/>
          </p:cNvSpPr>
          <p:nvPr/>
        </p:nvSpPr>
        <p:spPr>
          <a:xfrm xmlns:a="http://schemas.openxmlformats.org/drawingml/2006/main">
            <a:off x="6305550" y="2457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5152B"/>
                </a:solidFill>
                <a:latin typeface="Helvetica Neue"/>
                <a:ea typeface="Helvetica Neue"/>
                <a:cs typeface="Helvetica Neue"/>
              </a:defRPr>
            </a:pPr>
            <a:r>
              <a:rPr sz="1425" b="1">
                <a:solidFill>
                  <a:srgbClr val="25152B"/>
                </a:solidFill>
                <a:latin typeface="Helvetica Neue"/>
                <a:ea typeface="Helvetica Neue"/>
                <a:cs typeface="Helvetica Neue"/>
              </a:rPr>
              <a:t>Airtable</a:t>
            </a:r>
          </a:p>
        </p:txBody>
      </p:sp>
      <p:sp>
        <p:nvSpPr>
          <p:cNvPr id="21" name="">
            <a:extLst xmlns:a="http://schemas.openxmlformats.org/drawingml/2006/main">
              <a:ext uri="{FF2B5EF4-FFF2-40B4-BE49-F238E27FC236}">
                <a16:creationId xmlns:a16="http://schemas.microsoft.com/office/drawing/2014/main" id="{FD7678F3-8E88-42D0-BBA5-2393FBEB9DFA}"/>
              </a:ext>
            </a:extLst>
          </p:cNvPr>
          <p:cNvSpPr>
            <a:spLocks xmlns:a="http://schemas.openxmlformats.org/drawingml/2006/main" noGrp="1"/>
          </p:cNvSpPr>
          <p:nvPr/>
        </p:nvSpPr>
        <p:spPr>
          <a:xfrm xmlns:a="http://schemas.openxmlformats.org/drawingml/2006/main">
            <a:off x="6305550" y="29146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287A50"/>
                </a:solidFill>
                <a:latin typeface="Helvetica Neue"/>
                <a:ea typeface="Helvetica Neue"/>
                <a:cs typeface="Helvetica Neue"/>
              </a:defRPr>
            </a:pPr>
            <a:r>
              <a:rPr sz="975" b="1">
                <a:solidFill>
                  <a:srgbClr val="287A50"/>
                </a:solidFill>
                <a:latin typeface="Helvetica Neue"/>
                <a:ea typeface="Helvetica Neue"/>
                <a:cs typeface="Helvetica Neue"/>
              </a:rPr>
              <a:t>Relationship context</a:t>
            </a:r>
          </a:p>
        </p:txBody>
      </p:sp>
      <p:sp>
        <p:nvSpPr>
          <p:cNvPr id="22" name="">
            <a:extLst xmlns:a="http://schemas.openxmlformats.org/drawingml/2006/main">
              <a:ext uri="{FF2B5EF4-FFF2-40B4-BE49-F238E27FC236}">
                <a16:creationId xmlns:a16="http://schemas.microsoft.com/office/drawing/2014/main" id="{DAD757AA-2710-4EB4-AA89-F65985061815}"/>
              </a:ext>
            </a:extLst>
          </p:cNvPr>
          <p:cNvSpPr>
            <a:spLocks xmlns:a="http://schemas.openxmlformats.org/drawingml/2006/main" noGrp="1"/>
          </p:cNvSpPr>
          <p:nvPr/>
        </p:nvSpPr>
        <p:spPr>
          <a:xfrm xmlns:a="http://schemas.openxmlformats.org/drawingml/2006/main">
            <a:off x="6305550" y="3295650"/>
            <a:ext cx="20955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3" name="">
            <a:extLst xmlns:a="http://schemas.openxmlformats.org/drawingml/2006/main">
              <a:ext uri="{FF2B5EF4-FFF2-40B4-BE49-F238E27FC236}">
                <a16:creationId xmlns:a16="http://schemas.microsoft.com/office/drawing/2014/main" id="{18818C2C-3FE2-4E67-8D67-721D5E2189E2}"/>
              </a:ext>
            </a:extLst>
          </p:cNvPr>
          <p:cNvSpPr>
            <a:spLocks xmlns:a="http://schemas.openxmlformats.org/drawingml/2006/main" noGrp="1"/>
          </p:cNvSpPr>
          <p:nvPr/>
        </p:nvSpPr>
        <p:spPr>
          <a:xfrm xmlns:a="http://schemas.openxmlformats.org/drawingml/2006/main">
            <a:off x="6305550" y="34575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Partners, cohorts, projects, touchpoints</a:t>
            </a:r>
          </a:p>
        </p:txBody>
      </p:sp>
      <p:sp>
        <p:nvSpPr>
          <p:cNvPr id="24" name="">
            <a:extLst xmlns:a="http://schemas.openxmlformats.org/drawingml/2006/main">
              <a:ext uri="{FF2B5EF4-FFF2-40B4-BE49-F238E27FC236}">
                <a16:creationId xmlns:a16="http://schemas.microsoft.com/office/drawing/2014/main" id="{EF598C8A-96D9-455D-9F33-29F0A16B1C8F}"/>
              </a:ext>
            </a:extLst>
          </p:cNvPr>
          <p:cNvSpPr>
            <a:spLocks xmlns:a="http://schemas.openxmlformats.org/drawingml/2006/main" noGrp="1"/>
          </p:cNvSpPr>
          <p:nvPr/>
        </p:nvSpPr>
        <p:spPr>
          <a:xfrm xmlns:a="http://schemas.openxmlformats.org/drawingml/2006/main">
            <a:off x="8839200" y="2152650"/>
            <a:ext cx="2476500" cy="2324100"/>
          </a:xfrm>
          <a:prstGeom xmlns:a="http://schemas.openxmlformats.org/drawingml/2006/main" prst="roundRect">
            <a:avLst>
              <a:gd name="adj" fmla="val 7377"/>
            </a:avLst>
          </a:prstGeom>
          <a:solidFill xmlns:a="http://schemas.openxmlformats.org/drawingml/2006/main">
            <a:srgbClr val="FFFFFF"/>
          </a:solidFill>
          <a:ln xmlns:a="http://schemas.openxmlformats.org/drawingml/2006/main" w="9525">
            <a:solidFill>
              <a:srgbClr val="DED8D2"/>
            </a:solidFill>
          </a:ln>
        </p:spPr>
      </p:sp>
      <p:sp>
        <p:nvSpPr>
          <p:cNvPr id="25" name="">
            <a:extLst xmlns:a="http://schemas.openxmlformats.org/drawingml/2006/main">
              <a:ext uri="{FF2B5EF4-FFF2-40B4-BE49-F238E27FC236}">
                <a16:creationId xmlns:a16="http://schemas.microsoft.com/office/drawing/2014/main" id="{E894F23C-49DA-41D8-BD6A-C894040E6CDE}"/>
              </a:ext>
            </a:extLst>
          </p:cNvPr>
          <p:cNvSpPr>
            <a:spLocks xmlns:a="http://schemas.openxmlformats.org/drawingml/2006/main" noGrp="1"/>
          </p:cNvSpPr>
          <p:nvPr/>
        </p:nvSpPr>
        <p:spPr>
          <a:xfrm xmlns:a="http://schemas.openxmlformats.org/drawingml/2006/main">
            <a:off x="8839200" y="2152650"/>
            <a:ext cx="2476500" cy="85725"/>
          </a:xfrm>
          <a:prstGeom xmlns:a="http://schemas.openxmlformats.org/drawingml/2006/main" prst="roundRect">
            <a:avLst>
              <a:gd name="adj" fmla="val 44444"/>
            </a:avLst>
          </a:prstGeom>
          <a:solidFill xmlns:a="http://schemas.openxmlformats.org/drawingml/2006/main">
            <a:srgbClr val="69479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251C748-2A0C-4C0E-A088-71BA8077F504}"/>
              </a:ext>
            </a:extLst>
          </p:cNvPr>
          <p:cNvSpPr>
            <a:spLocks xmlns:a="http://schemas.openxmlformats.org/drawingml/2006/main" noGrp="1"/>
          </p:cNvSpPr>
          <p:nvPr/>
        </p:nvSpPr>
        <p:spPr>
          <a:xfrm xmlns:a="http://schemas.openxmlformats.org/drawingml/2006/main">
            <a:off x="9029700" y="2457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5152B"/>
                </a:solidFill>
                <a:latin typeface="Helvetica Neue"/>
                <a:ea typeface="Helvetica Neue"/>
                <a:cs typeface="Helvetica Neue"/>
              </a:defRPr>
            </a:pPr>
            <a:r>
              <a:rPr sz="1425" b="1">
                <a:solidFill>
                  <a:srgbClr val="25152B"/>
                </a:solidFill>
                <a:latin typeface="Helvetica Neue"/>
                <a:ea typeface="Helvetica Neue"/>
                <a:cs typeface="Helvetica Neue"/>
              </a:rPr>
              <a:t>Zoom Chat</a:t>
            </a:r>
          </a:p>
        </p:txBody>
      </p:sp>
      <p:sp>
        <p:nvSpPr>
          <p:cNvPr id="27" name="">
            <a:extLst xmlns:a="http://schemas.openxmlformats.org/drawingml/2006/main">
              <a:ext uri="{FF2B5EF4-FFF2-40B4-BE49-F238E27FC236}">
                <a16:creationId xmlns:a16="http://schemas.microsoft.com/office/drawing/2014/main" id="{3E33A3B6-0FA9-4FC2-A86E-063291861490}"/>
              </a:ext>
            </a:extLst>
          </p:cNvPr>
          <p:cNvSpPr>
            <a:spLocks xmlns:a="http://schemas.openxmlformats.org/drawingml/2006/main" noGrp="1"/>
          </p:cNvSpPr>
          <p:nvPr/>
        </p:nvSpPr>
        <p:spPr>
          <a:xfrm xmlns:a="http://schemas.openxmlformats.org/drawingml/2006/main">
            <a:off x="9029700" y="29146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69479B"/>
                </a:solidFill>
                <a:latin typeface="Helvetica Neue"/>
                <a:ea typeface="Helvetica Neue"/>
                <a:cs typeface="Helvetica Neue"/>
              </a:defRPr>
            </a:pPr>
            <a:r>
              <a:rPr sz="975" b="1">
                <a:solidFill>
                  <a:srgbClr val="69479B"/>
                </a:solidFill>
                <a:latin typeface="Helvetica Neue"/>
                <a:ea typeface="Helvetica Neue"/>
                <a:cs typeface="Helvetica Neue"/>
              </a:rPr>
              <a:t>Decisions in motion</a:t>
            </a:r>
          </a:p>
        </p:txBody>
      </p:sp>
      <p:sp>
        <p:nvSpPr>
          <p:cNvPr id="28" name="">
            <a:extLst xmlns:a="http://schemas.openxmlformats.org/drawingml/2006/main">
              <a:ext uri="{FF2B5EF4-FFF2-40B4-BE49-F238E27FC236}">
                <a16:creationId xmlns:a16="http://schemas.microsoft.com/office/drawing/2014/main" id="{4DC922D4-FCA5-4A15-A6B4-17C9A2CF85C8}"/>
              </a:ext>
            </a:extLst>
          </p:cNvPr>
          <p:cNvSpPr>
            <a:spLocks xmlns:a="http://schemas.openxmlformats.org/drawingml/2006/main" noGrp="1"/>
          </p:cNvSpPr>
          <p:nvPr/>
        </p:nvSpPr>
        <p:spPr>
          <a:xfrm xmlns:a="http://schemas.openxmlformats.org/drawingml/2006/main">
            <a:off x="9029700" y="3295650"/>
            <a:ext cx="20955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9" name="">
            <a:extLst xmlns:a="http://schemas.openxmlformats.org/drawingml/2006/main">
              <a:ext uri="{FF2B5EF4-FFF2-40B4-BE49-F238E27FC236}">
                <a16:creationId xmlns:a16="http://schemas.microsoft.com/office/drawing/2014/main" id="{6101F024-0E1E-4076-82B3-09A48F4C72A5}"/>
              </a:ext>
            </a:extLst>
          </p:cNvPr>
          <p:cNvSpPr>
            <a:spLocks xmlns:a="http://schemas.openxmlformats.org/drawingml/2006/main" noGrp="1"/>
          </p:cNvSpPr>
          <p:nvPr/>
        </p:nvSpPr>
        <p:spPr>
          <a:xfrm xmlns:a="http://schemas.openxmlformats.org/drawingml/2006/main">
            <a:off x="9029700" y="34575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Discussion, rationale, informal observations</a:t>
            </a:r>
          </a:p>
        </p:txBody>
      </p:sp>
      <p:sp>
        <p:nvSpPr>
          <p:cNvPr id="30" name="">
            <a:extLst xmlns:a="http://schemas.openxmlformats.org/drawingml/2006/main">
              <a:ext uri="{FF2B5EF4-FFF2-40B4-BE49-F238E27FC236}">
                <a16:creationId xmlns:a16="http://schemas.microsoft.com/office/drawing/2014/main" id="{F78FC21C-3271-472C-A626-D0352D81E438}"/>
              </a:ext>
            </a:extLst>
          </p:cNvPr>
          <p:cNvSpPr>
            <a:spLocks xmlns:a="http://schemas.openxmlformats.org/drawingml/2006/main" noGrp="1"/>
          </p:cNvSpPr>
          <p:nvPr/>
        </p:nvSpPr>
        <p:spPr>
          <a:xfrm xmlns:a="http://schemas.openxmlformats.org/drawingml/2006/main">
            <a:off x="666750" y="481965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E94B2A"/>
                </a:solidFill>
                <a:latin typeface="Helvetica Neue"/>
                <a:ea typeface="Helvetica Neue"/>
                <a:cs typeface="Helvetica Neue"/>
              </a:defRPr>
            </a:pPr>
            <a:r>
              <a:rPr sz="900" b="1">
                <a:solidFill>
                  <a:srgbClr val="E94B2A"/>
                </a:solidFill>
                <a:latin typeface="Helvetica Neue"/>
                <a:ea typeface="Helvetica Neue"/>
                <a:cs typeface="Helvetica Neue"/>
              </a:rPr>
              <a:t>Design consequence</a:t>
            </a:r>
          </a:p>
        </p:txBody>
      </p:sp>
      <p:sp>
        <p:nvSpPr>
          <p:cNvPr id="31" name="">
            <a:extLst xmlns:a="http://schemas.openxmlformats.org/drawingml/2006/main">
              <a:ext uri="{FF2B5EF4-FFF2-40B4-BE49-F238E27FC236}">
                <a16:creationId xmlns:a16="http://schemas.microsoft.com/office/drawing/2014/main" id="{65867CE7-1FAB-4235-AC3D-BA3F3841301F}"/>
              </a:ext>
            </a:extLst>
          </p:cNvPr>
          <p:cNvSpPr>
            <a:spLocks xmlns:a="http://schemas.openxmlformats.org/drawingml/2006/main" noGrp="1"/>
          </p:cNvSpPr>
          <p:nvPr/>
        </p:nvSpPr>
        <p:spPr>
          <a:xfrm xmlns:a="http://schemas.openxmlformats.org/drawingml/2006/main">
            <a:off x="666750" y="5105400"/>
            <a:ext cx="1009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25152B"/>
                </a:solidFill>
                <a:latin typeface="Helvetica Neue"/>
                <a:ea typeface="Helvetica Neue"/>
                <a:cs typeface="Helvetica Neue"/>
              </a:defRPr>
            </a:pPr>
            <a:r>
              <a:rPr sz="1725" b="1">
                <a:solidFill>
                  <a:srgbClr val="25152B"/>
                </a:solidFill>
                <a:latin typeface="Helvetica Neue"/>
                <a:ea typeface="Helvetica Neue"/>
                <a:cs typeface="Helvetica Neue"/>
              </a:rPr>
              <a:t>Preserve source authority, date, status, metric definition, and permissions in every answer.</a:t>
            </a:r>
          </a:p>
        </p:txBody>
      </p:sp>
    </p:spTree>
    <p:extLst>
      <p:ext uri="{BB962C8B-B14F-4D97-AF65-F5344CB8AC3E}">
        <p14:creationId xmlns:p14="http://schemas.microsoft.com/office/powerpoint/2010/main" val="961458515"/>
      </p:ext>
    </p:extLst>
  </p:cSld>
</p:sld>
</file>

<file path=ppt/slides/slide3.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F9C421A1-928E-4023-8D29-F248B97613E2}"/>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DISCOVERY</a:t>
            </a:r>
          </a:p>
        </p:txBody>
      </p:sp>
      <p:sp>
        <p:nvSpPr>
          <p:cNvPr id="2" name="">
            <a:extLst xmlns:a="http://schemas.openxmlformats.org/drawingml/2006/main">
              <a:ext uri="{FF2B5EF4-FFF2-40B4-BE49-F238E27FC236}">
                <a16:creationId xmlns:a16="http://schemas.microsoft.com/office/drawing/2014/main" id="{78AE5D61-CAC6-4880-8A16-0FE6A263843F}"/>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8009BAFE-433F-45B1-9124-21C937CBF27E}"/>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DB879643-9F56-4AB3-88A4-F8C1D5C15DA4}"/>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The question comes before the architecture</a:t>
            </a:r>
          </a:p>
        </p:txBody>
      </p:sp>
      <p:sp>
        <p:nvSpPr>
          <p:cNvPr id="5" name="">
            <a:extLst xmlns:a="http://schemas.openxmlformats.org/drawingml/2006/main">
              <a:ext uri="{FF2B5EF4-FFF2-40B4-BE49-F238E27FC236}">
                <a16:creationId xmlns:a16="http://schemas.microsoft.com/office/drawing/2014/main" id="{C097EE9A-A5B1-4078-B31A-984C2A5E7E8C}"/>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Week one turns ambiguity into explicit product and data contracts.</a:t>
            </a:r>
          </a:p>
        </p:txBody>
      </p:sp>
      <p:sp>
        <p:nvSpPr>
          <p:cNvPr id="6" name="">
            <a:extLst xmlns:a="http://schemas.openxmlformats.org/drawingml/2006/main">
              <a:ext uri="{FF2B5EF4-FFF2-40B4-BE49-F238E27FC236}">
                <a16:creationId xmlns:a16="http://schemas.microsoft.com/office/drawing/2014/main" id="{3ED655D4-0537-4F63-A871-E042F601A52A}"/>
              </a:ext>
            </a:extLst>
          </p:cNvPr>
          <p:cNvSpPr>
            <a:spLocks xmlns:a="http://schemas.openxmlformats.org/drawingml/2006/main" noGrp="1"/>
          </p:cNvSpPr>
          <p:nvPr/>
        </p:nvSpPr>
        <p:spPr>
          <a:xfrm xmlns:a="http://schemas.openxmlformats.org/drawingml/2006/main">
            <a:off x="666750" y="2076450"/>
            <a:ext cx="304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E94B2A"/>
                </a:solidFill>
                <a:latin typeface="Helvetica Neue"/>
                <a:ea typeface="Helvetica Neue"/>
                <a:cs typeface="Helvetica Neue"/>
              </a:defRPr>
            </a:pPr>
            <a:r>
              <a:rPr sz="900" b="1">
                <a:solidFill>
                  <a:srgbClr val="E94B2A"/>
                </a:solidFill>
                <a:latin typeface="Helvetica Neue"/>
                <a:ea typeface="Helvetica Neue"/>
                <a:cs typeface="Helvetica Neue"/>
              </a:rPr>
              <a:t>USERS + DECISIONS</a:t>
            </a:r>
          </a:p>
        </p:txBody>
      </p:sp>
      <p:sp>
        <p:nvSpPr>
          <p:cNvPr id="7" name="">
            <a:extLst xmlns:a="http://schemas.openxmlformats.org/drawingml/2006/main">
              <a:ext uri="{FF2B5EF4-FFF2-40B4-BE49-F238E27FC236}">
                <a16:creationId xmlns:a16="http://schemas.microsoft.com/office/drawing/2014/main" id="{ACAD8CB1-B404-4D66-AFA6-29BB81872BF1}"/>
              </a:ext>
            </a:extLst>
          </p:cNvPr>
          <p:cNvSpPr>
            <a:spLocks xmlns:a="http://schemas.openxmlformats.org/drawingml/2006/main" noGrp="1"/>
          </p:cNvSpPr>
          <p:nvPr/>
        </p:nvSpPr>
        <p:spPr>
          <a:xfrm xmlns:a="http://schemas.openxmlformats.org/drawingml/2006/main">
            <a:off x="666750" y="2428875"/>
            <a:ext cx="30861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8" name="">
            <a:extLst xmlns:a="http://schemas.openxmlformats.org/drawingml/2006/main">
              <a:ext uri="{FF2B5EF4-FFF2-40B4-BE49-F238E27FC236}">
                <a16:creationId xmlns:a16="http://schemas.microsoft.com/office/drawing/2014/main" id="{404E0D20-D364-4673-9012-A9ABE0340CAF}"/>
              </a:ext>
            </a:extLst>
          </p:cNvPr>
          <p:cNvSpPr>
            <a:spLocks xmlns:a="http://schemas.openxmlformats.org/drawingml/2006/main" noGrp="1"/>
          </p:cNvSpPr>
          <p:nvPr/>
        </p:nvSpPr>
        <p:spPr>
          <a:xfrm xmlns:a="http://schemas.openxmlformats.org/drawingml/2006/main">
            <a:off x="666750" y="26574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056402C3-4549-4644-97FF-043E435AFF2C}"/>
              </a:ext>
            </a:extLst>
          </p:cNvPr>
          <p:cNvSpPr>
            <a:spLocks xmlns:a="http://schemas.openxmlformats.org/drawingml/2006/main" noGrp="1"/>
          </p:cNvSpPr>
          <p:nvPr/>
        </p:nvSpPr>
        <p:spPr>
          <a:xfrm xmlns:a="http://schemas.openxmlformats.org/drawingml/2006/main">
            <a:off x="666750" y="2657475"/>
            <a:ext cx="247650" cy="24765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57945E9-1B3D-415D-BB04-F4711F8B6D4B}"/>
              </a:ext>
            </a:extLst>
          </p:cNvPr>
          <p:cNvSpPr>
            <a:spLocks xmlns:a="http://schemas.openxmlformats.org/drawingml/2006/main" noGrp="1"/>
          </p:cNvSpPr>
          <p:nvPr/>
        </p:nvSpPr>
        <p:spPr>
          <a:xfrm xmlns:a="http://schemas.openxmlformats.org/drawingml/2006/main">
            <a:off x="1047750" y="25812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Which decisions recur?</a:t>
            </a:r>
          </a:p>
        </p:txBody>
      </p:sp>
      <p:sp>
        <p:nvSpPr>
          <p:cNvPr id="11" name="">
            <a:extLst xmlns:a="http://schemas.openxmlformats.org/drawingml/2006/main">
              <a:ext uri="{FF2B5EF4-FFF2-40B4-BE49-F238E27FC236}">
                <a16:creationId xmlns:a16="http://schemas.microsoft.com/office/drawing/2014/main" id="{78EDE4D2-4FD7-472C-AF8C-4AAA03497ADF}"/>
              </a:ext>
            </a:extLst>
          </p:cNvPr>
          <p:cNvSpPr>
            <a:spLocks xmlns:a="http://schemas.openxmlformats.org/drawingml/2006/main" noGrp="1"/>
          </p:cNvSpPr>
          <p:nvPr/>
        </p:nvSpPr>
        <p:spPr>
          <a:xfrm xmlns:a="http://schemas.openxmlformats.org/drawingml/2006/main">
            <a:off x="666750" y="32861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F56A2E39-B952-49A4-BC9C-C55664DBFFFF}"/>
              </a:ext>
            </a:extLst>
          </p:cNvPr>
          <p:cNvSpPr>
            <a:spLocks xmlns:a="http://schemas.openxmlformats.org/drawingml/2006/main" noGrp="1"/>
          </p:cNvSpPr>
          <p:nvPr/>
        </p:nvSpPr>
        <p:spPr>
          <a:xfrm xmlns:a="http://schemas.openxmlformats.org/drawingml/2006/main">
            <a:off x="666750" y="3286125"/>
            <a:ext cx="247650" cy="24765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917EDD0-4903-484E-92B6-1D8CF76F6883}"/>
              </a:ext>
            </a:extLst>
          </p:cNvPr>
          <p:cNvSpPr>
            <a:spLocks xmlns:a="http://schemas.openxmlformats.org/drawingml/2006/main" noGrp="1"/>
          </p:cNvSpPr>
          <p:nvPr/>
        </p:nvSpPr>
        <p:spPr>
          <a:xfrm xmlns:a="http://schemas.openxmlformats.org/drawingml/2006/main">
            <a:off x="1047750" y="32099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What makes an answer actionable?</a:t>
            </a:r>
          </a:p>
        </p:txBody>
      </p:sp>
      <p:sp>
        <p:nvSpPr>
          <p:cNvPr id="14" name="">
            <a:extLst xmlns:a="http://schemas.openxmlformats.org/drawingml/2006/main">
              <a:ext uri="{FF2B5EF4-FFF2-40B4-BE49-F238E27FC236}">
                <a16:creationId xmlns:a16="http://schemas.microsoft.com/office/drawing/2014/main" id="{992FB90C-C7D5-4F65-8812-1D16E8758E26}"/>
              </a:ext>
            </a:extLst>
          </p:cNvPr>
          <p:cNvSpPr>
            <a:spLocks xmlns:a="http://schemas.openxmlformats.org/drawingml/2006/main" noGrp="1"/>
          </p:cNvSpPr>
          <p:nvPr/>
        </p:nvSpPr>
        <p:spPr>
          <a:xfrm xmlns:a="http://schemas.openxmlformats.org/drawingml/2006/main">
            <a:off x="666750" y="39147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F4A82603-C9C8-409E-B6A8-AC7155FB2FFE}"/>
              </a:ext>
            </a:extLst>
          </p:cNvPr>
          <p:cNvSpPr>
            <a:spLocks xmlns:a="http://schemas.openxmlformats.org/drawingml/2006/main" noGrp="1"/>
          </p:cNvSpPr>
          <p:nvPr/>
        </p:nvSpPr>
        <p:spPr>
          <a:xfrm xmlns:a="http://schemas.openxmlformats.org/drawingml/2006/main">
            <a:off x="666750" y="3914775"/>
            <a:ext cx="247650" cy="24765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8689236-D8FF-40F0-B2B7-7BA6E1EF84B1}"/>
              </a:ext>
            </a:extLst>
          </p:cNvPr>
          <p:cNvSpPr>
            <a:spLocks xmlns:a="http://schemas.openxmlformats.org/drawingml/2006/main" noGrp="1"/>
          </p:cNvSpPr>
          <p:nvPr/>
        </p:nvSpPr>
        <p:spPr>
          <a:xfrm xmlns:a="http://schemas.openxmlformats.org/drawingml/2006/main">
            <a:off x="1047750" y="38385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Where does context live only in someone’s head?</a:t>
            </a:r>
          </a:p>
        </p:txBody>
      </p:sp>
      <p:sp>
        <p:nvSpPr>
          <p:cNvPr id="17" name="">
            <a:extLst xmlns:a="http://schemas.openxmlformats.org/drawingml/2006/main">
              <a:ext uri="{FF2B5EF4-FFF2-40B4-BE49-F238E27FC236}">
                <a16:creationId xmlns:a16="http://schemas.microsoft.com/office/drawing/2014/main" id="{17E62AE7-409E-46CB-B3AD-67741C65F0D7}"/>
              </a:ext>
            </a:extLst>
          </p:cNvPr>
          <p:cNvSpPr>
            <a:spLocks xmlns:a="http://schemas.openxmlformats.org/drawingml/2006/main" noGrp="1"/>
          </p:cNvSpPr>
          <p:nvPr/>
        </p:nvSpPr>
        <p:spPr>
          <a:xfrm xmlns:a="http://schemas.openxmlformats.org/drawingml/2006/main">
            <a:off x="666750" y="45434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4</a:t>
            </a:r>
          </a:p>
        </p:txBody>
      </p:sp>
      <p:sp>
        <p:nvSpPr>
          <p:cNvPr id="18" name="">
            <a:extLst xmlns:a="http://schemas.openxmlformats.org/drawingml/2006/main">
              <a:ext uri="{FF2B5EF4-FFF2-40B4-BE49-F238E27FC236}">
                <a16:creationId xmlns:a16="http://schemas.microsoft.com/office/drawing/2014/main" id="{7AA06D02-1462-4D86-88F3-1521542BC949}"/>
              </a:ext>
            </a:extLst>
          </p:cNvPr>
          <p:cNvSpPr>
            <a:spLocks xmlns:a="http://schemas.openxmlformats.org/drawingml/2006/main" noGrp="1"/>
          </p:cNvSpPr>
          <p:nvPr/>
        </p:nvSpPr>
        <p:spPr>
          <a:xfrm xmlns:a="http://schemas.openxmlformats.org/drawingml/2006/main">
            <a:off x="666750" y="4543425"/>
            <a:ext cx="247650" cy="24765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42B826C-217A-4507-BFCE-E8328E93C27E}"/>
              </a:ext>
            </a:extLst>
          </p:cNvPr>
          <p:cNvSpPr>
            <a:spLocks xmlns:a="http://schemas.openxmlformats.org/drawingml/2006/main" noGrp="1"/>
          </p:cNvSpPr>
          <p:nvPr/>
        </p:nvSpPr>
        <p:spPr>
          <a:xfrm xmlns:a="http://schemas.openxmlformats.org/drawingml/2006/main">
            <a:off x="1047750" y="44672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Which wording could harm a grantee relationship?</a:t>
            </a:r>
          </a:p>
        </p:txBody>
      </p:sp>
      <p:sp>
        <p:nvSpPr>
          <p:cNvPr id="20" name="">
            <a:extLst xmlns:a="http://schemas.openxmlformats.org/drawingml/2006/main">
              <a:ext uri="{FF2B5EF4-FFF2-40B4-BE49-F238E27FC236}">
                <a16:creationId xmlns:a16="http://schemas.microsoft.com/office/drawing/2014/main" id="{F775FC30-E966-436F-B703-D518DF3C2C5B}"/>
              </a:ext>
            </a:extLst>
          </p:cNvPr>
          <p:cNvSpPr>
            <a:spLocks xmlns:a="http://schemas.openxmlformats.org/drawingml/2006/main" noGrp="1"/>
          </p:cNvSpPr>
          <p:nvPr/>
        </p:nvSpPr>
        <p:spPr>
          <a:xfrm xmlns:a="http://schemas.openxmlformats.org/drawingml/2006/main">
            <a:off x="4248150" y="2076450"/>
            <a:ext cx="304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DATA + MEANING</a:t>
            </a:r>
          </a:p>
        </p:txBody>
      </p:sp>
      <p:sp>
        <p:nvSpPr>
          <p:cNvPr id="21" name="">
            <a:extLst xmlns:a="http://schemas.openxmlformats.org/drawingml/2006/main">
              <a:ext uri="{FF2B5EF4-FFF2-40B4-BE49-F238E27FC236}">
                <a16:creationId xmlns:a16="http://schemas.microsoft.com/office/drawing/2014/main" id="{B29C8D3B-8D1E-483B-9960-82EBA640B0A6}"/>
              </a:ext>
            </a:extLst>
          </p:cNvPr>
          <p:cNvSpPr>
            <a:spLocks xmlns:a="http://schemas.openxmlformats.org/drawingml/2006/main" noGrp="1"/>
          </p:cNvSpPr>
          <p:nvPr/>
        </p:nvSpPr>
        <p:spPr>
          <a:xfrm xmlns:a="http://schemas.openxmlformats.org/drawingml/2006/main">
            <a:off x="4248150" y="2428875"/>
            <a:ext cx="30861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2" name="">
            <a:extLst xmlns:a="http://schemas.openxmlformats.org/drawingml/2006/main">
              <a:ext uri="{FF2B5EF4-FFF2-40B4-BE49-F238E27FC236}">
                <a16:creationId xmlns:a16="http://schemas.microsoft.com/office/drawing/2014/main" id="{DE3DBE41-D518-4636-ABF7-343D0D4F6DCB}"/>
              </a:ext>
            </a:extLst>
          </p:cNvPr>
          <p:cNvSpPr>
            <a:spLocks xmlns:a="http://schemas.openxmlformats.org/drawingml/2006/main" noGrp="1"/>
          </p:cNvSpPr>
          <p:nvPr/>
        </p:nvSpPr>
        <p:spPr>
          <a:xfrm xmlns:a="http://schemas.openxmlformats.org/drawingml/2006/main">
            <a:off x="4248150" y="26574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1</a:t>
            </a:r>
          </a:p>
        </p:txBody>
      </p:sp>
      <p:sp>
        <p:nvSpPr>
          <p:cNvPr id="23" name="">
            <a:extLst xmlns:a="http://schemas.openxmlformats.org/drawingml/2006/main">
              <a:ext uri="{FF2B5EF4-FFF2-40B4-BE49-F238E27FC236}">
                <a16:creationId xmlns:a16="http://schemas.microsoft.com/office/drawing/2014/main" id="{C20C0552-D525-46FC-B742-EB72932629C6}"/>
              </a:ext>
            </a:extLst>
          </p:cNvPr>
          <p:cNvSpPr>
            <a:spLocks xmlns:a="http://schemas.openxmlformats.org/drawingml/2006/main" noGrp="1"/>
          </p:cNvSpPr>
          <p:nvPr/>
        </p:nvSpPr>
        <p:spPr>
          <a:xfrm xmlns:a="http://schemas.openxmlformats.org/drawingml/2006/main">
            <a:off x="4248150" y="2657475"/>
            <a:ext cx="247650" cy="2476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03D5122-5ED6-4D21-A10D-375800B923D6}"/>
              </a:ext>
            </a:extLst>
          </p:cNvPr>
          <p:cNvSpPr>
            <a:spLocks xmlns:a="http://schemas.openxmlformats.org/drawingml/2006/main" noGrp="1"/>
          </p:cNvSpPr>
          <p:nvPr/>
        </p:nvSpPr>
        <p:spPr>
          <a:xfrm xmlns:a="http://schemas.openxmlformats.org/drawingml/2006/main">
            <a:off x="4629150" y="25812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What links a grant across systems?</a:t>
            </a:r>
          </a:p>
        </p:txBody>
      </p:sp>
      <p:sp>
        <p:nvSpPr>
          <p:cNvPr id="25" name="">
            <a:extLst xmlns:a="http://schemas.openxmlformats.org/drawingml/2006/main">
              <a:ext uri="{FF2B5EF4-FFF2-40B4-BE49-F238E27FC236}">
                <a16:creationId xmlns:a16="http://schemas.microsoft.com/office/drawing/2014/main" id="{899B6E23-FE5D-47DA-B149-C1E51440FCE2}"/>
              </a:ext>
            </a:extLst>
          </p:cNvPr>
          <p:cNvSpPr>
            <a:spLocks xmlns:a="http://schemas.openxmlformats.org/drawingml/2006/main" noGrp="1"/>
          </p:cNvSpPr>
          <p:nvPr/>
        </p:nvSpPr>
        <p:spPr>
          <a:xfrm xmlns:a="http://schemas.openxmlformats.org/drawingml/2006/main">
            <a:off x="4248150" y="32861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2</a:t>
            </a:r>
          </a:p>
        </p:txBody>
      </p:sp>
      <p:sp>
        <p:nvSpPr>
          <p:cNvPr id="26" name="">
            <a:extLst xmlns:a="http://schemas.openxmlformats.org/drawingml/2006/main">
              <a:ext uri="{FF2B5EF4-FFF2-40B4-BE49-F238E27FC236}">
                <a16:creationId xmlns:a16="http://schemas.microsoft.com/office/drawing/2014/main" id="{B3462367-AC68-4F9A-8EA8-B4C7939990B6}"/>
              </a:ext>
            </a:extLst>
          </p:cNvPr>
          <p:cNvSpPr>
            <a:spLocks xmlns:a="http://schemas.openxmlformats.org/drawingml/2006/main" noGrp="1"/>
          </p:cNvSpPr>
          <p:nvPr/>
        </p:nvSpPr>
        <p:spPr>
          <a:xfrm xmlns:a="http://schemas.openxmlformats.org/drawingml/2006/main">
            <a:off x="4248150" y="3286125"/>
            <a:ext cx="247650" cy="2476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908F34C-DF38-43F1-9DED-685F938BB6B4}"/>
              </a:ext>
            </a:extLst>
          </p:cNvPr>
          <p:cNvSpPr>
            <a:spLocks xmlns:a="http://schemas.openxmlformats.org/drawingml/2006/main" noGrp="1"/>
          </p:cNvSpPr>
          <p:nvPr/>
        </p:nvSpPr>
        <p:spPr>
          <a:xfrm xmlns:a="http://schemas.openxmlformats.org/drawingml/2006/main">
            <a:off x="4629150" y="32099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Which source wins each field?</a:t>
            </a:r>
          </a:p>
        </p:txBody>
      </p:sp>
      <p:sp>
        <p:nvSpPr>
          <p:cNvPr id="28" name="">
            <a:extLst xmlns:a="http://schemas.openxmlformats.org/drawingml/2006/main">
              <a:ext uri="{FF2B5EF4-FFF2-40B4-BE49-F238E27FC236}">
                <a16:creationId xmlns:a16="http://schemas.microsoft.com/office/drawing/2014/main" id="{72F9DBD4-F5FB-4ADE-82FE-D79788B8E347}"/>
              </a:ext>
            </a:extLst>
          </p:cNvPr>
          <p:cNvSpPr>
            <a:spLocks xmlns:a="http://schemas.openxmlformats.org/drawingml/2006/main" noGrp="1"/>
          </p:cNvSpPr>
          <p:nvPr/>
        </p:nvSpPr>
        <p:spPr>
          <a:xfrm xmlns:a="http://schemas.openxmlformats.org/drawingml/2006/main">
            <a:off x="4248150" y="39147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3</a:t>
            </a:r>
          </a:p>
        </p:txBody>
      </p:sp>
      <p:sp>
        <p:nvSpPr>
          <p:cNvPr id="29" name="">
            <a:extLst xmlns:a="http://schemas.openxmlformats.org/drawingml/2006/main">
              <a:ext uri="{FF2B5EF4-FFF2-40B4-BE49-F238E27FC236}">
                <a16:creationId xmlns:a16="http://schemas.microsoft.com/office/drawing/2014/main" id="{7015217C-3D1F-40D2-BCA6-CCE31A0DBB76}"/>
              </a:ext>
            </a:extLst>
          </p:cNvPr>
          <p:cNvSpPr>
            <a:spLocks xmlns:a="http://schemas.openxmlformats.org/drawingml/2006/main" noGrp="1"/>
          </p:cNvSpPr>
          <p:nvPr/>
        </p:nvSpPr>
        <p:spPr>
          <a:xfrm xmlns:a="http://schemas.openxmlformats.org/drawingml/2006/main">
            <a:off x="4248150" y="3914775"/>
            <a:ext cx="247650" cy="2476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91E32E0B-3BEA-4A2D-B1D6-A11C056E4DD8}"/>
              </a:ext>
            </a:extLst>
          </p:cNvPr>
          <p:cNvSpPr>
            <a:spLocks xmlns:a="http://schemas.openxmlformats.org/drawingml/2006/main" noGrp="1"/>
          </p:cNvSpPr>
          <p:nvPr/>
        </p:nvSpPr>
        <p:spPr>
          <a:xfrm xmlns:a="http://schemas.openxmlformats.org/drawingml/2006/main">
            <a:off x="4629150" y="38385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Estimated or observed impact?</a:t>
            </a:r>
          </a:p>
        </p:txBody>
      </p:sp>
      <p:sp>
        <p:nvSpPr>
          <p:cNvPr id="31" name="">
            <a:extLst xmlns:a="http://schemas.openxmlformats.org/drawingml/2006/main">
              <a:ext uri="{FF2B5EF4-FFF2-40B4-BE49-F238E27FC236}">
                <a16:creationId xmlns:a16="http://schemas.microsoft.com/office/drawing/2014/main" id="{A2566AED-E224-41C3-BD78-7383FC38B3DD}"/>
              </a:ext>
            </a:extLst>
          </p:cNvPr>
          <p:cNvSpPr>
            <a:spLocks xmlns:a="http://schemas.openxmlformats.org/drawingml/2006/main" noGrp="1"/>
          </p:cNvSpPr>
          <p:nvPr/>
        </p:nvSpPr>
        <p:spPr>
          <a:xfrm xmlns:a="http://schemas.openxmlformats.org/drawingml/2006/main">
            <a:off x="4248150" y="45434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4</a:t>
            </a:r>
          </a:p>
        </p:txBody>
      </p:sp>
      <p:sp>
        <p:nvSpPr>
          <p:cNvPr id="32" name="">
            <a:extLst xmlns:a="http://schemas.openxmlformats.org/drawingml/2006/main">
              <a:ext uri="{FF2B5EF4-FFF2-40B4-BE49-F238E27FC236}">
                <a16:creationId xmlns:a16="http://schemas.microsoft.com/office/drawing/2014/main" id="{FF6847AA-4BEC-4B0F-A91A-D90F96ED179F}"/>
              </a:ext>
            </a:extLst>
          </p:cNvPr>
          <p:cNvSpPr>
            <a:spLocks xmlns:a="http://schemas.openxmlformats.org/drawingml/2006/main" noGrp="1"/>
          </p:cNvSpPr>
          <p:nvPr/>
        </p:nvSpPr>
        <p:spPr>
          <a:xfrm xmlns:a="http://schemas.openxmlformats.org/drawingml/2006/main">
            <a:off x="4248150" y="4543425"/>
            <a:ext cx="247650" cy="2476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AF9553A1-A552-4D6D-83C6-8D0772EBECF9}"/>
              </a:ext>
            </a:extLst>
          </p:cNvPr>
          <p:cNvSpPr>
            <a:spLocks xmlns:a="http://schemas.openxmlformats.org/drawingml/2006/main" noGrp="1"/>
          </p:cNvSpPr>
          <p:nvPr/>
        </p:nvSpPr>
        <p:spPr>
          <a:xfrm xmlns:a="http://schemas.openxmlformats.org/drawingml/2006/main">
            <a:off x="4629150" y="44672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Which metric definitions changed over time?</a:t>
            </a:r>
          </a:p>
        </p:txBody>
      </p:sp>
      <p:sp>
        <p:nvSpPr>
          <p:cNvPr id="34" name="">
            <a:extLst xmlns:a="http://schemas.openxmlformats.org/drawingml/2006/main">
              <a:ext uri="{FF2B5EF4-FFF2-40B4-BE49-F238E27FC236}">
                <a16:creationId xmlns:a16="http://schemas.microsoft.com/office/drawing/2014/main" id="{3374B437-69BC-4C63-964E-4B87A6CD0E1B}"/>
              </a:ext>
            </a:extLst>
          </p:cNvPr>
          <p:cNvSpPr>
            <a:spLocks xmlns:a="http://schemas.openxmlformats.org/drawingml/2006/main" noGrp="1"/>
          </p:cNvSpPr>
          <p:nvPr/>
        </p:nvSpPr>
        <p:spPr>
          <a:xfrm xmlns:a="http://schemas.openxmlformats.org/drawingml/2006/main">
            <a:off x="7829550" y="2076450"/>
            <a:ext cx="304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2F8A5D"/>
                </a:solidFill>
                <a:latin typeface="Helvetica Neue"/>
                <a:ea typeface="Helvetica Neue"/>
                <a:cs typeface="Helvetica Neue"/>
              </a:defRPr>
            </a:pPr>
            <a:r>
              <a:rPr sz="900" b="1">
                <a:solidFill>
                  <a:srgbClr val="2F8A5D"/>
                </a:solidFill>
                <a:latin typeface="Helvetica Neue"/>
                <a:ea typeface="Helvetica Neue"/>
                <a:cs typeface="Helvetica Neue"/>
              </a:rPr>
              <a:t>ACCESS + GOVERNANCE</a:t>
            </a:r>
          </a:p>
        </p:txBody>
      </p:sp>
      <p:sp>
        <p:nvSpPr>
          <p:cNvPr id="35" name="">
            <a:extLst xmlns:a="http://schemas.openxmlformats.org/drawingml/2006/main">
              <a:ext uri="{FF2B5EF4-FFF2-40B4-BE49-F238E27FC236}">
                <a16:creationId xmlns:a16="http://schemas.microsoft.com/office/drawing/2014/main" id="{154BC4B2-E4F9-49CA-AD8F-097DA165E80C}"/>
              </a:ext>
            </a:extLst>
          </p:cNvPr>
          <p:cNvSpPr>
            <a:spLocks xmlns:a="http://schemas.openxmlformats.org/drawingml/2006/main" noGrp="1"/>
          </p:cNvSpPr>
          <p:nvPr/>
        </p:nvSpPr>
        <p:spPr>
          <a:xfrm xmlns:a="http://schemas.openxmlformats.org/drawingml/2006/main">
            <a:off x="7829550" y="2428875"/>
            <a:ext cx="30861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36" name="">
            <a:extLst xmlns:a="http://schemas.openxmlformats.org/drawingml/2006/main">
              <a:ext uri="{FF2B5EF4-FFF2-40B4-BE49-F238E27FC236}">
                <a16:creationId xmlns:a16="http://schemas.microsoft.com/office/drawing/2014/main" id="{426C8CDA-8C9B-4AF7-8301-ACD55AFF29A4}"/>
              </a:ext>
            </a:extLst>
          </p:cNvPr>
          <p:cNvSpPr>
            <a:spLocks xmlns:a="http://schemas.openxmlformats.org/drawingml/2006/main" noGrp="1"/>
          </p:cNvSpPr>
          <p:nvPr/>
        </p:nvSpPr>
        <p:spPr>
          <a:xfrm xmlns:a="http://schemas.openxmlformats.org/drawingml/2006/main">
            <a:off x="7829550" y="26574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1</a:t>
            </a:r>
          </a:p>
        </p:txBody>
      </p:sp>
      <p:sp>
        <p:nvSpPr>
          <p:cNvPr id="37" name="">
            <a:extLst xmlns:a="http://schemas.openxmlformats.org/drawingml/2006/main">
              <a:ext uri="{FF2B5EF4-FFF2-40B4-BE49-F238E27FC236}">
                <a16:creationId xmlns:a16="http://schemas.microsoft.com/office/drawing/2014/main" id="{4DCCBEAD-C31F-448C-8C36-1900DC2BC7CF}"/>
              </a:ext>
            </a:extLst>
          </p:cNvPr>
          <p:cNvSpPr>
            <a:spLocks xmlns:a="http://schemas.openxmlformats.org/drawingml/2006/main" noGrp="1"/>
          </p:cNvSpPr>
          <p:nvPr/>
        </p:nvSpPr>
        <p:spPr>
          <a:xfrm xmlns:a="http://schemas.openxmlformats.org/drawingml/2006/main">
            <a:off x="7829550" y="2657475"/>
            <a:ext cx="247650" cy="24765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F70D32CD-592A-4D61-9863-287488B7F689}"/>
              </a:ext>
            </a:extLst>
          </p:cNvPr>
          <p:cNvSpPr>
            <a:spLocks xmlns:a="http://schemas.openxmlformats.org/drawingml/2006/main" noGrp="1"/>
          </p:cNvSpPr>
          <p:nvPr/>
        </p:nvSpPr>
        <p:spPr>
          <a:xfrm xmlns:a="http://schemas.openxmlformats.org/drawingml/2006/main">
            <a:off x="8210550" y="25812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Who may read each collection?</a:t>
            </a:r>
          </a:p>
        </p:txBody>
      </p:sp>
      <p:sp>
        <p:nvSpPr>
          <p:cNvPr id="39" name="">
            <a:extLst xmlns:a="http://schemas.openxmlformats.org/drawingml/2006/main">
              <a:ext uri="{FF2B5EF4-FFF2-40B4-BE49-F238E27FC236}">
                <a16:creationId xmlns:a16="http://schemas.microsoft.com/office/drawing/2014/main" id="{554DE7AC-A5C9-4AE5-A5A0-0D3E7A4CDB98}"/>
              </a:ext>
            </a:extLst>
          </p:cNvPr>
          <p:cNvSpPr>
            <a:spLocks xmlns:a="http://schemas.openxmlformats.org/drawingml/2006/main" noGrp="1"/>
          </p:cNvSpPr>
          <p:nvPr/>
        </p:nvSpPr>
        <p:spPr>
          <a:xfrm xmlns:a="http://schemas.openxmlformats.org/drawingml/2006/main">
            <a:off x="7829550" y="32861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2</a:t>
            </a:r>
          </a:p>
        </p:txBody>
      </p:sp>
      <p:sp>
        <p:nvSpPr>
          <p:cNvPr id="40" name="">
            <a:extLst xmlns:a="http://schemas.openxmlformats.org/drawingml/2006/main">
              <a:ext uri="{FF2B5EF4-FFF2-40B4-BE49-F238E27FC236}">
                <a16:creationId xmlns:a16="http://schemas.microsoft.com/office/drawing/2014/main" id="{FDBBD4AE-1066-490A-B991-7270F73ABB86}"/>
              </a:ext>
            </a:extLst>
          </p:cNvPr>
          <p:cNvSpPr>
            <a:spLocks xmlns:a="http://schemas.openxmlformats.org/drawingml/2006/main" noGrp="1"/>
          </p:cNvSpPr>
          <p:nvPr/>
        </p:nvSpPr>
        <p:spPr>
          <a:xfrm xmlns:a="http://schemas.openxmlformats.org/drawingml/2006/main">
            <a:off x="7829550" y="3286125"/>
            <a:ext cx="247650" cy="24765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B1064186-DFFF-40BF-8E6D-9A33E7A09497}"/>
              </a:ext>
            </a:extLst>
          </p:cNvPr>
          <p:cNvSpPr>
            <a:spLocks xmlns:a="http://schemas.openxmlformats.org/drawingml/2006/main" noGrp="1"/>
          </p:cNvSpPr>
          <p:nvPr/>
        </p:nvSpPr>
        <p:spPr>
          <a:xfrm xmlns:a="http://schemas.openxmlformats.org/drawingml/2006/main">
            <a:off x="8210550" y="32099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Which content is never indexed?</a:t>
            </a:r>
          </a:p>
        </p:txBody>
      </p:sp>
      <p:sp>
        <p:nvSpPr>
          <p:cNvPr id="42" name="">
            <a:extLst xmlns:a="http://schemas.openxmlformats.org/drawingml/2006/main">
              <a:ext uri="{FF2B5EF4-FFF2-40B4-BE49-F238E27FC236}">
                <a16:creationId xmlns:a16="http://schemas.microsoft.com/office/drawing/2014/main" id="{C6864A15-8EC5-4A75-A415-A3FD1410752A}"/>
              </a:ext>
            </a:extLst>
          </p:cNvPr>
          <p:cNvSpPr>
            <a:spLocks xmlns:a="http://schemas.openxmlformats.org/drawingml/2006/main" noGrp="1"/>
          </p:cNvSpPr>
          <p:nvPr/>
        </p:nvSpPr>
        <p:spPr>
          <a:xfrm xmlns:a="http://schemas.openxmlformats.org/drawingml/2006/main">
            <a:off x="7829550" y="39147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3</a:t>
            </a:r>
          </a:p>
        </p:txBody>
      </p:sp>
      <p:sp>
        <p:nvSpPr>
          <p:cNvPr id="43" name="">
            <a:extLst xmlns:a="http://schemas.openxmlformats.org/drawingml/2006/main">
              <a:ext uri="{FF2B5EF4-FFF2-40B4-BE49-F238E27FC236}">
                <a16:creationId xmlns:a16="http://schemas.microsoft.com/office/drawing/2014/main" id="{BCBC0083-45C5-4E20-9CDD-884C45385701}"/>
              </a:ext>
            </a:extLst>
          </p:cNvPr>
          <p:cNvSpPr>
            <a:spLocks xmlns:a="http://schemas.openxmlformats.org/drawingml/2006/main" noGrp="1"/>
          </p:cNvSpPr>
          <p:nvPr/>
        </p:nvSpPr>
        <p:spPr>
          <a:xfrm xmlns:a="http://schemas.openxmlformats.org/drawingml/2006/main">
            <a:off x="7829550" y="3914775"/>
            <a:ext cx="247650" cy="24765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FDFED0B2-EF11-4264-89CC-63D17640FDE5}"/>
              </a:ext>
            </a:extLst>
          </p:cNvPr>
          <p:cNvSpPr>
            <a:spLocks xmlns:a="http://schemas.openxmlformats.org/drawingml/2006/main" noGrp="1"/>
          </p:cNvSpPr>
          <p:nvPr/>
        </p:nvSpPr>
        <p:spPr>
          <a:xfrm xmlns:a="http://schemas.openxmlformats.org/drawingml/2006/main">
            <a:off x="8210550" y="38385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Does Zoom retain five years?</a:t>
            </a:r>
          </a:p>
        </p:txBody>
      </p:sp>
      <p:sp>
        <p:nvSpPr>
          <p:cNvPr id="45" name="">
            <a:extLst xmlns:a="http://schemas.openxmlformats.org/drawingml/2006/main">
              <a:ext uri="{FF2B5EF4-FFF2-40B4-BE49-F238E27FC236}">
                <a16:creationId xmlns:a16="http://schemas.microsoft.com/office/drawing/2014/main" id="{E84FF1BA-7917-4210-B910-682B1A0A435E}"/>
              </a:ext>
            </a:extLst>
          </p:cNvPr>
          <p:cNvSpPr>
            <a:spLocks xmlns:a="http://schemas.openxmlformats.org/drawingml/2006/main" noGrp="1"/>
          </p:cNvSpPr>
          <p:nvPr/>
        </p:nvSpPr>
        <p:spPr>
          <a:xfrm xmlns:a="http://schemas.openxmlformats.org/drawingml/2006/main">
            <a:off x="7829550" y="45434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4</a:t>
            </a:r>
          </a:p>
        </p:txBody>
      </p:sp>
      <p:sp>
        <p:nvSpPr>
          <p:cNvPr id="46" name="">
            <a:extLst xmlns:a="http://schemas.openxmlformats.org/drawingml/2006/main">
              <a:ext uri="{FF2B5EF4-FFF2-40B4-BE49-F238E27FC236}">
                <a16:creationId xmlns:a16="http://schemas.microsoft.com/office/drawing/2014/main" id="{921CDC58-0711-4145-BE1D-8791456DDE0C}"/>
              </a:ext>
            </a:extLst>
          </p:cNvPr>
          <p:cNvSpPr>
            <a:spLocks xmlns:a="http://schemas.openxmlformats.org/drawingml/2006/main" noGrp="1"/>
          </p:cNvSpPr>
          <p:nvPr/>
        </p:nvSpPr>
        <p:spPr>
          <a:xfrm xmlns:a="http://schemas.openxmlformats.org/drawingml/2006/main">
            <a:off x="7829550" y="4543425"/>
            <a:ext cx="247650" cy="24765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7E6DBB43-3190-4927-9549-5497688012E0}"/>
              </a:ext>
            </a:extLst>
          </p:cNvPr>
          <p:cNvSpPr>
            <a:spLocks xmlns:a="http://schemas.openxmlformats.org/drawingml/2006/main" noGrp="1"/>
          </p:cNvSpPr>
          <p:nvPr/>
        </p:nvSpPr>
        <p:spPr>
          <a:xfrm xmlns:a="http://schemas.openxmlformats.org/drawingml/2006/main">
            <a:off x="8210550" y="44672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What must delete when the source deletes?</a:t>
            </a:r>
          </a:p>
        </p:txBody>
      </p:sp>
      <p:sp>
        <p:nvSpPr>
          <p:cNvPr id="48" name="">
            <a:extLst xmlns:a="http://schemas.openxmlformats.org/drawingml/2006/main">
              <a:ext uri="{FF2B5EF4-FFF2-40B4-BE49-F238E27FC236}">
                <a16:creationId xmlns:a16="http://schemas.microsoft.com/office/drawing/2014/main" id="{758FE9E9-85B6-4668-BEDF-41367E91F462}"/>
              </a:ext>
            </a:extLst>
          </p:cNvPr>
          <p:cNvSpPr>
            <a:spLocks xmlns:a="http://schemas.openxmlformats.org/drawingml/2006/main" noGrp="1"/>
          </p:cNvSpPr>
          <p:nvPr/>
        </p:nvSpPr>
        <p:spPr>
          <a:xfrm xmlns:a="http://schemas.openxmlformats.org/drawingml/2006/main">
            <a:off x="666750" y="5467350"/>
            <a:ext cx="10191750" cy="552450"/>
          </a:xfrm>
          <a:prstGeom xmlns:a="http://schemas.openxmlformats.org/drawingml/2006/main" prst="roundRect">
            <a:avLst>
              <a:gd name="adj" fmla="val 27586"/>
            </a:avLst>
          </a:prstGeom>
          <a:solidFill xmlns:a="http://schemas.openxmlformats.org/drawingml/2006/main">
            <a:srgbClr val="25152B"/>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BCE60757-7ED7-4324-8F39-24294AA0E38A}"/>
              </a:ext>
            </a:extLst>
          </p:cNvPr>
          <p:cNvSpPr>
            <a:spLocks xmlns:a="http://schemas.openxmlformats.org/drawingml/2006/main" noGrp="1"/>
          </p:cNvSpPr>
          <p:nvPr/>
        </p:nvSpPr>
        <p:spPr>
          <a:xfrm xmlns:a="http://schemas.openxmlformats.org/drawingml/2006/main">
            <a:off x="895350" y="5581650"/>
            <a:ext cx="9734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Output: gold question set  •  source-of-truth matrix  •  permission map  •  baseline task times</a:t>
            </a:r>
          </a:p>
        </p:txBody>
      </p:sp>
    </p:spTree>
    <p:extLst>
      <p:ext uri="{BB962C8B-B14F-4D97-AF65-F5344CB8AC3E}">
        <p14:creationId xmlns:p14="http://schemas.microsoft.com/office/powerpoint/2010/main" val="1334574969"/>
      </p:ext>
    </p:extLst>
  </p:cSld>
</p:sld>
</file>

<file path=ppt/slides/slide4.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3A47FF5B-6144-4DC2-A559-453EBD0E97B8}"/>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THE PRODUCT</a:t>
            </a:r>
          </a:p>
        </p:txBody>
      </p:sp>
      <p:sp>
        <p:nvSpPr>
          <p:cNvPr id="2" name="">
            <a:extLst xmlns:a="http://schemas.openxmlformats.org/drawingml/2006/main">
              <a:ext uri="{FF2B5EF4-FFF2-40B4-BE49-F238E27FC236}">
                <a16:creationId xmlns:a16="http://schemas.microsoft.com/office/drawing/2014/main" id="{6DB3C8A3-DA62-4FDC-904B-BE50D50E97C9}"/>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D06176E5-1A93-4B65-976C-A8956820A6A6}"/>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F1419997-F0F6-4606-A4C5-0F0B657A68ED}"/>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Compass returns an evidence brief</a:t>
            </a:r>
          </a:p>
        </p:txBody>
      </p:sp>
      <p:sp>
        <p:nvSpPr>
          <p:cNvPr id="5" name="">
            <a:extLst xmlns:a="http://schemas.openxmlformats.org/drawingml/2006/main">
              <a:ext uri="{FF2B5EF4-FFF2-40B4-BE49-F238E27FC236}">
                <a16:creationId xmlns:a16="http://schemas.microsoft.com/office/drawing/2014/main" id="{F95FACDA-3F03-47D4-868D-3493B3983935}"/>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The interface makes provenance, coverage, and uncertainty part of the answer.</a:t>
            </a:r>
          </a:p>
        </p:txBody>
      </p:sp>
      <p:sp>
        <p:nvSpPr>
          <p:cNvPr id="6" name="">
            <a:extLst xmlns:a="http://schemas.openxmlformats.org/drawingml/2006/main">
              <a:ext uri="{FF2B5EF4-FFF2-40B4-BE49-F238E27FC236}">
                <a16:creationId xmlns:a16="http://schemas.microsoft.com/office/drawing/2014/main" id="{37383921-5F91-4535-845B-11F3ABC11C2D}"/>
              </a:ext>
            </a:extLst>
          </p:cNvPr>
          <p:cNvSpPr>
            <a:spLocks xmlns:a="http://schemas.openxmlformats.org/drawingml/2006/main" noGrp="1"/>
          </p:cNvSpPr>
          <p:nvPr/>
        </p:nvSpPr>
        <p:spPr>
          <a:xfrm xmlns:a="http://schemas.openxmlformats.org/drawingml/2006/main">
            <a:off x="666750" y="1962150"/>
            <a:ext cx="10858500" cy="3733800"/>
          </a:xfrm>
          <a:prstGeom xmlns:a="http://schemas.openxmlformats.org/drawingml/2006/main" prst="roundRect">
            <a:avLst>
              <a:gd name="adj" fmla="val 5102"/>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CD678B44-B4A8-4919-A3E1-F10338376CB6}"/>
              </a:ext>
            </a:extLst>
          </p:cNvPr>
          <p:cNvSpPr>
            <a:spLocks xmlns:a="http://schemas.openxmlformats.org/drawingml/2006/main" noGrp="1"/>
          </p:cNvSpPr>
          <p:nvPr/>
        </p:nvSpPr>
        <p:spPr>
          <a:xfrm xmlns:a="http://schemas.openxmlformats.org/drawingml/2006/main">
            <a:off x="895350" y="2190750"/>
            <a:ext cx="10401300" cy="476250"/>
          </a:xfrm>
          <a:prstGeom xmlns:a="http://schemas.openxmlformats.org/drawingml/2006/main" prst="roundRect">
            <a:avLst>
              <a:gd name="adj" fmla="val 26000"/>
            </a:avLst>
          </a:prstGeom>
          <a:solidFill xmlns:a="http://schemas.openxmlformats.org/drawingml/2006/main">
            <a:srgbClr val="F7F4E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D844781-7E5F-4985-8B5F-46AB4A329CFE}"/>
              </a:ext>
            </a:extLst>
          </p:cNvPr>
          <p:cNvSpPr>
            <a:spLocks xmlns:a="http://schemas.openxmlformats.org/drawingml/2006/main" noGrp="1"/>
          </p:cNvSpPr>
          <p:nvPr/>
        </p:nvSpPr>
        <p:spPr>
          <a:xfrm xmlns:a="http://schemas.openxmlformats.org/drawingml/2006/main">
            <a:off x="1162050" y="22764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What are we learning about AI-enabled career navigation?</a:t>
            </a:r>
          </a:p>
        </p:txBody>
      </p:sp>
      <p:sp>
        <p:nvSpPr>
          <p:cNvPr id="9" name="">
            <a:extLst xmlns:a="http://schemas.openxmlformats.org/drawingml/2006/main">
              <a:ext uri="{FF2B5EF4-FFF2-40B4-BE49-F238E27FC236}">
                <a16:creationId xmlns:a16="http://schemas.microsoft.com/office/drawing/2014/main" id="{E8C32267-A0FA-47AB-8344-2EE9E6CD4A51}"/>
              </a:ext>
            </a:extLst>
          </p:cNvPr>
          <p:cNvSpPr>
            <a:spLocks xmlns:a="http://schemas.openxmlformats.org/drawingml/2006/main" noGrp="1"/>
          </p:cNvSpPr>
          <p:nvPr/>
        </p:nvSpPr>
        <p:spPr>
          <a:xfrm xmlns:a="http://schemas.openxmlformats.org/drawingml/2006/main">
            <a:off x="10287000" y="2257425"/>
            <a:ext cx="857250" cy="342900"/>
          </a:xfrm>
          <a:prstGeom xmlns:a="http://schemas.openxmlformats.org/drawingml/2006/main" prst="roundRect">
            <a:avLst>
              <a:gd name="adj" fmla="val 33333"/>
            </a:avLst>
          </a:prstGeom>
          <a:solidFill xmlns:a="http://schemas.openxmlformats.org/drawingml/2006/main">
            <a:srgbClr val="E94B2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44F7B5D-F00F-47FB-8BB8-CDA4B46A612F}"/>
              </a:ext>
            </a:extLst>
          </p:cNvPr>
          <p:cNvSpPr>
            <a:spLocks xmlns:a="http://schemas.openxmlformats.org/drawingml/2006/main" noGrp="1"/>
          </p:cNvSpPr>
          <p:nvPr/>
        </p:nvSpPr>
        <p:spPr>
          <a:xfrm xmlns:a="http://schemas.openxmlformats.org/drawingml/2006/main">
            <a:off x="10496550" y="2324100"/>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Ask</a:t>
            </a:r>
          </a:p>
        </p:txBody>
      </p:sp>
      <p:sp>
        <p:nvSpPr>
          <p:cNvPr id="11" name="">
            <a:extLst xmlns:a="http://schemas.openxmlformats.org/drawingml/2006/main">
              <a:ext uri="{FF2B5EF4-FFF2-40B4-BE49-F238E27FC236}">
                <a16:creationId xmlns:a16="http://schemas.microsoft.com/office/drawing/2014/main" id="{B998EA65-3719-4DB3-8BC6-166525C4CCE5}"/>
              </a:ext>
            </a:extLst>
          </p:cNvPr>
          <p:cNvSpPr>
            <a:spLocks xmlns:a="http://schemas.openxmlformats.org/drawingml/2006/main" noGrp="1"/>
          </p:cNvSpPr>
          <p:nvPr/>
        </p:nvSpPr>
        <p:spPr>
          <a:xfrm xmlns:a="http://schemas.openxmlformats.org/drawingml/2006/main">
            <a:off x="895350" y="29051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B86A14"/>
                </a:solidFill>
                <a:latin typeface="Helvetica Neue"/>
                <a:ea typeface="Helvetica Neue"/>
                <a:cs typeface="Helvetica Neue"/>
              </a:defRPr>
            </a:pPr>
            <a:r>
              <a:rPr sz="750" b="1">
                <a:solidFill>
                  <a:srgbClr val="B86A14"/>
                </a:solidFill>
                <a:latin typeface="Helvetica Neue"/>
                <a:ea typeface="Helvetica Neue"/>
                <a:cs typeface="Helvetica Neue"/>
              </a:rPr>
              <a:t>MEDIUM EVIDENCE CONFIDENCE</a:t>
            </a:r>
          </a:p>
        </p:txBody>
      </p:sp>
      <p:sp>
        <p:nvSpPr>
          <p:cNvPr id="12" name="">
            <a:extLst xmlns:a="http://schemas.openxmlformats.org/drawingml/2006/main">
              <a:ext uri="{FF2B5EF4-FFF2-40B4-BE49-F238E27FC236}">
                <a16:creationId xmlns:a16="http://schemas.microsoft.com/office/drawing/2014/main" id="{55861B86-CF7D-4D82-85A3-9772BFF10DBC}"/>
              </a:ext>
            </a:extLst>
          </p:cNvPr>
          <p:cNvSpPr>
            <a:spLocks xmlns:a="http://schemas.openxmlformats.org/drawingml/2006/main" noGrp="1"/>
          </p:cNvSpPr>
          <p:nvPr/>
        </p:nvSpPr>
        <p:spPr>
          <a:xfrm xmlns:a="http://schemas.openxmlformats.org/drawingml/2006/main">
            <a:off x="895350" y="3209925"/>
            <a:ext cx="685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215"/>
          </a:bodyPr>
          <a:lstStyle xmlns:a="http://schemas.openxmlformats.org/drawingml/2006/main"/>
          <a:p xmlns:a="http://schemas.openxmlformats.org/drawingml/2006/main">
            <a:pPr>
              <a:defRPr sz="1800" b="1">
                <a:solidFill>
                  <a:srgbClr val="25152B"/>
                </a:solidFill>
                <a:latin typeface="Helvetica Neue"/>
                <a:ea typeface="Helvetica Neue"/>
                <a:cs typeface="Helvetica Neue"/>
              </a:defRPr>
            </a:pPr>
            <a:r>
              <a:rPr sz="1800" b="1">
                <a:solidFill>
                  <a:srgbClr val="25152B"/>
                </a:solidFill>
                <a:latin typeface="Helvetica Neue"/>
                <a:ea typeface="Helvetica Neue"/>
                <a:cs typeface="Helvetica Neue"/>
              </a:rPr>
              <a:t>Early signals are promising; outcome evidence still trails usage data</a:t>
            </a:r>
          </a:p>
        </p:txBody>
      </p:sp>
      <p:sp>
        <p:nvSpPr>
          <p:cNvPr id="13" name="">
            <a:extLst xmlns:a="http://schemas.openxmlformats.org/drawingml/2006/main">
              <a:ext uri="{FF2B5EF4-FFF2-40B4-BE49-F238E27FC236}">
                <a16:creationId xmlns:a16="http://schemas.microsoft.com/office/drawing/2014/main" id="{81899958-A434-4EAF-83A4-2C792A18B210}"/>
              </a:ext>
            </a:extLst>
          </p:cNvPr>
          <p:cNvSpPr>
            <a:spLocks xmlns:a="http://schemas.openxmlformats.org/drawingml/2006/main" noGrp="1"/>
          </p:cNvSpPr>
          <p:nvPr/>
        </p:nvSpPr>
        <p:spPr>
          <a:xfrm xmlns:a="http://schemas.openxmlformats.org/drawingml/2006/main">
            <a:off x="895350" y="3790950"/>
            <a:ext cx="676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Across three active grants, participants use AI navigation most when recommendations connect to a live coach or an employer pathway. None yet isolates a sustained earnings effect.</a:t>
            </a:r>
          </a:p>
        </p:txBody>
      </p:sp>
      <p:sp>
        <p:nvSpPr>
          <p:cNvPr id="14" name="">
            <a:extLst xmlns:a="http://schemas.openxmlformats.org/drawingml/2006/main">
              <a:ext uri="{FF2B5EF4-FFF2-40B4-BE49-F238E27FC236}">
                <a16:creationId xmlns:a16="http://schemas.microsoft.com/office/drawing/2014/main" id="{0AE25FA3-C975-4C04-AE0C-BAA190C767B2}"/>
              </a:ext>
            </a:extLst>
          </p:cNvPr>
          <p:cNvSpPr>
            <a:spLocks xmlns:a="http://schemas.openxmlformats.org/drawingml/2006/main" noGrp="1"/>
          </p:cNvSpPr>
          <p:nvPr/>
        </p:nvSpPr>
        <p:spPr>
          <a:xfrm xmlns:a="http://schemas.openxmlformats.org/drawingml/2006/main">
            <a:off x="895350" y="4648200"/>
            <a:ext cx="1847850" cy="704850"/>
          </a:xfrm>
          <a:prstGeom xmlns:a="http://schemas.openxmlformats.org/drawingml/2006/main" prst="roundRect">
            <a:avLst>
              <a:gd name="adj" fmla="val 16216"/>
            </a:avLst>
          </a:prstGeom>
          <a:solidFill xmlns:a="http://schemas.openxmlformats.org/drawingml/2006/main">
            <a:srgbClr val="F7F4E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A2570B3-8AF6-49E5-BCAA-430B3BCF8FD8}"/>
              </a:ext>
            </a:extLst>
          </p:cNvPr>
          <p:cNvSpPr>
            <a:spLocks xmlns:a="http://schemas.openxmlformats.org/drawingml/2006/main" noGrp="1"/>
          </p:cNvSpPr>
          <p:nvPr/>
        </p:nvSpPr>
        <p:spPr>
          <a:xfrm xmlns:a="http://schemas.openxmlformats.org/drawingml/2006/main">
            <a:off x="1047750" y="4733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defRPr sz="1650" b="1">
                <a:solidFill>
                  <a:srgbClr val="25152B"/>
                </a:solidFill>
                <a:latin typeface="Helvetica Neue"/>
                <a:ea typeface="Helvetica Neue"/>
                <a:cs typeface="Helvetica Neue"/>
              </a:defRPr>
            </a:pPr>
            <a:r>
              <a:rPr sz="1650" b="1">
                <a:solidFill>
                  <a:srgbClr val="25152B"/>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986CA8E1-70EC-490A-A0E2-CCF88A9FFAC4}"/>
              </a:ext>
            </a:extLst>
          </p:cNvPr>
          <p:cNvSpPr>
            <a:spLocks xmlns:a="http://schemas.openxmlformats.org/drawingml/2006/main" noGrp="1"/>
          </p:cNvSpPr>
          <p:nvPr/>
        </p:nvSpPr>
        <p:spPr>
          <a:xfrm xmlns:a="http://schemas.openxmlformats.org/drawingml/2006/main">
            <a:off x="1047750" y="50196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76D79"/>
                </a:solidFill>
                <a:latin typeface="Helvetica Neue"/>
                <a:ea typeface="Helvetica Neue"/>
                <a:cs typeface="Helvetica Neue"/>
              </a:defRPr>
            </a:pPr>
            <a:r>
              <a:rPr sz="750" b="0">
                <a:solidFill>
                  <a:srgbClr val="776D79"/>
                </a:solidFill>
                <a:latin typeface="Helvetica Neue"/>
                <a:ea typeface="Helvetica Neue"/>
                <a:cs typeface="Helvetica Neue"/>
              </a:rPr>
              <a:t>relevant grants</a:t>
            </a:r>
          </a:p>
        </p:txBody>
      </p:sp>
      <p:sp>
        <p:nvSpPr>
          <p:cNvPr id="17" name="">
            <a:extLst xmlns:a="http://schemas.openxmlformats.org/drawingml/2006/main">
              <a:ext uri="{FF2B5EF4-FFF2-40B4-BE49-F238E27FC236}">
                <a16:creationId xmlns:a16="http://schemas.microsoft.com/office/drawing/2014/main" id="{6E74C066-48ED-4E4A-9E3F-AE33163B86B4}"/>
              </a:ext>
            </a:extLst>
          </p:cNvPr>
          <p:cNvSpPr>
            <a:spLocks xmlns:a="http://schemas.openxmlformats.org/drawingml/2006/main" noGrp="1"/>
          </p:cNvSpPr>
          <p:nvPr/>
        </p:nvSpPr>
        <p:spPr>
          <a:xfrm xmlns:a="http://schemas.openxmlformats.org/drawingml/2006/main">
            <a:off x="2895600" y="4648200"/>
            <a:ext cx="1847850" cy="704850"/>
          </a:xfrm>
          <a:prstGeom xmlns:a="http://schemas.openxmlformats.org/drawingml/2006/main" prst="roundRect">
            <a:avLst>
              <a:gd name="adj" fmla="val 16216"/>
            </a:avLst>
          </a:prstGeom>
          <a:solidFill xmlns:a="http://schemas.openxmlformats.org/drawingml/2006/main">
            <a:srgbClr val="F7F4E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A3F7463-BE32-4787-84BA-725015CFE9D9}"/>
              </a:ext>
            </a:extLst>
          </p:cNvPr>
          <p:cNvSpPr>
            <a:spLocks xmlns:a="http://schemas.openxmlformats.org/drawingml/2006/main" noGrp="1"/>
          </p:cNvSpPr>
          <p:nvPr/>
        </p:nvSpPr>
        <p:spPr>
          <a:xfrm xmlns:a="http://schemas.openxmlformats.org/drawingml/2006/main">
            <a:off x="3048000" y="4733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defRPr sz="1650" b="1">
                <a:solidFill>
                  <a:srgbClr val="25152B"/>
                </a:solidFill>
                <a:latin typeface="Helvetica Neue"/>
                <a:ea typeface="Helvetica Neue"/>
                <a:cs typeface="Helvetica Neue"/>
              </a:defRPr>
            </a:pPr>
            <a:r>
              <a:rPr sz="1650" b="1">
                <a:solidFill>
                  <a:srgbClr val="25152B"/>
                </a:solidFill>
                <a:latin typeface="Helvetica Neue"/>
                <a:ea typeface="Helvetica Neue"/>
                <a:cs typeface="Helvetica Neue"/>
              </a:rPr>
              <a:t>2/3</a:t>
            </a:r>
          </a:p>
        </p:txBody>
      </p:sp>
      <p:sp>
        <p:nvSpPr>
          <p:cNvPr id="19" name="">
            <a:extLst xmlns:a="http://schemas.openxmlformats.org/drawingml/2006/main">
              <a:ext uri="{FF2B5EF4-FFF2-40B4-BE49-F238E27FC236}">
                <a16:creationId xmlns:a16="http://schemas.microsoft.com/office/drawing/2014/main" id="{C65FF538-7DDC-4C07-AF16-B3DBF8910C09}"/>
              </a:ext>
            </a:extLst>
          </p:cNvPr>
          <p:cNvSpPr>
            <a:spLocks xmlns:a="http://schemas.openxmlformats.org/drawingml/2006/main" noGrp="1"/>
          </p:cNvSpPr>
          <p:nvPr/>
        </p:nvSpPr>
        <p:spPr>
          <a:xfrm xmlns:a="http://schemas.openxmlformats.org/drawingml/2006/main">
            <a:off x="3048000" y="50196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76D79"/>
                </a:solidFill>
                <a:latin typeface="Helvetica Neue"/>
                <a:ea typeface="Helvetica Neue"/>
                <a:cs typeface="Helvetica Neue"/>
              </a:defRPr>
            </a:pPr>
            <a:r>
              <a:rPr sz="750" b="0">
                <a:solidFill>
                  <a:srgbClr val="776D79"/>
                </a:solidFill>
                <a:latin typeface="Helvetica Neue"/>
                <a:ea typeface="Helvetica Neue"/>
                <a:cs typeface="Helvetica Neue"/>
              </a:rPr>
              <a:t>early outcomes</a:t>
            </a:r>
          </a:p>
        </p:txBody>
      </p:sp>
      <p:sp>
        <p:nvSpPr>
          <p:cNvPr id="20" name="">
            <a:extLst xmlns:a="http://schemas.openxmlformats.org/drawingml/2006/main">
              <a:ext uri="{FF2B5EF4-FFF2-40B4-BE49-F238E27FC236}">
                <a16:creationId xmlns:a16="http://schemas.microsoft.com/office/drawing/2014/main" id="{2D3A9E7B-1417-4069-A130-EA9F7BEFE28C}"/>
              </a:ext>
            </a:extLst>
          </p:cNvPr>
          <p:cNvSpPr>
            <a:spLocks xmlns:a="http://schemas.openxmlformats.org/drawingml/2006/main" noGrp="1"/>
          </p:cNvSpPr>
          <p:nvPr/>
        </p:nvSpPr>
        <p:spPr>
          <a:xfrm xmlns:a="http://schemas.openxmlformats.org/drawingml/2006/main">
            <a:off x="4895850" y="4648200"/>
            <a:ext cx="1847850" cy="704850"/>
          </a:xfrm>
          <a:prstGeom xmlns:a="http://schemas.openxmlformats.org/drawingml/2006/main" prst="roundRect">
            <a:avLst>
              <a:gd name="adj" fmla="val 16216"/>
            </a:avLst>
          </a:prstGeom>
          <a:solidFill xmlns:a="http://schemas.openxmlformats.org/drawingml/2006/main">
            <a:srgbClr val="F7F4E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7C24F94-8822-4E6D-83E9-2B3704B2900E}"/>
              </a:ext>
            </a:extLst>
          </p:cNvPr>
          <p:cNvSpPr>
            <a:spLocks xmlns:a="http://schemas.openxmlformats.org/drawingml/2006/main" noGrp="1"/>
          </p:cNvSpPr>
          <p:nvPr/>
        </p:nvSpPr>
        <p:spPr>
          <a:xfrm xmlns:a="http://schemas.openxmlformats.org/drawingml/2006/main">
            <a:off x="5048250" y="4733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defRPr sz="1650" b="1">
                <a:solidFill>
                  <a:srgbClr val="25152B"/>
                </a:solidFill>
                <a:latin typeface="Helvetica Neue"/>
                <a:ea typeface="Helvetica Neue"/>
                <a:cs typeface="Helvetica Neue"/>
              </a:defRPr>
            </a:pPr>
            <a:r>
              <a:rPr sz="1650" b="1">
                <a:solidFill>
                  <a:srgbClr val="25152B"/>
                </a:solidFill>
                <a:latin typeface="Helvetica Neue"/>
                <a:ea typeface="Helvetica Neue"/>
                <a:cs typeface="Helvetica Neue"/>
              </a:rPr>
              <a:t>0</a:t>
            </a:r>
          </a:p>
        </p:txBody>
      </p:sp>
      <p:sp>
        <p:nvSpPr>
          <p:cNvPr id="22" name="">
            <a:extLst xmlns:a="http://schemas.openxmlformats.org/drawingml/2006/main">
              <a:ext uri="{FF2B5EF4-FFF2-40B4-BE49-F238E27FC236}">
                <a16:creationId xmlns:a16="http://schemas.microsoft.com/office/drawing/2014/main" id="{18EB1399-B588-47F2-BDC7-F97E0FDF1F6D}"/>
              </a:ext>
            </a:extLst>
          </p:cNvPr>
          <p:cNvSpPr>
            <a:spLocks xmlns:a="http://schemas.openxmlformats.org/drawingml/2006/main" noGrp="1"/>
          </p:cNvSpPr>
          <p:nvPr/>
        </p:nvSpPr>
        <p:spPr>
          <a:xfrm xmlns:a="http://schemas.openxmlformats.org/drawingml/2006/main">
            <a:off x="5048250" y="50196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76D79"/>
                </a:solidFill>
                <a:latin typeface="Helvetica Neue"/>
                <a:ea typeface="Helvetica Neue"/>
                <a:cs typeface="Helvetica Neue"/>
              </a:defRPr>
            </a:pPr>
            <a:r>
              <a:rPr sz="750" b="0">
                <a:solidFill>
                  <a:srgbClr val="776D79"/>
                </a:solidFill>
                <a:latin typeface="Helvetica Neue"/>
                <a:ea typeface="Helvetica Neue"/>
                <a:cs typeface="Helvetica Neue"/>
              </a:rPr>
              <a:t>causal studies</a:t>
            </a:r>
          </a:p>
        </p:txBody>
      </p:sp>
      <p:sp>
        <p:nvSpPr>
          <p:cNvPr id="23" name="">
            <a:extLst xmlns:a="http://schemas.openxmlformats.org/drawingml/2006/main">
              <a:ext uri="{FF2B5EF4-FFF2-40B4-BE49-F238E27FC236}">
                <a16:creationId xmlns:a16="http://schemas.microsoft.com/office/drawing/2014/main" id="{CD70D6D0-A553-41A9-A2B9-B5100299675A}"/>
              </a:ext>
            </a:extLst>
          </p:cNvPr>
          <p:cNvSpPr>
            <a:spLocks xmlns:a="http://schemas.openxmlformats.org/drawingml/2006/main" noGrp="1"/>
          </p:cNvSpPr>
          <p:nvPr/>
        </p:nvSpPr>
        <p:spPr>
          <a:xfrm xmlns:a="http://schemas.openxmlformats.org/drawingml/2006/main">
            <a:off x="7981950" y="2914650"/>
            <a:ext cx="0" cy="228600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4" name="">
            <a:extLst xmlns:a="http://schemas.openxmlformats.org/drawingml/2006/main">
              <a:ext uri="{FF2B5EF4-FFF2-40B4-BE49-F238E27FC236}">
                <a16:creationId xmlns:a16="http://schemas.microsoft.com/office/drawing/2014/main" id="{FBE16271-AD13-4337-9281-C45AD2900E60}"/>
              </a:ext>
            </a:extLst>
          </p:cNvPr>
          <p:cNvSpPr>
            <a:spLocks xmlns:a="http://schemas.openxmlformats.org/drawingml/2006/main" noGrp="1"/>
          </p:cNvSpPr>
          <p:nvPr/>
        </p:nvSpPr>
        <p:spPr>
          <a:xfrm xmlns:a="http://schemas.openxmlformats.org/drawingml/2006/main">
            <a:off x="8248650" y="2914650"/>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EVIDENCE COVERAGE</a:t>
            </a:r>
          </a:p>
        </p:txBody>
      </p:sp>
      <p:sp>
        <p:nvSpPr>
          <p:cNvPr id="25" name="">
            <a:extLst xmlns:a="http://schemas.openxmlformats.org/drawingml/2006/main">
              <a:ext uri="{FF2B5EF4-FFF2-40B4-BE49-F238E27FC236}">
                <a16:creationId xmlns:a16="http://schemas.microsoft.com/office/drawing/2014/main" id="{37907805-3ED1-4747-BDE2-21731ADDD966}"/>
              </a:ext>
            </a:extLst>
          </p:cNvPr>
          <p:cNvSpPr>
            <a:spLocks xmlns:a="http://schemas.openxmlformats.org/drawingml/2006/main" noGrp="1"/>
          </p:cNvSpPr>
          <p:nvPr/>
        </p:nvSpPr>
        <p:spPr>
          <a:xfrm xmlns:a="http://schemas.openxmlformats.org/drawingml/2006/main">
            <a:off x="8248650" y="328612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14753"/>
                </a:solidFill>
                <a:latin typeface="Helvetica Neue"/>
                <a:ea typeface="Helvetica Neue"/>
                <a:cs typeface="Helvetica Neue"/>
              </a:defRPr>
            </a:pPr>
            <a:r>
              <a:rPr sz="825" b="0">
                <a:solidFill>
                  <a:srgbClr val="514753"/>
                </a:solidFill>
                <a:latin typeface="Helvetica Neue"/>
                <a:ea typeface="Helvetica Neue"/>
                <a:cs typeface="Helvetica Neue"/>
              </a:rPr>
              <a:t>Drive</a:t>
            </a:r>
          </a:p>
        </p:txBody>
      </p:sp>
      <p:sp>
        <p:nvSpPr>
          <p:cNvPr id="26" name="">
            <a:extLst xmlns:a="http://schemas.openxmlformats.org/drawingml/2006/main">
              <a:ext uri="{FF2B5EF4-FFF2-40B4-BE49-F238E27FC236}">
                <a16:creationId xmlns:a16="http://schemas.microsoft.com/office/drawing/2014/main" id="{055AD643-4B94-4B40-BC79-3D387A010C6D}"/>
              </a:ext>
            </a:extLst>
          </p:cNvPr>
          <p:cNvSpPr>
            <a:spLocks xmlns:a="http://schemas.openxmlformats.org/drawingml/2006/main" noGrp="1"/>
          </p:cNvSpPr>
          <p:nvPr/>
        </p:nvSpPr>
        <p:spPr>
          <a:xfrm xmlns:a="http://schemas.openxmlformats.org/drawingml/2006/main">
            <a:off x="10629900" y="32861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7</a:t>
            </a:r>
          </a:p>
        </p:txBody>
      </p:sp>
      <p:sp>
        <p:nvSpPr>
          <p:cNvPr id="27" name="">
            <a:extLst xmlns:a="http://schemas.openxmlformats.org/drawingml/2006/main">
              <a:ext uri="{FF2B5EF4-FFF2-40B4-BE49-F238E27FC236}">
                <a16:creationId xmlns:a16="http://schemas.microsoft.com/office/drawing/2014/main" id="{A12F7329-26DB-4249-AD52-89C4D1C1CF15}"/>
              </a:ext>
            </a:extLst>
          </p:cNvPr>
          <p:cNvSpPr>
            <a:spLocks xmlns:a="http://schemas.openxmlformats.org/drawingml/2006/main" noGrp="1"/>
          </p:cNvSpPr>
          <p:nvPr/>
        </p:nvSpPr>
        <p:spPr>
          <a:xfrm xmlns:a="http://schemas.openxmlformats.org/drawingml/2006/main">
            <a:off x="9277350" y="3352800"/>
            <a:ext cx="1190625" cy="66675"/>
          </a:xfrm>
          <a:prstGeom xmlns:a="http://schemas.openxmlformats.org/drawingml/2006/main" prst="roundRect">
            <a:avLst>
              <a:gd name="adj" fmla="val 50000"/>
            </a:avLst>
          </a:prstGeom>
          <a:solidFill xmlns:a="http://schemas.openxmlformats.org/drawingml/2006/main">
            <a:srgbClr val="F7F4E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8F47B8F-E46E-4FA8-882F-8C740B8E47D1}"/>
              </a:ext>
            </a:extLst>
          </p:cNvPr>
          <p:cNvSpPr>
            <a:spLocks xmlns:a="http://schemas.openxmlformats.org/drawingml/2006/main" noGrp="1"/>
          </p:cNvSpPr>
          <p:nvPr/>
        </p:nvSpPr>
        <p:spPr>
          <a:xfrm xmlns:a="http://schemas.openxmlformats.org/drawingml/2006/main">
            <a:off x="9277350" y="3352800"/>
            <a:ext cx="1066800" cy="66675"/>
          </a:xfrm>
          <a:prstGeom xmlns:a="http://schemas.openxmlformats.org/drawingml/2006/main" prst="roundRect">
            <a:avLst>
              <a:gd name="adj" fmla="val 50000"/>
            </a:avLst>
          </a:prstGeom>
          <a:solidFill xmlns:a="http://schemas.openxmlformats.org/drawingml/2006/main">
            <a:srgbClr val="5790D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3CF58B25-CAA7-4CC8-948C-2DC229F50429}"/>
              </a:ext>
            </a:extLst>
          </p:cNvPr>
          <p:cNvSpPr>
            <a:spLocks xmlns:a="http://schemas.openxmlformats.org/drawingml/2006/main" noGrp="1"/>
          </p:cNvSpPr>
          <p:nvPr/>
        </p:nvSpPr>
        <p:spPr>
          <a:xfrm xmlns:a="http://schemas.openxmlformats.org/drawingml/2006/main">
            <a:off x="8248650" y="36957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14753"/>
                </a:solidFill>
                <a:latin typeface="Helvetica Neue"/>
                <a:ea typeface="Helvetica Neue"/>
                <a:cs typeface="Helvetica Neue"/>
              </a:defRPr>
            </a:pPr>
            <a:r>
              <a:rPr sz="825" b="0">
                <a:solidFill>
                  <a:srgbClr val="514753"/>
                </a:solidFill>
                <a:latin typeface="Helvetica Neue"/>
                <a:ea typeface="Helvetica Neue"/>
                <a:cs typeface="Helvetica Neue"/>
              </a:rPr>
              <a:t>GivingData</a:t>
            </a:r>
          </a:p>
        </p:txBody>
      </p:sp>
      <p:sp>
        <p:nvSpPr>
          <p:cNvPr id="30" name="">
            <a:extLst xmlns:a="http://schemas.openxmlformats.org/drawingml/2006/main">
              <a:ext uri="{FF2B5EF4-FFF2-40B4-BE49-F238E27FC236}">
                <a16:creationId xmlns:a16="http://schemas.microsoft.com/office/drawing/2014/main" id="{71F8C96D-8D80-4E52-BE44-0FC9B249E9B6}"/>
              </a:ext>
            </a:extLst>
          </p:cNvPr>
          <p:cNvSpPr>
            <a:spLocks xmlns:a="http://schemas.openxmlformats.org/drawingml/2006/main" noGrp="1"/>
          </p:cNvSpPr>
          <p:nvPr/>
        </p:nvSpPr>
        <p:spPr>
          <a:xfrm xmlns:a="http://schemas.openxmlformats.org/drawingml/2006/main">
            <a:off x="10629900" y="369570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3</a:t>
            </a:r>
          </a:p>
        </p:txBody>
      </p:sp>
      <p:sp>
        <p:nvSpPr>
          <p:cNvPr id="31" name="">
            <a:extLst xmlns:a="http://schemas.openxmlformats.org/drawingml/2006/main">
              <a:ext uri="{FF2B5EF4-FFF2-40B4-BE49-F238E27FC236}">
                <a16:creationId xmlns:a16="http://schemas.microsoft.com/office/drawing/2014/main" id="{F88B276B-F584-4113-B0E4-18D5EA5689CF}"/>
              </a:ext>
            </a:extLst>
          </p:cNvPr>
          <p:cNvSpPr>
            <a:spLocks xmlns:a="http://schemas.openxmlformats.org/drawingml/2006/main" noGrp="1"/>
          </p:cNvSpPr>
          <p:nvPr/>
        </p:nvSpPr>
        <p:spPr>
          <a:xfrm xmlns:a="http://schemas.openxmlformats.org/drawingml/2006/main">
            <a:off x="9277350" y="3762375"/>
            <a:ext cx="1190625" cy="66675"/>
          </a:xfrm>
          <a:prstGeom xmlns:a="http://schemas.openxmlformats.org/drawingml/2006/main" prst="roundRect">
            <a:avLst>
              <a:gd name="adj" fmla="val 50000"/>
            </a:avLst>
          </a:prstGeom>
          <a:solidFill xmlns:a="http://schemas.openxmlformats.org/drawingml/2006/main">
            <a:srgbClr val="F7F4EF"/>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FEB0713-E149-4B63-8AFB-916BFC947E8E}"/>
              </a:ext>
            </a:extLst>
          </p:cNvPr>
          <p:cNvSpPr>
            <a:spLocks xmlns:a="http://schemas.openxmlformats.org/drawingml/2006/main" noGrp="1"/>
          </p:cNvSpPr>
          <p:nvPr/>
        </p:nvSpPr>
        <p:spPr>
          <a:xfrm xmlns:a="http://schemas.openxmlformats.org/drawingml/2006/main">
            <a:off x="9277350" y="3762375"/>
            <a:ext cx="457200" cy="66675"/>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53F25391-14F5-454C-B8C9-5B25EF799892}"/>
              </a:ext>
            </a:extLst>
          </p:cNvPr>
          <p:cNvSpPr>
            <a:spLocks xmlns:a="http://schemas.openxmlformats.org/drawingml/2006/main" noGrp="1"/>
          </p:cNvSpPr>
          <p:nvPr/>
        </p:nvSpPr>
        <p:spPr>
          <a:xfrm xmlns:a="http://schemas.openxmlformats.org/drawingml/2006/main">
            <a:off x="8248650" y="41052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14753"/>
                </a:solidFill>
                <a:latin typeface="Helvetica Neue"/>
                <a:ea typeface="Helvetica Neue"/>
                <a:cs typeface="Helvetica Neue"/>
              </a:defRPr>
            </a:pPr>
            <a:r>
              <a:rPr sz="825" b="0">
                <a:solidFill>
                  <a:srgbClr val="514753"/>
                </a:solidFill>
                <a:latin typeface="Helvetica Neue"/>
                <a:ea typeface="Helvetica Neue"/>
                <a:cs typeface="Helvetica Neue"/>
              </a:rPr>
              <a:t>Airtable</a:t>
            </a:r>
          </a:p>
        </p:txBody>
      </p:sp>
      <p:sp>
        <p:nvSpPr>
          <p:cNvPr id="34" name="">
            <a:extLst xmlns:a="http://schemas.openxmlformats.org/drawingml/2006/main">
              <a:ext uri="{FF2B5EF4-FFF2-40B4-BE49-F238E27FC236}">
                <a16:creationId xmlns:a16="http://schemas.microsoft.com/office/drawing/2014/main" id="{3DA89992-1BF6-4B00-AB0D-404B17EEF0AB}"/>
              </a:ext>
            </a:extLst>
          </p:cNvPr>
          <p:cNvSpPr>
            <a:spLocks xmlns:a="http://schemas.openxmlformats.org/drawingml/2006/main" noGrp="1"/>
          </p:cNvSpPr>
          <p:nvPr/>
        </p:nvSpPr>
        <p:spPr>
          <a:xfrm xmlns:a="http://schemas.openxmlformats.org/drawingml/2006/main">
            <a:off x="10629900" y="410527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5</a:t>
            </a:r>
          </a:p>
        </p:txBody>
      </p:sp>
      <p:sp>
        <p:nvSpPr>
          <p:cNvPr id="35" name="">
            <a:extLst xmlns:a="http://schemas.openxmlformats.org/drawingml/2006/main">
              <a:ext uri="{FF2B5EF4-FFF2-40B4-BE49-F238E27FC236}">
                <a16:creationId xmlns:a16="http://schemas.microsoft.com/office/drawing/2014/main" id="{AACE4719-9A87-4223-AB7E-55D27DAC3C56}"/>
              </a:ext>
            </a:extLst>
          </p:cNvPr>
          <p:cNvSpPr>
            <a:spLocks xmlns:a="http://schemas.openxmlformats.org/drawingml/2006/main" noGrp="1"/>
          </p:cNvSpPr>
          <p:nvPr/>
        </p:nvSpPr>
        <p:spPr>
          <a:xfrm xmlns:a="http://schemas.openxmlformats.org/drawingml/2006/main">
            <a:off x="9277350" y="4171950"/>
            <a:ext cx="1190625" cy="66675"/>
          </a:xfrm>
          <a:prstGeom xmlns:a="http://schemas.openxmlformats.org/drawingml/2006/main" prst="roundRect">
            <a:avLst>
              <a:gd name="adj" fmla="val 50000"/>
            </a:avLst>
          </a:prstGeom>
          <a:solidFill xmlns:a="http://schemas.openxmlformats.org/drawingml/2006/main">
            <a:srgbClr val="F7F4E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7C438429-4B0E-4A8B-8E69-46904AEC8B1D}"/>
              </a:ext>
            </a:extLst>
          </p:cNvPr>
          <p:cNvSpPr>
            <a:spLocks xmlns:a="http://schemas.openxmlformats.org/drawingml/2006/main" noGrp="1"/>
          </p:cNvSpPr>
          <p:nvPr/>
        </p:nvSpPr>
        <p:spPr>
          <a:xfrm xmlns:a="http://schemas.openxmlformats.org/drawingml/2006/main">
            <a:off x="9277350" y="4171950"/>
            <a:ext cx="762000" cy="66675"/>
          </a:xfrm>
          <a:prstGeom xmlns:a="http://schemas.openxmlformats.org/drawingml/2006/main" prst="roundRect">
            <a:avLst>
              <a:gd name="adj" fmla="val 50000"/>
            </a:avLst>
          </a:prstGeom>
          <a:solidFill xmlns:a="http://schemas.openxmlformats.org/drawingml/2006/main">
            <a:srgbClr val="53A979"/>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ADC817A2-2C29-49D9-8983-8527825047DD}"/>
              </a:ext>
            </a:extLst>
          </p:cNvPr>
          <p:cNvSpPr>
            <a:spLocks xmlns:a="http://schemas.openxmlformats.org/drawingml/2006/main" noGrp="1"/>
          </p:cNvSpPr>
          <p:nvPr/>
        </p:nvSpPr>
        <p:spPr>
          <a:xfrm xmlns:a="http://schemas.openxmlformats.org/drawingml/2006/main">
            <a:off x="8248650" y="45148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14753"/>
                </a:solidFill>
                <a:latin typeface="Helvetica Neue"/>
                <a:ea typeface="Helvetica Neue"/>
                <a:cs typeface="Helvetica Neue"/>
              </a:defRPr>
            </a:pPr>
            <a:r>
              <a:rPr sz="825" b="0">
                <a:solidFill>
                  <a:srgbClr val="514753"/>
                </a:solidFill>
                <a:latin typeface="Helvetica Neue"/>
                <a:ea typeface="Helvetica Neue"/>
                <a:cs typeface="Helvetica Neue"/>
              </a:rPr>
              <a:t>Zoom Chat</a:t>
            </a:r>
          </a:p>
        </p:txBody>
      </p:sp>
      <p:sp>
        <p:nvSpPr>
          <p:cNvPr id="38" name="">
            <a:extLst xmlns:a="http://schemas.openxmlformats.org/drawingml/2006/main">
              <a:ext uri="{FF2B5EF4-FFF2-40B4-BE49-F238E27FC236}">
                <a16:creationId xmlns:a16="http://schemas.microsoft.com/office/drawing/2014/main" id="{3796467F-3D51-4E39-9F2B-80EA91D29201}"/>
              </a:ext>
            </a:extLst>
          </p:cNvPr>
          <p:cNvSpPr>
            <a:spLocks xmlns:a="http://schemas.openxmlformats.org/drawingml/2006/main" noGrp="1"/>
          </p:cNvSpPr>
          <p:nvPr/>
        </p:nvSpPr>
        <p:spPr>
          <a:xfrm xmlns:a="http://schemas.openxmlformats.org/drawingml/2006/main">
            <a:off x="10629900" y="45148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4</a:t>
            </a:r>
          </a:p>
        </p:txBody>
      </p:sp>
      <p:sp>
        <p:nvSpPr>
          <p:cNvPr id="39" name="">
            <a:extLst xmlns:a="http://schemas.openxmlformats.org/drawingml/2006/main">
              <a:ext uri="{FF2B5EF4-FFF2-40B4-BE49-F238E27FC236}">
                <a16:creationId xmlns:a16="http://schemas.microsoft.com/office/drawing/2014/main" id="{F7A05100-9DAE-4205-A354-E7CB49936AD7}"/>
              </a:ext>
            </a:extLst>
          </p:cNvPr>
          <p:cNvSpPr>
            <a:spLocks xmlns:a="http://schemas.openxmlformats.org/drawingml/2006/main" noGrp="1"/>
          </p:cNvSpPr>
          <p:nvPr/>
        </p:nvSpPr>
        <p:spPr>
          <a:xfrm xmlns:a="http://schemas.openxmlformats.org/drawingml/2006/main">
            <a:off x="9277350" y="4581525"/>
            <a:ext cx="1190625" cy="66675"/>
          </a:xfrm>
          <a:prstGeom xmlns:a="http://schemas.openxmlformats.org/drawingml/2006/main" prst="roundRect">
            <a:avLst>
              <a:gd name="adj" fmla="val 50000"/>
            </a:avLst>
          </a:prstGeom>
          <a:solidFill xmlns:a="http://schemas.openxmlformats.org/drawingml/2006/main">
            <a:srgbClr val="F7F4E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8993601C-75DB-446D-96FD-76A9DC2B7456}"/>
              </a:ext>
            </a:extLst>
          </p:cNvPr>
          <p:cNvSpPr>
            <a:spLocks xmlns:a="http://schemas.openxmlformats.org/drawingml/2006/main" noGrp="1"/>
          </p:cNvSpPr>
          <p:nvPr/>
        </p:nvSpPr>
        <p:spPr>
          <a:xfrm xmlns:a="http://schemas.openxmlformats.org/drawingml/2006/main">
            <a:off x="9277350" y="4581525"/>
            <a:ext cx="609600" cy="66675"/>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57C63A49-0C23-4ADE-BA8B-167E58E41E58}"/>
              </a:ext>
            </a:extLst>
          </p:cNvPr>
          <p:cNvSpPr>
            <a:spLocks xmlns:a="http://schemas.openxmlformats.org/drawingml/2006/main" noGrp="1"/>
          </p:cNvSpPr>
          <p:nvPr/>
        </p:nvSpPr>
        <p:spPr>
          <a:xfrm xmlns:a="http://schemas.openxmlformats.org/drawingml/2006/main">
            <a:off x="8115300" y="4962525"/>
            <a:ext cx="2971800" cy="457200"/>
          </a:xfrm>
          <a:prstGeom xmlns:a="http://schemas.openxmlformats.org/drawingml/2006/main" prst="roundRect">
            <a:avLst>
              <a:gd name="adj" fmla="val 25000"/>
            </a:avLst>
          </a:prstGeom>
          <a:solidFill xmlns:a="http://schemas.openxmlformats.org/drawingml/2006/main">
            <a:srgbClr val="FFF5DF"/>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9A3E105B-AE01-4F89-B15A-BDF84F502EE2}"/>
              </a:ext>
            </a:extLst>
          </p:cNvPr>
          <p:cNvSpPr>
            <a:spLocks xmlns:a="http://schemas.openxmlformats.org/drawingml/2006/main" noGrp="1"/>
          </p:cNvSpPr>
          <p:nvPr/>
        </p:nvSpPr>
        <p:spPr>
          <a:xfrm xmlns:a="http://schemas.openxmlformats.org/drawingml/2006/main">
            <a:off x="8267700" y="50482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350"/>
          </a:bodyPr>
          <a:lstStyle xmlns:a="http://schemas.openxmlformats.org/drawingml/2006/main"/>
          <a:p xmlns:a="http://schemas.openxmlformats.org/drawingml/2006/main">
            <a:pPr>
              <a:defRPr sz="825" b="1">
                <a:solidFill>
                  <a:srgbClr val="B86A14"/>
                </a:solidFill>
                <a:latin typeface="Helvetica Neue"/>
                <a:ea typeface="Helvetica Neue"/>
                <a:cs typeface="Helvetica Neue"/>
              </a:defRPr>
            </a:pPr>
            <a:r>
              <a:rPr sz="825" b="1">
                <a:solidFill>
                  <a:srgbClr val="B86A14"/>
                </a:solidFill>
                <a:latin typeface="Helvetica Neue"/>
                <a:ea typeface="Helvetica Neue"/>
                <a:cs typeface="Helvetica Neue"/>
              </a:rPr>
              <a:t>Evidence gap: 6- and 12-month earnings follow-up</a:t>
            </a:r>
          </a:p>
        </p:txBody>
      </p:sp>
      <p:sp>
        <p:nvSpPr>
          <p:cNvPr id="43" name="">
            <a:extLst xmlns:a="http://schemas.openxmlformats.org/drawingml/2006/main">
              <a:ext uri="{FF2B5EF4-FFF2-40B4-BE49-F238E27FC236}">
                <a16:creationId xmlns:a16="http://schemas.microsoft.com/office/drawing/2014/main" id="{05040E25-BA56-45B8-A67F-F2B0AD30F5B3}"/>
              </a:ext>
            </a:extLst>
          </p:cNvPr>
          <p:cNvSpPr>
            <a:spLocks xmlns:a="http://schemas.openxmlformats.org/drawingml/2006/main" noGrp="1"/>
          </p:cNvSpPr>
          <p:nvPr/>
        </p:nvSpPr>
        <p:spPr>
          <a:xfrm xmlns:a="http://schemas.openxmlformats.org/drawingml/2006/main">
            <a:off x="666750" y="59055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LIVE PROTOTYPE  •  compass-gitlab-foundation.jesseniatriumph.chatgpt.site</a:t>
            </a:r>
          </a:p>
        </p:txBody>
      </p:sp>
    </p:spTree>
    <p:extLst>
      <p:ext uri="{BB962C8B-B14F-4D97-AF65-F5344CB8AC3E}">
        <p14:creationId xmlns:p14="http://schemas.microsoft.com/office/powerpoint/2010/main" val="632437670"/>
      </p:ext>
    </p:extLst>
  </p:cSld>
</p:sld>
</file>

<file path=ppt/slides/slide5.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FF7ED7D1-C4F7-41F1-9555-7A26072BDABB}"/>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SYSTEM DESIGN</a:t>
            </a:r>
          </a:p>
        </p:txBody>
      </p:sp>
      <p:sp>
        <p:nvSpPr>
          <p:cNvPr id="2" name="">
            <a:extLst xmlns:a="http://schemas.openxmlformats.org/drawingml/2006/main">
              <a:ext uri="{FF2B5EF4-FFF2-40B4-BE49-F238E27FC236}">
                <a16:creationId xmlns:a16="http://schemas.microsoft.com/office/drawing/2014/main" id="{A9688961-0BD5-4782-8449-1A20B80B882A}"/>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FF48FBB8-CCDA-47CC-A925-C8AC5A303911}"/>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F9D8FB04-A72D-4E42-820F-6092584E507C}"/>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Evidence moves through six controlled stages</a:t>
            </a:r>
          </a:p>
        </p:txBody>
      </p:sp>
      <p:sp>
        <p:nvSpPr>
          <p:cNvPr id="5" name="">
            <a:extLst xmlns:a="http://schemas.openxmlformats.org/drawingml/2006/main">
              <a:ext uri="{FF2B5EF4-FFF2-40B4-BE49-F238E27FC236}">
                <a16:creationId xmlns:a16="http://schemas.microsoft.com/office/drawing/2014/main" id="{BA9812AD-F716-4181-A62C-272E67F1F8A4}"/>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Structured data answers exact questions. Narrative evidence supplies context.</a:t>
            </a:r>
          </a:p>
        </p:txBody>
      </p:sp>
      <p:sp>
        <p:nvSpPr>
          <p:cNvPr id="6" name="">
            <a:extLst xmlns:a="http://schemas.openxmlformats.org/drawingml/2006/main">
              <a:ext uri="{FF2B5EF4-FFF2-40B4-BE49-F238E27FC236}">
                <a16:creationId xmlns:a16="http://schemas.microsoft.com/office/drawing/2014/main" id="{71BEFD01-054F-41DD-A4F4-9838451C19C8}"/>
              </a:ext>
            </a:extLst>
          </p:cNvPr>
          <p:cNvSpPr>
            <a:spLocks xmlns:a="http://schemas.openxmlformats.org/drawingml/2006/main" noGrp="1"/>
          </p:cNvSpPr>
          <p:nvPr/>
        </p:nvSpPr>
        <p:spPr>
          <a:xfrm xmlns:a="http://schemas.openxmlformats.org/drawingml/2006/main">
            <a:off x="4572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AD713771-63B6-4C34-9FC2-A12BAEF5627F}"/>
              </a:ext>
            </a:extLst>
          </p:cNvPr>
          <p:cNvSpPr>
            <a:spLocks xmlns:a="http://schemas.openxmlformats.org/drawingml/2006/main" noGrp="1"/>
          </p:cNvSpPr>
          <p:nvPr/>
        </p:nvSpPr>
        <p:spPr>
          <a:xfrm xmlns:a="http://schemas.openxmlformats.org/drawingml/2006/main">
            <a:off x="6286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E94B2A"/>
                </a:solidFill>
                <a:latin typeface="Helvetica Neue"/>
                <a:ea typeface="Helvetica Neue"/>
                <a:cs typeface="Helvetica Neue"/>
              </a:defRPr>
            </a:pPr>
            <a:r>
              <a:rPr sz="825" b="1">
                <a:solidFill>
                  <a:srgbClr val="E94B2A"/>
                </a:solidFill>
                <a:latin typeface="Helvetica Neue"/>
                <a:ea typeface="Helvetica Neue"/>
                <a:cs typeface="Helvetica Neue"/>
              </a:rPr>
              <a:t>01</a:t>
            </a:r>
          </a:p>
        </p:txBody>
      </p:sp>
      <p:sp>
        <p:nvSpPr>
          <p:cNvPr id="8" name="">
            <a:extLst xmlns:a="http://schemas.openxmlformats.org/drawingml/2006/main">
              <a:ext uri="{FF2B5EF4-FFF2-40B4-BE49-F238E27FC236}">
                <a16:creationId xmlns:a16="http://schemas.microsoft.com/office/drawing/2014/main" id="{22DEC17C-A90E-4AD2-9F05-7E7194347586}"/>
              </a:ext>
            </a:extLst>
          </p:cNvPr>
          <p:cNvSpPr>
            <a:spLocks xmlns:a="http://schemas.openxmlformats.org/drawingml/2006/main" noGrp="1"/>
          </p:cNvSpPr>
          <p:nvPr/>
        </p:nvSpPr>
        <p:spPr>
          <a:xfrm xmlns:a="http://schemas.openxmlformats.org/drawingml/2006/main">
            <a:off x="6286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Connect</a:t>
            </a:r>
          </a:p>
        </p:txBody>
      </p:sp>
      <p:sp>
        <p:nvSpPr>
          <p:cNvPr id="9" name="">
            <a:extLst xmlns:a="http://schemas.openxmlformats.org/drawingml/2006/main">
              <a:ext uri="{FF2B5EF4-FFF2-40B4-BE49-F238E27FC236}">
                <a16:creationId xmlns:a16="http://schemas.microsoft.com/office/drawing/2014/main" id="{121299F9-85A7-4A57-88C7-D46378A991B7}"/>
              </a:ext>
            </a:extLst>
          </p:cNvPr>
          <p:cNvSpPr>
            <a:spLocks xmlns:a="http://schemas.openxmlformats.org/drawingml/2006/main" noGrp="1"/>
          </p:cNvSpPr>
          <p:nvPr/>
        </p:nvSpPr>
        <p:spPr>
          <a:xfrm xmlns:a="http://schemas.openxmlformats.org/drawingml/2006/main">
            <a:off x="6286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Approved scopes</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+Data contracts</a:t>
            </a:r>
          </a:p>
        </p:txBody>
      </p:sp>
      <p:sp>
        <p:nvSpPr>
          <p:cNvPr id="10" name="">
            <a:extLst xmlns:a="http://schemas.openxmlformats.org/drawingml/2006/main">
              <a:ext uri="{FF2B5EF4-FFF2-40B4-BE49-F238E27FC236}">
                <a16:creationId xmlns:a16="http://schemas.microsoft.com/office/drawing/2014/main" id="{DFDB0DFB-AC7E-4906-A60E-C7791FFB252A}"/>
              </a:ext>
            </a:extLst>
          </p:cNvPr>
          <p:cNvSpPr>
            <a:spLocks xmlns:a="http://schemas.openxmlformats.org/drawingml/2006/main" noGrp="1"/>
          </p:cNvSpPr>
          <p:nvPr/>
        </p:nvSpPr>
        <p:spPr>
          <a:xfrm xmlns:a="http://schemas.openxmlformats.org/drawingml/2006/main">
            <a:off x="21145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11" name="">
            <a:extLst xmlns:a="http://schemas.openxmlformats.org/drawingml/2006/main">
              <a:ext uri="{FF2B5EF4-FFF2-40B4-BE49-F238E27FC236}">
                <a16:creationId xmlns:a16="http://schemas.microsoft.com/office/drawing/2014/main" id="{705191BA-5A21-4E02-9469-04338D3CD4B0}"/>
              </a:ext>
            </a:extLst>
          </p:cNvPr>
          <p:cNvSpPr>
            <a:spLocks xmlns:a="http://schemas.openxmlformats.org/drawingml/2006/main" noGrp="1"/>
          </p:cNvSpPr>
          <p:nvPr/>
        </p:nvSpPr>
        <p:spPr>
          <a:xfrm xmlns:a="http://schemas.openxmlformats.org/drawingml/2006/main">
            <a:off x="23336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D58B897-1AE4-45CC-9BC2-37EBA9CCEB6D}"/>
              </a:ext>
            </a:extLst>
          </p:cNvPr>
          <p:cNvSpPr>
            <a:spLocks xmlns:a="http://schemas.openxmlformats.org/drawingml/2006/main" noGrp="1"/>
          </p:cNvSpPr>
          <p:nvPr/>
        </p:nvSpPr>
        <p:spPr>
          <a:xfrm xmlns:a="http://schemas.openxmlformats.org/drawingml/2006/main">
            <a:off x="24003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13" name="">
            <a:extLst xmlns:a="http://schemas.openxmlformats.org/drawingml/2006/main">
              <a:ext uri="{FF2B5EF4-FFF2-40B4-BE49-F238E27FC236}">
                <a16:creationId xmlns:a16="http://schemas.microsoft.com/office/drawing/2014/main" id="{34DE07C0-4E01-4D79-BFA9-BDE07AE82510}"/>
              </a:ext>
            </a:extLst>
          </p:cNvPr>
          <p:cNvSpPr>
            <a:spLocks xmlns:a="http://schemas.openxmlformats.org/drawingml/2006/main" noGrp="1"/>
          </p:cNvSpPr>
          <p:nvPr/>
        </p:nvSpPr>
        <p:spPr>
          <a:xfrm xmlns:a="http://schemas.openxmlformats.org/drawingml/2006/main">
            <a:off x="25717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E94B2A"/>
                </a:solidFill>
                <a:latin typeface="Helvetica Neue"/>
                <a:ea typeface="Helvetica Neue"/>
                <a:cs typeface="Helvetica Neue"/>
              </a:defRPr>
            </a:pPr>
            <a:r>
              <a:rPr sz="825" b="1">
                <a:solidFill>
                  <a:srgbClr val="E94B2A"/>
                </a:solidFill>
                <a:latin typeface="Helvetica Neue"/>
                <a:ea typeface="Helvetica Neue"/>
                <a:cs typeface="Helvetica Neue"/>
              </a:rPr>
              <a:t>02</a:t>
            </a:r>
          </a:p>
        </p:txBody>
      </p:sp>
      <p:sp>
        <p:nvSpPr>
          <p:cNvPr id="14" name="">
            <a:extLst xmlns:a="http://schemas.openxmlformats.org/drawingml/2006/main">
              <a:ext uri="{FF2B5EF4-FFF2-40B4-BE49-F238E27FC236}">
                <a16:creationId xmlns:a16="http://schemas.microsoft.com/office/drawing/2014/main" id="{0F9E958E-4782-4A5F-A3AA-9AE3E60C373A}"/>
              </a:ext>
            </a:extLst>
          </p:cNvPr>
          <p:cNvSpPr>
            <a:spLocks xmlns:a="http://schemas.openxmlformats.org/drawingml/2006/main" noGrp="1"/>
          </p:cNvSpPr>
          <p:nvPr/>
        </p:nvSpPr>
        <p:spPr>
          <a:xfrm xmlns:a="http://schemas.openxmlformats.org/drawingml/2006/main">
            <a:off x="25717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Preserve</a:t>
            </a:r>
          </a:p>
        </p:txBody>
      </p:sp>
      <p:sp>
        <p:nvSpPr>
          <p:cNvPr id="15" name="">
            <a:extLst xmlns:a="http://schemas.openxmlformats.org/drawingml/2006/main">
              <a:ext uri="{FF2B5EF4-FFF2-40B4-BE49-F238E27FC236}">
                <a16:creationId xmlns:a16="http://schemas.microsoft.com/office/drawing/2014/main" id="{53452F03-72BB-4C45-8958-730080BA8AA1}"/>
              </a:ext>
            </a:extLst>
          </p:cNvPr>
          <p:cNvSpPr>
            <a:spLocks xmlns:a="http://schemas.openxmlformats.org/drawingml/2006/main" noGrp="1"/>
          </p:cNvSpPr>
          <p:nvPr/>
        </p:nvSpPr>
        <p:spPr>
          <a:xfrm xmlns:a="http://schemas.openxmlformats.org/drawingml/2006/main">
            <a:off x="25717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Raw objects</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+Version + ACL</a:t>
            </a:r>
          </a:p>
        </p:txBody>
      </p:sp>
      <p:sp>
        <p:nvSpPr>
          <p:cNvPr id="16" name="">
            <a:extLst xmlns:a="http://schemas.openxmlformats.org/drawingml/2006/main">
              <a:ext uri="{FF2B5EF4-FFF2-40B4-BE49-F238E27FC236}">
                <a16:creationId xmlns:a16="http://schemas.microsoft.com/office/drawing/2014/main" id="{1B86F29C-0EEE-4475-9BB1-A04877B26383}"/>
              </a:ext>
            </a:extLst>
          </p:cNvPr>
          <p:cNvSpPr>
            <a:spLocks xmlns:a="http://schemas.openxmlformats.org/drawingml/2006/main" noGrp="1"/>
          </p:cNvSpPr>
          <p:nvPr/>
        </p:nvSpPr>
        <p:spPr>
          <a:xfrm xmlns:a="http://schemas.openxmlformats.org/drawingml/2006/main">
            <a:off x="40576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17" name="">
            <a:extLst xmlns:a="http://schemas.openxmlformats.org/drawingml/2006/main">
              <a:ext uri="{FF2B5EF4-FFF2-40B4-BE49-F238E27FC236}">
                <a16:creationId xmlns:a16="http://schemas.microsoft.com/office/drawing/2014/main" id="{752EB50D-EEBF-49FC-BD67-5292CBDB6E92}"/>
              </a:ext>
            </a:extLst>
          </p:cNvPr>
          <p:cNvSpPr>
            <a:spLocks xmlns:a="http://schemas.openxmlformats.org/drawingml/2006/main" noGrp="1"/>
          </p:cNvSpPr>
          <p:nvPr/>
        </p:nvSpPr>
        <p:spPr>
          <a:xfrm xmlns:a="http://schemas.openxmlformats.org/drawingml/2006/main">
            <a:off x="42767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91B7800-86DF-49DB-8DC7-FA466C2131B3}"/>
              </a:ext>
            </a:extLst>
          </p:cNvPr>
          <p:cNvSpPr>
            <a:spLocks xmlns:a="http://schemas.openxmlformats.org/drawingml/2006/main" noGrp="1"/>
          </p:cNvSpPr>
          <p:nvPr/>
        </p:nvSpPr>
        <p:spPr>
          <a:xfrm xmlns:a="http://schemas.openxmlformats.org/drawingml/2006/main">
            <a:off x="43434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19" name="">
            <a:extLst xmlns:a="http://schemas.openxmlformats.org/drawingml/2006/main">
              <a:ext uri="{FF2B5EF4-FFF2-40B4-BE49-F238E27FC236}">
                <a16:creationId xmlns:a16="http://schemas.microsoft.com/office/drawing/2014/main" id="{429CD725-5DFC-4BCD-8F0A-D05F80287B6D}"/>
              </a:ext>
            </a:extLst>
          </p:cNvPr>
          <p:cNvSpPr>
            <a:spLocks xmlns:a="http://schemas.openxmlformats.org/drawingml/2006/main" noGrp="1"/>
          </p:cNvSpPr>
          <p:nvPr/>
        </p:nvSpPr>
        <p:spPr>
          <a:xfrm xmlns:a="http://schemas.openxmlformats.org/drawingml/2006/main">
            <a:off x="45148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7657B3"/>
                </a:solidFill>
                <a:latin typeface="Helvetica Neue"/>
                <a:ea typeface="Helvetica Neue"/>
                <a:cs typeface="Helvetica Neue"/>
              </a:defRPr>
            </a:pPr>
            <a:r>
              <a:rPr sz="825" b="1">
                <a:solidFill>
                  <a:srgbClr val="7657B3"/>
                </a:solidFill>
                <a:latin typeface="Helvetica Neue"/>
                <a:ea typeface="Helvetica Neue"/>
                <a:cs typeface="Helvetica Neue"/>
              </a:rPr>
              <a:t>03</a:t>
            </a:r>
          </a:p>
        </p:txBody>
      </p:sp>
      <p:sp>
        <p:nvSpPr>
          <p:cNvPr id="20" name="">
            <a:extLst xmlns:a="http://schemas.openxmlformats.org/drawingml/2006/main">
              <a:ext uri="{FF2B5EF4-FFF2-40B4-BE49-F238E27FC236}">
                <a16:creationId xmlns:a16="http://schemas.microsoft.com/office/drawing/2014/main" id="{35B72042-0D36-4832-AEAE-BB6C152A6A84}"/>
              </a:ext>
            </a:extLst>
          </p:cNvPr>
          <p:cNvSpPr>
            <a:spLocks xmlns:a="http://schemas.openxmlformats.org/drawingml/2006/main" noGrp="1"/>
          </p:cNvSpPr>
          <p:nvPr/>
        </p:nvSpPr>
        <p:spPr>
          <a:xfrm xmlns:a="http://schemas.openxmlformats.org/drawingml/2006/main">
            <a:off x="45148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Resolve</a:t>
            </a:r>
          </a:p>
        </p:txBody>
      </p:sp>
      <p:sp>
        <p:nvSpPr>
          <p:cNvPr id="21" name="">
            <a:extLst xmlns:a="http://schemas.openxmlformats.org/drawingml/2006/main">
              <a:ext uri="{FF2B5EF4-FFF2-40B4-BE49-F238E27FC236}">
                <a16:creationId xmlns:a16="http://schemas.microsoft.com/office/drawing/2014/main" id="{9DC7976C-924E-4006-AEBC-E4922EED0C25}"/>
              </a:ext>
            </a:extLst>
          </p:cNvPr>
          <p:cNvSpPr>
            <a:spLocks xmlns:a="http://schemas.openxmlformats.org/drawingml/2006/main" noGrp="1"/>
          </p:cNvSpPr>
          <p:nvPr/>
        </p:nvSpPr>
        <p:spPr>
          <a:xfrm xmlns:a="http://schemas.openxmlformats.org/drawingml/2006/main">
            <a:off x="45148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Canonical grant</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+Entity crosswalk</a:t>
            </a:r>
          </a:p>
        </p:txBody>
      </p:sp>
      <p:sp>
        <p:nvSpPr>
          <p:cNvPr id="22" name="">
            <a:extLst xmlns:a="http://schemas.openxmlformats.org/drawingml/2006/main">
              <a:ext uri="{FF2B5EF4-FFF2-40B4-BE49-F238E27FC236}">
                <a16:creationId xmlns:a16="http://schemas.microsoft.com/office/drawing/2014/main" id="{F37C88E8-E346-4C4A-B592-9B8C20B1C92C}"/>
              </a:ext>
            </a:extLst>
          </p:cNvPr>
          <p:cNvSpPr>
            <a:spLocks xmlns:a="http://schemas.openxmlformats.org/drawingml/2006/main" noGrp="1"/>
          </p:cNvSpPr>
          <p:nvPr/>
        </p:nvSpPr>
        <p:spPr>
          <a:xfrm xmlns:a="http://schemas.openxmlformats.org/drawingml/2006/main">
            <a:off x="60007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23" name="">
            <a:extLst xmlns:a="http://schemas.openxmlformats.org/drawingml/2006/main">
              <a:ext uri="{FF2B5EF4-FFF2-40B4-BE49-F238E27FC236}">
                <a16:creationId xmlns:a16="http://schemas.microsoft.com/office/drawing/2014/main" id="{5A6C2FC6-3C58-4978-9ED9-1BFEF4A92D77}"/>
              </a:ext>
            </a:extLst>
          </p:cNvPr>
          <p:cNvSpPr>
            <a:spLocks xmlns:a="http://schemas.openxmlformats.org/drawingml/2006/main" noGrp="1"/>
          </p:cNvSpPr>
          <p:nvPr/>
        </p:nvSpPr>
        <p:spPr>
          <a:xfrm xmlns:a="http://schemas.openxmlformats.org/drawingml/2006/main">
            <a:off x="62198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B28F6DB-2866-4B8F-8310-ADB4BA54EF5C}"/>
              </a:ext>
            </a:extLst>
          </p:cNvPr>
          <p:cNvSpPr>
            <a:spLocks xmlns:a="http://schemas.openxmlformats.org/drawingml/2006/main" noGrp="1"/>
          </p:cNvSpPr>
          <p:nvPr/>
        </p:nvSpPr>
        <p:spPr>
          <a:xfrm xmlns:a="http://schemas.openxmlformats.org/drawingml/2006/main">
            <a:off x="62865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25" name="">
            <a:extLst xmlns:a="http://schemas.openxmlformats.org/drawingml/2006/main">
              <a:ext uri="{FF2B5EF4-FFF2-40B4-BE49-F238E27FC236}">
                <a16:creationId xmlns:a16="http://schemas.microsoft.com/office/drawing/2014/main" id="{01FC51DB-ED6E-46AE-A8C6-12D80D61D7C4}"/>
              </a:ext>
            </a:extLst>
          </p:cNvPr>
          <p:cNvSpPr>
            <a:spLocks xmlns:a="http://schemas.openxmlformats.org/drawingml/2006/main" noGrp="1"/>
          </p:cNvSpPr>
          <p:nvPr/>
        </p:nvSpPr>
        <p:spPr>
          <a:xfrm xmlns:a="http://schemas.openxmlformats.org/drawingml/2006/main">
            <a:off x="64579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7657B3"/>
                </a:solidFill>
                <a:latin typeface="Helvetica Neue"/>
                <a:ea typeface="Helvetica Neue"/>
                <a:cs typeface="Helvetica Neue"/>
              </a:defRPr>
            </a:pPr>
            <a:r>
              <a:rPr sz="825" b="1">
                <a:solidFill>
                  <a:srgbClr val="7657B3"/>
                </a:solidFill>
                <a:latin typeface="Helvetica Neue"/>
                <a:ea typeface="Helvetica Neue"/>
                <a:cs typeface="Helvetica Neue"/>
              </a:rPr>
              <a:t>04</a:t>
            </a:r>
          </a:p>
        </p:txBody>
      </p:sp>
      <p:sp>
        <p:nvSpPr>
          <p:cNvPr id="26" name="">
            <a:extLst xmlns:a="http://schemas.openxmlformats.org/drawingml/2006/main">
              <a:ext uri="{FF2B5EF4-FFF2-40B4-BE49-F238E27FC236}">
                <a16:creationId xmlns:a16="http://schemas.microsoft.com/office/drawing/2014/main" id="{4CCE1866-8BE0-43E9-8C43-BCC6A5F8303E}"/>
              </a:ext>
            </a:extLst>
          </p:cNvPr>
          <p:cNvSpPr>
            <a:spLocks xmlns:a="http://schemas.openxmlformats.org/drawingml/2006/main" noGrp="1"/>
          </p:cNvSpPr>
          <p:nvPr/>
        </p:nvSpPr>
        <p:spPr>
          <a:xfrm xmlns:a="http://schemas.openxmlformats.org/drawingml/2006/main">
            <a:off x="64579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Retrieve</a:t>
            </a:r>
          </a:p>
        </p:txBody>
      </p:sp>
      <p:sp>
        <p:nvSpPr>
          <p:cNvPr id="27" name="">
            <a:extLst xmlns:a="http://schemas.openxmlformats.org/drawingml/2006/main">
              <a:ext uri="{FF2B5EF4-FFF2-40B4-BE49-F238E27FC236}">
                <a16:creationId xmlns:a16="http://schemas.microsoft.com/office/drawing/2014/main" id="{615FEC81-9B48-4BAC-A0A5-D915E274E7D0}"/>
              </a:ext>
            </a:extLst>
          </p:cNvPr>
          <p:cNvSpPr>
            <a:spLocks xmlns:a="http://schemas.openxmlformats.org/drawingml/2006/main" noGrp="1"/>
          </p:cNvSpPr>
          <p:nvPr/>
        </p:nvSpPr>
        <p:spPr>
          <a:xfrm xmlns:a="http://schemas.openxmlformats.org/drawingml/2006/main">
            <a:off x="64579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Filters + keyword</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+Semantic rerank</a:t>
            </a:r>
          </a:p>
        </p:txBody>
      </p:sp>
      <p:sp>
        <p:nvSpPr>
          <p:cNvPr id="28" name="">
            <a:extLst xmlns:a="http://schemas.openxmlformats.org/drawingml/2006/main">
              <a:ext uri="{FF2B5EF4-FFF2-40B4-BE49-F238E27FC236}">
                <a16:creationId xmlns:a16="http://schemas.microsoft.com/office/drawing/2014/main" id="{46953472-8A02-4E1C-BD78-06B70BA5FD31}"/>
              </a:ext>
            </a:extLst>
          </p:cNvPr>
          <p:cNvSpPr>
            <a:spLocks xmlns:a="http://schemas.openxmlformats.org/drawingml/2006/main" noGrp="1"/>
          </p:cNvSpPr>
          <p:nvPr/>
        </p:nvSpPr>
        <p:spPr>
          <a:xfrm xmlns:a="http://schemas.openxmlformats.org/drawingml/2006/main">
            <a:off x="79438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29" name="">
            <a:extLst xmlns:a="http://schemas.openxmlformats.org/drawingml/2006/main">
              <a:ext uri="{FF2B5EF4-FFF2-40B4-BE49-F238E27FC236}">
                <a16:creationId xmlns:a16="http://schemas.microsoft.com/office/drawing/2014/main" id="{29E17EA4-3B00-454A-B5C9-FD70456C5537}"/>
              </a:ext>
            </a:extLst>
          </p:cNvPr>
          <p:cNvSpPr>
            <a:spLocks xmlns:a="http://schemas.openxmlformats.org/drawingml/2006/main" noGrp="1"/>
          </p:cNvSpPr>
          <p:nvPr/>
        </p:nvSpPr>
        <p:spPr>
          <a:xfrm xmlns:a="http://schemas.openxmlformats.org/drawingml/2006/main">
            <a:off x="81629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362F1430-4EC0-40C4-98B4-F220925B648E}"/>
              </a:ext>
            </a:extLst>
          </p:cNvPr>
          <p:cNvSpPr>
            <a:spLocks xmlns:a="http://schemas.openxmlformats.org/drawingml/2006/main" noGrp="1"/>
          </p:cNvSpPr>
          <p:nvPr/>
        </p:nvSpPr>
        <p:spPr>
          <a:xfrm xmlns:a="http://schemas.openxmlformats.org/drawingml/2006/main">
            <a:off x="82296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31" name="">
            <a:extLst xmlns:a="http://schemas.openxmlformats.org/drawingml/2006/main">
              <a:ext uri="{FF2B5EF4-FFF2-40B4-BE49-F238E27FC236}">
                <a16:creationId xmlns:a16="http://schemas.microsoft.com/office/drawing/2014/main" id="{C39A58CD-E45B-4421-83F8-18D712091AF4}"/>
              </a:ext>
            </a:extLst>
          </p:cNvPr>
          <p:cNvSpPr>
            <a:spLocks xmlns:a="http://schemas.openxmlformats.org/drawingml/2006/main" noGrp="1"/>
          </p:cNvSpPr>
          <p:nvPr/>
        </p:nvSpPr>
        <p:spPr>
          <a:xfrm xmlns:a="http://schemas.openxmlformats.org/drawingml/2006/main">
            <a:off x="84010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2F8A5D"/>
                </a:solidFill>
                <a:latin typeface="Helvetica Neue"/>
                <a:ea typeface="Helvetica Neue"/>
                <a:cs typeface="Helvetica Neue"/>
              </a:defRPr>
            </a:pPr>
            <a:r>
              <a:rPr sz="825" b="1">
                <a:solidFill>
                  <a:srgbClr val="2F8A5D"/>
                </a:solidFill>
                <a:latin typeface="Helvetica Neue"/>
                <a:ea typeface="Helvetica Neue"/>
                <a:cs typeface="Helvetica Neue"/>
              </a:rPr>
              <a:t>05</a:t>
            </a:r>
          </a:p>
        </p:txBody>
      </p:sp>
      <p:sp>
        <p:nvSpPr>
          <p:cNvPr id="32" name="">
            <a:extLst xmlns:a="http://schemas.openxmlformats.org/drawingml/2006/main">
              <a:ext uri="{FF2B5EF4-FFF2-40B4-BE49-F238E27FC236}">
                <a16:creationId xmlns:a16="http://schemas.microsoft.com/office/drawing/2014/main" id="{8D4E4A51-CD26-4AE1-B2E5-8449F29DCD85}"/>
              </a:ext>
            </a:extLst>
          </p:cNvPr>
          <p:cNvSpPr>
            <a:spLocks xmlns:a="http://schemas.openxmlformats.org/drawingml/2006/main" noGrp="1"/>
          </p:cNvSpPr>
          <p:nvPr/>
        </p:nvSpPr>
        <p:spPr>
          <a:xfrm xmlns:a="http://schemas.openxmlformats.org/drawingml/2006/main">
            <a:off x="84010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Answer</a:t>
            </a:r>
          </a:p>
        </p:txBody>
      </p:sp>
      <p:sp>
        <p:nvSpPr>
          <p:cNvPr id="33" name="">
            <a:extLst xmlns:a="http://schemas.openxmlformats.org/drawingml/2006/main">
              <a:ext uri="{FF2B5EF4-FFF2-40B4-BE49-F238E27FC236}">
                <a16:creationId xmlns:a16="http://schemas.microsoft.com/office/drawing/2014/main" id="{C999A843-A33E-40B7-8F1B-01A38A140FE4}"/>
              </a:ext>
            </a:extLst>
          </p:cNvPr>
          <p:cNvSpPr>
            <a:spLocks xmlns:a="http://schemas.openxmlformats.org/drawingml/2006/main" noGrp="1"/>
          </p:cNvSpPr>
          <p:nvPr/>
        </p:nvSpPr>
        <p:spPr>
          <a:xfrm xmlns:a="http://schemas.openxmlformats.org/drawingml/2006/main">
            <a:off x="84010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Strict schema</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+Claim citations</a:t>
            </a:r>
          </a:p>
        </p:txBody>
      </p:sp>
      <p:sp>
        <p:nvSpPr>
          <p:cNvPr id="34" name="">
            <a:extLst xmlns:a="http://schemas.openxmlformats.org/drawingml/2006/main">
              <a:ext uri="{FF2B5EF4-FFF2-40B4-BE49-F238E27FC236}">
                <a16:creationId xmlns:a16="http://schemas.microsoft.com/office/drawing/2014/main" id="{3A511DDD-CB63-463F-862E-1FB2211553F1}"/>
              </a:ext>
            </a:extLst>
          </p:cNvPr>
          <p:cNvSpPr>
            <a:spLocks xmlns:a="http://schemas.openxmlformats.org/drawingml/2006/main" noGrp="1"/>
          </p:cNvSpPr>
          <p:nvPr/>
        </p:nvSpPr>
        <p:spPr>
          <a:xfrm xmlns:a="http://schemas.openxmlformats.org/drawingml/2006/main">
            <a:off x="98869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35" name="">
            <a:extLst xmlns:a="http://schemas.openxmlformats.org/drawingml/2006/main">
              <a:ext uri="{FF2B5EF4-FFF2-40B4-BE49-F238E27FC236}">
                <a16:creationId xmlns:a16="http://schemas.microsoft.com/office/drawing/2014/main" id="{BF0CA32A-65AC-4DAC-987D-3D109334F257}"/>
              </a:ext>
            </a:extLst>
          </p:cNvPr>
          <p:cNvSpPr>
            <a:spLocks xmlns:a="http://schemas.openxmlformats.org/drawingml/2006/main" noGrp="1"/>
          </p:cNvSpPr>
          <p:nvPr/>
        </p:nvSpPr>
        <p:spPr>
          <a:xfrm xmlns:a="http://schemas.openxmlformats.org/drawingml/2006/main">
            <a:off x="101060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7CD4E734-09D0-489D-9994-8E13C240D3E4}"/>
              </a:ext>
            </a:extLst>
          </p:cNvPr>
          <p:cNvSpPr>
            <a:spLocks xmlns:a="http://schemas.openxmlformats.org/drawingml/2006/main" noGrp="1"/>
          </p:cNvSpPr>
          <p:nvPr/>
        </p:nvSpPr>
        <p:spPr>
          <a:xfrm xmlns:a="http://schemas.openxmlformats.org/drawingml/2006/main">
            <a:off x="101727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37" name="">
            <a:extLst xmlns:a="http://schemas.openxmlformats.org/drawingml/2006/main">
              <a:ext uri="{FF2B5EF4-FFF2-40B4-BE49-F238E27FC236}">
                <a16:creationId xmlns:a16="http://schemas.microsoft.com/office/drawing/2014/main" id="{8372FE4B-30A5-42B2-8CD1-778E914BB87B}"/>
              </a:ext>
            </a:extLst>
          </p:cNvPr>
          <p:cNvSpPr>
            <a:spLocks xmlns:a="http://schemas.openxmlformats.org/drawingml/2006/main" noGrp="1"/>
          </p:cNvSpPr>
          <p:nvPr/>
        </p:nvSpPr>
        <p:spPr>
          <a:xfrm xmlns:a="http://schemas.openxmlformats.org/drawingml/2006/main">
            <a:off x="103441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2F8A5D"/>
                </a:solidFill>
                <a:latin typeface="Helvetica Neue"/>
                <a:ea typeface="Helvetica Neue"/>
                <a:cs typeface="Helvetica Neue"/>
              </a:defRPr>
            </a:pPr>
            <a:r>
              <a:rPr sz="825" b="1">
                <a:solidFill>
                  <a:srgbClr val="2F8A5D"/>
                </a:solidFill>
                <a:latin typeface="Helvetica Neue"/>
                <a:ea typeface="Helvetica Neue"/>
                <a:cs typeface="Helvetica Neue"/>
              </a:rPr>
              <a:t>06</a:t>
            </a:r>
          </a:p>
        </p:txBody>
      </p:sp>
      <p:sp>
        <p:nvSpPr>
          <p:cNvPr id="38" name="">
            <a:extLst xmlns:a="http://schemas.openxmlformats.org/drawingml/2006/main">
              <a:ext uri="{FF2B5EF4-FFF2-40B4-BE49-F238E27FC236}">
                <a16:creationId xmlns:a16="http://schemas.microsoft.com/office/drawing/2014/main" id="{95FB1672-1ED3-4CCA-A3AB-56574E9D94E7}"/>
              </a:ext>
            </a:extLst>
          </p:cNvPr>
          <p:cNvSpPr>
            <a:spLocks xmlns:a="http://schemas.openxmlformats.org/drawingml/2006/main" noGrp="1"/>
          </p:cNvSpPr>
          <p:nvPr/>
        </p:nvSpPr>
        <p:spPr>
          <a:xfrm xmlns:a="http://schemas.openxmlformats.org/drawingml/2006/main">
            <a:off x="103441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Improve</a:t>
            </a:r>
          </a:p>
        </p:txBody>
      </p:sp>
      <p:sp>
        <p:nvSpPr>
          <p:cNvPr id="39" name="">
            <a:extLst xmlns:a="http://schemas.openxmlformats.org/drawingml/2006/main">
              <a:ext uri="{FF2B5EF4-FFF2-40B4-BE49-F238E27FC236}">
                <a16:creationId xmlns:a16="http://schemas.microsoft.com/office/drawing/2014/main" id="{66680799-FB72-40E4-80C4-2887C3E98CBB}"/>
              </a:ext>
            </a:extLst>
          </p:cNvPr>
          <p:cNvSpPr>
            <a:spLocks xmlns:a="http://schemas.openxmlformats.org/drawingml/2006/main" noGrp="1"/>
          </p:cNvSpPr>
          <p:nvPr/>
        </p:nvSpPr>
        <p:spPr>
          <a:xfrm xmlns:a="http://schemas.openxmlformats.org/drawingml/2006/main">
            <a:off x="103441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Gold questions</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+Feedback loop</a:t>
            </a:r>
          </a:p>
        </p:txBody>
      </p:sp>
      <p:sp>
        <p:nvSpPr>
          <p:cNvPr id="40" name="">
            <a:extLst xmlns:a="http://schemas.openxmlformats.org/drawingml/2006/main">
              <a:ext uri="{FF2B5EF4-FFF2-40B4-BE49-F238E27FC236}">
                <a16:creationId xmlns:a16="http://schemas.microsoft.com/office/drawing/2014/main" id="{C46F96EA-8CAC-425E-AFA7-C7D8279B5D86}"/>
              </a:ext>
            </a:extLst>
          </p:cNvPr>
          <p:cNvSpPr>
            <a:spLocks xmlns:a="http://schemas.openxmlformats.org/drawingml/2006/main" noGrp="1"/>
          </p:cNvSpPr>
          <p:nvPr/>
        </p:nvSpPr>
        <p:spPr>
          <a:xfrm xmlns:a="http://schemas.openxmlformats.org/drawingml/2006/main">
            <a:off x="6667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Source ID</a:t>
            </a:r>
          </a:p>
        </p:txBody>
      </p:sp>
      <p:sp>
        <p:nvSpPr>
          <p:cNvPr id="41" name="">
            <a:extLst xmlns:a="http://schemas.openxmlformats.org/drawingml/2006/main">
              <a:ext uri="{FF2B5EF4-FFF2-40B4-BE49-F238E27FC236}">
                <a16:creationId xmlns:a16="http://schemas.microsoft.com/office/drawing/2014/main" id="{0B2A2FDB-F568-4288-84F1-58F43973F9B9}"/>
              </a:ext>
            </a:extLst>
          </p:cNvPr>
          <p:cNvSpPr>
            <a:spLocks xmlns:a="http://schemas.openxmlformats.org/drawingml/2006/main" noGrp="1"/>
          </p:cNvSpPr>
          <p:nvPr/>
        </p:nvSpPr>
        <p:spPr>
          <a:xfrm xmlns:a="http://schemas.openxmlformats.org/drawingml/2006/main">
            <a:off x="6667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Always</a:t>
            </a:r>
          </a:p>
        </p:txBody>
      </p:sp>
      <p:sp>
        <p:nvSpPr>
          <p:cNvPr id="42" name="">
            <a:extLst xmlns:a="http://schemas.openxmlformats.org/drawingml/2006/main">
              <a:ext uri="{FF2B5EF4-FFF2-40B4-BE49-F238E27FC236}">
                <a16:creationId xmlns:a16="http://schemas.microsoft.com/office/drawing/2014/main" id="{4F5EA7A1-B45E-498A-80F6-B2FA176606FB}"/>
              </a:ext>
            </a:extLst>
          </p:cNvPr>
          <p:cNvSpPr>
            <a:spLocks xmlns:a="http://schemas.openxmlformats.org/drawingml/2006/main" noGrp="1"/>
          </p:cNvSpPr>
          <p:nvPr/>
        </p:nvSpPr>
        <p:spPr>
          <a:xfrm xmlns:a="http://schemas.openxmlformats.org/drawingml/2006/main">
            <a:off x="27241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Version + time</a:t>
            </a:r>
          </a:p>
        </p:txBody>
      </p:sp>
      <p:sp>
        <p:nvSpPr>
          <p:cNvPr id="43" name="">
            <a:extLst xmlns:a="http://schemas.openxmlformats.org/drawingml/2006/main">
              <a:ext uri="{FF2B5EF4-FFF2-40B4-BE49-F238E27FC236}">
                <a16:creationId xmlns:a16="http://schemas.microsoft.com/office/drawing/2014/main" id="{022F95CF-6B46-4E66-B9D4-06A1EF06D6DF}"/>
              </a:ext>
            </a:extLst>
          </p:cNvPr>
          <p:cNvSpPr>
            <a:spLocks xmlns:a="http://schemas.openxmlformats.org/drawingml/2006/main" noGrp="1"/>
          </p:cNvSpPr>
          <p:nvPr/>
        </p:nvSpPr>
        <p:spPr>
          <a:xfrm xmlns:a="http://schemas.openxmlformats.org/drawingml/2006/main">
            <a:off x="27241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Always</a:t>
            </a:r>
          </a:p>
        </p:txBody>
      </p:sp>
      <p:sp>
        <p:nvSpPr>
          <p:cNvPr id="44" name="">
            <a:extLst xmlns:a="http://schemas.openxmlformats.org/drawingml/2006/main">
              <a:ext uri="{FF2B5EF4-FFF2-40B4-BE49-F238E27FC236}">
                <a16:creationId xmlns:a16="http://schemas.microsoft.com/office/drawing/2014/main" id="{D7CAE2A9-CA96-4EE7-9C9B-BF5C2A57466A}"/>
              </a:ext>
            </a:extLst>
          </p:cNvPr>
          <p:cNvSpPr>
            <a:spLocks xmlns:a="http://schemas.openxmlformats.org/drawingml/2006/main" noGrp="1"/>
          </p:cNvSpPr>
          <p:nvPr/>
        </p:nvSpPr>
        <p:spPr>
          <a:xfrm xmlns:a="http://schemas.openxmlformats.org/drawingml/2006/main">
            <a:off x="47815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Access principals</a:t>
            </a:r>
          </a:p>
        </p:txBody>
      </p:sp>
      <p:sp>
        <p:nvSpPr>
          <p:cNvPr id="45" name="">
            <a:extLst xmlns:a="http://schemas.openxmlformats.org/drawingml/2006/main">
              <a:ext uri="{FF2B5EF4-FFF2-40B4-BE49-F238E27FC236}">
                <a16:creationId xmlns:a16="http://schemas.microsoft.com/office/drawing/2014/main" id="{D8CA3DAE-C225-4979-B288-6643D1528B10}"/>
              </a:ext>
            </a:extLst>
          </p:cNvPr>
          <p:cNvSpPr>
            <a:spLocks xmlns:a="http://schemas.openxmlformats.org/drawingml/2006/main" noGrp="1"/>
          </p:cNvSpPr>
          <p:nvPr/>
        </p:nvSpPr>
        <p:spPr>
          <a:xfrm xmlns:a="http://schemas.openxmlformats.org/drawingml/2006/main">
            <a:off x="47815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Always</a:t>
            </a:r>
          </a:p>
        </p:txBody>
      </p:sp>
      <p:sp>
        <p:nvSpPr>
          <p:cNvPr id="46" name="">
            <a:extLst xmlns:a="http://schemas.openxmlformats.org/drawingml/2006/main">
              <a:ext uri="{FF2B5EF4-FFF2-40B4-BE49-F238E27FC236}">
                <a16:creationId xmlns:a16="http://schemas.microsoft.com/office/drawing/2014/main" id="{7BF0EE30-FF78-408C-882A-EE8D5C15F134}"/>
              </a:ext>
            </a:extLst>
          </p:cNvPr>
          <p:cNvSpPr>
            <a:spLocks xmlns:a="http://schemas.openxmlformats.org/drawingml/2006/main" noGrp="1"/>
          </p:cNvSpPr>
          <p:nvPr/>
        </p:nvSpPr>
        <p:spPr>
          <a:xfrm xmlns:a="http://schemas.openxmlformats.org/drawingml/2006/main">
            <a:off x="68389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Metric status</a:t>
            </a:r>
          </a:p>
        </p:txBody>
      </p:sp>
      <p:sp>
        <p:nvSpPr>
          <p:cNvPr id="47" name="">
            <a:extLst xmlns:a="http://schemas.openxmlformats.org/drawingml/2006/main">
              <a:ext uri="{FF2B5EF4-FFF2-40B4-BE49-F238E27FC236}">
                <a16:creationId xmlns:a16="http://schemas.microsoft.com/office/drawing/2014/main" id="{2873D9C3-5C19-442D-BE05-957629671D96}"/>
              </a:ext>
            </a:extLst>
          </p:cNvPr>
          <p:cNvSpPr>
            <a:spLocks xmlns:a="http://schemas.openxmlformats.org/drawingml/2006/main" noGrp="1"/>
          </p:cNvSpPr>
          <p:nvPr/>
        </p:nvSpPr>
        <p:spPr>
          <a:xfrm xmlns:a="http://schemas.openxmlformats.org/drawingml/2006/main">
            <a:off x="68389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Estimated / actual</a:t>
            </a:r>
          </a:p>
        </p:txBody>
      </p:sp>
      <p:sp>
        <p:nvSpPr>
          <p:cNvPr id="48" name="">
            <a:extLst xmlns:a="http://schemas.openxmlformats.org/drawingml/2006/main">
              <a:ext uri="{FF2B5EF4-FFF2-40B4-BE49-F238E27FC236}">
                <a16:creationId xmlns:a16="http://schemas.microsoft.com/office/drawing/2014/main" id="{97EEDC8A-6AAE-4372-B08E-726A476E389A}"/>
              </a:ext>
            </a:extLst>
          </p:cNvPr>
          <p:cNvSpPr>
            <a:spLocks xmlns:a="http://schemas.openxmlformats.org/drawingml/2006/main" noGrp="1"/>
          </p:cNvSpPr>
          <p:nvPr/>
        </p:nvSpPr>
        <p:spPr>
          <a:xfrm xmlns:a="http://schemas.openxmlformats.org/drawingml/2006/main">
            <a:off x="88963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Model version</a:t>
            </a:r>
          </a:p>
        </p:txBody>
      </p:sp>
      <p:sp>
        <p:nvSpPr>
          <p:cNvPr id="49" name="">
            <a:extLst xmlns:a="http://schemas.openxmlformats.org/drawingml/2006/main">
              <a:ext uri="{FF2B5EF4-FFF2-40B4-BE49-F238E27FC236}">
                <a16:creationId xmlns:a16="http://schemas.microsoft.com/office/drawing/2014/main" id="{238A4EFA-A336-4E09-95C0-62B4DC444EF1}"/>
              </a:ext>
            </a:extLst>
          </p:cNvPr>
          <p:cNvSpPr>
            <a:spLocks xmlns:a="http://schemas.openxmlformats.org/drawingml/2006/main" noGrp="1"/>
          </p:cNvSpPr>
          <p:nvPr/>
        </p:nvSpPr>
        <p:spPr>
          <a:xfrm xmlns:a="http://schemas.openxmlformats.org/drawingml/2006/main">
            <a:off x="88963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When derived</a:t>
            </a:r>
          </a:p>
        </p:txBody>
      </p:sp>
      <p:sp>
        <p:nvSpPr>
          <p:cNvPr id="50" name="">
            <a:extLst xmlns:a="http://schemas.openxmlformats.org/drawingml/2006/main">
              <a:ext uri="{FF2B5EF4-FFF2-40B4-BE49-F238E27FC236}">
                <a16:creationId xmlns:a16="http://schemas.microsoft.com/office/drawing/2014/main" id="{38E8CDDF-49ED-491D-9000-D022F50DE48C}"/>
              </a:ext>
            </a:extLst>
          </p:cNvPr>
          <p:cNvSpPr>
            <a:spLocks xmlns:a="http://schemas.openxmlformats.org/drawingml/2006/main" noGrp="1"/>
          </p:cNvSpPr>
          <p:nvPr/>
        </p:nvSpPr>
        <p:spPr>
          <a:xfrm xmlns:a="http://schemas.openxmlformats.org/drawingml/2006/main">
            <a:off x="666750" y="5429250"/>
            <a:ext cx="10858500" cy="476250"/>
          </a:xfrm>
          <a:prstGeom xmlns:a="http://schemas.openxmlformats.org/drawingml/2006/main" prst="roundRect">
            <a:avLst>
              <a:gd name="adj" fmla="val 28000"/>
            </a:avLst>
          </a:prstGeom>
          <a:solidFill xmlns:a="http://schemas.openxmlformats.org/drawingml/2006/main">
            <a:srgbClr val="F0EBF7"/>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A0FAE868-95BF-4C1C-8CF3-0B6EBACEC561}"/>
              </a:ext>
            </a:extLst>
          </p:cNvPr>
          <p:cNvSpPr>
            <a:spLocks xmlns:a="http://schemas.openxmlformats.org/drawingml/2006/main" noGrp="1"/>
          </p:cNvSpPr>
          <p:nvPr/>
        </p:nvSpPr>
        <p:spPr>
          <a:xfrm xmlns:a="http://schemas.openxmlformats.org/drawingml/2006/main">
            <a:off x="876300" y="5524500"/>
            <a:ext cx="10439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7657B3"/>
                </a:solidFill>
                <a:latin typeface="Helvetica Neue"/>
                <a:ea typeface="Helvetica Neue"/>
                <a:cs typeface="Helvetica Neue"/>
              </a:defRPr>
            </a:pPr>
            <a:r>
              <a:rPr sz="1125" b="1">
                <a:solidFill>
                  <a:srgbClr val="7657B3"/>
                </a:solidFill>
                <a:latin typeface="Helvetica Neue"/>
                <a:ea typeface="Helvetica Neue"/>
                <a:cs typeface="Helvetica Neue"/>
              </a:rPr>
              <a:t>The raw source stays intact; the canonical layer links records without pretending they mean the same thing.</a:t>
            </a:r>
          </a:p>
        </p:txBody>
      </p:sp>
    </p:spTree>
    <p:extLst>
      <p:ext uri="{BB962C8B-B14F-4D97-AF65-F5344CB8AC3E}">
        <p14:creationId xmlns:p14="http://schemas.microsoft.com/office/powerpoint/2010/main" val="1468647802"/>
      </p:ext>
    </p:extLst>
  </p:cSld>
</p:sld>
</file>

<file path=ppt/slides/slide6.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4A7DECCC-2971-4991-9DA3-8A921580C52A}"/>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TRUST AND PERMISSIONS</a:t>
            </a:r>
          </a:p>
        </p:txBody>
      </p:sp>
      <p:sp>
        <p:nvSpPr>
          <p:cNvPr id="2" name="">
            <a:extLst xmlns:a="http://schemas.openxmlformats.org/drawingml/2006/main">
              <a:ext uri="{FF2B5EF4-FFF2-40B4-BE49-F238E27FC236}">
                <a16:creationId xmlns:a16="http://schemas.microsoft.com/office/drawing/2014/main" id="{5DC59128-0071-4140-ABD2-240BCDA7B1EA}"/>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A7CB4A64-976E-4B73-B7E5-7361BE2D361C}"/>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09E5FFF4-4C2A-422F-9781-F7513A219163}"/>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The access check happens before generation</a:t>
            </a:r>
          </a:p>
        </p:txBody>
      </p:sp>
      <p:sp>
        <p:nvSpPr>
          <p:cNvPr id="5" name="">
            <a:extLst xmlns:a="http://schemas.openxmlformats.org/drawingml/2006/main">
              <a:ext uri="{FF2B5EF4-FFF2-40B4-BE49-F238E27FC236}">
                <a16:creationId xmlns:a16="http://schemas.microsoft.com/office/drawing/2014/main" id="{627F9DB0-3128-4989-8C2F-CA03E9EA6447}"/>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A citation can open only when the user can open its source record.</a:t>
            </a:r>
          </a:p>
        </p:txBody>
      </p:sp>
      <p:sp>
        <p:nvSpPr>
          <p:cNvPr id="6" name="">
            <a:extLst xmlns:a="http://schemas.openxmlformats.org/drawingml/2006/main">
              <a:ext uri="{FF2B5EF4-FFF2-40B4-BE49-F238E27FC236}">
                <a16:creationId xmlns:a16="http://schemas.microsoft.com/office/drawing/2014/main" id="{DDC58BA2-B59E-4007-B484-91AF5E5F22AC}"/>
              </a:ext>
            </a:extLst>
          </p:cNvPr>
          <p:cNvSpPr>
            <a:spLocks xmlns:a="http://schemas.openxmlformats.org/drawingml/2006/main" noGrp="1"/>
          </p:cNvSpPr>
          <p:nvPr/>
        </p:nvSpPr>
        <p:spPr>
          <a:xfrm xmlns:a="http://schemas.openxmlformats.org/drawingml/2006/main">
            <a:off x="590550" y="2400300"/>
            <a:ext cx="180975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185729AD-53E5-4828-BD5B-E4784BB38A72}"/>
              </a:ext>
            </a:extLst>
          </p:cNvPr>
          <p:cNvSpPr>
            <a:spLocks xmlns:a="http://schemas.openxmlformats.org/drawingml/2006/main" noGrp="1"/>
          </p:cNvSpPr>
          <p:nvPr/>
        </p:nvSpPr>
        <p:spPr>
          <a:xfrm xmlns:a="http://schemas.openxmlformats.org/drawingml/2006/main">
            <a:off x="74295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E94B2A"/>
                </a:solidFill>
                <a:latin typeface="Helvetica Neue"/>
                <a:ea typeface="Helvetica Neue"/>
                <a:cs typeface="Helvetica Neue"/>
              </a:defRPr>
            </a:pPr>
            <a:r>
              <a:rPr sz="750" b="1">
                <a:solidFill>
                  <a:srgbClr val="E94B2A"/>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A351DC77-492F-4A3C-BAE3-52A73C0B3E37}"/>
              </a:ext>
            </a:extLst>
          </p:cNvPr>
          <p:cNvSpPr>
            <a:spLocks xmlns:a="http://schemas.openxmlformats.org/drawingml/2006/main" noGrp="1"/>
          </p:cNvSpPr>
          <p:nvPr/>
        </p:nvSpPr>
        <p:spPr>
          <a:xfrm xmlns:a="http://schemas.openxmlformats.org/drawingml/2006/main">
            <a:off x="74295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Identity</a:t>
            </a:r>
          </a:p>
        </p:txBody>
      </p:sp>
      <p:sp>
        <p:nvSpPr>
          <p:cNvPr id="9" name="">
            <a:extLst xmlns:a="http://schemas.openxmlformats.org/drawingml/2006/main">
              <a:ext uri="{FF2B5EF4-FFF2-40B4-BE49-F238E27FC236}">
                <a16:creationId xmlns:a16="http://schemas.microsoft.com/office/drawing/2014/main" id="{858DD427-FEFA-4C7A-BEE4-8E59BFE762EE}"/>
              </a:ext>
            </a:extLst>
          </p:cNvPr>
          <p:cNvSpPr>
            <a:spLocks xmlns:a="http://schemas.openxmlformats.org/drawingml/2006/main" noGrp="1"/>
          </p:cNvSpPr>
          <p:nvPr/>
        </p:nvSpPr>
        <p:spPr>
          <a:xfrm xmlns:a="http://schemas.openxmlformats.org/drawingml/2006/main">
            <a:off x="74295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User + groups</a:t>
            </a:r>
          </a:p>
        </p:txBody>
      </p:sp>
      <p:sp>
        <p:nvSpPr>
          <p:cNvPr id="10" name="">
            <a:extLst xmlns:a="http://schemas.openxmlformats.org/drawingml/2006/main">
              <a:ext uri="{FF2B5EF4-FFF2-40B4-BE49-F238E27FC236}">
                <a16:creationId xmlns:a16="http://schemas.microsoft.com/office/drawing/2014/main" id="{3000F6C0-8C94-4ABE-AE47-49C65FB21A1B}"/>
              </a:ext>
            </a:extLst>
          </p:cNvPr>
          <p:cNvSpPr>
            <a:spLocks xmlns:a="http://schemas.openxmlformats.org/drawingml/2006/main" noGrp="1"/>
          </p:cNvSpPr>
          <p:nvPr/>
        </p:nvSpPr>
        <p:spPr>
          <a:xfrm xmlns:a="http://schemas.openxmlformats.org/drawingml/2006/main">
            <a:off x="2400300" y="2981325"/>
            <a:ext cx="41910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11" name="">
            <a:extLst xmlns:a="http://schemas.openxmlformats.org/drawingml/2006/main">
              <a:ext uri="{FF2B5EF4-FFF2-40B4-BE49-F238E27FC236}">
                <a16:creationId xmlns:a16="http://schemas.microsoft.com/office/drawing/2014/main" id="{3438EE36-9302-4201-A68F-37F434A873B4}"/>
              </a:ext>
            </a:extLst>
          </p:cNvPr>
          <p:cNvSpPr>
            <a:spLocks xmlns:a="http://schemas.openxmlformats.org/drawingml/2006/main" noGrp="1"/>
          </p:cNvSpPr>
          <p:nvPr/>
        </p:nvSpPr>
        <p:spPr>
          <a:xfrm xmlns:a="http://schemas.openxmlformats.org/drawingml/2006/main">
            <a:off x="2819400" y="2400300"/>
            <a:ext cx="180975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DED8D2"/>
            </a:solidFill>
          </a:ln>
        </p:spPr>
      </p:sp>
      <p:sp>
        <p:nvSpPr>
          <p:cNvPr id="12" name="">
            <a:extLst xmlns:a="http://schemas.openxmlformats.org/drawingml/2006/main">
              <a:ext uri="{FF2B5EF4-FFF2-40B4-BE49-F238E27FC236}">
                <a16:creationId xmlns:a16="http://schemas.microsoft.com/office/drawing/2014/main" id="{ABDCB376-AF42-40B4-8675-D013F224FCFB}"/>
              </a:ext>
            </a:extLst>
          </p:cNvPr>
          <p:cNvSpPr>
            <a:spLocks xmlns:a="http://schemas.openxmlformats.org/drawingml/2006/main" noGrp="1"/>
          </p:cNvSpPr>
          <p:nvPr/>
        </p:nvSpPr>
        <p:spPr>
          <a:xfrm xmlns:a="http://schemas.openxmlformats.org/drawingml/2006/main">
            <a:off x="297180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E94B2A"/>
                </a:solidFill>
                <a:latin typeface="Helvetica Neue"/>
                <a:ea typeface="Helvetica Neue"/>
                <a:cs typeface="Helvetica Neue"/>
              </a:defRPr>
            </a:pPr>
            <a:r>
              <a:rPr sz="750" b="1">
                <a:solidFill>
                  <a:srgbClr val="E94B2A"/>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C7B5F030-0D2F-45A1-B06C-7827E66CDA9A}"/>
              </a:ext>
            </a:extLst>
          </p:cNvPr>
          <p:cNvSpPr>
            <a:spLocks xmlns:a="http://schemas.openxmlformats.org/drawingml/2006/main" noGrp="1"/>
          </p:cNvSpPr>
          <p:nvPr/>
        </p:nvSpPr>
        <p:spPr>
          <a:xfrm xmlns:a="http://schemas.openxmlformats.org/drawingml/2006/main">
            <a:off x="297180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Policy</a:t>
            </a:r>
          </a:p>
        </p:txBody>
      </p:sp>
      <p:sp>
        <p:nvSpPr>
          <p:cNvPr id="14" name="">
            <a:extLst xmlns:a="http://schemas.openxmlformats.org/drawingml/2006/main">
              <a:ext uri="{FF2B5EF4-FFF2-40B4-BE49-F238E27FC236}">
                <a16:creationId xmlns:a16="http://schemas.microsoft.com/office/drawing/2014/main" id="{66D8C525-F7ED-406C-9282-46866269EB6A}"/>
              </a:ext>
            </a:extLst>
          </p:cNvPr>
          <p:cNvSpPr>
            <a:spLocks xmlns:a="http://schemas.openxmlformats.org/drawingml/2006/main" noGrp="1"/>
          </p:cNvSpPr>
          <p:nvPr/>
        </p:nvSpPr>
        <p:spPr>
          <a:xfrm xmlns:a="http://schemas.openxmlformats.org/drawingml/2006/main">
            <a:off x="297180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Allowed principals</a:t>
            </a:r>
          </a:p>
        </p:txBody>
      </p:sp>
      <p:sp>
        <p:nvSpPr>
          <p:cNvPr id="15" name="">
            <a:extLst xmlns:a="http://schemas.openxmlformats.org/drawingml/2006/main">
              <a:ext uri="{FF2B5EF4-FFF2-40B4-BE49-F238E27FC236}">
                <a16:creationId xmlns:a16="http://schemas.microsoft.com/office/drawing/2014/main" id="{5369494A-DE09-4F02-83DD-C917EB04526C}"/>
              </a:ext>
            </a:extLst>
          </p:cNvPr>
          <p:cNvSpPr>
            <a:spLocks xmlns:a="http://schemas.openxmlformats.org/drawingml/2006/main" noGrp="1"/>
          </p:cNvSpPr>
          <p:nvPr/>
        </p:nvSpPr>
        <p:spPr>
          <a:xfrm xmlns:a="http://schemas.openxmlformats.org/drawingml/2006/main">
            <a:off x="4629150" y="2981325"/>
            <a:ext cx="41910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16" name="">
            <a:extLst xmlns:a="http://schemas.openxmlformats.org/drawingml/2006/main">
              <a:ext uri="{FF2B5EF4-FFF2-40B4-BE49-F238E27FC236}">
                <a16:creationId xmlns:a16="http://schemas.microsoft.com/office/drawing/2014/main" id="{D85F27AA-6FB3-4F92-8BC1-5CC225D84FB6}"/>
              </a:ext>
            </a:extLst>
          </p:cNvPr>
          <p:cNvSpPr>
            <a:spLocks xmlns:a="http://schemas.openxmlformats.org/drawingml/2006/main" noGrp="1"/>
          </p:cNvSpPr>
          <p:nvPr/>
        </p:nvSpPr>
        <p:spPr>
          <a:xfrm xmlns:a="http://schemas.openxmlformats.org/drawingml/2006/main">
            <a:off x="5048250" y="2400300"/>
            <a:ext cx="180975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DED8D2"/>
            </a:solidFill>
          </a:ln>
        </p:spPr>
      </p:sp>
      <p:sp>
        <p:nvSpPr>
          <p:cNvPr id="17" name="">
            <a:extLst xmlns:a="http://schemas.openxmlformats.org/drawingml/2006/main">
              <a:ext uri="{FF2B5EF4-FFF2-40B4-BE49-F238E27FC236}">
                <a16:creationId xmlns:a16="http://schemas.microsoft.com/office/drawing/2014/main" id="{F6F2922D-C8B6-408E-8753-D9388D5CFED4}"/>
              </a:ext>
            </a:extLst>
          </p:cNvPr>
          <p:cNvSpPr>
            <a:spLocks xmlns:a="http://schemas.openxmlformats.org/drawingml/2006/main" noGrp="1"/>
          </p:cNvSpPr>
          <p:nvPr/>
        </p:nvSpPr>
        <p:spPr>
          <a:xfrm xmlns:a="http://schemas.openxmlformats.org/drawingml/2006/main">
            <a:off x="520065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E94B2A"/>
                </a:solidFill>
                <a:latin typeface="Helvetica Neue"/>
                <a:ea typeface="Helvetica Neue"/>
                <a:cs typeface="Helvetica Neue"/>
              </a:defRPr>
            </a:pPr>
            <a:r>
              <a:rPr sz="750" b="1">
                <a:solidFill>
                  <a:srgbClr val="E94B2A"/>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63FF769F-5975-4D9E-BE1D-B2E56A29FA63}"/>
              </a:ext>
            </a:extLst>
          </p:cNvPr>
          <p:cNvSpPr>
            <a:spLocks xmlns:a="http://schemas.openxmlformats.org/drawingml/2006/main" noGrp="1"/>
          </p:cNvSpPr>
          <p:nvPr/>
        </p:nvSpPr>
        <p:spPr>
          <a:xfrm xmlns:a="http://schemas.openxmlformats.org/drawingml/2006/main">
            <a:off x="520065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Retrieval</a:t>
            </a:r>
          </a:p>
        </p:txBody>
      </p:sp>
      <p:sp>
        <p:nvSpPr>
          <p:cNvPr id="19" name="">
            <a:extLst xmlns:a="http://schemas.openxmlformats.org/drawingml/2006/main">
              <a:ext uri="{FF2B5EF4-FFF2-40B4-BE49-F238E27FC236}">
                <a16:creationId xmlns:a16="http://schemas.microsoft.com/office/drawing/2014/main" id="{6946733E-69FA-4548-BBFA-E3315BD42DC3}"/>
              </a:ext>
            </a:extLst>
          </p:cNvPr>
          <p:cNvSpPr>
            <a:spLocks xmlns:a="http://schemas.openxmlformats.org/drawingml/2006/main" noGrp="1"/>
          </p:cNvSpPr>
          <p:nvPr/>
        </p:nvSpPr>
        <p:spPr>
          <a:xfrm xmlns:a="http://schemas.openxmlformats.org/drawingml/2006/main">
            <a:off x="520065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Permitted chunks</a:t>
            </a:r>
          </a:p>
        </p:txBody>
      </p:sp>
      <p:sp>
        <p:nvSpPr>
          <p:cNvPr id="20" name="">
            <a:extLst xmlns:a="http://schemas.openxmlformats.org/drawingml/2006/main">
              <a:ext uri="{FF2B5EF4-FFF2-40B4-BE49-F238E27FC236}">
                <a16:creationId xmlns:a16="http://schemas.microsoft.com/office/drawing/2014/main" id="{CE0FFA05-5EE6-4B75-9E97-66FE233469C9}"/>
              </a:ext>
            </a:extLst>
          </p:cNvPr>
          <p:cNvSpPr>
            <a:spLocks xmlns:a="http://schemas.openxmlformats.org/drawingml/2006/main" noGrp="1"/>
          </p:cNvSpPr>
          <p:nvPr/>
        </p:nvSpPr>
        <p:spPr>
          <a:xfrm xmlns:a="http://schemas.openxmlformats.org/drawingml/2006/main">
            <a:off x="6858000" y="2981325"/>
            <a:ext cx="41910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21" name="">
            <a:extLst xmlns:a="http://schemas.openxmlformats.org/drawingml/2006/main">
              <a:ext uri="{FF2B5EF4-FFF2-40B4-BE49-F238E27FC236}">
                <a16:creationId xmlns:a16="http://schemas.microsoft.com/office/drawing/2014/main" id="{EABF7C28-3834-4DC6-B235-C65694673BE0}"/>
              </a:ext>
            </a:extLst>
          </p:cNvPr>
          <p:cNvSpPr>
            <a:spLocks xmlns:a="http://schemas.openxmlformats.org/drawingml/2006/main" noGrp="1"/>
          </p:cNvSpPr>
          <p:nvPr/>
        </p:nvSpPr>
        <p:spPr>
          <a:xfrm xmlns:a="http://schemas.openxmlformats.org/drawingml/2006/main">
            <a:off x="7277100" y="2400300"/>
            <a:ext cx="1809750" cy="1162050"/>
          </a:xfrm>
          <a:prstGeom xmlns:a="http://schemas.openxmlformats.org/drawingml/2006/main" prst="roundRect">
            <a:avLst>
              <a:gd name="adj" fmla="val 13115"/>
            </a:avLst>
          </a:prstGeom>
          <a:solidFill xmlns:a="http://schemas.openxmlformats.org/drawingml/2006/main">
            <a:srgbClr val="F0EBF7"/>
          </a:solidFill>
          <a:ln xmlns:a="http://schemas.openxmlformats.org/drawingml/2006/main" w="9525">
            <a:solidFill>
              <a:srgbClr val="7657B3"/>
            </a:solidFill>
          </a:ln>
        </p:spPr>
      </p:sp>
      <p:sp>
        <p:nvSpPr>
          <p:cNvPr id="22" name="">
            <a:extLst xmlns:a="http://schemas.openxmlformats.org/drawingml/2006/main">
              <a:ext uri="{FF2B5EF4-FFF2-40B4-BE49-F238E27FC236}">
                <a16:creationId xmlns:a16="http://schemas.microsoft.com/office/drawing/2014/main" id="{41C5BCA0-48B3-46DA-B16F-BF7E1593379D}"/>
              </a:ext>
            </a:extLst>
          </p:cNvPr>
          <p:cNvSpPr>
            <a:spLocks xmlns:a="http://schemas.openxmlformats.org/drawingml/2006/main" noGrp="1"/>
          </p:cNvSpPr>
          <p:nvPr/>
        </p:nvSpPr>
        <p:spPr>
          <a:xfrm xmlns:a="http://schemas.openxmlformats.org/drawingml/2006/main">
            <a:off x="742950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4</a:t>
            </a:r>
          </a:p>
        </p:txBody>
      </p:sp>
      <p:sp>
        <p:nvSpPr>
          <p:cNvPr id="23" name="">
            <a:extLst xmlns:a="http://schemas.openxmlformats.org/drawingml/2006/main">
              <a:ext uri="{FF2B5EF4-FFF2-40B4-BE49-F238E27FC236}">
                <a16:creationId xmlns:a16="http://schemas.microsoft.com/office/drawing/2014/main" id="{B174D2F0-84D8-4887-A8E9-49465DABA261}"/>
              </a:ext>
            </a:extLst>
          </p:cNvPr>
          <p:cNvSpPr>
            <a:spLocks xmlns:a="http://schemas.openxmlformats.org/drawingml/2006/main" noGrp="1"/>
          </p:cNvSpPr>
          <p:nvPr/>
        </p:nvSpPr>
        <p:spPr>
          <a:xfrm xmlns:a="http://schemas.openxmlformats.org/drawingml/2006/main">
            <a:off x="742950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Model</a:t>
            </a:r>
          </a:p>
        </p:txBody>
      </p:sp>
      <p:sp>
        <p:nvSpPr>
          <p:cNvPr id="24" name="">
            <a:extLst xmlns:a="http://schemas.openxmlformats.org/drawingml/2006/main">
              <a:ext uri="{FF2B5EF4-FFF2-40B4-BE49-F238E27FC236}">
                <a16:creationId xmlns:a16="http://schemas.microsoft.com/office/drawing/2014/main" id="{071D3060-862E-4A3A-96F2-B9AD6EC972F8}"/>
              </a:ext>
            </a:extLst>
          </p:cNvPr>
          <p:cNvSpPr>
            <a:spLocks xmlns:a="http://schemas.openxmlformats.org/drawingml/2006/main" noGrp="1"/>
          </p:cNvSpPr>
          <p:nvPr/>
        </p:nvSpPr>
        <p:spPr>
          <a:xfrm xmlns:a="http://schemas.openxmlformats.org/drawingml/2006/main">
            <a:off x="742950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Evidence only</a:t>
            </a:r>
          </a:p>
        </p:txBody>
      </p:sp>
      <p:sp>
        <p:nvSpPr>
          <p:cNvPr id="25" name="">
            <a:extLst xmlns:a="http://schemas.openxmlformats.org/drawingml/2006/main">
              <a:ext uri="{FF2B5EF4-FFF2-40B4-BE49-F238E27FC236}">
                <a16:creationId xmlns:a16="http://schemas.microsoft.com/office/drawing/2014/main" id="{7C7DFBB1-A391-436D-A013-D1760698174B}"/>
              </a:ext>
            </a:extLst>
          </p:cNvPr>
          <p:cNvSpPr>
            <a:spLocks xmlns:a="http://schemas.openxmlformats.org/drawingml/2006/main" noGrp="1"/>
          </p:cNvSpPr>
          <p:nvPr/>
        </p:nvSpPr>
        <p:spPr>
          <a:xfrm xmlns:a="http://schemas.openxmlformats.org/drawingml/2006/main">
            <a:off x="9086850" y="2981325"/>
            <a:ext cx="41910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26" name="">
            <a:extLst xmlns:a="http://schemas.openxmlformats.org/drawingml/2006/main">
              <a:ext uri="{FF2B5EF4-FFF2-40B4-BE49-F238E27FC236}">
                <a16:creationId xmlns:a16="http://schemas.microsoft.com/office/drawing/2014/main" id="{10B0C3AC-52B5-485A-968E-37812257A289}"/>
              </a:ext>
            </a:extLst>
          </p:cNvPr>
          <p:cNvSpPr>
            <a:spLocks xmlns:a="http://schemas.openxmlformats.org/drawingml/2006/main" noGrp="1"/>
          </p:cNvSpPr>
          <p:nvPr/>
        </p:nvSpPr>
        <p:spPr>
          <a:xfrm xmlns:a="http://schemas.openxmlformats.org/drawingml/2006/main">
            <a:off x="9505950" y="2400300"/>
            <a:ext cx="180975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DED8D2"/>
            </a:solidFill>
          </a:ln>
        </p:spPr>
      </p:sp>
      <p:sp>
        <p:nvSpPr>
          <p:cNvPr id="27" name="">
            <a:extLst xmlns:a="http://schemas.openxmlformats.org/drawingml/2006/main">
              <a:ext uri="{FF2B5EF4-FFF2-40B4-BE49-F238E27FC236}">
                <a16:creationId xmlns:a16="http://schemas.microsoft.com/office/drawing/2014/main" id="{B1C94E6E-A3EC-46EE-9547-0ADB16D15085}"/>
              </a:ext>
            </a:extLst>
          </p:cNvPr>
          <p:cNvSpPr>
            <a:spLocks xmlns:a="http://schemas.openxmlformats.org/drawingml/2006/main" noGrp="1"/>
          </p:cNvSpPr>
          <p:nvPr/>
        </p:nvSpPr>
        <p:spPr>
          <a:xfrm xmlns:a="http://schemas.openxmlformats.org/drawingml/2006/main">
            <a:off x="965835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E94B2A"/>
                </a:solidFill>
                <a:latin typeface="Helvetica Neue"/>
                <a:ea typeface="Helvetica Neue"/>
                <a:cs typeface="Helvetica Neue"/>
              </a:defRPr>
            </a:pPr>
            <a:r>
              <a:rPr sz="750" b="1">
                <a:solidFill>
                  <a:srgbClr val="E94B2A"/>
                </a:solidFill>
                <a:latin typeface="Helvetica Neue"/>
                <a:ea typeface="Helvetica Neue"/>
                <a:cs typeface="Helvetica Neue"/>
              </a:rPr>
              <a:t>5</a:t>
            </a:r>
          </a:p>
        </p:txBody>
      </p:sp>
      <p:sp>
        <p:nvSpPr>
          <p:cNvPr id="28" name="">
            <a:extLst xmlns:a="http://schemas.openxmlformats.org/drawingml/2006/main">
              <a:ext uri="{FF2B5EF4-FFF2-40B4-BE49-F238E27FC236}">
                <a16:creationId xmlns:a16="http://schemas.microsoft.com/office/drawing/2014/main" id="{48637B16-5366-4BD8-ACBC-4BFBA9C1C2D1}"/>
              </a:ext>
            </a:extLst>
          </p:cNvPr>
          <p:cNvSpPr>
            <a:spLocks xmlns:a="http://schemas.openxmlformats.org/drawingml/2006/main" noGrp="1"/>
          </p:cNvSpPr>
          <p:nvPr/>
        </p:nvSpPr>
        <p:spPr>
          <a:xfrm xmlns:a="http://schemas.openxmlformats.org/drawingml/2006/main">
            <a:off x="965835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Citation</a:t>
            </a:r>
          </a:p>
        </p:txBody>
      </p:sp>
      <p:sp>
        <p:nvSpPr>
          <p:cNvPr id="29" name="">
            <a:extLst xmlns:a="http://schemas.openxmlformats.org/drawingml/2006/main">
              <a:ext uri="{FF2B5EF4-FFF2-40B4-BE49-F238E27FC236}">
                <a16:creationId xmlns:a16="http://schemas.microsoft.com/office/drawing/2014/main" id="{8CCDE761-28F9-46E5-B67F-E4B92F76461F}"/>
              </a:ext>
            </a:extLst>
          </p:cNvPr>
          <p:cNvSpPr>
            <a:spLocks xmlns:a="http://schemas.openxmlformats.org/drawingml/2006/main" noGrp="1"/>
          </p:cNvSpPr>
          <p:nvPr/>
        </p:nvSpPr>
        <p:spPr>
          <a:xfrm xmlns:a="http://schemas.openxmlformats.org/drawingml/2006/main">
            <a:off x="965835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Access recheck</a:t>
            </a:r>
          </a:p>
        </p:txBody>
      </p:sp>
      <p:sp>
        <p:nvSpPr>
          <p:cNvPr id="30" name="">
            <a:extLst xmlns:a="http://schemas.openxmlformats.org/drawingml/2006/main">
              <a:ext uri="{FF2B5EF4-FFF2-40B4-BE49-F238E27FC236}">
                <a16:creationId xmlns:a16="http://schemas.microsoft.com/office/drawing/2014/main" id="{86748282-5B61-4E06-A3A6-01B7D6BBFE29}"/>
              </a:ext>
            </a:extLst>
          </p:cNvPr>
          <p:cNvSpPr>
            <a:spLocks xmlns:a="http://schemas.openxmlformats.org/drawingml/2006/main" noGrp="1"/>
          </p:cNvSpPr>
          <p:nvPr/>
        </p:nvSpPr>
        <p:spPr>
          <a:xfrm xmlns:a="http://schemas.openxmlformats.org/drawingml/2006/main">
            <a:off x="666750" y="4057650"/>
            <a:ext cx="5238750" cy="1333500"/>
          </a:xfrm>
          <a:prstGeom xmlns:a="http://schemas.openxmlformats.org/drawingml/2006/main" prst="roundRect">
            <a:avLst>
              <a:gd name="adj" fmla="val 12857"/>
            </a:avLst>
          </a:prstGeom>
          <a:solidFill xmlns:a="http://schemas.openxmlformats.org/drawingml/2006/main">
            <a:srgbClr val="25152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5EEC279E-A451-4013-B495-C2E8128557E6}"/>
              </a:ext>
            </a:extLst>
          </p:cNvPr>
          <p:cNvSpPr>
            <a:spLocks xmlns:a="http://schemas.openxmlformats.org/drawingml/2006/main" noGrp="1"/>
          </p:cNvSpPr>
          <p:nvPr/>
        </p:nvSpPr>
        <p:spPr>
          <a:xfrm xmlns:a="http://schemas.openxmlformats.org/drawingml/2006/main">
            <a:off x="895350" y="4276725"/>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9A76"/>
                </a:solidFill>
                <a:latin typeface="Helvetica Neue"/>
                <a:ea typeface="Helvetica Neue"/>
                <a:cs typeface="Helvetica Neue"/>
              </a:defRPr>
            </a:pPr>
            <a:r>
              <a:rPr sz="825" b="1">
                <a:solidFill>
                  <a:srgbClr val="FF9A76"/>
                </a:solidFill>
                <a:latin typeface="Helvetica Neue"/>
                <a:ea typeface="Helvetica Neue"/>
                <a:cs typeface="Helvetica Neue"/>
              </a:rPr>
              <a:t>ZERO-TOLERANCE GATE</a:t>
            </a:r>
          </a:p>
        </p:txBody>
      </p:sp>
      <p:sp>
        <p:nvSpPr>
          <p:cNvPr id="32" name="">
            <a:extLst xmlns:a="http://schemas.openxmlformats.org/drawingml/2006/main">
              <a:ext uri="{FF2B5EF4-FFF2-40B4-BE49-F238E27FC236}">
                <a16:creationId xmlns:a16="http://schemas.microsoft.com/office/drawing/2014/main" id="{CE58184F-2EF4-4C5A-9644-AAEC247FF0B8}"/>
              </a:ext>
            </a:extLst>
          </p:cNvPr>
          <p:cNvSpPr>
            <a:spLocks xmlns:a="http://schemas.openxmlformats.org/drawingml/2006/main" noGrp="1"/>
          </p:cNvSpPr>
          <p:nvPr/>
        </p:nvSpPr>
        <p:spPr>
          <a:xfrm xmlns:a="http://schemas.openxmlformats.org/drawingml/2006/main">
            <a:off x="895350" y="46291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No permission leaks in the test suite</a:t>
            </a:r>
          </a:p>
        </p:txBody>
      </p:sp>
      <p:sp>
        <p:nvSpPr>
          <p:cNvPr id="33" name="">
            <a:extLst xmlns:a="http://schemas.openxmlformats.org/drawingml/2006/main">
              <a:ext uri="{FF2B5EF4-FFF2-40B4-BE49-F238E27FC236}">
                <a16:creationId xmlns:a16="http://schemas.microsoft.com/office/drawing/2014/main" id="{075E7ADA-6999-4F9A-8F56-3805E38377C6}"/>
              </a:ext>
            </a:extLst>
          </p:cNvPr>
          <p:cNvSpPr>
            <a:spLocks xmlns:a="http://schemas.openxmlformats.org/drawingml/2006/main" noGrp="1"/>
          </p:cNvSpPr>
          <p:nvPr/>
        </p:nvSpPr>
        <p:spPr>
          <a:xfrm xmlns:a="http://schemas.openxmlformats.org/drawingml/2006/main">
            <a:off x="895350" y="5029200"/>
            <a:ext cx="447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0">
                <a:solidFill>
                  <a:srgbClr val="C9BECF"/>
                </a:solidFill>
                <a:latin typeface="Helvetica Neue"/>
                <a:ea typeface="Helvetica Neue"/>
                <a:cs typeface="Helvetica Neue"/>
              </a:defRPr>
            </a:pPr>
            <a:r>
              <a:rPr sz="900" b="0">
                <a:solidFill>
                  <a:srgbClr val="C9BECF"/>
                </a:solidFill>
                <a:latin typeface="Helvetica Neue"/>
                <a:ea typeface="Helvetica Neue"/>
                <a:cs typeface="Helvetica Neue"/>
              </a:rPr>
              <a:t>No cache crosses an access boundary.</a:t>
            </a:r>
          </a:p>
        </p:txBody>
      </p:sp>
      <p:sp>
        <p:nvSpPr>
          <p:cNvPr id="34" name="">
            <a:extLst xmlns:a="http://schemas.openxmlformats.org/drawingml/2006/main">
              <a:ext uri="{FF2B5EF4-FFF2-40B4-BE49-F238E27FC236}">
                <a16:creationId xmlns:a16="http://schemas.microsoft.com/office/drawing/2014/main" id="{7F614407-21F8-4EE3-B765-53A24BC50517}"/>
              </a:ext>
            </a:extLst>
          </p:cNvPr>
          <p:cNvSpPr>
            <a:spLocks xmlns:a="http://schemas.openxmlformats.org/drawingml/2006/main" noGrp="1"/>
          </p:cNvSpPr>
          <p:nvPr/>
        </p:nvSpPr>
        <p:spPr>
          <a:xfrm xmlns:a="http://schemas.openxmlformats.org/drawingml/2006/main">
            <a:off x="6191250" y="4057650"/>
            <a:ext cx="5334000" cy="1333500"/>
          </a:xfrm>
          <a:prstGeom xmlns:a="http://schemas.openxmlformats.org/drawingml/2006/main" prst="roundRect">
            <a:avLst>
              <a:gd name="adj" fmla="val 12857"/>
            </a:avLst>
          </a:prstGeom>
          <a:solidFill xmlns:a="http://schemas.openxmlformats.org/drawingml/2006/main">
            <a:srgbClr val="FFF5DF"/>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B2AC3C75-AA8A-4A67-B7F9-5A486B19F168}"/>
              </a:ext>
            </a:extLst>
          </p:cNvPr>
          <p:cNvSpPr>
            <a:spLocks xmlns:a="http://schemas.openxmlformats.org/drawingml/2006/main" noGrp="1"/>
          </p:cNvSpPr>
          <p:nvPr/>
        </p:nvSpPr>
        <p:spPr>
          <a:xfrm xmlns:a="http://schemas.openxmlformats.org/drawingml/2006/main">
            <a:off x="6419850" y="42767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B86A14"/>
                </a:solidFill>
                <a:latin typeface="Helvetica Neue"/>
                <a:ea typeface="Helvetica Neue"/>
                <a:cs typeface="Helvetica Neue"/>
              </a:defRPr>
            </a:pPr>
            <a:r>
              <a:rPr sz="825" b="1">
                <a:solidFill>
                  <a:srgbClr val="B86A14"/>
                </a:solidFill>
                <a:latin typeface="Helvetica Neue"/>
                <a:ea typeface="Helvetica Neue"/>
                <a:cs typeface="Helvetica Neue"/>
              </a:rPr>
              <a:t>RETRIEVED TEXT IS UNTRUSTED</a:t>
            </a:r>
          </a:p>
        </p:txBody>
      </p:sp>
      <p:sp>
        <p:nvSpPr>
          <p:cNvPr id="36" name="">
            <a:extLst xmlns:a="http://schemas.openxmlformats.org/drawingml/2006/main">
              <a:ext uri="{FF2B5EF4-FFF2-40B4-BE49-F238E27FC236}">
                <a16:creationId xmlns:a16="http://schemas.microsoft.com/office/drawing/2014/main" id="{A41A5AF9-6433-400D-945F-D14088116537}"/>
              </a:ext>
            </a:extLst>
          </p:cNvPr>
          <p:cNvSpPr>
            <a:spLocks xmlns:a="http://schemas.openxmlformats.org/drawingml/2006/main" noGrp="1"/>
          </p:cNvSpPr>
          <p:nvPr/>
        </p:nvSpPr>
        <p:spPr>
          <a:xfrm xmlns:a="http://schemas.openxmlformats.org/drawingml/2006/main">
            <a:off x="6419850" y="462915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25152B"/>
                </a:solidFill>
                <a:latin typeface="Helvetica Neue"/>
                <a:ea typeface="Helvetica Neue"/>
                <a:cs typeface="Helvetica Neue"/>
              </a:defRPr>
            </a:pPr>
            <a:r>
              <a:rPr sz="1500" b="1">
                <a:solidFill>
                  <a:srgbClr val="25152B"/>
                </a:solidFill>
                <a:latin typeface="Helvetica Neue"/>
                <a:ea typeface="Helvetica Neue"/>
                <a:cs typeface="Helvetica Neue"/>
              </a:rPr>
              <a:t>Reports and chat can contain prompt injection</a:t>
            </a:r>
          </a:p>
        </p:txBody>
      </p:sp>
      <p:sp>
        <p:nvSpPr>
          <p:cNvPr id="37" name="">
            <a:extLst xmlns:a="http://schemas.openxmlformats.org/drawingml/2006/main">
              <a:ext uri="{FF2B5EF4-FFF2-40B4-BE49-F238E27FC236}">
                <a16:creationId xmlns:a16="http://schemas.microsoft.com/office/drawing/2014/main" id="{7DBDAB04-E68F-4FB9-86FC-15E0FA8A261D}"/>
              </a:ext>
            </a:extLst>
          </p:cNvPr>
          <p:cNvSpPr>
            <a:spLocks xmlns:a="http://schemas.openxmlformats.org/drawingml/2006/main" noGrp="1"/>
          </p:cNvSpPr>
          <p:nvPr/>
        </p:nvSpPr>
        <p:spPr>
          <a:xfrm xmlns:a="http://schemas.openxmlformats.org/drawingml/2006/main">
            <a:off x="6419850" y="5029200"/>
            <a:ext cx="466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Scan, isolate tools, constrain output, and quarantine failures.</a:t>
            </a:r>
          </a:p>
        </p:txBody>
      </p:sp>
    </p:spTree>
    <p:extLst>
      <p:ext uri="{BB962C8B-B14F-4D97-AF65-F5344CB8AC3E}">
        <p14:creationId xmlns:p14="http://schemas.microsoft.com/office/powerpoint/2010/main" val="463630802"/>
      </p:ext>
    </p:extLst>
  </p:cSld>
</p:sld>
</file>

<file path=ppt/slides/slide7.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773F593-8882-4D18-9571-2005165AE992}"/>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FAILURE MODES</a:t>
            </a:r>
          </a:p>
        </p:txBody>
      </p:sp>
      <p:sp>
        <p:nvSpPr>
          <p:cNvPr id="2" name="">
            <a:extLst xmlns:a="http://schemas.openxmlformats.org/drawingml/2006/main">
              <a:ext uri="{FF2B5EF4-FFF2-40B4-BE49-F238E27FC236}">
                <a16:creationId xmlns:a16="http://schemas.microsoft.com/office/drawing/2014/main" id="{2729C9DF-93D5-445C-8A25-FCD2ED2EDFBD}"/>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0FFE10D1-05C9-467C-B62F-3484DF9C3D40}"/>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1785A00C-4D1E-46B5-BF12-1F0B73B5773C}"/>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The product should fail visibly</a:t>
            </a:r>
          </a:p>
        </p:txBody>
      </p:sp>
      <p:sp>
        <p:nvSpPr>
          <p:cNvPr id="5" name="">
            <a:extLst xmlns:a="http://schemas.openxmlformats.org/drawingml/2006/main">
              <a:ext uri="{FF2B5EF4-FFF2-40B4-BE49-F238E27FC236}">
                <a16:creationId xmlns:a16="http://schemas.microsoft.com/office/drawing/2014/main" id="{A063BD25-B2AC-4AAE-9E47-2F97009FB278}"/>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The safest response can be a conflict, a coverage gap, or an abstention.</a:t>
            </a:r>
          </a:p>
        </p:txBody>
      </p:sp>
      <p:sp>
        <p:nvSpPr>
          <p:cNvPr id="6" name="">
            <a:extLst xmlns:a="http://schemas.openxmlformats.org/drawingml/2006/main">
              <a:ext uri="{FF2B5EF4-FFF2-40B4-BE49-F238E27FC236}">
                <a16:creationId xmlns:a16="http://schemas.microsoft.com/office/drawing/2014/main" id="{1494CFE6-D4DB-4F23-83F0-FE859A6F9052}"/>
              </a:ext>
            </a:extLst>
          </p:cNvPr>
          <p:cNvSpPr>
            <a:spLocks xmlns:a="http://schemas.openxmlformats.org/drawingml/2006/main" noGrp="1"/>
          </p:cNvSpPr>
          <p:nvPr/>
        </p:nvSpPr>
        <p:spPr>
          <a:xfrm xmlns:a="http://schemas.openxmlformats.org/drawingml/2006/main">
            <a:off x="666750" y="2057400"/>
            <a:ext cx="2428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FAILURE</a:t>
            </a:r>
          </a:p>
        </p:txBody>
      </p:sp>
      <p:sp>
        <p:nvSpPr>
          <p:cNvPr id="7" name="">
            <a:extLst xmlns:a="http://schemas.openxmlformats.org/drawingml/2006/main">
              <a:ext uri="{FF2B5EF4-FFF2-40B4-BE49-F238E27FC236}">
                <a16:creationId xmlns:a16="http://schemas.microsoft.com/office/drawing/2014/main" id="{CF2B15E4-F0E3-4F2C-8BFF-2F42FAC0608D}"/>
              </a:ext>
            </a:extLst>
          </p:cNvPr>
          <p:cNvSpPr>
            <a:spLocks xmlns:a="http://schemas.openxmlformats.org/drawingml/2006/main" noGrp="1"/>
          </p:cNvSpPr>
          <p:nvPr/>
        </p:nvSpPr>
        <p:spPr>
          <a:xfrm xmlns:a="http://schemas.openxmlformats.org/drawingml/2006/main">
            <a:off x="3409950" y="20574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PREVENTION</a:t>
            </a:r>
          </a:p>
        </p:txBody>
      </p:sp>
      <p:sp>
        <p:nvSpPr>
          <p:cNvPr id="8" name="">
            <a:extLst xmlns:a="http://schemas.openxmlformats.org/drawingml/2006/main">
              <a:ext uri="{FF2B5EF4-FFF2-40B4-BE49-F238E27FC236}">
                <a16:creationId xmlns:a16="http://schemas.microsoft.com/office/drawing/2014/main" id="{734C6DCD-8747-4561-9E41-5DD686745805}"/>
              </a:ext>
            </a:extLst>
          </p:cNvPr>
          <p:cNvSpPr>
            <a:spLocks xmlns:a="http://schemas.openxmlformats.org/drawingml/2006/main" noGrp="1"/>
          </p:cNvSpPr>
          <p:nvPr/>
        </p:nvSpPr>
        <p:spPr>
          <a:xfrm xmlns:a="http://schemas.openxmlformats.org/drawingml/2006/main">
            <a:off x="7239000" y="2057400"/>
            <a:ext cx="361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USER EXPERIENCE</a:t>
            </a:r>
          </a:p>
        </p:txBody>
      </p:sp>
      <p:sp>
        <p:nvSpPr>
          <p:cNvPr id="9" name="">
            <a:extLst xmlns:a="http://schemas.openxmlformats.org/drawingml/2006/main">
              <a:ext uri="{FF2B5EF4-FFF2-40B4-BE49-F238E27FC236}">
                <a16:creationId xmlns:a16="http://schemas.microsoft.com/office/drawing/2014/main" id="{9D852AAC-6D03-4264-851D-CD5786C3C730}"/>
              </a:ext>
            </a:extLst>
          </p:cNvPr>
          <p:cNvSpPr>
            <a:spLocks xmlns:a="http://schemas.openxmlformats.org/drawingml/2006/main" noGrp="1"/>
          </p:cNvSpPr>
          <p:nvPr/>
        </p:nvSpPr>
        <p:spPr>
          <a:xfrm xmlns:a="http://schemas.openxmlformats.org/drawingml/2006/main">
            <a:off x="666750" y="2343150"/>
            <a:ext cx="101917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0" name="">
            <a:extLst xmlns:a="http://schemas.openxmlformats.org/drawingml/2006/main">
              <a:ext uri="{FF2B5EF4-FFF2-40B4-BE49-F238E27FC236}">
                <a16:creationId xmlns:a16="http://schemas.microsoft.com/office/drawing/2014/main" id="{FDE3CC8E-3639-4218-8FDF-C3D361D5B3EC}"/>
              </a:ext>
            </a:extLst>
          </p:cNvPr>
          <p:cNvSpPr>
            <a:spLocks xmlns:a="http://schemas.openxmlformats.org/drawingml/2006/main" noGrp="1"/>
          </p:cNvSpPr>
          <p:nvPr/>
        </p:nvSpPr>
        <p:spPr>
          <a:xfrm xmlns:a="http://schemas.openxmlformats.org/drawingml/2006/main">
            <a:off x="666750" y="2476500"/>
            <a:ext cx="10191750" cy="428625"/>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895E701-9C11-45D4-9E11-C9843439ACEE}"/>
              </a:ext>
            </a:extLst>
          </p:cNvPr>
          <p:cNvSpPr>
            <a:spLocks xmlns:a="http://schemas.openxmlformats.org/drawingml/2006/main" noGrp="1"/>
          </p:cNvSpPr>
          <p:nvPr/>
        </p:nvSpPr>
        <p:spPr>
          <a:xfrm xmlns:a="http://schemas.openxmlformats.org/drawingml/2006/main">
            <a:off x="838200" y="256222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Permission leak</a:t>
            </a:r>
          </a:p>
        </p:txBody>
      </p:sp>
      <p:sp>
        <p:nvSpPr>
          <p:cNvPr id="12" name="">
            <a:extLst xmlns:a="http://schemas.openxmlformats.org/drawingml/2006/main">
              <a:ext uri="{FF2B5EF4-FFF2-40B4-BE49-F238E27FC236}">
                <a16:creationId xmlns:a16="http://schemas.microsoft.com/office/drawing/2014/main" id="{1097D7CC-D9CC-4F08-91DF-967CAF331EB8}"/>
              </a:ext>
            </a:extLst>
          </p:cNvPr>
          <p:cNvSpPr>
            <a:spLocks xmlns:a="http://schemas.openxmlformats.org/drawingml/2006/main" noGrp="1"/>
          </p:cNvSpPr>
          <p:nvPr/>
        </p:nvSpPr>
        <p:spPr>
          <a:xfrm xmlns:a="http://schemas.openxmlformats.org/drawingml/2006/main">
            <a:off x="3409950" y="256222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Block before retrieval</a:t>
            </a:r>
          </a:p>
        </p:txBody>
      </p:sp>
      <p:sp>
        <p:nvSpPr>
          <p:cNvPr id="13" name="">
            <a:extLst xmlns:a="http://schemas.openxmlformats.org/drawingml/2006/main">
              <a:ext uri="{FF2B5EF4-FFF2-40B4-BE49-F238E27FC236}">
                <a16:creationId xmlns:a16="http://schemas.microsoft.com/office/drawing/2014/main" id="{8E47A0F7-C005-450B-BF2E-1E6B29DC42D1}"/>
              </a:ext>
            </a:extLst>
          </p:cNvPr>
          <p:cNvSpPr>
            <a:spLocks xmlns:a="http://schemas.openxmlformats.org/drawingml/2006/main" noGrp="1"/>
          </p:cNvSpPr>
          <p:nvPr/>
        </p:nvSpPr>
        <p:spPr>
          <a:xfrm xmlns:a="http://schemas.openxmlformats.org/drawingml/2006/main">
            <a:off x="7239000" y="256222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E94B2A"/>
                </a:solidFill>
                <a:latin typeface="Helvetica Neue"/>
                <a:ea typeface="Helvetica Neue"/>
                <a:cs typeface="Helvetica Neue"/>
              </a:defRPr>
            </a:pPr>
            <a:r>
              <a:rPr sz="975" b="1">
                <a:solidFill>
                  <a:srgbClr val="E94B2A"/>
                </a:solidFill>
                <a:latin typeface="Helvetica Neue"/>
                <a:ea typeface="Helvetica Neue"/>
                <a:cs typeface="Helvetica Neue"/>
              </a:rPr>
              <a:t>Stop + security event</a:t>
            </a:r>
          </a:p>
        </p:txBody>
      </p:sp>
      <p:sp>
        <p:nvSpPr>
          <p:cNvPr id="14" name="">
            <a:extLst xmlns:a="http://schemas.openxmlformats.org/drawingml/2006/main">
              <a:ext uri="{FF2B5EF4-FFF2-40B4-BE49-F238E27FC236}">
                <a16:creationId xmlns:a16="http://schemas.microsoft.com/office/drawing/2014/main" id="{03EC4C1A-BFCE-4977-9104-5F324E42CBF7}"/>
              </a:ext>
            </a:extLst>
          </p:cNvPr>
          <p:cNvSpPr>
            <a:spLocks xmlns:a="http://schemas.openxmlformats.org/drawingml/2006/main" noGrp="1"/>
          </p:cNvSpPr>
          <p:nvPr/>
        </p:nvSpPr>
        <p:spPr>
          <a:xfrm xmlns:a="http://schemas.openxmlformats.org/drawingml/2006/main">
            <a:off x="838200" y="307657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Estimated ≠ actual</a:t>
            </a:r>
          </a:p>
        </p:txBody>
      </p:sp>
      <p:sp>
        <p:nvSpPr>
          <p:cNvPr id="15" name="">
            <a:extLst xmlns:a="http://schemas.openxmlformats.org/drawingml/2006/main">
              <a:ext uri="{FF2B5EF4-FFF2-40B4-BE49-F238E27FC236}">
                <a16:creationId xmlns:a16="http://schemas.microsoft.com/office/drawing/2014/main" id="{34CFFD1D-1FDE-4DB1-AD2D-198DF2E947E5}"/>
              </a:ext>
            </a:extLst>
          </p:cNvPr>
          <p:cNvSpPr>
            <a:spLocks xmlns:a="http://schemas.openxmlformats.org/drawingml/2006/main" noGrp="1"/>
          </p:cNvSpPr>
          <p:nvPr/>
        </p:nvSpPr>
        <p:spPr>
          <a:xfrm xmlns:a="http://schemas.openxmlformats.org/drawingml/2006/main">
            <a:off x="3409950" y="307657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Typed metrics + model version</a:t>
            </a:r>
          </a:p>
        </p:txBody>
      </p:sp>
      <p:sp>
        <p:nvSpPr>
          <p:cNvPr id="16" name="">
            <a:extLst xmlns:a="http://schemas.openxmlformats.org/drawingml/2006/main">
              <a:ext uri="{FF2B5EF4-FFF2-40B4-BE49-F238E27FC236}">
                <a16:creationId xmlns:a16="http://schemas.microsoft.com/office/drawing/2014/main" id="{C5A5A0D1-1EAE-4C05-8128-D665A5FD8006}"/>
              </a:ext>
            </a:extLst>
          </p:cNvPr>
          <p:cNvSpPr>
            <a:spLocks xmlns:a="http://schemas.openxmlformats.org/drawingml/2006/main" noGrp="1"/>
          </p:cNvSpPr>
          <p:nvPr/>
        </p:nvSpPr>
        <p:spPr>
          <a:xfrm xmlns:a="http://schemas.openxmlformats.org/drawingml/2006/main">
            <a:off x="7239000" y="307657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Compare with labels</a:t>
            </a:r>
          </a:p>
        </p:txBody>
      </p:sp>
      <p:sp>
        <p:nvSpPr>
          <p:cNvPr id="17" name="">
            <a:extLst xmlns:a="http://schemas.openxmlformats.org/drawingml/2006/main">
              <a:ext uri="{FF2B5EF4-FFF2-40B4-BE49-F238E27FC236}">
                <a16:creationId xmlns:a16="http://schemas.microsoft.com/office/drawing/2014/main" id="{58965D19-B4B5-47F8-B5A6-661965A51D2D}"/>
              </a:ext>
            </a:extLst>
          </p:cNvPr>
          <p:cNvSpPr>
            <a:spLocks xmlns:a="http://schemas.openxmlformats.org/drawingml/2006/main" noGrp="1"/>
          </p:cNvSpPr>
          <p:nvPr/>
        </p:nvSpPr>
        <p:spPr>
          <a:xfrm xmlns:a="http://schemas.openxmlformats.org/drawingml/2006/main">
            <a:off x="666750" y="3505200"/>
            <a:ext cx="10191750" cy="428625"/>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04E49E9-5BD7-46F9-9F68-8107A18B28C8}"/>
              </a:ext>
            </a:extLst>
          </p:cNvPr>
          <p:cNvSpPr>
            <a:spLocks xmlns:a="http://schemas.openxmlformats.org/drawingml/2006/main" noGrp="1"/>
          </p:cNvSpPr>
          <p:nvPr/>
        </p:nvSpPr>
        <p:spPr>
          <a:xfrm xmlns:a="http://schemas.openxmlformats.org/drawingml/2006/main">
            <a:off x="838200" y="359092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Conflicting records</a:t>
            </a:r>
          </a:p>
        </p:txBody>
      </p:sp>
      <p:sp>
        <p:nvSpPr>
          <p:cNvPr id="19" name="">
            <a:extLst xmlns:a="http://schemas.openxmlformats.org/drawingml/2006/main">
              <a:ext uri="{FF2B5EF4-FFF2-40B4-BE49-F238E27FC236}">
                <a16:creationId xmlns:a16="http://schemas.microsoft.com/office/drawing/2014/main" id="{84D8BDA4-D113-4533-9D8D-5904C3D63EE5}"/>
              </a:ext>
            </a:extLst>
          </p:cNvPr>
          <p:cNvSpPr>
            <a:spLocks xmlns:a="http://schemas.openxmlformats.org/drawingml/2006/main" noGrp="1"/>
          </p:cNvSpPr>
          <p:nvPr/>
        </p:nvSpPr>
        <p:spPr>
          <a:xfrm xmlns:a="http://schemas.openxmlformats.org/drawingml/2006/main">
            <a:off x="3409950" y="359092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Source-of-truth matrix</a:t>
            </a:r>
          </a:p>
        </p:txBody>
      </p:sp>
      <p:sp>
        <p:nvSpPr>
          <p:cNvPr id="20" name="">
            <a:extLst xmlns:a="http://schemas.openxmlformats.org/drawingml/2006/main">
              <a:ext uri="{FF2B5EF4-FFF2-40B4-BE49-F238E27FC236}">
                <a16:creationId xmlns:a16="http://schemas.microsoft.com/office/drawing/2014/main" id="{BE8A15E5-D941-4DED-9064-4E6555ADFB14}"/>
              </a:ext>
            </a:extLst>
          </p:cNvPr>
          <p:cNvSpPr>
            <a:spLocks xmlns:a="http://schemas.openxmlformats.org/drawingml/2006/main" noGrp="1"/>
          </p:cNvSpPr>
          <p:nvPr/>
        </p:nvSpPr>
        <p:spPr>
          <a:xfrm xmlns:a="http://schemas.openxmlformats.org/drawingml/2006/main">
            <a:off x="7239000" y="359092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Show values, dates, owner</a:t>
            </a:r>
          </a:p>
        </p:txBody>
      </p:sp>
      <p:sp>
        <p:nvSpPr>
          <p:cNvPr id="21" name="">
            <a:extLst xmlns:a="http://schemas.openxmlformats.org/drawingml/2006/main">
              <a:ext uri="{FF2B5EF4-FFF2-40B4-BE49-F238E27FC236}">
                <a16:creationId xmlns:a16="http://schemas.microsoft.com/office/drawing/2014/main" id="{7115B2EB-AD89-4968-8A2F-3CF4CA31A2D1}"/>
              </a:ext>
            </a:extLst>
          </p:cNvPr>
          <p:cNvSpPr>
            <a:spLocks xmlns:a="http://schemas.openxmlformats.org/drawingml/2006/main" noGrp="1"/>
          </p:cNvSpPr>
          <p:nvPr/>
        </p:nvSpPr>
        <p:spPr>
          <a:xfrm xmlns:a="http://schemas.openxmlformats.org/drawingml/2006/main">
            <a:off x="838200" y="410527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Wrong entity merge</a:t>
            </a:r>
          </a:p>
        </p:txBody>
      </p:sp>
      <p:sp>
        <p:nvSpPr>
          <p:cNvPr id="22" name="">
            <a:extLst xmlns:a="http://schemas.openxmlformats.org/drawingml/2006/main">
              <a:ext uri="{FF2B5EF4-FFF2-40B4-BE49-F238E27FC236}">
                <a16:creationId xmlns:a16="http://schemas.microsoft.com/office/drawing/2014/main" id="{59EE223C-A14E-4FC0-B561-E31F8B0A52C4}"/>
              </a:ext>
            </a:extLst>
          </p:cNvPr>
          <p:cNvSpPr>
            <a:spLocks xmlns:a="http://schemas.openxmlformats.org/drawingml/2006/main" noGrp="1"/>
          </p:cNvSpPr>
          <p:nvPr/>
        </p:nvSpPr>
        <p:spPr>
          <a:xfrm xmlns:a="http://schemas.openxmlformats.org/drawingml/2006/main">
            <a:off x="3409950" y="410527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Stable IDs + review queue</a:t>
            </a:r>
          </a:p>
        </p:txBody>
      </p:sp>
      <p:sp>
        <p:nvSpPr>
          <p:cNvPr id="23" name="">
            <a:extLst xmlns:a="http://schemas.openxmlformats.org/drawingml/2006/main">
              <a:ext uri="{FF2B5EF4-FFF2-40B4-BE49-F238E27FC236}">
                <a16:creationId xmlns:a16="http://schemas.microsoft.com/office/drawing/2014/main" id="{A30A9F6D-7667-446D-9280-E8C10CD42552}"/>
              </a:ext>
            </a:extLst>
          </p:cNvPr>
          <p:cNvSpPr>
            <a:spLocks xmlns:a="http://schemas.openxmlformats.org/drawingml/2006/main" noGrp="1"/>
          </p:cNvSpPr>
          <p:nvPr/>
        </p:nvSpPr>
        <p:spPr>
          <a:xfrm xmlns:a="http://schemas.openxmlformats.org/drawingml/2006/main">
            <a:off x="7239000" y="410527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Keep separate</a:t>
            </a:r>
          </a:p>
        </p:txBody>
      </p:sp>
      <p:sp>
        <p:nvSpPr>
          <p:cNvPr id="24" name="">
            <a:extLst xmlns:a="http://schemas.openxmlformats.org/drawingml/2006/main">
              <a:ext uri="{FF2B5EF4-FFF2-40B4-BE49-F238E27FC236}">
                <a16:creationId xmlns:a16="http://schemas.microsoft.com/office/drawing/2014/main" id="{286F83A8-8AE2-4001-B66F-CFEF518CFBB1}"/>
              </a:ext>
            </a:extLst>
          </p:cNvPr>
          <p:cNvSpPr>
            <a:spLocks xmlns:a="http://schemas.openxmlformats.org/drawingml/2006/main" noGrp="1"/>
          </p:cNvSpPr>
          <p:nvPr/>
        </p:nvSpPr>
        <p:spPr>
          <a:xfrm xmlns:a="http://schemas.openxmlformats.org/drawingml/2006/main">
            <a:off x="666750" y="4533900"/>
            <a:ext cx="10191750" cy="428625"/>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BE3C4BE-F353-40A2-A7DC-01E8349919F9}"/>
              </a:ext>
            </a:extLst>
          </p:cNvPr>
          <p:cNvSpPr>
            <a:spLocks xmlns:a="http://schemas.openxmlformats.org/drawingml/2006/main" noGrp="1"/>
          </p:cNvSpPr>
          <p:nvPr/>
        </p:nvSpPr>
        <p:spPr>
          <a:xfrm xmlns:a="http://schemas.openxmlformats.org/drawingml/2006/main">
            <a:off x="838200" y="461962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Missing Zoom history</a:t>
            </a:r>
          </a:p>
        </p:txBody>
      </p:sp>
      <p:sp>
        <p:nvSpPr>
          <p:cNvPr id="26" name="">
            <a:extLst xmlns:a="http://schemas.openxmlformats.org/drawingml/2006/main">
              <a:ext uri="{FF2B5EF4-FFF2-40B4-BE49-F238E27FC236}">
                <a16:creationId xmlns:a16="http://schemas.microsoft.com/office/drawing/2014/main" id="{F30B1555-EC7C-437B-9952-37345931CA31}"/>
              </a:ext>
            </a:extLst>
          </p:cNvPr>
          <p:cNvSpPr>
            <a:spLocks xmlns:a="http://schemas.openxmlformats.org/drawingml/2006/main" noGrp="1"/>
          </p:cNvSpPr>
          <p:nvPr/>
        </p:nvSpPr>
        <p:spPr>
          <a:xfrm xmlns:a="http://schemas.openxmlformats.org/drawingml/2006/main">
            <a:off x="3409950" y="461962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Retention audit</a:t>
            </a:r>
          </a:p>
        </p:txBody>
      </p:sp>
      <p:sp>
        <p:nvSpPr>
          <p:cNvPr id="27" name="">
            <a:extLst xmlns:a="http://schemas.openxmlformats.org/drawingml/2006/main">
              <a:ext uri="{FF2B5EF4-FFF2-40B4-BE49-F238E27FC236}">
                <a16:creationId xmlns:a16="http://schemas.microsoft.com/office/drawing/2014/main" id="{DD87CDC8-A851-4987-92A2-D4F4937A0FFF}"/>
              </a:ext>
            </a:extLst>
          </p:cNvPr>
          <p:cNvSpPr>
            <a:spLocks xmlns:a="http://schemas.openxmlformats.org/drawingml/2006/main" noGrp="1"/>
          </p:cNvSpPr>
          <p:nvPr/>
        </p:nvSpPr>
        <p:spPr>
          <a:xfrm xmlns:a="http://schemas.openxmlformats.org/drawingml/2006/main">
            <a:off x="7239000" y="461962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Show date/channel gap</a:t>
            </a:r>
          </a:p>
        </p:txBody>
      </p:sp>
      <p:sp>
        <p:nvSpPr>
          <p:cNvPr id="28" name="">
            <a:extLst xmlns:a="http://schemas.openxmlformats.org/drawingml/2006/main">
              <a:ext uri="{FF2B5EF4-FFF2-40B4-BE49-F238E27FC236}">
                <a16:creationId xmlns:a16="http://schemas.microsoft.com/office/drawing/2014/main" id="{70AB9CD4-6629-4947-921D-940472C9EF71}"/>
              </a:ext>
            </a:extLst>
          </p:cNvPr>
          <p:cNvSpPr>
            <a:spLocks xmlns:a="http://schemas.openxmlformats.org/drawingml/2006/main" noGrp="1"/>
          </p:cNvSpPr>
          <p:nvPr/>
        </p:nvSpPr>
        <p:spPr>
          <a:xfrm xmlns:a="http://schemas.openxmlformats.org/drawingml/2006/main">
            <a:off x="838200" y="513397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Weak evidence</a:t>
            </a:r>
          </a:p>
        </p:txBody>
      </p:sp>
      <p:sp>
        <p:nvSpPr>
          <p:cNvPr id="29" name="">
            <a:extLst xmlns:a="http://schemas.openxmlformats.org/drawingml/2006/main">
              <a:ext uri="{FF2B5EF4-FFF2-40B4-BE49-F238E27FC236}">
                <a16:creationId xmlns:a16="http://schemas.microsoft.com/office/drawing/2014/main" id="{B8808013-C44E-4F70-8BFD-E1A53A456D1A}"/>
              </a:ext>
            </a:extLst>
          </p:cNvPr>
          <p:cNvSpPr>
            <a:spLocks xmlns:a="http://schemas.openxmlformats.org/drawingml/2006/main" noGrp="1"/>
          </p:cNvSpPr>
          <p:nvPr/>
        </p:nvSpPr>
        <p:spPr>
          <a:xfrm xmlns:a="http://schemas.openxmlformats.org/drawingml/2006/main">
            <a:off x="3409950" y="513397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Groundedness + citation gate</a:t>
            </a:r>
          </a:p>
        </p:txBody>
      </p:sp>
      <p:sp>
        <p:nvSpPr>
          <p:cNvPr id="30" name="">
            <a:extLst xmlns:a="http://schemas.openxmlformats.org/drawingml/2006/main">
              <a:ext uri="{FF2B5EF4-FFF2-40B4-BE49-F238E27FC236}">
                <a16:creationId xmlns:a16="http://schemas.microsoft.com/office/drawing/2014/main" id="{D74C8ACD-7E81-4D1D-88A6-C7D7C22741BE}"/>
              </a:ext>
            </a:extLst>
          </p:cNvPr>
          <p:cNvSpPr>
            <a:spLocks xmlns:a="http://schemas.openxmlformats.org/drawingml/2006/main" noGrp="1"/>
          </p:cNvSpPr>
          <p:nvPr/>
        </p:nvSpPr>
        <p:spPr>
          <a:xfrm xmlns:a="http://schemas.openxmlformats.org/drawingml/2006/main">
            <a:off x="7239000" y="513397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Abstain</a:t>
            </a:r>
          </a:p>
        </p:txBody>
      </p:sp>
      <p:sp>
        <p:nvSpPr>
          <p:cNvPr id="31" name="">
            <a:extLst xmlns:a="http://schemas.openxmlformats.org/drawingml/2006/main">
              <a:ext uri="{FF2B5EF4-FFF2-40B4-BE49-F238E27FC236}">
                <a16:creationId xmlns:a16="http://schemas.microsoft.com/office/drawing/2014/main" id="{A113A100-17BC-4FC2-8C0C-078CA9D0F9A7}"/>
              </a:ext>
            </a:extLst>
          </p:cNvPr>
          <p:cNvSpPr>
            <a:spLocks xmlns:a="http://schemas.openxmlformats.org/drawingml/2006/main" noGrp="1"/>
          </p:cNvSpPr>
          <p:nvPr/>
        </p:nvSpPr>
        <p:spPr>
          <a:xfrm xmlns:a="http://schemas.openxmlformats.org/drawingml/2006/main">
            <a:off x="666750" y="5715000"/>
            <a:ext cx="10191750" cy="381000"/>
          </a:xfrm>
          <a:prstGeom xmlns:a="http://schemas.openxmlformats.org/drawingml/2006/main" prst="roundRect">
            <a:avLst>
              <a:gd name="adj" fmla="val 30000"/>
            </a:avLst>
          </a:prstGeom>
          <a:solidFill xmlns:a="http://schemas.openxmlformats.org/drawingml/2006/main">
            <a:srgbClr val="FFF0EA"/>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123EC07A-531A-468A-A575-41FB14BBC101}"/>
              </a:ext>
            </a:extLst>
          </p:cNvPr>
          <p:cNvSpPr>
            <a:spLocks xmlns:a="http://schemas.openxmlformats.org/drawingml/2006/main" noGrp="1"/>
          </p:cNvSpPr>
          <p:nvPr/>
        </p:nvSpPr>
        <p:spPr>
          <a:xfrm xmlns:a="http://schemas.openxmlformats.org/drawingml/2006/main">
            <a:off x="876300" y="5781675"/>
            <a:ext cx="9772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E94B2A"/>
                </a:solidFill>
                <a:latin typeface="Helvetica Neue"/>
                <a:ea typeface="Helvetica Neue"/>
                <a:cs typeface="Helvetica Neue"/>
              </a:defRPr>
            </a:pPr>
            <a:r>
              <a:rPr sz="975" b="1">
                <a:solidFill>
                  <a:srgbClr val="E94B2A"/>
                </a:solidFill>
                <a:latin typeface="Helvetica Neue"/>
                <a:ea typeface="Helvetica Neue"/>
                <a:cs typeface="Helvetica Neue"/>
              </a:rPr>
              <a:t>Confidence describes evidence quality, never the model’s feelings.</a:t>
            </a:r>
          </a:p>
        </p:txBody>
      </p:sp>
    </p:spTree>
    <p:extLst>
      <p:ext uri="{BB962C8B-B14F-4D97-AF65-F5344CB8AC3E}">
        <p14:creationId xmlns:p14="http://schemas.microsoft.com/office/powerpoint/2010/main" val="945224936"/>
      </p:ext>
    </p:extLst>
  </p:cSld>
</p:sld>
</file>

<file path=ppt/slides/slide8.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9DADB5D8-EB1C-417A-9415-3A8D57963BFC}"/>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TRADEOFFS</a:t>
            </a:r>
          </a:p>
        </p:txBody>
      </p:sp>
      <p:sp>
        <p:nvSpPr>
          <p:cNvPr id="2" name="">
            <a:extLst xmlns:a="http://schemas.openxmlformats.org/drawingml/2006/main">
              <a:ext uri="{FF2B5EF4-FFF2-40B4-BE49-F238E27FC236}">
                <a16:creationId xmlns:a16="http://schemas.microsoft.com/office/drawing/2014/main" id="{468A4050-164F-4360-AE35-EA3B2A853257}"/>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4A2250A6-57AB-4A6F-94DB-02A9959CCE86}"/>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6D5F98B0-12CC-4835-B923-2D14FAFD5883}"/>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V1 proves trust on a narrow corpus</a:t>
            </a:r>
          </a:p>
        </p:txBody>
      </p:sp>
      <p:sp>
        <p:nvSpPr>
          <p:cNvPr id="5" name="">
            <a:extLst xmlns:a="http://schemas.openxmlformats.org/drawingml/2006/main">
              <a:ext uri="{FF2B5EF4-FFF2-40B4-BE49-F238E27FC236}">
                <a16:creationId xmlns:a16="http://schemas.microsoft.com/office/drawing/2014/main" id="{3A08DD5A-D1DD-42E1-9D15-3D93C6F76262}"/>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The first release earns expansion through measured use.</a:t>
            </a:r>
          </a:p>
        </p:txBody>
      </p:sp>
      <p:sp>
        <p:nvSpPr>
          <p:cNvPr id="6" name="">
            <a:extLst xmlns:a="http://schemas.openxmlformats.org/drawingml/2006/main">
              <a:ext uri="{FF2B5EF4-FFF2-40B4-BE49-F238E27FC236}">
                <a16:creationId xmlns:a16="http://schemas.microsoft.com/office/drawing/2014/main" id="{98EA9961-128B-470B-85E6-A2CE161F1D6D}"/>
              </a:ext>
            </a:extLst>
          </p:cNvPr>
          <p:cNvSpPr>
            <a:spLocks xmlns:a="http://schemas.openxmlformats.org/drawingml/2006/main" noGrp="1"/>
          </p:cNvSpPr>
          <p:nvPr/>
        </p:nvSpPr>
        <p:spPr>
          <a:xfrm xmlns:a="http://schemas.openxmlformats.org/drawingml/2006/main">
            <a:off x="666750" y="20097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2F8A5D"/>
                </a:solidFill>
                <a:latin typeface="Helvetica Neue"/>
                <a:ea typeface="Helvetica Neue"/>
                <a:cs typeface="Helvetica Neue"/>
              </a:defRPr>
            </a:pPr>
            <a:r>
              <a:rPr sz="900" b="1">
                <a:solidFill>
                  <a:srgbClr val="2F8A5D"/>
                </a:solidFill>
                <a:latin typeface="Helvetica Neue"/>
                <a:ea typeface="Helvetica Neue"/>
                <a:cs typeface="Helvetica Neue"/>
              </a:rPr>
              <a:t>INCLUDE</a:t>
            </a:r>
          </a:p>
        </p:txBody>
      </p:sp>
      <p:sp>
        <p:nvSpPr>
          <p:cNvPr id="7" name="">
            <a:extLst xmlns:a="http://schemas.openxmlformats.org/drawingml/2006/main">
              <a:ext uri="{FF2B5EF4-FFF2-40B4-BE49-F238E27FC236}">
                <a16:creationId xmlns:a16="http://schemas.microsoft.com/office/drawing/2014/main" id="{93437AB7-6C1E-43D7-AF95-C4F1F7572251}"/>
              </a:ext>
            </a:extLst>
          </p:cNvPr>
          <p:cNvSpPr>
            <a:spLocks xmlns:a="http://schemas.openxmlformats.org/drawingml/2006/main" noGrp="1"/>
          </p:cNvSpPr>
          <p:nvPr/>
        </p:nvSpPr>
        <p:spPr>
          <a:xfrm xmlns:a="http://schemas.openxmlformats.org/drawingml/2006/main">
            <a:off x="6381750" y="20097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E94B2A"/>
                </a:solidFill>
                <a:latin typeface="Helvetica Neue"/>
                <a:ea typeface="Helvetica Neue"/>
                <a:cs typeface="Helvetica Neue"/>
              </a:defRPr>
            </a:pPr>
            <a:r>
              <a:rPr sz="900" b="1">
                <a:solidFill>
                  <a:srgbClr val="E94B2A"/>
                </a:solidFill>
                <a:latin typeface="Helvetica Neue"/>
                <a:ea typeface="Helvetica Neue"/>
                <a:cs typeface="Helvetica Neue"/>
              </a:rPr>
              <a:t>DEFER</a:t>
            </a:r>
          </a:p>
        </p:txBody>
      </p:sp>
      <p:sp>
        <p:nvSpPr>
          <p:cNvPr id="8" name="">
            <a:extLst xmlns:a="http://schemas.openxmlformats.org/drawingml/2006/main">
              <a:ext uri="{FF2B5EF4-FFF2-40B4-BE49-F238E27FC236}">
                <a16:creationId xmlns:a16="http://schemas.microsoft.com/office/drawing/2014/main" id="{C0A7A211-C9C3-4794-A765-C40B8EA24647}"/>
              </a:ext>
            </a:extLst>
          </p:cNvPr>
          <p:cNvSpPr>
            <a:spLocks xmlns:a="http://schemas.openxmlformats.org/drawingml/2006/main" noGrp="1"/>
          </p:cNvSpPr>
          <p:nvPr/>
        </p:nvSpPr>
        <p:spPr>
          <a:xfrm xmlns:a="http://schemas.openxmlformats.org/drawingml/2006/main">
            <a:off x="666750" y="240982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9" name="">
            <a:extLst xmlns:a="http://schemas.openxmlformats.org/drawingml/2006/main">
              <a:ext uri="{FF2B5EF4-FFF2-40B4-BE49-F238E27FC236}">
                <a16:creationId xmlns:a16="http://schemas.microsoft.com/office/drawing/2014/main" id="{677FF032-070B-4AF4-AA60-2CE5505A8E5B}"/>
              </a:ext>
            </a:extLst>
          </p:cNvPr>
          <p:cNvSpPr>
            <a:spLocks xmlns:a="http://schemas.openxmlformats.org/drawingml/2006/main" noGrp="1"/>
          </p:cNvSpPr>
          <p:nvPr/>
        </p:nvSpPr>
        <p:spPr>
          <a:xfrm xmlns:a="http://schemas.openxmlformats.org/drawingml/2006/main">
            <a:off x="838200" y="254317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D41E032-F70F-4284-BE7D-3E7AE00CCCD7}"/>
              </a:ext>
            </a:extLst>
          </p:cNvPr>
          <p:cNvSpPr>
            <a:spLocks xmlns:a="http://schemas.openxmlformats.org/drawingml/2006/main" noGrp="1"/>
          </p:cNvSpPr>
          <p:nvPr/>
        </p:nvSpPr>
        <p:spPr>
          <a:xfrm xmlns:a="http://schemas.openxmlformats.org/drawingml/2006/main">
            <a:off x="838200" y="25146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C9B47DFF-3780-4C70-9398-D58717723DFE}"/>
              </a:ext>
            </a:extLst>
          </p:cNvPr>
          <p:cNvSpPr>
            <a:spLocks xmlns:a="http://schemas.openxmlformats.org/drawingml/2006/main" noGrp="1"/>
          </p:cNvSpPr>
          <p:nvPr/>
        </p:nvSpPr>
        <p:spPr>
          <a:xfrm xmlns:a="http://schemas.openxmlformats.org/drawingml/2006/main">
            <a:off x="1123950" y="248602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5–10 gold questions</a:t>
            </a:r>
          </a:p>
        </p:txBody>
      </p:sp>
      <p:sp>
        <p:nvSpPr>
          <p:cNvPr id="12" name="">
            <a:extLst xmlns:a="http://schemas.openxmlformats.org/drawingml/2006/main">
              <a:ext uri="{FF2B5EF4-FFF2-40B4-BE49-F238E27FC236}">
                <a16:creationId xmlns:a16="http://schemas.microsoft.com/office/drawing/2014/main" id="{C3406D41-99A7-44F1-8427-32B5DE254680}"/>
              </a:ext>
            </a:extLst>
          </p:cNvPr>
          <p:cNvSpPr>
            <a:spLocks xmlns:a="http://schemas.openxmlformats.org/drawingml/2006/main" noGrp="1"/>
          </p:cNvSpPr>
          <p:nvPr/>
        </p:nvSpPr>
        <p:spPr>
          <a:xfrm xmlns:a="http://schemas.openxmlformats.org/drawingml/2006/main">
            <a:off x="666750" y="296227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13" name="">
            <a:extLst xmlns:a="http://schemas.openxmlformats.org/drawingml/2006/main">
              <a:ext uri="{FF2B5EF4-FFF2-40B4-BE49-F238E27FC236}">
                <a16:creationId xmlns:a16="http://schemas.microsoft.com/office/drawing/2014/main" id="{F70056CD-2F82-4280-A663-6001BDB46B0E}"/>
              </a:ext>
            </a:extLst>
          </p:cNvPr>
          <p:cNvSpPr>
            <a:spLocks xmlns:a="http://schemas.openxmlformats.org/drawingml/2006/main" noGrp="1"/>
          </p:cNvSpPr>
          <p:nvPr/>
        </p:nvSpPr>
        <p:spPr>
          <a:xfrm xmlns:a="http://schemas.openxmlformats.org/drawingml/2006/main">
            <a:off x="838200" y="309562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5AA93DE-F274-483A-862B-12D2371D6B76}"/>
              </a:ext>
            </a:extLst>
          </p:cNvPr>
          <p:cNvSpPr>
            <a:spLocks xmlns:a="http://schemas.openxmlformats.org/drawingml/2006/main" noGrp="1"/>
          </p:cNvSpPr>
          <p:nvPr/>
        </p:nvSpPr>
        <p:spPr>
          <a:xfrm xmlns:a="http://schemas.openxmlformats.org/drawingml/2006/main">
            <a:off x="838200" y="306705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15" name="">
            <a:extLst xmlns:a="http://schemas.openxmlformats.org/drawingml/2006/main">
              <a:ext uri="{FF2B5EF4-FFF2-40B4-BE49-F238E27FC236}">
                <a16:creationId xmlns:a16="http://schemas.microsoft.com/office/drawing/2014/main" id="{6B393AC0-2E5A-49C9-A031-2AD364E58871}"/>
              </a:ext>
            </a:extLst>
          </p:cNvPr>
          <p:cNvSpPr>
            <a:spLocks xmlns:a="http://schemas.openxmlformats.org/drawingml/2006/main" noGrp="1"/>
          </p:cNvSpPr>
          <p:nvPr/>
        </p:nvSpPr>
        <p:spPr>
          <a:xfrm xmlns:a="http://schemas.openxmlformats.org/drawingml/2006/main">
            <a:off x="1123950" y="303847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25–40 grants in one cohort</a:t>
            </a:r>
          </a:p>
        </p:txBody>
      </p:sp>
      <p:sp>
        <p:nvSpPr>
          <p:cNvPr id="16" name="">
            <a:extLst xmlns:a="http://schemas.openxmlformats.org/drawingml/2006/main">
              <a:ext uri="{FF2B5EF4-FFF2-40B4-BE49-F238E27FC236}">
                <a16:creationId xmlns:a16="http://schemas.microsoft.com/office/drawing/2014/main" id="{E404D8B7-7126-42F7-926F-B011FE1C496A}"/>
              </a:ext>
            </a:extLst>
          </p:cNvPr>
          <p:cNvSpPr>
            <a:spLocks xmlns:a="http://schemas.openxmlformats.org/drawingml/2006/main" noGrp="1"/>
          </p:cNvSpPr>
          <p:nvPr/>
        </p:nvSpPr>
        <p:spPr>
          <a:xfrm xmlns:a="http://schemas.openxmlformats.org/drawingml/2006/main">
            <a:off x="666750" y="351472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17" name="">
            <a:extLst xmlns:a="http://schemas.openxmlformats.org/drawingml/2006/main">
              <a:ext uri="{FF2B5EF4-FFF2-40B4-BE49-F238E27FC236}">
                <a16:creationId xmlns:a16="http://schemas.microsoft.com/office/drawing/2014/main" id="{7DC0182F-0A89-41D7-9F0B-DE3D37B28FBF}"/>
              </a:ext>
            </a:extLst>
          </p:cNvPr>
          <p:cNvSpPr>
            <a:spLocks xmlns:a="http://schemas.openxmlformats.org/drawingml/2006/main" noGrp="1"/>
          </p:cNvSpPr>
          <p:nvPr/>
        </p:nvSpPr>
        <p:spPr>
          <a:xfrm xmlns:a="http://schemas.openxmlformats.org/drawingml/2006/main">
            <a:off x="838200" y="364807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DBF5760-534F-47D4-BC25-CBA539E28131}"/>
              </a:ext>
            </a:extLst>
          </p:cNvPr>
          <p:cNvSpPr>
            <a:spLocks xmlns:a="http://schemas.openxmlformats.org/drawingml/2006/main" noGrp="1"/>
          </p:cNvSpPr>
          <p:nvPr/>
        </p:nvSpPr>
        <p:spPr>
          <a:xfrm xmlns:a="http://schemas.openxmlformats.org/drawingml/2006/main">
            <a:off x="838200" y="36195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19" name="">
            <a:extLst xmlns:a="http://schemas.openxmlformats.org/drawingml/2006/main">
              <a:ext uri="{FF2B5EF4-FFF2-40B4-BE49-F238E27FC236}">
                <a16:creationId xmlns:a16="http://schemas.microsoft.com/office/drawing/2014/main" id="{415433CC-CC0F-453A-A1D2-BF7982E116CE}"/>
              </a:ext>
            </a:extLst>
          </p:cNvPr>
          <p:cNvSpPr>
            <a:spLocks xmlns:a="http://schemas.openxmlformats.org/drawingml/2006/main" noGrp="1"/>
          </p:cNvSpPr>
          <p:nvPr/>
        </p:nvSpPr>
        <p:spPr>
          <a:xfrm xmlns:a="http://schemas.openxmlformats.org/drawingml/2006/main">
            <a:off x="1123950" y="359092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GivingData + approved Drive folder</a:t>
            </a:r>
          </a:p>
        </p:txBody>
      </p:sp>
      <p:sp>
        <p:nvSpPr>
          <p:cNvPr id="20" name="">
            <a:extLst xmlns:a="http://schemas.openxmlformats.org/drawingml/2006/main">
              <a:ext uri="{FF2B5EF4-FFF2-40B4-BE49-F238E27FC236}">
                <a16:creationId xmlns:a16="http://schemas.microsoft.com/office/drawing/2014/main" id="{34CD8C3B-3B45-43A2-87D5-6354FE5B26B2}"/>
              </a:ext>
            </a:extLst>
          </p:cNvPr>
          <p:cNvSpPr>
            <a:spLocks xmlns:a="http://schemas.openxmlformats.org/drawingml/2006/main" noGrp="1"/>
          </p:cNvSpPr>
          <p:nvPr/>
        </p:nvSpPr>
        <p:spPr>
          <a:xfrm xmlns:a="http://schemas.openxmlformats.org/drawingml/2006/main">
            <a:off x="666750" y="406717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21" name="">
            <a:extLst xmlns:a="http://schemas.openxmlformats.org/drawingml/2006/main">
              <a:ext uri="{FF2B5EF4-FFF2-40B4-BE49-F238E27FC236}">
                <a16:creationId xmlns:a16="http://schemas.microsoft.com/office/drawing/2014/main" id="{FE2E67D8-57E0-4EF5-8564-9E614747BD2E}"/>
              </a:ext>
            </a:extLst>
          </p:cNvPr>
          <p:cNvSpPr>
            <a:spLocks xmlns:a="http://schemas.openxmlformats.org/drawingml/2006/main" noGrp="1"/>
          </p:cNvSpPr>
          <p:nvPr/>
        </p:nvSpPr>
        <p:spPr>
          <a:xfrm xmlns:a="http://schemas.openxmlformats.org/drawingml/2006/main">
            <a:off x="838200" y="420052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D013019-B2F9-488C-82BD-33CD04B51EAF}"/>
              </a:ext>
            </a:extLst>
          </p:cNvPr>
          <p:cNvSpPr>
            <a:spLocks xmlns:a="http://schemas.openxmlformats.org/drawingml/2006/main" noGrp="1"/>
          </p:cNvSpPr>
          <p:nvPr/>
        </p:nvSpPr>
        <p:spPr>
          <a:xfrm xmlns:a="http://schemas.openxmlformats.org/drawingml/2006/main">
            <a:off x="838200" y="417195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23" name="">
            <a:extLst xmlns:a="http://schemas.openxmlformats.org/drawingml/2006/main">
              <a:ext uri="{FF2B5EF4-FFF2-40B4-BE49-F238E27FC236}">
                <a16:creationId xmlns:a16="http://schemas.microsoft.com/office/drawing/2014/main" id="{A01219BB-F37A-4ECD-AD21-16C40DF10302}"/>
              </a:ext>
            </a:extLst>
          </p:cNvPr>
          <p:cNvSpPr>
            <a:spLocks xmlns:a="http://schemas.openxmlformats.org/drawingml/2006/main" noGrp="1"/>
          </p:cNvSpPr>
          <p:nvPr/>
        </p:nvSpPr>
        <p:spPr>
          <a:xfrm xmlns:a="http://schemas.openxmlformats.org/drawingml/2006/main">
            <a:off x="1123950" y="414337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Read-only evidence briefs</a:t>
            </a:r>
          </a:p>
        </p:txBody>
      </p:sp>
      <p:sp>
        <p:nvSpPr>
          <p:cNvPr id="24" name="">
            <a:extLst xmlns:a="http://schemas.openxmlformats.org/drawingml/2006/main">
              <a:ext uri="{FF2B5EF4-FFF2-40B4-BE49-F238E27FC236}">
                <a16:creationId xmlns:a16="http://schemas.microsoft.com/office/drawing/2014/main" id="{6BDD8677-A66C-4258-B27B-8A1FD0533B14}"/>
              </a:ext>
            </a:extLst>
          </p:cNvPr>
          <p:cNvSpPr>
            <a:spLocks xmlns:a="http://schemas.openxmlformats.org/drawingml/2006/main" noGrp="1"/>
          </p:cNvSpPr>
          <p:nvPr/>
        </p:nvSpPr>
        <p:spPr>
          <a:xfrm xmlns:a="http://schemas.openxmlformats.org/drawingml/2006/main">
            <a:off x="666750" y="461962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25" name="">
            <a:extLst xmlns:a="http://schemas.openxmlformats.org/drawingml/2006/main">
              <a:ext uri="{FF2B5EF4-FFF2-40B4-BE49-F238E27FC236}">
                <a16:creationId xmlns:a16="http://schemas.microsoft.com/office/drawing/2014/main" id="{FFB12AF3-85A5-48E4-B003-206080078F77}"/>
              </a:ext>
            </a:extLst>
          </p:cNvPr>
          <p:cNvSpPr>
            <a:spLocks xmlns:a="http://schemas.openxmlformats.org/drawingml/2006/main" noGrp="1"/>
          </p:cNvSpPr>
          <p:nvPr/>
        </p:nvSpPr>
        <p:spPr>
          <a:xfrm xmlns:a="http://schemas.openxmlformats.org/drawingml/2006/main">
            <a:off x="838200" y="475297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E208E67-DE70-49DC-94B0-272719FA7F6B}"/>
              </a:ext>
            </a:extLst>
          </p:cNvPr>
          <p:cNvSpPr>
            <a:spLocks xmlns:a="http://schemas.openxmlformats.org/drawingml/2006/main" noGrp="1"/>
          </p:cNvSpPr>
          <p:nvPr/>
        </p:nvSpPr>
        <p:spPr>
          <a:xfrm xmlns:a="http://schemas.openxmlformats.org/drawingml/2006/main">
            <a:off x="838200" y="47244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27" name="">
            <a:extLst xmlns:a="http://schemas.openxmlformats.org/drawingml/2006/main">
              <a:ext uri="{FF2B5EF4-FFF2-40B4-BE49-F238E27FC236}">
                <a16:creationId xmlns:a16="http://schemas.microsoft.com/office/drawing/2014/main" id="{368583C6-6F0B-4FA5-9595-D468C83E148A}"/>
              </a:ext>
            </a:extLst>
          </p:cNvPr>
          <p:cNvSpPr>
            <a:spLocks xmlns:a="http://schemas.openxmlformats.org/drawingml/2006/main" noGrp="1"/>
          </p:cNvSpPr>
          <p:nvPr/>
        </p:nvSpPr>
        <p:spPr>
          <a:xfrm xmlns:a="http://schemas.openxmlformats.org/drawingml/2006/main">
            <a:off x="1123950" y="469582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3–5 Programs and Impact users</a:t>
            </a:r>
          </a:p>
        </p:txBody>
      </p:sp>
      <p:sp>
        <p:nvSpPr>
          <p:cNvPr id="28" name="">
            <a:extLst xmlns:a="http://schemas.openxmlformats.org/drawingml/2006/main">
              <a:ext uri="{FF2B5EF4-FFF2-40B4-BE49-F238E27FC236}">
                <a16:creationId xmlns:a16="http://schemas.microsoft.com/office/drawing/2014/main" id="{8CA8DCC3-561F-49B8-B538-74165CAA7A4D}"/>
              </a:ext>
            </a:extLst>
          </p:cNvPr>
          <p:cNvSpPr>
            <a:spLocks xmlns:a="http://schemas.openxmlformats.org/drawingml/2006/main" noGrp="1"/>
          </p:cNvSpPr>
          <p:nvPr/>
        </p:nvSpPr>
        <p:spPr>
          <a:xfrm xmlns:a="http://schemas.openxmlformats.org/drawingml/2006/main">
            <a:off x="6381750" y="240982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29" name="">
            <a:extLst xmlns:a="http://schemas.openxmlformats.org/drawingml/2006/main">
              <a:ext uri="{FF2B5EF4-FFF2-40B4-BE49-F238E27FC236}">
                <a16:creationId xmlns:a16="http://schemas.microsoft.com/office/drawing/2014/main" id="{0CD39243-F13F-4D5C-A79F-AE15F93CC24D}"/>
              </a:ext>
            </a:extLst>
          </p:cNvPr>
          <p:cNvSpPr>
            <a:spLocks xmlns:a="http://schemas.openxmlformats.org/drawingml/2006/main" noGrp="1"/>
          </p:cNvSpPr>
          <p:nvPr/>
        </p:nvSpPr>
        <p:spPr>
          <a:xfrm xmlns:a="http://schemas.openxmlformats.org/drawingml/2006/main">
            <a:off x="6553200" y="254317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B4C241B4-F077-46CD-B2DD-70B501B165B6}"/>
              </a:ext>
            </a:extLst>
          </p:cNvPr>
          <p:cNvSpPr>
            <a:spLocks xmlns:a="http://schemas.openxmlformats.org/drawingml/2006/main" noGrp="1"/>
          </p:cNvSpPr>
          <p:nvPr/>
        </p:nvSpPr>
        <p:spPr>
          <a:xfrm xmlns:a="http://schemas.openxmlformats.org/drawingml/2006/main">
            <a:off x="6553200" y="25146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31" name="">
            <a:extLst xmlns:a="http://schemas.openxmlformats.org/drawingml/2006/main">
              <a:ext uri="{FF2B5EF4-FFF2-40B4-BE49-F238E27FC236}">
                <a16:creationId xmlns:a16="http://schemas.microsoft.com/office/drawing/2014/main" id="{18B87C08-91D1-4CC8-893A-A5E6FFC12E07}"/>
              </a:ext>
            </a:extLst>
          </p:cNvPr>
          <p:cNvSpPr>
            <a:spLocks xmlns:a="http://schemas.openxmlformats.org/drawingml/2006/main" noGrp="1"/>
          </p:cNvSpPr>
          <p:nvPr/>
        </p:nvSpPr>
        <p:spPr>
          <a:xfrm xmlns:a="http://schemas.openxmlformats.org/drawingml/2006/main">
            <a:off x="6838950" y="248602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Direct messages</a:t>
            </a:r>
          </a:p>
        </p:txBody>
      </p:sp>
      <p:sp>
        <p:nvSpPr>
          <p:cNvPr id="32" name="">
            <a:extLst xmlns:a="http://schemas.openxmlformats.org/drawingml/2006/main">
              <a:ext uri="{FF2B5EF4-FFF2-40B4-BE49-F238E27FC236}">
                <a16:creationId xmlns:a16="http://schemas.microsoft.com/office/drawing/2014/main" id="{37D346A5-2285-491A-8291-DA8E8E028E50}"/>
              </a:ext>
            </a:extLst>
          </p:cNvPr>
          <p:cNvSpPr>
            <a:spLocks xmlns:a="http://schemas.openxmlformats.org/drawingml/2006/main" noGrp="1"/>
          </p:cNvSpPr>
          <p:nvPr/>
        </p:nvSpPr>
        <p:spPr>
          <a:xfrm xmlns:a="http://schemas.openxmlformats.org/drawingml/2006/main">
            <a:off x="6381750" y="296227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33" name="">
            <a:extLst xmlns:a="http://schemas.openxmlformats.org/drawingml/2006/main">
              <a:ext uri="{FF2B5EF4-FFF2-40B4-BE49-F238E27FC236}">
                <a16:creationId xmlns:a16="http://schemas.microsoft.com/office/drawing/2014/main" id="{D3925A43-A55F-434E-AA8C-DFF2CA82CF8E}"/>
              </a:ext>
            </a:extLst>
          </p:cNvPr>
          <p:cNvSpPr>
            <a:spLocks xmlns:a="http://schemas.openxmlformats.org/drawingml/2006/main" noGrp="1"/>
          </p:cNvSpPr>
          <p:nvPr/>
        </p:nvSpPr>
        <p:spPr>
          <a:xfrm xmlns:a="http://schemas.openxmlformats.org/drawingml/2006/main">
            <a:off x="6553200" y="309562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AA8671D7-7A93-4943-BAE4-D65FC3562CA9}"/>
              </a:ext>
            </a:extLst>
          </p:cNvPr>
          <p:cNvSpPr>
            <a:spLocks xmlns:a="http://schemas.openxmlformats.org/drawingml/2006/main" noGrp="1"/>
          </p:cNvSpPr>
          <p:nvPr/>
        </p:nvSpPr>
        <p:spPr>
          <a:xfrm xmlns:a="http://schemas.openxmlformats.org/drawingml/2006/main">
            <a:off x="6553200" y="306705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35" name="">
            <a:extLst xmlns:a="http://schemas.openxmlformats.org/drawingml/2006/main">
              <a:ext uri="{FF2B5EF4-FFF2-40B4-BE49-F238E27FC236}">
                <a16:creationId xmlns:a16="http://schemas.microsoft.com/office/drawing/2014/main" id="{6A612BF3-CE4C-432F-840B-7D51E9E19E0B}"/>
              </a:ext>
            </a:extLst>
          </p:cNvPr>
          <p:cNvSpPr>
            <a:spLocks xmlns:a="http://schemas.openxmlformats.org/drawingml/2006/main" noGrp="1"/>
          </p:cNvSpPr>
          <p:nvPr/>
        </p:nvSpPr>
        <p:spPr>
          <a:xfrm xmlns:a="http://schemas.openxmlformats.org/drawingml/2006/main">
            <a:off x="6838950" y="30384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Autonomous grant scoring</a:t>
            </a:r>
          </a:p>
        </p:txBody>
      </p:sp>
      <p:sp>
        <p:nvSpPr>
          <p:cNvPr id="36" name="">
            <a:extLst xmlns:a="http://schemas.openxmlformats.org/drawingml/2006/main">
              <a:ext uri="{FF2B5EF4-FFF2-40B4-BE49-F238E27FC236}">
                <a16:creationId xmlns:a16="http://schemas.microsoft.com/office/drawing/2014/main" id="{D74B53B7-C69A-463E-A201-6F57C895CD40}"/>
              </a:ext>
            </a:extLst>
          </p:cNvPr>
          <p:cNvSpPr>
            <a:spLocks xmlns:a="http://schemas.openxmlformats.org/drawingml/2006/main" noGrp="1"/>
          </p:cNvSpPr>
          <p:nvPr/>
        </p:nvSpPr>
        <p:spPr>
          <a:xfrm xmlns:a="http://schemas.openxmlformats.org/drawingml/2006/main">
            <a:off x="6381750" y="351472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37" name="">
            <a:extLst xmlns:a="http://schemas.openxmlformats.org/drawingml/2006/main">
              <a:ext uri="{FF2B5EF4-FFF2-40B4-BE49-F238E27FC236}">
                <a16:creationId xmlns:a16="http://schemas.microsoft.com/office/drawing/2014/main" id="{AC7E7249-F559-4F6D-B16F-B201EF8AB9CC}"/>
              </a:ext>
            </a:extLst>
          </p:cNvPr>
          <p:cNvSpPr>
            <a:spLocks xmlns:a="http://schemas.openxmlformats.org/drawingml/2006/main" noGrp="1"/>
          </p:cNvSpPr>
          <p:nvPr/>
        </p:nvSpPr>
        <p:spPr>
          <a:xfrm xmlns:a="http://schemas.openxmlformats.org/drawingml/2006/main">
            <a:off x="6553200" y="364807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56E832B2-9391-4486-8179-0A82C0ACA3E3}"/>
              </a:ext>
            </a:extLst>
          </p:cNvPr>
          <p:cNvSpPr>
            <a:spLocks xmlns:a="http://schemas.openxmlformats.org/drawingml/2006/main" noGrp="1"/>
          </p:cNvSpPr>
          <p:nvPr/>
        </p:nvSpPr>
        <p:spPr>
          <a:xfrm xmlns:a="http://schemas.openxmlformats.org/drawingml/2006/main">
            <a:off x="6553200" y="36195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39" name="">
            <a:extLst xmlns:a="http://schemas.openxmlformats.org/drawingml/2006/main">
              <a:ext uri="{FF2B5EF4-FFF2-40B4-BE49-F238E27FC236}">
                <a16:creationId xmlns:a16="http://schemas.microsoft.com/office/drawing/2014/main" id="{96426597-5163-4F0E-AFD1-DC1441193324}"/>
              </a:ext>
            </a:extLst>
          </p:cNvPr>
          <p:cNvSpPr>
            <a:spLocks xmlns:a="http://schemas.openxmlformats.org/drawingml/2006/main" noGrp="1"/>
          </p:cNvSpPr>
          <p:nvPr/>
        </p:nvSpPr>
        <p:spPr>
          <a:xfrm xmlns:a="http://schemas.openxmlformats.org/drawingml/2006/main">
            <a:off x="6838950" y="359092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Write-back to source systems</a:t>
            </a:r>
          </a:p>
        </p:txBody>
      </p:sp>
      <p:sp>
        <p:nvSpPr>
          <p:cNvPr id="40" name="">
            <a:extLst xmlns:a="http://schemas.openxmlformats.org/drawingml/2006/main">
              <a:ext uri="{FF2B5EF4-FFF2-40B4-BE49-F238E27FC236}">
                <a16:creationId xmlns:a16="http://schemas.microsoft.com/office/drawing/2014/main" id="{E926312E-E079-4FEE-ADE6-28354D609E2E}"/>
              </a:ext>
            </a:extLst>
          </p:cNvPr>
          <p:cNvSpPr>
            <a:spLocks xmlns:a="http://schemas.openxmlformats.org/drawingml/2006/main" noGrp="1"/>
          </p:cNvSpPr>
          <p:nvPr/>
        </p:nvSpPr>
        <p:spPr>
          <a:xfrm xmlns:a="http://schemas.openxmlformats.org/drawingml/2006/main">
            <a:off x="6381750" y="406717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41" name="">
            <a:extLst xmlns:a="http://schemas.openxmlformats.org/drawingml/2006/main">
              <a:ext uri="{FF2B5EF4-FFF2-40B4-BE49-F238E27FC236}">
                <a16:creationId xmlns:a16="http://schemas.microsoft.com/office/drawing/2014/main" id="{ED5EC6EA-809B-4738-B880-37AAE4FA2AB0}"/>
              </a:ext>
            </a:extLst>
          </p:cNvPr>
          <p:cNvSpPr>
            <a:spLocks xmlns:a="http://schemas.openxmlformats.org/drawingml/2006/main" noGrp="1"/>
          </p:cNvSpPr>
          <p:nvPr/>
        </p:nvSpPr>
        <p:spPr>
          <a:xfrm xmlns:a="http://schemas.openxmlformats.org/drawingml/2006/main">
            <a:off x="6553200" y="420052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72D31164-E201-484F-98CB-C08F59B88CC4}"/>
              </a:ext>
            </a:extLst>
          </p:cNvPr>
          <p:cNvSpPr>
            <a:spLocks xmlns:a="http://schemas.openxmlformats.org/drawingml/2006/main" noGrp="1"/>
          </p:cNvSpPr>
          <p:nvPr/>
        </p:nvSpPr>
        <p:spPr>
          <a:xfrm xmlns:a="http://schemas.openxmlformats.org/drawingml/2006/main">
            <a:off x="6553200" y="417195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43" name="">
            <a:extLst xmlns:a="http://schemas.openxmlformats.org/drawingml/2006/main">
              <a:ext uri="{FF2B5EF4-FFF2-40B4-BE49-F238E27FC236}">
                <a16:creationId xmlns:a16="http://schemas.microsoft.com/office/drawing/2014/main" id="{6FCF7DD9-692B-4183-B9F6-3DCD20BFDC0E}"/>
              </a:ext>
            </a:extLst>
          </p:cNvPr>
          <p:cNvSpPr>
            <a:spLocks xmlns:a="http://schemas.openxmlformats.org/drawingml/2006/main" noGrp="1"/>
          </p:cNvSpPr>
          <p:nvPr/>
        </p:nvSpPr>
        <p:spPr>
          <a:xfrm xmlns:a="http://schemas.openxmlformats.org/drawingml/2006/main">
            <a:off x="6838950" y="4143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Organization-wide access</a:t>
            </a:r>
          </a:p>
        </p:txBody>
      </p:sp>
      <p:sp>
        <p:nvSpPr>
          <p:cNvPr id="44" name="">
            <a:extLst xmlns:a="http://schemas.openxmlformats.org/drawingml/2006/main">
              <a:ext uri="{FF2B5EF4-FFF2-40B4-BE49-F238E27FC236}">
                <a16:creationId xmlns:a16="http://schemas.microsoft.com/office/drawing/2014/main" id="{C1A2F526-7A11-46E8-B6C3-885E36DF17F7}"/>
              </a:ext>
            </a:extLst>
          </p:cNvPr>
          <p:cNvSpPr>
            <a:spLocks xmlns:a="http://schemas.openxmlformats.org/drawingml/2006/main" noGrp="1"/>
          </p:cNvSpPr>
          <p:nvPr/>
        </p:nvSpPr>
        <p:spPr>
          <a:xfrm xmlns:a="http://schemas.openxmlformats.org/drawingml/2006/main">
            <a:off x="6381750" y="461962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45" name="">
            <a:extLst xmlns:a="http://schemas.openxmlformats.org/drawingml/2006/main">
              <a:ext uri="{FF2B5EF4-FFF2-40B4-BE49-F238E27FC236}">
                <a16:creationId xmlns:a16="http://schemas.microsoft.com/office/drawing/2014/main" id="{0C2D14F2-B36A-455A-8498-1FFAA8472C2D}"/>
              </a:ext>
            </a:extLst>
          </p:cNvPr>
          <p:cNvSpPr>
            <a:spLocks xmlns:a="http://schemas.openxmlformats.org/drawingml/2006/main" noGrp="1"/>
          </p:cNvSpPr>
          <p:nvPr/>
        </p:nvSpPr>
        <p:spPr>
          <a:xfrm xmlns:a="http://schemas.openxmlformats.org/drawingml/2006/main">
            <a:off x="6553200" y="475297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6BE288FD-C3DD-4DCC-B16D-00E95C0470D0}"/>
              </a:ext>
            </a:extLst>
          </p:cNvPr>
          <p:cNvSpPr>
            <a:spLocks xmlns:a="http://schemas.openxmlformats.org/drawingml/2006/main" noGrp="1"/>
          </p:cNvSpPr>
          <p:nvPr/>
        </p:nvSpPr>
        <p:spPr>
          <a:xfrm xmlns:a="http://schemas.openxmlformats.org/drawingml/2006/main">
            <a:off x="6553200" y="47244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47" name="">
            <a:extLst xmlns:a="http://schemas.openxmlformats.org/drawingml/2006/main">
              <a:ext uri="{FF2B5EF4-FFF2-40B4-BE49-F238E27FC236}">
                <a16:creationId xmlns:a16="http://schemas.microsoft.com/office/drawing/2014/main" id="{39AF1311-98D2-4A3F-8C2B-4930C7588BAA}"/>
              </a:ext>
            </a:extLst>
          </p:cNvPr>
          <p:cNvSpPr>
            <a:spLocks xmlns:a="http://schemas.openxmlformats.org/drawingml/2006/main" noGrp="1"/>
          </p:cNvSpPr>
          <p:nvPr/>
        </p:nvSpPr>
        <p:spPr>
          <a:xfrm xmlns:a="http://schemas.openxmlformats.org/drawingml/2006/main">
            <a:off x="6838950" y="469582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Real-time sync and full backfill</a:t>
            </a:r>
          </a:p>
        </p:txBody>
      </p:sp>
      <p:sp>
        <p:nvSpPr>
          <p:cNvPr id="48" name="">
            <a:extLst xmlns:a="http://schemas.openxmlformats.org/drawingml/2006/main">
              <a:ext uri="{FF2B5EF4-FFF2-40B4-BE49-F238E27FC236}">
                <a16:creationId xmlns:a16="http://schemas.microsoft.com/office/drawing/2014/main" id="{C61E4222-269D-4CB5-ABEB-B420174EC747}"/>
              </a:ext>
            </a:extLst>
          </p:cNvPr>
          <p:cNvSpPr>
            <a:spLocks xmlns:a="http://schemas.openxmlformats.org/drawingml/2006/main" noGrp="1"/>
          </p:cNvSpPr>
          <p:nvPr/>
        </p:nvSpPr>
        <p:spPr>
          <a:xfrm xmlns:a="http://schemas.openxmlformats.org/drawingml/2006/main">
            <a:off x="666750" y="5467350"/>
            <a:ext cx="10191750" cy="609600"/>
          </a:xfrm>
          <a:prstGeom xmlns:a="http://schemas.openxmlformats.org/drawingml/2006/main" prst="roundRect">
            <a:avLst>
              <a:gd name="adj" fmla="val 25000"/>
            </a:avLst>
          </a:prstGeom>
          <a:solidFill xmlns:a="http://schemas.openxmlformats.org/drawingml/2006/main">
            <a:srgbClr val="25152B"/>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B4CBA936-1AB3-4718-ABD2-F2476C522E38}"/>
              </a:ext>
            </a:extLst>
          </p:cNvPr>
          <p:cNvSpPr>
            <a:spLocks xmlns:a="http://schemas.openxmlformats.org/drawingml/2006/main" noGrp="1"/>
          </p:cNvSpPr>
          <p:nvPr/>
        </p:nvSpPr>
        <p:spPr>
          <a:xfrm xmlns:a="http://schemas.openxmlformats.org/drawingml/2006/main">
            <a:off x="876300" y="5619750"/>
            <a:ext cx="9772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Prove: faster accepted answers  •  ≥90% cited claims  •  zero permission leaks  •  repeat weekly use</a:t>
            </a:r>
          </a:p>
        </p:txBody>
      </p:sp>
    </p:spTree>
    <p:extLst>
      <p:ext uri="{BB962C8B-B14F-4D97-AF65-F5344CB8AC3E}">
        <p14:creationId xmlns:p14="http://schemas.microsoft.com/office/powerpoint/2010/main" val="1382353122"/>
      </p:ext>
    </p:extLst>
  </p:cSld>
</p:sld>
</file>

<file path=ppt/slides/slide9.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913219AF-7DD0-4E6B-93F7-6B9FE2B2EBF8}"/>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IMPLEMENTATION</a:t>
            </a:r>
          </a:p>
        </p:txBody>
      </p:sp>
      <p:sp>
        <p:nvSpPr>
          <p:cNvPr id="2" name="">
            <a:extLst xmlns:a="http://schemas.openxmlformats.org/drawingml/2006/main">
              <a:ext uri="{FF2B5EF4-FFF2-40B4-BE49-F238E27FC236}">
                <a16:creationId xmlns:a16="http://schemas.microsoft.com/office/drawing/2014/main" id="{F1CC607E-CF93-4717-BDB7-AAFCD9BCE02C}"/>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143D611F-EAC9-469A-B359-B8FADFD06E38}"/>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BD37F707-F91D-4066-9B14-7D6670243367}"/>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A 16-week path from pilot to reusable capability</a:t>
            </a:r>
          </a:p>
        </p:txBody>
      </p:sp>
      <p:sp>
        <p:nvSpPr>
          <p:cNvPr id="5" name="">
            <a:extLst xmlns:a="http://schemas.openxmlformats.org/drawingml/2006/main">
              <a:ext uri="{FF2B5EF4-FFF2-40B4-BE49-F238E27FC236}">
                <a16:creationId xmlns:a16="http://schemas.microsoft.com/office/drawing/2014/main" id="{CA2CBDBD-8092-418F-BC47-5ED68925C7C7}"/>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Every phase ends with an explicit decision to continue, change, or stop.</a:t>
            </a:r>
          </a:p>
        </p:txBody>
      </p:sp>
      <p:sp>
        <p:nvSpPr>
          <p:cNvPr id="6" name="">
            <a:extLst xmlns:a="http://schemas.openxmlformats.org/drawingml/2006/main">
              <a:ext uri="{FF2B5EF4-FFF2-40B4-BE49-F238E27FC236}">
                <a16:creationId xmlns:a16="http://schemas.microsoft.com/office/drawing/2014/main" id="{271282EE-60AA-4924-A2F3-78870B544380}"/>
              </a:ext>
            </a:extLst>
          </p:cNvPr>
          <p:cNvSpPr>
            <a:spLocks xmlns:a="http://schemas.openxmlformats.org/drawingml/2006/main" noGrp="1"/>
          </p:cNvSpPr>
          <p:nvPr/>
        </p:nvSpPr>
        <p:spPr>
          <a:xfrm xmlns:a="http://schemas.openxmlformats.org/drawingml/2006/main">
            <a:off x="666750" y="2190750"/>
            <a:ext cx="2381250" cy="20002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ACFCE526-7401-49AF-AC11-4E3B36A59F36}"/>
              </a:ext>
            </a:extLst>
          </p:cNvPr>
          <p:cNvSpPr>
            <a:spLocks xmlns:a="http://schemas.openxmlformats.org/drawingml/2006/main" noGrp="1"/>
          </p:cNvSpPr>
          <p:nvPr/>
        </p:nvSpPr>
        <p:spPr>
          <a:xfrm xmlns:a="http://schemas.openxmlformats.org/drawingml/2006/main">
            <a:off x="857250" y="23526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E94B2A"/>
                </a:solidFill>
                <a:latin typeface="Helvetica Neue"/>
                <a:ea typeface="Helvetica Neue"/>
                <a:cs typeface="Helvetica Neue"/>
              </a:defRPr>
            </a:pPr>
            <a:r>
              <a:rPr sz="1350" b="1">
                <a:solidFill>
                  <a:srgbClr val="E94B2A"/>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BBE8DE8A-9E9F-4F94-A78A-925B4C1F1356}"/>
              </a:ext>
            </a:extLst>
          </p:cNvPr>
          <p:cNvSpPr>
            <a:spLocks xmlns:a="http://schemas.openxmlformats.org/drawingml/2006/main" noGrp="1"/>
          </p:cNvSpPr>
          <p:nvPr/>
        </p:nvSpPr>
        <p:spPr>
          <a:xfrm xmlns:a="http://schemas.openxmlformats.org/drawingml/2006/main">
            <a:off x="857250" y="27813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5152B"/>
                </a:solidFill>
                <a:latin typeface="Helvetica Neue"/>
                <a:ea typeface="Helvetica Neue"/>
                <a:cs typeface="Helvetica Neue"/>
              </a:defRPr>
            </a:pPr>
            <a:r>
              <a:rPr sz="1200" b="1">
                <a:solidFill>
                  <a:srgbClr val="25152B"/>
                </a:solidFill>
                <a:latin typeface="Helvetica Neue"/>
                <a:ea typeface="Helvetica Neue"/>
                <a:cs typeface="Helvetica Neue"/>
              </a:rPr>
              <a:t>DISCOVER</a:t>
            </a:r>
          </a:p>
        </p:txBody>
      </p:sp>
      <p:sp>
        <p:nvSpPr>
          <p:cNvPr id="9" name="">
            <a:extLst xmlns:a="http://schemas.openxmlformats.org/drawingml/2006/main">
              <a:ext uri="{FF2B5EF4-FFF2-40B4-BE49-F238E27FC236}">
                <a16:creationId xmlns:a16="http://schemas.microsoft.com/office/drawing/2014/main" id="{F9FD6235-495A-4D9A-9849-CA63F4E15603}"/>
              </a:ext>
            </a:extLst>
          </p:cNvPr>
          <p:cNvSpPr>
            <a:spLocks xmlns:a="http://schemas.openxmlformats.org/drawingml/2006/main" noGrp="1"/>
          </p:cNvSpPr>
          <p:nvPr/>
        </p:nvSpPr>
        <p:spPr>
          <a:xfrm xmlns:a="http://schemas.openxmlformats.org/drawingml/2006/main">
            <a:off x="857250" y="31051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WEEKS 1–3</a:t>
            </a:r>
          </a:p>
        </p:txBody>
      </p:sp>
      <p:sp>
        <p:nvSpPr>
          <p:cNvPr id="10" name="">
            <a:extLst xmlns:a="http://schemas.openxmlformats.org/drawingml/2006/main">
              <a:ext uri="{FF2B5EF4-FFF2-40B4-BE49-F238E27FC236}">
                <a16:creationId xmlns:a16="http://schemas.microsoft.com/office/drawing/2014/main" id="{0025BB33-CF45-4FC1-87FF-94B6D58F4246}"/>
              </a:ext>
            </a:extLst>
          </p:cNvPr>
          <p:cNvSpPr>
            <a:spLocks xmlns:a="http://schemas.openxmlformats.org/drawingml/2006/main" noGrp="1"/>
          </p:cNvSpPr>
          <p:nvPr/>
        </p:nvSpPr>
        <p:spPr>
          <a:xfrm xmlns:a="http://schemas.openxmlformats.org/drawingml/2006/main">
            <a:off x="857250" y="3438525"/>
            <a:ext cx="20002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1" name="">
            <a:extLst xmlns:a="http://schemas.openxmlformats.org/drawingml/2006/main">
              <a:ext uri="{FF2B5EF4-FFF2-40B4-BE49-F238E27FC236}">
                <a16:creationId xmlns:a16="http://schemas.microsoft.com/office/drawing/2014/main" id="{DE75FD37-D6FF-4322-A5EB-8C49528F6604}"/>
              </a:ext>
            </a:extLst>
          </p:cNvPr>
          <p:cNvSpPr>
            <a:spLocks xmlns:a="http://schemas.openxmlformats.org/drawingml/2006/main" noGrp="1"/>
          </p:cNvSpPr>
          <p:nvPr/>
        </p:nvSpPr>
        <p:spPr>
          <a:xfrm xmlns:a="http://schemas.openxmlformats.org/drawingml/2006/main">
            <a:off x="857250" y="358140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Users, questions, data contracts, access</a:t>
            </a:r>
          </a:p>
        </p:txBody>
      </p:sp>
      <p:sp>
        <p:nvSpPr>
          <p:cNvPr id="12" name="">
            <a:extLst xmlns:a="http://schemas.openxmlformats.org/drawingml/2006/main">
              <a:ext uri="{FF2B5EF4-FFF2-40B4-BE49-F238E27FC236}">
                <a16:creationId xmlns:a16="http://schemas.microsoft.com/office/drawing/2014/main" id="{6EFCA9CC-C312-43A6-A7F7-5EA672D94C5D}"/>
              </a:ext>
            </a:extLst>
          </p:cNvPr>
          <p:cNvSpPr>
            <a:spLocks xmlns:a="http://schemas.openxmlformats.org/drawingml/2006/main" noGrp="1"/>
          </p:cNvSpPr>
          <p:nvPr/>
        </p:nvSpPr>
        <p:spPr>
          <a:xfrm xmlns:a="http://schemas.openxmlformats.org/drawingml/2006/main">
            <a:off x="3295650" y="2190750"/>
            <a:ext cx="2381250" cy="2000250"/>
          </a:xfrm>
          <a:prstGeom xmlns:a="http://schemas.openxmlformats.org/drawingml/2006/main" prst="roundRect">
            <a:avLst>
              <a:gd name="adj" fmla="val 8571"/>
            </a:avLst>
          </a:prstGeom>
          <a:solidFill xmlns:a="http://schemas.openxmlformats.org/drawingml/2006/main">
            <a:srgbClr val="F0EBF7"/>
          </a:solidFill>
          <a:ln xmlns:a="http://schemas.openxmlformats.org/drawingml/2006/main" w="9525">
            <a:solidFill>
              <a:srgbClr val="7657B3"/>
            </a:solidFill>
          </a:ln>
        </p:spPr>
      </p:sp>
      <p:sp>
        <p:nvSpPr>
          <p:cNvPr id="13" name="">
            <a:extLst xmlns:a="http://schemas.openxmlformats.org/drawingml/2006/main">
              <a:ext uri="{FF2B5EF4-FFF2-40B4-BE49-F238E27FC236}">
                <a16:creationId xmlns:a16="http://schemas.microsoft.com/office/drawing/2014/main" id="{EDF6940D-4701-4FFD-9BA4-5ED10427D526}"/>
              </a:ext>
            </a:extLst>
          </p:cNvPr>
          <p:cNvSpPr>
            <a:spLocks xmlns:a="http://schemas.openxmlformats.org/drawingml/2006/main" noGrp="1"/>
          </p:cNvSpPr>
          <p:nvPr/>
        </p:nvSpPr>
        <p:spPr>
          <a:xfrm xmlns:a="http://schemas.openxmlformats.org/drawingml/2006/main">
            <a:off x="3486150" y="23526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7657B3"/>
                </a:solidFill>
                <a:latin typeface="Helvetica Neue"/>
                <a:ea typeface="Helvetica Neue"/>
                <a:cs typeface="Helvetica Neue"/>
              </a:defRPr>
            </a:pPr>
            <a:r>
              <a:rPr sz="1350" b="1">
                <a:solidFill>
                  <a:srgbClr val="7657B3"/>
                </a:solidFill>
                <a:latin typeface="Helvetica Neue"/>
                <a:ea typeface="Helvetica Neue"/>
                <a:cs typeface="Helvetica Neue"/>
              </a:rPr>
              <a:t>2</a:t>
            </a:r>
          </a:p>
        </p:txBody>
      </p:sp>
      <p:sp>
        <p:nvSpPr>
          <p:cNvPr id="14" name="">
            <a:extLst xmlns:a="http://schemas.openxmlformats.org/drawingml/2006/main">
              <a:ext uri="{FF2B5EF4-FFF2-40B4-BE49-F238E27FC236}">
                <a16:creationId xmlns:a16="http://schemas.microsoft.com/office/drawing/2014/main" id="{AE45E01F-12E4-4810-B639-B461313A6FF8}"/>
              </a:ext>
            </a:extLst>
          </p:cNvPr>
          <p:cNvSpPr>
            <a:spLocks xmlns:a="http://schemas.openxmlformats.org/drawingml/2006/main" noGrp="1"/>
          </p:cNvSpPr>
          <p:nvPr/>
        </p:nvSpPr>
        <p:spPr>
          <a:xfrm xmlns:a="http://schemas.openxmlformats.org/drawingml/2006/main">
            <a:off x="3486150" y="27813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5152B"/>
                </a:solidFill>
                <a:latin typeface="Helvetica Neue"/>
                <a:ea typeface="Helvetica Neue"/>
                <a:cs typeface="Helvetica Neue"/>
              </a:defRPr>
            </a:pPr>
            <a:r>
              <a:rPr sz="1200" b="1">
                <a:solidFill>
                  <a:srgbClr val="25152B"/>
                </a:solidFill>
                <a:latin typeface="Helvetica Neue"/>
                <a:ea typeface="Helvetica Neue"/>
                <a:cs typeface="Helvetica Neue"/>
              </a:rPr>
              <a:t>PROVE</a:t>
            </a:r>
          </a:p>
        </p:txBody>
      </p:sp>
      <p:sp>
        <p:nvSpPr>
          <p:cNvPr id="15" name="">
            <a:extLst xmlns:a="http://schemas.openxmlformats.org/drawingml/2006/main">
              <a:ext uri="{FF2B5EF4-FFF2-40B4-BE49-F238E27FC236}">
                <a16:creationId xmlns:a16="http://schemas.microsoft.com/office/drawing/2014/main" id="{98365298-E603-43F7-8CED-46444DEF486C}"/>
              </a:ext>
            </a:extLst>
          </p:cNvPr>
          <p:cNvSpPr>
            <a:spLocks xmlns:a="http://schemas.openxmlformats.org/drawingml/2006/main" noGrp="1"/>
          </p:cNvSpPr>
          <p:nvPr/>
        </p:nvSpPr>
        <p:spPr>
          <a:xfrm xmlns:a="http://schemas.openxmlformats.org/drawingml/2006/main">
            <a:off x="3486150" y="31051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WEEKS 3–6</a:t>
            </a:r>
          </a:p>
        </p:txBody>
      </p:sp>
      <p:sp>
        <p:nvSpPr>
          <p:cNvPr id="16" name="">
            <a:extLst xmlns:a="http://schemas.openxmlformats.org/drawingml/2006/main">
              <a:ext uri="{FF2B5EF4-FFF2-40B4-BE49-F238E27FC236}">
                <a16:creationId xmlns:a16="http://schemas.microsoft.com/office/drawing/2014/main" id="{6B370C1E-8A60-4AD9-AF14-C82319C81CBC}"/>
              </a:ext>
            </a:extLst>
          </p:cNvPr>
          <p:cNvSpPr>
            <a:spLocks xmlns:a="http://schemas.openxmlformats.org/drawingml/2006/main" noGrp="1"/>
          </p:cNvSpPr>
          <p:nvPr/>
        </p:nvSpPr>
        <p:spPr>
          <a:xfrm xmlns:a="http://schemas.openxmlformats.org/drawingml/2006/main">
            <a:off x="3486150" y="3438525"/>
            <a:ext cx="20002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7" name="">
            <a:extLst xmlns:a="http://schemas.openxmlformats.org/drawingml/2006/main">
              <a:ext uri="{FF2B5EF4-FFF2-40B4-BE49-F238E27FC236}">
                <a16:creationId xmlns:a16="http://schemas.microsoft.com/office/drawing/2014/main" id="{294E76D7-A5A4-4B22-A166-891CA01BF908}"/>
              </a:ext>
            </a:extLst>
          </p:cNvPr>
          <p:cNvSpPr>
            <a:spLocks xmlns:a="http://schemas.openxmlformats.org/drawingml/2006/main" noGrp="1"/>
          </p:cNvSpPr>
          <p:nvPr/>
        </p:nvSpPr>
        <p:spPr>
          <a:xfrm xmlns:a="http://schemas.openxmlformats.org/drawingml/2006/main">
            <a:off x="3486150" y="358140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Drive + GivingData vertical slice</a:t>
            </a:r>
          </a:p>
        </p:txBody>
      </p:sp>
      <p:sp>
        <p:nvSpPr>
          <p:cNvPr id="18" name="">
            <a:extLst xmlns:a="http://schemas.openxmlformats.org/drawingml/2006/main">
              <a:ext uri="{FF2B5EF4-FFF2-40B4-BE49-F238E27FC236}">
                <a16:creationId xmlns:a16="http://schemas.microsoft.com/office/drawing/2014/main" id="{C46B7F4B-841A-4359-A58A-0A54184E2357}"/>
              </a:ext>
            </a:extLst>
          </p:cNvPr>
          <p:cNvSpPr>
            <a:spLocks xmlns:a="http://schemas.openxmlformats.org/drawingml/2006/main" noGrp="1"/>
          </p:cNvSpPr>
          <p:nvPr/>
        </p:nvSpPr>
        <p:spPr>
          <a:xfrm xmlns:a="http://schemas.openxmlformats.org/drawingml/2006/main">
            <a:off x="5924550" y="2190750"/>
            <a:ext cx="2381250" cy="20002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ED8D2"/>
            </a:solidFill>
          </a:ln>
        </p:spPr>
      </p:sp>
      <p:sp>
        <p:nvSpPr>
          <p:cNvPr id="19" name="">
            <a:extLst xmlns:a="http://schemas.openxmlformats.org/drawingml/2006/main">
              <a:ext uri="{FF2B5EF4-FFF2-40B4-BE49-F238E27FC236}">
                <a16:creationId xmlns:a16="http://schemas.microsoft.com/office/drawing/2014/main" id="{EEA40FF5-B474-4AB9-B77F-DEBA1D50167E}"/>
              </a:ext>
            </a:extLst>
          </p:cNvPr>
          <p:cNvSpPr>
            <a:spLocks xmlns:a="http://schemas.openxmlformats.org/drawingml/2006/main" noGrp="1"/>
          </p:cNvSpPr>
          <p:nvPr/>
        </p:nvSpPr>
        <p:spPr>
          <a:xfrm xmlns:a="http://schemas.openxmlformats.org/drawingml/2006/main">
            <a:off x="6115050" y="23526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E94B2A"/>
                </a:solidFill>
                <a:latin typeface="Helvetica Neue"/>
                <a:ea typeface="Helvetica Neue"/>
                <a:cs typeface="Helvetica Neue"/>
              </a:defRPr>
            </a:pPr>
            <a:r>
              <a:rPr sz="1350" b="1">
                <a:solidFill>
                  <a:srgbClr val="E94B2A"/>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B48FACAF-384C-4C80-8DFE-AE289022D6E9}"/>
              </a:ext>
            </a:extLst>
          </p:cNvPr>
          <p:cNvSpPr>
            <a:spLocks xmlns:a="http://schemas.openxmlformats.org/drawingml/2006/main" noGrp="1"/>
          </p:cNvSpPr>
          <p:nvPr/>
        </p:nvSpPr>
        <p:spPr>
          <a:xfrm xmlns:a="http://schemas.openxmlformats.org/drawingml/2006/main">
            <a:off x="6115050" y="27813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5152B"/>
                </a:solidFill>
                <a:latin typeface="Helvetica Neue"/>
                <a:ea typeface="Helvetica Neue"/>
                <a:cs typeface="Helvetica Neue"/>
              </a:defRPr>
            </a:pPr>
            <a:r>
              <a:rPr sz="1200" b="1">
                <a:solidFill>
                  <a:srgbClr val="25152B"/>
                </a:solidFill>
                <a:latin typeface="Helvetica Neue"/>
                <a:ea typeface="Helvetica Neue"/>
                <a:cs typeface="Helvetica Neue"/>
              </a:rPr>
              <a:t>HARDEN</a:t>
            </a:r>
          </a:p>
        </p:txBody>
      </p:sp>
      <p:sp>
        <p:nvSpPr>
          <p:cNvPr id="21" name="">
            <a:extLst xmlns:a="http://schemas.openxmlformats.org/drawingml/2006/main">
              <a:ext uri="{FF2B5EF4-FFF2-40B4-BE49-F238E27FC236}">
                <a16:creationId xmlns:a16="http://schemas.microsoft.com/office/drawing/2014/main" id="{B6A886BF-59C6-4E39-9970-D292E593E95F}"/>
              </a:ext>
            </a:extLst>
          </p:cNvPr>
          <p:cNvSpPr>
            <a:spLocks xmlns:a="http://schemas.openxmlformats.org/drawingml/2006/main" noGrp="1"/>
          </p:cNvSpPr>
          <p:nvPr/>
        </p:nvSpPr>
        <p:spPr>
          <a:xfrm xmlns:a="http://schemas.openxmlformats.org/drawingml/2006/main">
            <a:off x="6115050" y="31051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WEEKS 6–10</a:t>
            </a:r>
          </a:p>
        </p:txBody>
      </p:sp>
      <p:sp>
        <p:nvSpPr>
          <p:cNvPr id="22" name="">
            <a:extLst xmlns:a="http://schemas.openxmlformats.org/drawingml/2006/main">
              <a:ext uri="{FF2B5EF4-FFF2-40B4-BE49-F238E27FC236}">
                <a16:creationId xmlns:a16="http://schemas.microsoft.com/office/drawing/2014/main" id="{B3BCBB3F-34BB-4906-8F85-F5D608E502A0}"/>
              </a:ext>
            </a:extLst>
          </p:cNvPr>
          <p:cNvSpPr>
            <a:spLocks xmlns:a="http://schemas.openxmlformats.org/drawingml/2006/main" noGrp="1"/>
          </p:cNvSpPr>
          <p:nvPr/>
        </p:nvSpPr>
        <p:spPr>
          <a:xfrm xmlns:a="http://schemas.openxmlformats.org/drawingml/2006/main">
            <a:off x="6115050" y="3438525"/>
            <a:ext cx="20002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3" name="">
            <a:extLst xmlns:a="http://schemas.openxmlformats.org/drawingml/2006/main">
              <a:ext uri="{FF2B5EF4-FFF2-40B4-BE49-F238E27FC236}">
                <a16:creationId xmlns:a16="http://schemas.microsoft.com/office/drawing/2014/main" id="{B79B55E2-9F7E-49E2-AF4A-3B9F2B0DA9EF}"/>
              </a:ext>
            </a:extLst>
          </p:cNvPr>
          <p:cNvSpPr>
            <a:spLocks xmlns:a="http://schemas.openxmlformats.org/drawingml/2006/main" noGrp="1"/>
          </p:cNvSpPr>
          <p:nvPr/>
        </p:nvSpPr>
        <p:spPr>
          <a:xfrm xmlns:a="http://schemas.openxmlformats.org/drawingml/2006/main">
            <a:off x="6115050" y="358140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Airtable, backfill, monitoring</a:t>
            </a:r>
          </a:p>
        </p:txBody>
      </p:sp>
      <p:sp>
        <p:nvSpPr>
          <p:cNvPr id="24" name="">
            <a:extLst xmlns:a="http://schemas.openxmlformats.org/drawingml/2006/main">
              <a:ext uri="{FF2B5EF4-FFF2-40B4-BE49-F238E27FC236}">
                <a16:creationId xmlns:a16="http://schemas.microsoft.com/office/drawing/2014/main" id="{0BE4C586-A4EE-47A8-B1C0-816C9D1ABCDA}"/>
              </a:ext>
            </a:extLst>
          </p:cNvPr>
          <p:cNvSpPr>
            <a:spLocks xmlns:a="http://schemas.openxmlformats.org/drawingml/2006/main" noGrp="1"/>
          </p:cNvSpPr>
          <p:nvPr/>
        </p:nvSpPr>
        <p:spPr>
          <a:xfrm xmlns:a="http://schemas.openxmlformats.org/drawingml/2006/main">
            <a:off x="8553450" y="2190750"/>
            <a:ext cx="2381250" cy="20002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ED8D2"/>
            </a:solidFill>
          </a:ln>
        </p:spPr>
      </p:sp>
      <p:sp>
        <p:nvSpPr>
          <p:cNvPr id="25" name="">
            <a:extLst xmlns:a="http://schemas.openxmlformats.org/drawingml/2006/main">
              <a:ext uri="{FF2B5EF4-FFF2-40B4-BE49-F238E27FC236}">
                <a16:creationId xmlns:a16="http://schemas.microsoft.com/office/drawing/2014/main" id="{13140E6E-5777-4BCD-A6EB-3733BC842282}"/>
              </a:ext>
            </a:extLst>
          </p:cNvPr>
          <p:cNvSpPr>
            <a:spLocks xmlns:a="http://schemas.openxmlformats.org/drawingml/2006/main" noGrp="1"/>
          </p:cNvSpPr>
          <p:nvPr/>
        </p:nvSpPr>
        <p:spPr>
          <a:xfrm xmlns:a="http://schemas.openxmlformats.org/drawingml/2006/main">
            <a:off x="8743950" y="23526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E94B2A"/>
                </a:solidFill>
                <a:latin typeface="Helvetica Neue"/>
                <a:ea typeface="Helvetica Neue"/>
                <a:cs typeface="Helvetica Neue"/>
              </a:defRPr>
            </a:pPr>
            <a:r>
              <a:rPr sz="1350" b="1">
                <a:solidFill>
                  <a:srgbClr val="E94B2A"/>
                </a:solidFill>
                <a:latin typeface="Helvetica Neue"/>
                <a:ea typeface="Helvetica Neue"/>
                <a:cs typeface="Helvetica Neue"/>
              </a:rPr>
              <a:t>4</a:t>
            </a:r>
          </a:p>
        </p:txBody>
      </p:sp>
      <p:sp>
        <p:nvSpPr>
          <p:cNvPr id="26" name="">
            <a:extLst xmlns:a="http://schemas.openxmlformats.org/drawingml/2006/main">
              <a:ext uri="{FF2B5EF4-FFF2-40B4-BE49-F238E27FC236}">
                <a16:creationId xmlns:a16="http://schemas.microsoft.com/office/drawing/2014/main" id="{FB376678-5D92-4EBE-B30C-9B9CBB4A769E}"/>
              </a:ext>
            </a:extLst>
          </p:cNvPr>
          <p:cNvSpPr>
            <a:spLocks xmlns:a="http://schemas.openxmlformats.org/drawingml/2006/main" noGrp="1"/>
          </p:cNvSpPr>
          <p:nvPr/>
        </p:nvSpPr>
        <p:spPr>
          <a:xfrm xmlns:a="http://schemas.openxmlformats.org/drawingml/2006/main">
            <a:off x="8743950" y="27813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5152B"/>
                </a:solidFill>
                <a:latin typeface="Helvetica Neue"/>
                <a:ea typeface="Helvetica Neue"/>
                <a:cs typeface="Helvetica Neue"/>
              </a:defRPr>
            </a:pPr>
            <a:r>
              <a:rPr sz="1200" b="1">
                <a:solidFill>
                  <a:srgbClr val="25152B"/>
                </a:solidFill>
                <a:latin typeface="Helvetica Neue"/>
                <a:ea typeface="Helvetica Neue"/>
                <a:cs typeface="Helvetica Neue"/>
              </a:rPr>
              <a:t>EXPAND</a:t>
            </a:r>
          </a:p>
        </p:txBody>
      </p:sp>
      <p:sp>
        <p:nvSpPr>
          <p:cNvPr id="27" name="">
            <a:extLst xmlns:a="http://schemas.openxmlformats.org/drawingml/2006/main">
              <a:ext uri="{FF2B5EF4-FFF2-40B4-BE49-F238E27FC236}">
                <a16:creationId xmlns:a16="http://schemas.microsoft.com/office/drawing/2014/main" id="{D2594E93-9AA8-42B7-801A-6106D7F65985}"/>
              </a:ext>
            </a:extLst>
          </p:cNvPr>
          <p:cNvSpPr>
            <a:spLocks xmlns:a="http://schemas.openxmlformats.org/drawingml/2006/main" noGrp="1"/>
          </p:cNvSpPr>
          <p:nvPr/>
        </p:nvSpPr>
        <p:spPr>
          <a:xfrm xmlns:a="http://schemas.openxmlformats.org/drawingml/2006/main">
            <a:off x="8743950" y="31051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WEEK 10+</a:t>
            </a:r>
          </a:p>
        </p:txBody>
      </p:sp>
      <p:sp>
        <p:nvSpPr>
          <p:cNvPr id="28" name="">
            <a:extLst xmlns:a="http://schemas.openxmlformats.org/drawingml/2006/main">
              <a:ext uri="{FF2B5EF4-FFF2-40B4-BE49-F238E27FC236}">
                <a16:creationId xmlns:a16="http://schemas.microsoft.com/office/drawing/2014/main" id="{12A932D1-BBDD-46AB-B1C9-94CA7E2CE252}"/>
              </a:ext>
            </a:extLst>
          </p:cNvPr>
          <p:cNvSpPr>
            <a:spLocks xmlns:a="http://schemas.openxmlformats.org/drawingml/2006/main" noGrp="1"/>
          </p:cNvSpPr>
          <p:nvPr/>
        </p:nvSpPr>
        <p:spPr>
          <a:xfrm xmlns:a="http://schemas.openxmlformats.org/drawingml/2006/main">
            <a:off x="8743950" y="3438525"/>
            <a:ext cx="20002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9" name="">
            <a:extLst xmlns:a="http://schemas.openxmlformats.org/drawingml/2006/main">
              <a:ext uri="{FF2B5EF4-FFF2-40B4-BE49-F238E27FC236}">
                <a16:creationId xmlns:a16="http://schemas.microsoft.com/office/drawing/2014/main" id="{A1418FC1-63CB-428D-8EBA-6DFFEE0D841C}"/>
              </a:ext>
            </a:extLst>
          </p:cNvPr>
          <p:cNvSpPr>
            <a:spLocks xmlns:a="http://schemas.openxmlformats.org/drawingml/2006/main" noGrp="1"/>
          </p:cNvSpPr>
          <p:nvPr/>
        </p:nvSpPr>
        <p:spPr>
          <a:xfrm xmlns:a="http://schemas.openxmlformats.org/drawingml/2006/main">
            <a:off x="8743950" y="358140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Governed chat and wider access</a:t>
            </a:r>
          </a:p>
        </p:txBody>
      </p:sp>
      <p:sp>
        <p:nvSpPr>
          <p:cNvPr id="30" name="">
            <a:extLst xmlns:a="http://schemas.openxmlformats.org/drawingml/2006/main">
              <a:ext uri="{FF2B5EF4-FFF2-40B4-BE49-F238E27FC236}">
                <a16:creationId xmlns:a16="http://schemas.microsoft.com/office/drawing/2014/main" id="{2809D41B-33A8-4006-945A-2C05B29D4274}"/>
              </a:ext>
            </a:extLst>
          </p:cNvPr>
          <p:cNvSpPr>
            <a:spLocks xmlns:a="http://schemas.openxmlformats.org/drawingml/2006/main" noGrp="1"/>
          </p:cNvSpPr>
          <p:nvPr/>
        </p:nvSpPr>
        <p:spPr>
          <a:xfrm xmlns:a="http://schemas.openxmlformats.org/drawingml/2006/main">
            <a:off x="666750" y="46196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E94B2A"/>
                </a:solidFill>
                <a:latin typeface="Helvetica Neue"/>
                <a:ea typeface="Helvetica Neue"/>
                <a:cs typeface="Helvetica Neue"/>
              </a:defRPr>
            </a:pPr>
            <a:r>
              <a:rPr sz="900" b="1">
                <a:solidFill>
                  <a:srgbClr val="E94B2A"/>
                </a:solidFill>
                <a:latin typeface="Helvetica Neue"/>
                <a:ea typeface="Helvetica Neue"/>
                <a:cs typeface="Helvetica Neue"/>
              </a:rPr>
              <a:t>The strategic fit</a:t>
            </a:r>
          </a:p>
        </p:txBody>
      </p:sp>
      <p:sp>
        <p:nvSpPr>
          <p:cNvPr id="31" name="">
            <a:extLst xmlns:a="http://schemas.openxmlformats.org/drawingml/2006/main">
              <a:ext uri="{FF2B5EF4-FFF2-40B4-BE49-F238E27FC236}">
                <a16:creationId xmlns:a16="http://schemas.microsoft.com/office/drawing/2014/main" id="{1BDE1BDD-9A23-46DF-9D98-00FC56B45E72}"/>
              </a:ext>
            </a:extLst>
          </p:cNvPr>
          <p:cNvSpPr>
            <a:spLocks xmlns:a="http://schemas.openxmlformats.org/drawingml/2006/main" noGrp="1"/>
          </p:cNvSpPr>
          <p:nvPr/>
        </p:nvSpPr>
        <p:spPr>
          <a:xfrm xmlns:a="http://schemas.openxmlformats.org/drawingml/2006/main">
            <a:off x="666750" y="4924425"/>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028"/>
          </a:bodyPr>
          <a:lstStyle xmlns:a="http://schemas.openxmlformats.org/drawingml/2006/main"/>
          <a:p xmlns:a="http://schemas.openxmlformats.org/drawingml/2006/main">
            <a:pPr>
              <a:defRPr sz="1800" b="1">
                <a:solidFill>
                  <a:srgbClr val="25152B"/>
                </a:solidFill>
                <a:latin typeface="Helvetica Neue"/>
                <a:ea typeface="Helvetica Neue"/>
                <a:cs typeface="Helvetica Neue"/>
              </a:defRPr>
            </a:pPr>
            <a:r>
              <a:rPr sz="1800" b="1">
                <a:solidFill>
                  <a:srgbClr val="25152B"/>
                </a:solidFill>
                <a:latin typeface="Helvetica Neue"/>
                <a:ea typeface="Helvetica Neue"/>
                <a:cs typeface="Helvetica Neue"/>
              </a:rPr>
              <a:t>Compass operationalizes CREDIT: transparent evidence, faster work, responsible iteration, and shared organizational learning.</a:t>
            </a:r>
          </a:p>
        </p:txBody>
      </p:sp>
      <p:sp>
        <p:nvSpPr>
          <p:cNvPr id="32" name="">
            <a:extLst xmlns:a="http://schemas.openxmlformats.org/drawingml/2006/main">
              <a:ext uri="{FF2B5EF4-FFF2-40B4-BE49-F238E27FC236}">
                <a16:creationId xmlns:a16="http://schemas.microsoft.com/office/drawing/2014/main" id="{7B1B5F0A-D732-4E5E-BDAF-F0B3399FC5CD}"/>
              </a:ext>
            </a:extLst>
          </p:cNvPr>
          <p:cNvSpPr>
            <a:spLocks xmlns:a="http://schemas.openxmlformats.org/drawingml/2006/main" noGrp="1"/>
          </p:cNvSpPr>
          <p:nvPr/>
        </p:nvSpPr>
        <p:spPr>
          <a:xfrm xmlns:a="http://schemas.openxmlformats.org/drawingml/2006/main">
            <a:off x="666750" y="557212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The pilot also creates reusable data contracts, evaluation sets, permission controls, and operating practices for a future product and engineering function.</a:t>
            </a:r>
          </a:p>
        </p:txBody>
      </p:sp>
    </p:spTree>
    <p:extLst>
      <p:ext uri="{BB962C8B-B14F-4D97-AF65-F5344CB8AC3E}">
        <p14:creationId xmlns:p14="http://schemas.microsoft.com/office/powerpoint/2010/main" val="2146938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2026-09-07T05:56:18.6480000Z</dcterms:created>
  <dcterms:modified xsi:type="dcterms:W3CDTF">2026-09-07T05:56:18.6480000Z</dcterms:modified>
</coreProperties>
</file>