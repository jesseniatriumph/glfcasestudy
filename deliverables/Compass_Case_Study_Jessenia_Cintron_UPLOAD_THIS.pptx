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38ee8e772842fa" /><Relationship Type="http://schemas.openxmlformats.org/officeDocument/2006/relationships/extended-properties" Target="/docProps/app.xml" Id="R8ec7e6ef47be42cf" /><Relationship Type="http://schemas.openxmlformats.org/officeDocument/2006/relationships/officeDocument" Target="/ppt/presentation.xml" Id="Ra718353891ce454e" /></Relationships>
</file>

<file path=ppt/presentation.xml><?xml version="1.0" encoding="utf-8"?>
<p:presentation xmlns:p="http://schemas.openxmlformats.org/presentationml/2006/main">
  <p:sldMasterIdLst>
    <p:sldMasterId xmlns:r="http://schemas.openxmlformats.org/officeDocument/2006/relationships" id="2147483648" r:id="Rf49b9e37827a4644"/>
  </p:sldMasterIdLst>
  <p:notesMasterIdLst>
    <p:notesMasterId xmlns:r="http://schemas.openxmlformats.org/officeDocument/2006/relationships" r:id="Rf2a07c67872d4cb1"/>
  </p:notesMasterIdLst>
  <p:sldIdLst>
    <p:sldId xmlns:r="http://schemas.openxmlformats.org/officeDocument/2006/relationships" id="256" r:id="R17c933c8163c4037"/>
    <p:sldId xmlns:r="http://schemas.openxmlformats.org/officeDocument/2006/relationships" id="257" r:id="R1e1887baffcc42de"/>
    <p:sldId xmlns:r="http://schemas.openxmlformats.org/officeDocument/2006/relationships" id="258" r:id="Rc4469253b3ec42eb"/>
    <p:sldId xmlns:r="http://schemas.openxmlformats.org/officeDocument/2006/relationships" id="259" r:id="R60df19beddd04b5f"/>
    <p:sldId xmlns:r="http://schemas.openxmlformats.org/officeDocument/2006/relationships" id="260" r:id="R3ff9e7f1e4034b89"/>
    <p:sldId xmlns:r="http://schemas.openxmlformats.org/officeDocument/2006/relationships" id="261" r:id="R480e545720a54db8"/>
    <p:sldId xmlns:r="http://schemas.openxmlformats.org/officeDocument/2006/relationships" id="262" r:id="R4591f2ffc811420e"/>
    <p:sldId xmlns:r="http://schemas.openxmlformats.org/officeDocument/2006/relationships" id="263" r:id="Rffe987284ffa40a8"/>
    <p:sldId xmlns:r="http://schemas.openxmlformats.org/officeDocument/2006/relationships" id="264" r:id="Rd87752ffe48a4e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431330ae6644a6" /><Relationship Type="http://schemas.openxmlformats.org/officeDocument/2006/relationships/slideMaster" Target="/ppt/slideMasters/slideMaster1.xml" Id="Rf49b9e37827a4644" /><Relationship Type="http://schemas.openxmlformats.org/officeDocument/2006/relationships/notesMaster" Target="/ppt/notesMasters/notesMaster1.xml" Id="Rf2a07c67872d4cb1" /><Relationship Type="http://schemas.openxmlformats.org/officeDocument/2006/relationships/presProps" Target="/ppt/presProps.xml" Id="Rbe3aae1ddbbf4ddf" /><Relationship Type="http://schemas.openxmlformats.org/officeDocument/2006/relationships/tableStyles" Target="/ppt/tableStyles.xml" Id="R89ef39f387244f30" /><Relationship Type="http://schemas.openxmlformats.org/officeDocument/2006/relationships/slide" Target="/ppt/slides/slide1.xml" Id="R17c933c8163c4037" /><Relationship Type="http://schemas.openxmlformats.org/officeDocument/2006/relationships/slide" Target="/ppt/slides/slide2.xml" Id="R1e1887baffcc42de" /><Relationship Type="http://schemas.openxmlformats.org/officeDocument/2006/relationships/slide" Target="/ppt/slides/slide3.xml" Id="Rc4469253b3ec42eb" /><Relationship Type="http://schemas.openxmlformats.org/officeDocument/2006/relationships/slide" Target="/ppt/slides/slide4.xml" Id="R60df19beddd04b5f" /><Relationship Type="http://schemas.openxmlformats.org/officeDocument/2006/relationships/slide" Target="/ppt/slides/slide5.xml" Id="R3ff9e7f1e4034b89" /><Relationship Type="http://schemas.openxmlformats.org/officeDocument/2006/relationships/slide" Target="/ppt/slides/slide6.xml" Id="R480e545720a54db8" /><Relationship Type="http://schemas.openxmlformats.org/officeDocument/2006/relationships/slide" Target="/ppt/slides/slide7.xml" Id="R4591f2ffc811420e" /><Relationship Type="http://schemas.openxmlformats.org/officeDocument/2006/relationships/slide" Target="/ppt/slides/slide8.xml" Id="Rffe987284ffa40a8" /><Relationship Type="http://schemas.openxmlformats.org/officeDocument/2006/relationships/slide" Target="/ppt/slides/slide9.xml" Id="Rd87752ffe48a4e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a80bb6e02343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efc7b1d19c4844" /><Relationship Type="http://schemas.openxmlformats.org/officeDocument/2006/relationships/notesMaster" Target="/ppt/notesMasters/notesMaster1.xml" Id="Rae4643d0f9904c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a1c883713b4628" /><Relationship Type="http://schemas.openxmlformats.org/officeDocument/2006/relationships/notesMaster" Target="/ppt/notesMasters/notesMaster1.xml" Id="R127b24af85e145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ace8673dba4a21" /><Relationship Type="http://schemas.openxmlformats.org/officeDocument/2006/relationships/notesMaster" Target="/ppt/notesMasters/notesMaster1.xml" Id="R383ebb851cb045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0d38d63eee4bac" /><Relationship Type="http://schemas.openxmlformats.org/officeDocument/2006/relationships/notesMaster" Target="/ppt/notesMasters/notesMaster1.xml" Id="Rcec1f8eccec246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4731319cba4f8c" /><Relationship Type="http://schemas.openxmlformats.org/officeDocument/2006/relationships/notesMaster" Target="/ppt/notesMasters/notesMaster1.xml" Id="R410ad37151e44d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b8dd81e81e4c97" /><Relationship Type="http://schemas.openxmlformats.org/officeDocument/2006/relationships/notesMaster" Target="/ppt/notesMasters/notesMaster1.xml" Id="Rb5a0e030673842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9c3333b79e4d34" /><Relationship Type="http://schemas.openxmlformats.org/officeDocument/2006/relationships/notesMaster" Target="/ppt/notesMasters/notesMaster1.xml" Id="R011e7896bbfb49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c4521deeac4997" /><Relationship Type="http://schemas.openxmlformats.org/officeDocument/2006/relationships/notesMaster" Target="/ppt/notesMasters/notesMaster1.xml" Id="R092c73a2b38f4e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a22638e2d04d1d" /><Relationship Type="http://schemas.openxmlformats.org/officeDocument/2006/relationships/notesMaster" Target="/ppt/notesMasters/notesMaster1.xml" Id="R9e1ba60ada7943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started with the assignment you gave me: scope the problem and explain the process. Compass is my proposed approach, not a product I expect you to adopt. After I finished the scope, I made a small demo with invented information to test whether the answer could stay honest when records disagree. The case study stands on its own.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first agree with the team on what each system is trusted to answer. GivingData may hold the official grant record. Drive may hold the fuller story. Airtable may capture relationship work, while Zoom explains why a decision changed. Compass should connect those pieces while keeping their original meaning and access rules.</a:t>
            </a:r>
          </a:p>
          <a:p xmlns:a="http://schemas.openxmlformats.org/drawingml/2006/main">
            <a:r>
              <a:t/>
            </a:r>
          </a:p>
          <a:p xmlns:a="http://schemas.openxmlformats.org/drawingml/2006/main">
            <a:r>
              <a:t>Sources:</a:t>
            </a:r>
          </a:p>
          <a:p xmlns:a="http://schemas.openxmlformats.org/drawingml/2006/main">
            <a:r>
              <a:t>https://knowledgebase.givingdata.com/data-structure</a:t>
            </a:r>
          </a:p>
          <a:p xmlns:a="http://schemas.openxmlformats.org/drawingml/2006/main">
            <a:r>
              <a:t>https://developers.google.com/workspace/drive/api/guides/about-files</a:t>
            </a:r>
          </a:p>
          <a:p xmlns:a="http://schemas.openxmlformats.org/drawingml/2006/main">
            <a:r>
              <a:t>https://support.airtable.com/articles/6292134965-getting-started-with-airtable-s-web-api</a:t>
            </a:r>
          </a:p>
          <a:p xmlns:a="http://schemas.openxmlformats.org/drawingml/2006/main">
            <a:r>
              <a:t>https://support.zoom.com/hc/en/article?id=zm_kb&amp;sysparm_article=KB0060329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choose technology, I want to watch how the team actually finds answers and what happens next. I would ask people to show me recent examples, including times when the systems disagreed. That gives us a short list of important questions, a clear owner for each kind of information, access rules, and a starting point for measuring whether the solution helps.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I finished the scope, I made this small demo to test one question: can the answer show what agrees, what conflicts, and what a person still needs to confirm? Everything in it is invented. I am not presenting it as a finished product or as a decision already made for the team. It simply helped me challenge my own design before presenting it.</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process in plain language. First, confirm who is asking. Then remove anything that person cannot already open. Search only the remaining information, explain the answer with direct links, save feedback for review, and keep testing whether the system is safe and useful. A real pilot would begin only after the team agrees on ownership, access, and what success means.</a:t>
            </a:r>
          </a:p>
          <a:p xmlns:a="http://schemas.openxmlformats.org/drawingml/2006/main">
            <a:r>
              <a:t/>
            </a:r>
          </a:p>
          <a:p xmlns:a="http://schemas.openxmlformats.org/drawingml/2006/main">
            <a:r>
              <a:t>Sources:</a:t>
            </a:r>
          </a:p>
          <a:p xmlns:a="http://schemas.openxmlformats.org/drawingml/2006/main">
            <a:r>
              <a:t>https://developers.google.com/workspace/drive/api/guides/manage-sharing</a:t>
            </a:r>
          </a:p>
          <a:p xmlns:a="http://schemas.openxmlformats.org/drawingml/2006/main">
            <a:r>
              <a:t>https://developers.google.com/workspace/drive/api/guides/manage-changes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protect access in code, not rely on the AI to remember a rule. The system confirms the person, checks what they may see, and searches only those records. It checks access again when someone opens a source. Reports and chat may also contain text that tries to instruct the AI. The system should treat that text as evidence, never as permission to take an action.</a:t>
            </a:r>
          </a:p>
          <a:p xmlns:a="http://schemas.openxmlformats.org/drawingml/2006/main">
            <a:r>
              <a:t/>
            </a:r>
          </a:p>
          <a:p xmlns:a="http://schemas.openxmlformats.org/drawingml/2006/main">
            <a:r>
              <a:t>Sources:</a:t>
            </a:r>
          </a:p>
          <a:p xmlns:a="http://schemas.openxmlformats.org/drawingml/2006/main">
            <a:r>
              <a:t>https://cheatsheetseries.owasp.org/cheatsheets/LLM_Prompt_Injection_Prevention_Cheat_Sheet.html</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 the system to be honest when it cannot answer. Private information stops the response. A forecast should never look like a result. When records disagree, the user should see both versions and who owns the answer. Missing history should stay visible. If the evidence is too weak, the system should simply say that it does not know.</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prompt asked me to scope the problem, and that remains the work I am presenting. I would keep the first version narrow. No live connections, automated decisions, or automatic changes to source records. Productizing for other foundations belongs much later, after this team proves that the approach solves a real problem safely.</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job would be to make progress with the team, not arrive with a finished answer for them. The people closest to the work define the priority and access rules. I can turn those decisions into a small test, show what worked and what did not, and help the team decide whether to continue, revise, or stop.</a:t>
            </a:r>
          </a:p>
          <a:p xmlns:a="http://schemas.openxmlformats.org/drawingml/2006/main">
            <a:r>
              <a:t/>
            </a:r>
          </a:p>
          <a:p xmlns:a="http://schemas.openxmlformats.org/drawingml/2006/main">
            <a:r>
              <a:t>Sources:</a:t>
            </a:r>
          </a:p>
          <a:p xmlns:a="http://schemas.openxmlformats.org/drawingml/2006/main">
            <a:r>
              <a:t>https://gitlabfoundation.notion.site/Values-313cf60acc3b47c4b1f64e8352ce1707</a:t>
            </a:r>
          </a:p>
          <a:p xmlns:a="http://schemas.openxmlformats.org/drawingml/2006/main">
            <a:r>
              <a:t>https://www.gitlabfoundation.org/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ac18cefb2549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db05f02d7240ca" /><Relationship Type="http://schemas.openxmlformats.org/officeDocument/2006/relationships/slideLayout" Target="/ppt/slideLayouts/slideLayout1.xml" Id="R7be974b7efc948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e974b7efc948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2f677c69d94bfc" /><Relationship Type="http://schemas.openxmlformats.org/officeDocument/2006/relationships/image" Target="/ppt/media/image.png" Id="R82e49b71a70643cb" /><Relationship Type="http://schemas.openxmlformats.org/officeDocument/2006/relationships/notesSlide" Target="/ppt/notesSlides/notesSlide1.xml" Id="R9ea03f53b63849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76753d2c074e5b" /><Relationship Type="http://schemas.openxmlformats.org/officeDocument/2006/relationships/notesSlide" Target="/ppt/notesSlides/notesSlide2.xml" Id="R2fe843af175e45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e7bdb9f2764c3d" /><Relationship Type="http://schemas.openxmlformats.org/officeDocument/2006/relationships/notesSlide" Target="/ppt/notesSlides/notesSlide3.xml" Id="R76d38a6e235944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ef1d3ae67842cb" /><Relationship Type="http://schemas.openxmlformats.org/officeDocument/2006/relationships/notesSlide" Target="/ppt/notesSlides/notesSlide4.xml" Id="R4956cf554c7447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46d59133984221" /><Relationship Type="http://schemas.openxmlformats.org/officeDocument/2006/relationships/notesSlide" Target="/ppt/notesSlides/notesSlide5.xml" Id="R34e642e8e97b48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9c844621fb49f5" /><Relationship Type="http://schemas.openxmlformats.org/officeDocument/2006/relationships/notesSlide" Target="/ppt/notesSlides/notesSlide6.xml" Id="R40e3449d8c1241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0beac422b34a19" /><Relationship Type="http://schemas.openxmlformats.org/officeDocument/2006/relationships/notesSlide" Target="/ppt/notesSlides/notesSlide7.xml" Id="R62b9965948a04c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1064156efc416b" /><Relationship Type="http://schemas.openxmlformats.org/officeDocument/2006/relationships/notesSlide" Target="/ppt/notesSlides/notesSlide8.xml" Id="Rfd3e331c407f46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8b509844d74bb4" /><Relationship Type="http://schemas.openxmlformats.org/officeDocument/2006/relationships/notesSlide" Target="/ppt/notesSlides/notesSlide9.xml" Id="Rc4fbcd3c159b44aa" /></Relationships>
</file>

<file path=ppt/slides/slide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2e49b71a70643cb"/>
          <a:srcRect xmlns:a="http://schemas.openxmlformats.org/drawingml/2006/main" l="3216" t="0" r="3216"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D14B422-6CF6-4C82-8B23-C3DEEF959554}"/>
              </a:ext>
            </a:extLst>
          </p:cNvPr>
          <p:cNvSpPr>
            <a:spLocks xmlns:a="http://schemas.openxmlformats.org/drawingml/2006/main" noGrp="1"/>
          </p:cNvSpPr>
          <p:nvPr/>
        </p:nvSpPr>
        <p:spPr>
          <a:xfrm xmlns:a="http://schemas.openxmlformats.org/drawingml/2006/main">
            <a:off x="514350" y="438150"/>
            <a:ext cx="1866900" cy="323850"/>
          </a:xfrm>
          <a:prstGeom xmlns:a="http://schemas.openxmlformats.org/drawingml/2006/main" prst="roundRect">
            <a:avLst>
              <a:gd name="adj" fmla="val 50000"/>
            </a:avLst>
          </a:prstGeom>
          <a:solidFill xmlns:a="http://schemas.openxmlformats.org/drawingml/2006/main">
            <a:srgbClr val="2515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1C1F966-53DB-428D-A759-45E348D76D49}"/>
              </a:ext>
            </a:extLst>
          </p:cNvPr>
          <p:cNvSpPr>
            <a:spLocks xmlns:a="http://schemas.openxmlformats.org/drawingml/2006/main" noGrp="1"/>
          </p:cNvSpPr>
          <p:nvPr/>
        </p:nvSpPr>
        <p:spPr>
          <a:xfrm xmlns:a="http://schemas.openxmlformats.org/drawingml/2006/main">
            <a:off x="676275" y="4953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GITLAB FOUNDATION</a:t>
            </a:r>
          </a:p>
        </p:txBody>
      </p:sp>
      <p:sp>
        <p:nvSpPr>
          <p:cNvPr id="4" name="">
            <a:extLst xmlns:a="http://schemas.openxmlformats.org/drawingml/2006/main">
              <a:ext uri="{FF2B5EF4-FFF2-40B4-BE49-F238E27FC236}">
                <a16:creationId xmlns:a16="http://schemas.microsoft.com/office/drawing/2014/main" id="{3A195662-7E25-413D-AD19-58CC9C3DEAA6}"/>
              </a:ext>
            </a:extLst>
          </p:cNvPr>
          <p:cNvSpPr>
            <a:spLocks xmlns:a="http://schemas.openxmlformats.org/drawingml/2006/main" noGrp="1"/>
          </p:cNvSpPr>
          <p:nvPr/>
        </p:nvSpPr>
        <p:spPr>
          <a:xfrm xmlns:a="http://schemas.openxmlformats.org/drawingml/2006/main">
            <a:off x="666750" y="62388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CASE STUDY  SEPT 2026</a:t>
            </a:r>
          </a:p>
        </p:txBody>
      </p:sp>
      <p:sp>
        <p:nvSpPr>
          <p:cNvPr id="5" name="">
            <a:extLst xmlns:a="http://schemas.openxmlformats.org/drawingml/2006/main">
              <a:ext uri="{FF2B5EF4-FFF2-40B4-BE49-F238E27FC236}">
                <a16:creationId xmlns:a16="http://schemas.microsoft.com/office/drawing/2014/main" id="{082620CC-AFBA-4C4F-AD87-E39D6D558EC9}"/>
              </a:ext>
            </a:extLst>
          </p:cNvPr>
          <p:cNvSpPr>
            <a:spLocks xmlns:a="http://schemas.openxmlformats.org/drawingml/2006/main" noGrp="1"/>
          </p:cNvSpPr>
          <p:nvPr/>
        </p:nvSpPr>
        <p:spPr>
          <a:xfrm xmlns:a="http://schemas.openxmlformats.org/drawingml/2006/main">
            <a:off x="9525000" y="6238875"/>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Jessenia Cintron</a:t>
            </a:r>
          </a:p>
        </p:txBody>
      </p:sp>
    </p:spTree>
    <p:extLst>
      <p:ext uri="{BB962C8B-B14F-4D97-AF65-F5344CB8AC3E}">
        <p14:creationId xmlns:p14="http://schemas.microsoft.com/office/powerpoint/2010/main" val="1774003811"/>
      </p:ext>
    </p:extLst>
  </p:cSld>
</p:sld>
</file>

<file path=ppt/slides/slide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BD70977-CE97-41BC-8657-F1BA608583DB}"/>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DECISION PROBLEM</a:t>
            </a:r>
          </a:p>
        </p:txBody>
      </p:sp>
      <p:sp>
        <p:nvSpPr>
          <p:cNvPr id="2" name="">
            <a:extLst xmlns:a="http://schemas.openxmlformats.org/drawingml/2006/main">
              <a:ext uri="{FF2B5EF4-FFF2-40B4-BE49-F238E27FC236}">
                <a16:creationId xmlns:a16="http://schemas.microsoft.com/office/drawing/2014/main" id="{C06E754A-3E68-4E54-BED8-E62DA1412E7C}"/>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AD1AB8CF-72E1-4A55-B5CD-2694B8535C85}"/>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C4511F2F-B924-422D-BDD9-1BEC39262E68}"/>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What each system knows</a:t>
            </a:r>
          </a:p>
        </p:txBody>
      </p:sp>
      <p:sp>
        <p:nvSpPr>
          <p:cNvPr id="5" name="">
            <a:extLst xmlns:a="http://schemas.openxmlformats.org/drawingml/2006/main">
              <a:ext uri="{FF2B5EF4-FFF2-40B4-BE49-F238E27FC236}">
                <a16:creationId xmlns:a16="http://schemas.microsoft.com/office/drawing/2014/main" id="{8D5A9D87-66C9-41A4-B339-D825FFDE2863}"/>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answer should connect the records without treating them as interchangeable.</a:t>
            </a:r>
          </a:p>
        </p:txBody>
      </p:sp>
      <p:sp>
        <p:nvSpPr>
          <p:cNvPr id="6" name="">
            <a:extLst xmlns:a="http://schemas.openxmlformats.org/drawingml/2006/main">
              <a:ext uri="{FF2B5EF4-FFF2-40B4-BE49-F238E27FC236}">
                <a16:creationId xmlns:a16="http://schemas.microsoft.com/office/drawing/2014/main" id="{F96DCF16-5341-4DEA-8702-8F8ED60F1CDB}"/>
              </a:ext>
            </a:extLst>
          </p:cNvPr>
          <p:cNvSpPr>
            <a:spLocks xmlns:a="http://schemas.openxmlformats.org/drawingml/2006/main" noGrp="1"/>
          </p:cNvSpPr>
          <p:nvPr/>
        </p:nvSpPr>
        <p:spPr>
          <a:xfrm xmlns:a="http://schemas.openxmlformats.org/drawingml/2006/main">
            <a:off x="6667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F4C9ECDA-39D7-4334-846D-A304BE2275D5}"/>
              </a:ext>
            </a:extLst>
          </p:cNvPr>
          <p:cNvSpPr>
            <a:spLocks xmlns:a="http://schemas.openxmlformats.org/drawingml/2006/main" noGrp="1"/>
          </p:cNvSpPr>
          <p:nvPr/>
        </p:nvSpPr>
        <p:spPr>
          <a:xfrm xmlns:a="http://schemas.openxmlformats.org/drawingml/2006/main">
            <a:off x="666750" y="2152650"/>
            <a:ext cx="2476500" cy="85725"/>
          </a:xfrm>
          <a:prstGeom xmlns:a="http://schemas.openxmlformats.org/drawingml/2006/main" prst="roundRect">
            <a:avLst>
              <a:gd name="adj" fmla="val 44444"/>
            </a:avLst>
          </a:prstGeom>
          <a:solidFill xmlns:a="http://schemas.openxmlformats.org/drawingml/2006/main">
            <a:srgbClr val="2D67A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F9BE43D-31B0-4348-A3DF-3A93556212CD}"/>
              </a:ext>
            </a:extLst>
          </p:cNvPr>
          <p:cNvSpPr>
            <a:spLocks xmlns:a="http://schemas.openxmlformats.org/drawingml/2006/main" noGrp="1"/>
          </p:cNvSpPr>
          <p:nvPr/>
        </p:nvSpPr>
        <p:spPr>
          <a:xfrm xmlns:a="http://schemas.openxmlformats.org/drawingml/2006/main">
            <a:off x="8572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Google Drive</a:t>
            </a:r>
          </a:p>
        </p:txBody>
      </p:sp>
      <p:sp>
        <p:nvSpPr>
          <p:cNvPr id="9" name="">
            <a:extLst xmlns:a="http://schemas.openxmlformats.org/drawingml/2006/main">
              <a:ext uri="{FF2B5EF4-FFF2-40B4-BE49-F238E27FC236}">
                <a16:creationId xmlns:a16="http://schemas.microsoft.com/office/drawing/2014/main" id="{1AA13A2B-5F6E-48DC-995A-4E1F79A965C9}"/>
              </a:ext>
            </a:extLst>
          </p:cNvPr>
          <p:cNvSpPr>
            <a:spLocks xmlns:a="http://schemas.openxmlformats.org/drawingml/2006/main" noGrp="1"/>
          </p:cNvSpPr>
          <p:nvPr/>
        </p:nvSpPr>
        <p:spPr>
          <a:xfrm xmlns:a="http://schemas.openxmlformats.org/drawingml/2006/main">
            <a:off x="8572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D67A6"/>
                </a:solidFill>
                <a:latin typeface="Helvetica Neue"/>
                <a:ea typeface="Helvetica Neue"/>
                <a:cs typeface="Helvetica Neue"/>
              </a:defRPr>
            </a:pPr>
            <a:r>
              <a:rPr sz="975" b="1">
                <a:solidFill>
                  <a:srgbClr val="2D67A6"/>
                </a:solidFill>
                <a:latin typeface="Helvetica Neue"/>
                <a:ea typeface="Helvetica Neue"/>
                <a:cs typeface="Helvetica Neue"/>
              </a:rPr>
              <a:t>Written evidence</a:t>
            </a:r>
          </a:p>
        </p:txBody>
      </p:sp>
      <p:sp>
        <p:nvSpPr>
          <p:cNvPr id="10" name="">
            <a:extLst xmlns:a="http://schemas.openxmlformats.org/drawingml/2006/main">
              <a:ext uri="{FF2B5EF4-FFF2-40B4-BE49-F238E27FC236}">
                <a16:creationId xmlns:a16="http://schemas.microsoft.com/office/drawing/2014/main" id="{A75170AC-AEBF-4715-9D72-2FC5DF7743D4}"/>
              </a:ext>
            </a:extLst>
          </p:cNvPr>
          <p:cNvSpPr>
            <a:spLocks xmlns:a="http://schemas.openxmlformats.org/drawingml/2006/main" noGrp="1"/>
          </p:cNvSpPr>
          <p:nvPr/>
        </p:nvSpPr>
        <p:spPr>
          <a:xfrm xmlns:a="http://schemas.openxmlformats.org/drawingml/2006/main">
            <a:off x="8572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74F5AEF4-156E-4BB4-9D1E-1048AD3189F0}"/>
              </a:ext>
            </a:extLst>
          </p:cNvPr>
          <p:cNvSpPr>
            <a:spLocks xmlns:a="http://schemas.openxmlformats.org/drawingml/2006/main" noGrp="1"/>
          </p:cNvSpPr>
          <p:nvPr/>
        </p:nvSpPr>
        <p:spPr>
          <a:xfrm xmlns:a="http://schemas.openxmlformats.org/drawingml/2006/main">
            <a:off x="8572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Reports, proposals, memos, and tables</a:t>
            </a:r>
          </a:p>
        </p:txBody>
      </p:sp>
      <p:sp>
        <p:nvSpPr>
          <p:cNvPr id="12" name="">
            <a:extLst xmlns:a="http://schemas.openxmlformats.org/drawingml/2006/main">
              <a:ext uri="{FF2B5EF4-FFF2-40B4-BE49-F238E27FC236}">
                <a16:creationId xmlns:a16="http://schemas.microsoft.com/office/drawing/2014/main" id="{8D1ADE1F-02A9-4D2B-B7D2-59CC1031B526}"/>
              </a:ext>
            </a:extLst>
          </p:cNvPr>
          <p:cNvSpPr>
            <a:spLocks xmlns:a="http://schemas.openxmlformats.org/drawingml/2006/main" noGrp="1"/>
          </p:cNvSpPr>
          <p:nvPr/>
        </p:nvSpPr>
        <p:spPr>
          <a:xfrm xmlns:a="http://schemas.openxmlformats.org/drawingml/2006/main">
            <a:off x="33909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943F2ED4-7B1F-415A-B74E-C49A25BD0F44}"/>
              </a:ext>
            </a:extLst>
          </p:cNvPr>
          <p:cNvSpPr>
            <a:spLocks xmlns:a="http://schemas.openxmlformats.org/drawingml/2006/main" noGrp="1"/>
          </p:cNvSpPr>
          <p:nvPr/>
        </p:nvSpPr>
        <p:spPr>
          <a:xfrm xmlns:a="http://schemas.openxmlformats.org/drawingml/2006/main">
            <a:off x="3390900" y="2152650"/>
            <a:ext cx="2476500" cy="85725"/>
          </a:xfrm>
          <a:prstGeom xmlns:a="http://schemas.openxmlformats.org/drawingml/2006/main" prst="roundRect">
            <a:avLst>
              <a:gd name="adj" fmla="val 44444"/>
            </a:avLst>
          </a:prstGeom>
          <a:solidFill xmlns:a="http://schemas.openxmlformats.org/drawingml/2006/main">
            <a:srgbClr val="C347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F9EB5A1-5B83-45EC-ACE6-CDE461ACAA64}"/>
              </a:ext>
            </a:extLst>
          </p:cNvPr>
          <p:cNvSpPr>
            <a:spLocks xmlns:a="http://schemas.openxmlformats.org/drawingml/2006/main" noGrp="1"/>
          </p:cNvSpPr>
          <p:nvPr/>
        </p:nvSpPr>
        <p:spPr>
          <a:xfrm xmlns:a="http://schemas.openxmlformats.org/drawingml/2006/main">
            <a:off x="35814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GivingData</a:t>
            </a:r>
          </a:p>
        </p:txBody>
      </p:sp>
      <p:sp>
        <p:nvSpPr>
          <p:cNvPr id="15" name="">
            <a:extLst xmlns:a="http://schemas.openxmlformats.org/drawingml/2006/main">
              <a:ext uri="{FF2B5EF4-FFF2-40B4-BE49-F238E27FC236}">
                <a16:creationId xmlns:a16="http://schemas.microsoft.com/office/drawing/2014/main" id="{A62D14B1-0AD0-48D5-8AD4-25E925EECFB6}"/>
              </a:ext>
            </a:extLst>
          </p:cNvPr>
          <p:cNvSpPr>
            <a:spLocks xmlns:a="http://schemas.openxmlformats.org/drawingml/2006/main" noGrp="1"/>
          </p:cNvSpPr>
          <p:nvPr/>
        </p:nvSpPr>
        <p:spPr>
          <a:xfrm xmlns:a="http://schemas.openxmlformats.org/drawingml/2006/main">
            <a:off x="35814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C34728"/>
                </a:solidFill>
                <a:latin typeface="Helvetica Neue"/>
                <a:ea typeface="Helvetica Neue"/>
                <a:cs typeface="Helvetica Neue"/>
              </a:defRPr>
            </a:pPr>
            <a:r>
              <a:rPr sz="975" b="1">
                <a:solidFill>
                  <a:srgbClr val="C34728"/>
                </a:solidFill>
                <a:latin typeface="Helvetica Neue"/>
                <a:ea typeface="Helvetica Neue"/>
                <a:cs typeface="Helvetica Neue"/>
              </a:rPr>
              <a:t>Official grant record</a:t>
            </a:r>
          </a:p>
        </p:txBody>
      </p:sp>
      <p:sp>
        <p:nvSpPr>
          <p:cNvPr id="16" name="">
            <a:extLst xmlns:a="http://schemas.openxmlformats.org/drawingml/2006/main">
              <a:ext uri="{FF2B5EF4-FFF2-40B4-BE49-F238E27FC236}">
                <a16:creationId xmlns:a16="http://schemas.microsoft.com/office/drawing/2014/main" id="{EC5D9FE8-068B-4826-9EBA-C5273C793DC7}"/>
              </a:ext>
            </a:extLst>
          </p:cNvPr>
          <p:cNvSpPr>
            <a:spLocks xmlns:a="http://schemas.openxmlformats.org/drawingml/2006/main" noGrp="1"/>
          </p:cNvSpPr>
          <p:nvPr/>
        </p:nvSpPr>
        <p:spPr>
          <a:xfrm xmlns:a="http://schemas.openxmlformats.org/drawingml/2006/main">
            <a:off x="35814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B441092C-3C3D-4D17-A6A1-0FE15ACD5E49}"/>
              </a:ext>
            </a:extLst>
          </p:cNvPr>
          <p:cNvSpPr>
            <a:spLocks xmlns:a="http://schemas.openxmlformats.org/drawingml/2006/main" noGrp="1"/>
          </p:cNvSpPr>
          <p:nvPr/>
        </p:nvSpPr>
        <p:spPr>
          <a:xfrm xmlns:a="http://schemas.openxmlformats.org/drawingml/2006/main">
            <a:off x="35814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Amounts, payments, and requirements</a:t>
            </a:r>
          </a:p>
        </p:txBody>
      </p:sp>
      <p:sp>
        <p:nvSpPr>
          <p:cNvPr id="18" name="">
            <a:extLst xmlns:a="http://schemas.openxmlformats.org/drawingml/2006/main">
              <a:ext uri="{FF2B5EF4-FFF2-40B4-BE49-F238E27FC236}">
                <a16:creationId xmlns:a16="http://schemas.microsoft.com/office/drawing/2014/main" id="{C0D5F5C8-7191-46D9-BE33-59E6BFDCDDF5}"/>
              </a:ext>
            </a:extLst>
          </p:cNvPr>
          <p:cNvSpPr>
            <a:spLocks xmlns:a="http://schemas.openxmlformats.org/drawingml/2006/main" noGrp="1"/>
          </p:cNvSpPr>
          <p:nvPr/>
        </p:nvSpPr>
        <p:spPr>
          <a:xfrm xmlns:a="http://schemas.openxmlformats.org/drawingml/2006/main">
            <a:off x="61150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F63230D0-3C8D-4C15-B986-50378F5890CD}"/>
              </a:ext>
            </a:extLst>
          </p:cNvPr>
          <p:cNvSpPr>
            <a:spLocks xmlns:a="http://schemas.openxmlformats.org/drawingml/2006/main" noGrp="1"/>
          </p:cNvSpPr>
          <p:nvPr/>
        </p:nvSpPr>
        <p:spPr>
          <a:xfrm xmlns:a="http://schemas.openxmlformats.org/drawingml/2006/main">
            <a:off x="6115050" y="2152650"/>
            <a:ext cx="2476500" cy="85725"/>
          </a:xfrm>
          <a:prstGeom xmlns:a="http://schemas.openxmlformats.org/drawingml/2006/main" prst="roundRect">
            <a:avLst>
              <a:gd name="adj" fmla="val 44444"/>
            </a:avLst>
          </a:prstGeom>
          <a:solidFill xmlns:a="http://schemas.openxmlformats.org/drawingml/2006/main">
            <a:srgbClr val="287A5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1AF9EE6-15AE-4FA9-948B-421069827974}"/>
              </a:ext>
            </a:extLst>
          </p:cNvPr>
          <p:cNvSpPr>
            <a:spLocks xmlns:a="http://schemas.openxmlformats.org/drawingml/2006/main" noGrp="1"/>
          </p:cNvSpPr>
          <p:nvPr/>
        </p:nvSpPr>
        <p:spPr>
          <a:xfrm xmlns:a="http://schemas.openxmlformats.org/drawingml/2006/main">
            <a:off x="63055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Airtable</a:t>
            </a:r>
          </a:p>
        </p:txBody>
      </p:sp>
      <p:sp>
        <p:nvSpPr>
          <p:cNvPr id="21" name="">
            <a:extLst xmlns:a="http://schemas.openxmlformats.org/drawingml/2006/main">
              <a:ext uri="{FF2B5EF4-FFF2-40B4-BE49-F238E27FC236}">
                <a16:creationId xmlns:a16="http://schemas.microsoft.com/office/drawing/2014/main" id="{1EA60D22-61F8-4634-8673-EA1D8771F347}"/>
              </a:ext>
            </a:extLst>
          </p:cNvPr>
          <p:cNvSpPr>
            <a:spLocks xmlns:a="http://schemas.openxmlformats.org/drawingml/2006/main" noGrp="1"/>
          </p:cNvSpPr>
          <p:nvPr/>
        </p:nvSpPr>
        <p:spPr>
          <a:xfrm xmlns:a="http://schemas.openxmlformats.org/drawingml/2006/main">
            <a:off x="63055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87A50"/>
                </a:solidFill>
                <a:latin typeface="Helvetica Neue"/>
                <a:ea typeface="Helvetica Neue"/>
                <a:cs typeface="Helvetica Neue"/>
              </a:defRPr>
            </a:pPr>
            <a:r>
              <a:rPr sz="975" b="1">
                <a:solidFill>
                  <a:srgbClr val="287A50"/>
                </a:solidFill>
                <a:latin typeface="Helvetica Neue"/>
                <a:ea typeface="Helvetica Neue"/>
                <a:cs typeface="Helvetica Neue"/>
              </a:rPr>
              <a:t>Working relationship notes</a:t>
            </a:r>
          </a:p>
        </p:txBody>
      </p:sp>
      <p:sp>
        <p:nvSpPr>
          <p:cNvPr id="22" name="">
            <a:extLst xmlns:a="http://schemas.openxmlformats.org/drawingml/2006/main">
              <a:ext uri="{FF2B5EF4-FFF2-40B4-BE49-F238E27FC236}">
                <a16:creationId xmlns:a16="http://schemas.microsoft.com/office/drawing/2014/main" id="{F0F87501-31B7-409C-A630-166CBE5FC3EB}"/>
              </a:ext>
            </a:extLst>
          </p:cNvPr>
          <p:cNvSpPr>
            <a:spLocks xmlns:a="http://schemas.openxmlformats.org/drawingml/2006/main" noGrp="1"/>
          </p:cNvSpPr>
          <p:nvPr/>
        </p:nvSpPr>
        <p:spPr>
          <a:xfrm xmlns:a="http://schemas.openxmlformats.org/drawingml/2006/main">
            <a:off x="63055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60981B7E-D942-49B2-9894-2C187948A576}"/>
              </a:ext>
            </a:extLst>
          </p:cNvPr>
          <p:cNvSpPr>
            <a:spLocks xmlns:a="http://schemas.openxmlformats.org/drawingml/2006/main" noGrp="1"/>
          </p:cNvSpPr>
          <p:nvPr/>
        </p:nvSpPr>
        <p:spPr>
          <a:xfrm xmlns:a="http://schemas.openxmlformats.org/drawingml/2006/main">
            <a:off x="63055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Contacts, cohorts, and follow-up</a:t>
            </a:r>
          </a:p>
        </p:txBody>
      </p:sp>
      <p:sp>
        <p:nvSpPr>
          <p:cNvPr id="24" name="">
            <a:extLst xmlns:a="http://schemas.openxmlformats.org/drawingml/2006/main">
              <a:ext uri="{FF2B5EF4-FFF2-40B4-BE49-F238E27FC236}">
                <a16:creationId xmlns:a16="http://schemas.microsoft.com/office/drawing/2014/main" id="{396C79B4-2C12-440D-B0BD-77B9DD527AEA}"/>
              </a:ext>
            </a:extLst>
          </p:cNvPr>
          <p:cNvSpPr>
            <a:spLocks xmlns:a="http://schemas.openxmlformats.org/drawingml/2006/main" noGrp="1"/>
          </p:cNvSpPr>
          <p:nvPr/>
        </p:nvSpPr>
        <p:spPr>
          <a:xfrm xmlns:a="http://schemas.openxmlformats.org/drawingml/2006/main">
            <a:off x="88392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568AC2DF-7F82-49C1-9A77-5C52ABABB1AA}"/>
              </a:ext>
            </a:extLst>
          </p:cNvPr>
          <p:cNvSpPr>
            <a:spLocks xmlns:a="http://schemas.openxmlformats.org/drawingml/2006/main" noGrp="1"/>
          </p:cNvSpPr>
          <p:nvPr/>
        </p:nvSpPr>
        <p:spPr>
          <a:xfrm xmlns:a="http://schemas.openxmlformats.org/drawingml/2006/main">
            <a:off x="8839200" y="2152650"/>
            <a:ext cx="2476500" cy="85725"/>
          </a:xfrm>
          <a:prstGeom xmlns:a="http://schemas.openxmlformats.org/drawingml/2006/main" prst="roundRect">
            <a:avLst>
              <a:gd name="adj" fmla="val 44444"/>
            </a:avLst>
          </a:prstGeom>
          <a:solidFill xmlns:a="http://schemas.openxmlformats.org/drawingml/2006/main">
            <a:srgbClr val="69479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DA5C0AF-7274-4F7A-A6F8-492CF047DD53}"/>
              </a:ext>
            </a:extLst>
          </p:cNvPr>
          <p:cNvSpPr>
            <a:spLocks xmlns:a="http://schemas.openxmlformats.org/drawingml/2006/main" noGrp="1"/>
          </p:cNvSpPr>
          <p:nvPr/>
        </p:nvSpPr>
        <p:spPr>
          <a:xfrm xmlns:a="http://schemas.openxmlformats.org/drawingml/2006/main">
            <a:off x="90297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Zoom Chat</a:t>
            </a:r>
          </a:p>
        </p:txBody>
      </p:sp>
      <p:sp>
        <p:nvSpPr>
          <p:cNvPr id="27" name="">
            <a:extLst xmlns:a="http://schemas.openxmlformats.org/drawingml/2006/main">
              <a:ext uri="{FF2B5EF4-FFF2-40B4-BE49-F238E27FC236}">
                <a16:creationId xmlns:a16="http://schemas.microsoft.com/office/drawing/2014/main" id="{D97A929C-7423-4A0A-A939-3A8CDEC25463}"/>
              </a:ext>
            </a:extLst>
          </p:cNvPr>
          <p:cNvSpPr>
            <a:spLocks xmlns:a="http://schemas.openxmlformats.org/drawingml/2006/main" noGrp="1"/>
          </p:cNvSpPr>
          <p:nvPr/>
        </p:nvSpPr>
        <p:spPr>
          <a:xfrm xmlns:a="http://schemas.openxmlformats.org/drawingml/2006/main">
            <a:off x="90297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69479B"/>
                </a:solidFill>
                <a:latin typeface="Helvetica Neue"/>
                <a:ea typeface="Helvetica Neue"/>
                <a:cs typeface="Helvetica Neue"/>
              </a:defRPr>
            </a:pPr>
            <a:r>
              <a:rPr sz="975" b="1">
                <a:solidFill>
                  <a:srgbClr val="69479B"/>
                </a:solidFill>
                <a:latin typeface="Helvetica Neue"/>
                <a:ea typeface="Helvetica Neue"/>
                <a:cs typeface="Helvetica Neue"/>
              </a:rPr>
              <a:t>Team decisions and context</a:t>
            </a:r>
          </a:p>
        </p:txBody>
      </p:sp>
      <p:sp>
        <p:nvSpPr>
          <p:cNvPr id="28" name="">
            <a:extLst xmlns:a="http://schemas.openxmlformats.org/drawingml/2006/main">
              <a:ext uri="{FF2B5EF4-FFF2-40B4-BE49-F238E27FC236}">
                <a16:creationId xmlns:a16="http://schemas.microsoft.com/office/drawing/2014/main" id="{41AA656D-4C17-4557-9739-0989C2099ED4}"/>
              </a:ext>
            </a:extLst>
          </p:cNvPr>
          <p:cNvSpPr>
            <a:spLocks xmlns:a="http://schemas.openxmlformats.org/drawingml/2006/main" noGrp="1"/>
          </p:cNvSpPr>
          <p:nvPr/>
        </p:nvSpPr>
        <p:spPr>
          <a:xfrm xmlns:a="http://schemas.openxmlformats.org/drawingml/2006/main">
            <a:off x="90297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56C458BE-2E7D-4ADB-8322-9AD4EB2E8328}"/>
              </a:ext>
            </a:extLst>
          </p:cNvPr>
          <p:cNvSpPr>
            <a:spLocks xmlns:a="http://schemas.openxmlformats.org/drawingml/2006/main" noGrp="1"/>
          </p:cNvSpPr>
          <p:nvPr/>
        </p:nvSpPr>
        <p:spPr>
          <a:xfrm xmlns:a="http://schemas.openxmlformats.org/drawingml/2006/main">
            <a:off x="90297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Conversation, rationale, and observations</a:t>
            </a:r>
          </a:p>
        </p:txBody>
      </p:sp>
      <p:sp>
        <p:nvSpPr>
          <p:cNvPr id="30" name="">
            <a:extLst xmlns:a="http://schemas.openxmlformats.org/drawingml/2006/main">
              <a:ext uri="{FF2B5EF4-FFF2-40B4-BE49-F238E27FC236}">
                <a16:creationId xmlns:a16="http://schemas.microsoft.com/office/drawing/2014/main" id="{FEF1DCCD-6AB7-4574-81A6-D021A8C55CBB}"/>
              </a:ext>
            </a:extLst>
          </p:cNvPr>
          <p:cNvSpPr>
            <a:spLocks xmlns:a="http://schemas.openxmlformats.org/drawingml/2006/main" noGrp="1"/>
          </p:cNvSpPr>
          <p:nvPr/>
        </p:nvSpPr>
        <p:spPr>
          <a:xfrm xmlns:a="http://schemas.openxmlformats.org/drawingml/2006/main">
            <a:off x="666750" y="4819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Design consequence</a:t>
            </a:r>
          </a:p>
        </p:txBody>
      </p:sp>
      <p:sp>
        <p:nvSpPr>
          <p:cNvPr id="31" name="">
            <a:extLst xmlns:a="http://schemas.openxmlformats.org/drawingml/2006/main">
              <a:ext uri="{FF2B5EF4-FFF2-40B4-BE49-F238E27FC236}">
                <a16:creationId xmlns:a16="http://schemas.microsoft.com/office/drawing/2014/main" id="{9EBEE31F-B4CD-4DC1-BB82-FF06171C46CA}"/>
              </a:ext>
            </a:extLst>
          </p:cNvPr>
          <p:cNvSpPr>
            <a:spLocks xmlns:a="http://schemas.openxmlformats.org/drawingml/2006/main" noGrp="1"/>
          </p:cNvSpPr>
          <p:nvPr/>
        </p:nvSpPr>
        <p:spPr>
          <a:xfrm xmlns:a="http://schemas.openxmlformats.org/drawingml/2006/main">
            <a:off x="666750" y="510540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91"/>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Every answer should show where the information came from, when it was recorded, whether it is final, and who may see it.</a:t>
            </a:r>
          </a:p>
        </p:txBody>
      </p:sp>
    </p:spTree>
    <p:extLst>
      <p:ext uri="{BB962C8B-B14F-4D97-AF65-F5344CB8AC3E}">
        <p14:creationId xmlns:p14="http://schemas.microsoft.com/office/powerpoint/2010/main" val="1811377016"/>
      </p:ext>
    </p:extLst>
  </p:cSld>
</p:sld>
</file>

<file path=ppt/slides/slide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C6078659-79EF-451D-8945-A07023BA33AB}"/>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CONTEXT</a:t>
            </a:r>
          </a:p>
        </p:txBody>
      </p:sp>
      <p:sp>
        <p:nvSpPr>
          <p:cNvPr id="2" name="">
            <a:extLst xmlns:a="http://schemas.openxmlformats.org/drawingml/2006/main">
              <a:ext uri="{FF2B5EF4-FFF2-40B4-BE49-F238E27FC236}">
                <a16:creationId xmlns:a16="http://schemas.microsoft.com/office/drawing/2014/main" id="{CEEB1FE8-F05C-413B-BF38-58CDD2979ADB}"/>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3F46FBC6-11B9-416E-92B1-FB75C02CDEB7}"/>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78103752-1BE0-4F83-A65C-EDD5E0AADEA2}"/>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What I would learn before designing anything</a:t>
            </a:r>
          </a:p>
        </p:txBody>
      </p:sp>
      <p:sp>
        <p:nvSpPr>
          <p:cNvPr id="5" name="">
            <a:extLst xmlns:a="http://schemas.openxmlformats.org/drawingml/2006/main">
              <a:ext uri="{FF2B5EF4-FFF2-40B4-BE49-F238E27FC236}">
                <a16:creationId xmlns:a16="http://schemas.microsoft.com/office/drawing/2014/main" id="{3104349A-A6AF-4643-9294-BB7B462F8713}"/>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I need to understand the decisions people make, the information they trust, and what each person may see.</a:t>
            </a:r>
          </a:p>
        </p:txBody>
      </p:sp>
      <p:sp>
        <p:nvSpPr>
          <p:cNvPr id="6" name="">
            <a:extLst xmlns:a="http://schemas.openxmlformats.org/drawingml/2006/main">
              <a:ext uri="{FF2B5EF4-FFF2-40B4-BE49-F238E27FC236}">
                <a16:creationId xmlns:a16="http://schemas.microsoft.com/office/drawing/2014/main" id="{870A3165-8E21-4844-9BEF-0F7F4033E96E}"/>
              </a:ext>
            </a:extLst>
          </p:cNvPr>
          <p:cNvSpPr>
            <a:spLocks xmlns:a="http://schemas.openxmlformats.org/drawingml/2006/main" noGrp="1"/>
          </p:cNvSpPr>
          <p:nvPr/>
        </p:nvSpPr>
        <p:spPr>
          <a:xfrm xmlns:a="http://schemas.openxmlformats.org/drawingml/2006/main">
            <a:off x="6667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PEOPLE + DECISIONS</a:t>
            </a:r>
          </a:p>
        </p:txBody>
      </p:sp>
      <p:sp>
        <p:nvSpPr>
          <p:cNvPr id="7" name="">
            <a:extLst xmlns:a="http://schemas.openxmlformats.org/drawingml/2006/main">
              <a:ext uri="{FF2B5EF4-FFF2-40B4-BE49-F238E27FC236}">
                <a16:creationId xmlns:a16="http://schemas.microsoft.com/office/drawing/2014/main" id="{6136C7E4-61B1-482D-AEA7-01824F93459E}"/>
              </a:ext>
            </a:extLst>
          </p:cNvPr>
          <p:cNvSpPr>
            <a:spLocks xmlns:a="http://schemas.openxmlformats.org/drawingml/2006/main" noGrp="1"/>
          </p:cNvSpPr>
          <p:nvPr/>
        </p:nvSpPr>
        <p:spPr>
          <a:xfrm xmlns:a="http://schemas.openxmlformats.org/drawingml/2006/main">
            <a:off x="6667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8" name="">
            <a:extLst xmlns:a="http://schemas.openxmlformats.org/drawingml/2006/main">
              <a:ext uri="{FF2B5EF4-FFF2-40B4-BE49-F238E27FC236}">
                <a16:creationId xmlns:a16="http://schemas.microsoft.com/office/drawing/2014/main" id="{C83CE651-E0D5-4AB0-A15F-214E3B515596}"/>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FC465065-A304-471A-9D82-7D3619583CFC}"/>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0A62A1-5A3A-4A59-B6A3-173C63861D38}"/>
              </a:ext>
            </a:extLst>
          </p:cNvPr>
          <p:cNvSpPr>
            <a:spLocks xmlns:a="http://schemas.openxmlformats.org/drawingml/2006/main" noGrp="1"/>
          </p:cNvSpPr>
          <p:nvPr/>
        </p:nvSpPr>
        <p:spPr>
          <a:xfrm xmlns:a="http://schemas.openxmlformats.org/drawingml/2006/main">
            <a:off x="10477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questions keep coming up?</a:t>
            </a:r>
          </a:p>
        </p:txBody>
      </p:sp>
      <p:sp>
        <p:nvSpPr>
          <p:cNvPr id="11" name="">
            <a:extLst xmlns:a="http://schemas.openxmlformats.org/drawingml/2006/main">
              <a:ext uri="{FF2B5EF4-FFF2-40B4-BE49-F238E27FC236}">
                <a16:creationId xmlns:a16="http://schemas.microsoft.com/office/drawing/2014/main" id="{3E4BC8F3-34E8-449E-9569-768811C73D15}"/>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0579FFF3-F86B-4330-99F5-FB6A143B18BE}"/>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9FC3F6E-9CB0-4DFD-87FC-8C2127E341E6}"/>
              </a:ext>
            </a:extLst>
          </p:cNvPr>
          <p:cNvSpPr>
            <a:spLocks xmlns:a="http://schemas.openxmlformats.org/drawingml/2006/main" noGrp="1"/>
          </p:cNvSpPr>
          <p:nvPr/>
        </p:nvSpPr>
        <p:spPr>
          <a:xfrm xmlns:a="http://schemas.openxmlformats.org/drawingml/2006/main">
            <a:off x="10477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decision follows the answer?</a:t>
            </a:r>
          </a:p>
        </p:txBody>
      </p:sp>
      <p:sp>
        <p:nvSpPr>
          <p:cNvPr id="14" name="">
            <a:extLst xmlns:a="http://schemas.openxmlformats.org/drawingml/2006/main">
              <a:ext uri="{FF2B5EF4-FFF2-40B4-BE49-F238E27FC236}">
                <a16:creationId xmlns:a16="http://schemas.microsoft.com/office/drawing/2014/main" id="{B5729B9D-A8C4-4AD8-8BE6-F22DA832F182}"/>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26E4C3C1-9919-4F85-9475-DE9CAA261A9C}"/>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0AFDA09-0B91-473A-96FC-341CC19E4049}"/>
              </a:ext>
            </a:extLst>
          </p:cNvPr>
          <p:cNvSpPr>
            <a:spLocks xmlns:a="http://schemas.openxmlformats.org/drawingml/2006/main" noGrp="1"/>
          </p:cNvSpPr>
          <p:nvPr/>
        </p:nvSpPr>
        <p:spPr>
          <a:xfrm xmlns:a="http://schemas.openxmlformats.org/drawingml/2006/main">
            <a:off x="10477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Who owns the final call?</a:t>
            </a:r>
          </a:p>
        </p:txBody>
      </p:sp>
      <p:sp>
        <p:nvSpPr>
          <p:cNvPr id="17" name="">
            <a:extLst xmlns:a="http://schemas.openxmlformats.org/drawingml/2006/main">
              <a:ext uri="{FF2B5EF4-FFF2-40B4-BE49-F238E27FC236}">
                <a16:creationId xmlns:a16="http://schemas.microsoft.com/office/drawing/2014/main" id="{8D98A9E1-AED3-4DEB-9779-E3A9C8CA7DBD}"/>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46A147FB-F702-47CC-8EFF-A078DC86C560}"/>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DDE3A09-9F61-4213-B9AD-B07E03A31AAA}"/>
              </a:ext>
            </a:extLst>
          </p:cNvPr>
          <p:cNvSpPr>
            <a:spLocks xmlns:a="http://schemas.openxmlformats.org/drawingml/2006/main" noGrp="1"/>
          </p:cNvSpPr>
          <p:nvPr/>
        </p:nvSpPr>
        <p:spPr>
          <a:xfrm xmlns:a="http://schemas.openxmlformats.org/drawingml/2006/main">
            <a:off x="10477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could damage trust with a grantee?</a:t>
            </a:r>
          </a:p>
        </p:txBody>
      </p:sp>
      <p:sp>
        <p:nvSpPr>
          <p:cNvPr id="20" name="">
            <a:extLst xmlns:a="http://schemas.openxmlformats.org/drawingml/2006/main">
              <a:ext uri="{FF2B5EF4-FFF2-40B4-BE49-F238E27FC236}">
                <a16:creationId xmlns:a16="http://schemas.microsoft.com/office/drawing/2014/main" id="{3EEF1196-2E50-4A79-AA7C-CA6A205D7FD2}"/>
              </a:ext>
            </a:extLst>
          </p:cNvPr>
          <p:cNvSpPr>
            <a:spLocks xmlns:a="http://schemas.openxmlformats.org/drawingml/2006/main" noGrp="1"/>
          </p:cNvSpPr>
          <p:nvPr/>
        </p:nvSpPr>
        <p:spPr>
          <a:xfrm xmlns:a="http://schemas.openxmlformats.org/drawingml/2006/main">
            <a:off x="42481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INFORMATION</a:t>
            </a:r>
          </a:p>
        </p:txBody>
      </p:sp>
      <p:sp>
        <p:nvSpPr>
          <p:cNvPr id="21" name="">
            <a:extLst xmlns:a="http://schemas.openxmlformats.org/drawingml/2006/main">
              <a:ext uri="{FF2B5EF4-FFF2-40B4-BE49-F238E27FC236}">
                <a16:creationId xmlns:a16="http://schemas.microsoft.com/office/drawing/2014/main" id="{2ED6F92E-1E9C-4C87-9D96-CEE95C394A9E}"/>
              </a:ext>
            </a:extLst>
          </p:cNvPr>
          <p:cNvSpPr>
            <a:spLocks xmlns:a="http://schemas.openxmlformats.org/drawingml/2006/main" noGrp="1"/>
          </p:cNvSpPr>
          <p:nvPr/>
        </p:nvSpPr>
        <p:spPr>
          <a:xfrm xmlns:a="http://schemas.openxmlformats.org/drawingml/2006/main">
            <a:off x="42481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2" name="">
            <a:extLst xmlns:a="http://schemas.openxmlformats.org/drawingml/2006/main">
              <a:ext uri="{FF2B5EF4-FFF2-40B4-BE49-F238E27FC236}">
                <a16:creationId xmlns:a16="http://schemas.microsoft.com/office/drawing/2014/main" id="{B51F41E4-0890-47CB-8D7C-AD7BC7107997}"/>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7D5116FE-3989-4C22-B37D-B8CD0267F57B}"/>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D7776EF-031A-4BF1-AE79-6DD8A0FCDEEB}"/>
              </a:ext>
            </a:extLst>
          </p:cNvPr>
          <p:cNvSpPr>
            <a:spLocks xmlns:a="http://schemas.openxmlformats.org/drawingml/2006/main" noGrp="1"/>
          </p:cNvSpPr>
          <p:nvPr/>
        </p:nvSpPr>
        <p:spPr>
          <a:xfrm xmlns:a="http://schemas.openxmlformats.org/drawingml/2006/main">
            <a:off x="46291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How do we match the same grant?</a:t>
            </a:r>
          </a:p>
        </p:txBody>
      </p:sp>
      <p:sp>
        <p:nvSpPr>
          <p:cNvPr id="25" name="">
            <a:extLst xmlns:a="http://schemas.openxmlformats.org/drawingml/2006/main">
              <a:ext uri="{FF2B5EF4-FFF2-40B4-BE49-F238E27FC236}">
                <a16:creationId xmlns:a16="http://schemas.microsoft.com/office/drawing/2014/main" id="{9C066DFF-B860-47BA-B2A9-868DE4E11DD9}"/>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849605C3-CF73-4BBE-8028-C937CB14C0E5}"/>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310A20A-2054-4B1C-A5B2-4FA4AE4B027C}"/>
              </a:ext>
            </a:extLst>
          </p:cNvPr>
          <p:cNvSpPr>
            <a:spLocks xmlns:a="http://schemas.openxmlformats.org/drawingml/2006/main" noGrp="1"/>
          </p:cNvSpPr>
          <p:nvPr/>
        </p:nvSpPr>
        <p:spPr>
          <a:xfrm xmlns:a="http://schemas.openxmlformats.org/drawingml/2006/main">
            <a:off x="46291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system owns each fact?</a:t>
            </a:r>
          </a:p>
        </p:txBody>
      </p:sp>
      <p:sp>
        <p:nvSpPr>
          <p:cNvPr id="28" name="">
            <a:extLst xmlns:a="http://schemas.openxmlformats.org/drawingml/2006/main">
              <a:ext uri="{FF2B5EF4-FFF2-40B4-BE49-F238E27FC236}">
                <a16:creationId xmlns:a16="http://schemas.microsoft.com/office/drawing/2014/main" id="{79081206-054A-4EA0-8C59-2D418A7DC548}"/>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2FF66B32-331C-453F-BEA0-07706314FE3E}"/>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6B8A546-5FB9-4FCB-B110-F758E6271B2B}"/>
              </a:ext>
            </a:extLst>
          </p:cNvPr>
          <p:cNvSpPr>
            <a:spLocks xmlns:a="http://schemas.openxmlformats.org/drawingml/2006/main" noGrp="1"/>
          </p:cNvSpPr>
          <p:nvPr/>
        </p:nvSpPr>
        <p:spPr>
          <a:xfrm xmlns:a="http://schemas.openxmlformats.org/drawingml/2006/main">
            <a:off x="46291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counts as expected versus achieved?</a:t>
            </a:r>
          </a:p>
        </p:txBody>
      </p:sp>
      <p:sp>
        <p:nvSpPr>
          <p:cNvPr id="31" name="">
            <a:extLst xmlns:a="http://schemas.openxmlformats.org/drawingml/2006/main">
              <a:ext uri="{FF2B5EF4-FFF2-40B4-BE49-F238E27FC236}">
                <a16:creationId xmlns:a16="http://schemas.microsoft.com/office/drawing/2014/main" id="{833C1FFF-7E3B-4D4D-AA69-E3FEF65D748B}"/>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E2F96283-C107-4CD0-A6CC-23BF88FCC001}"/>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E3EB0C3-EA10-4531-B320-A3FF64A40881}"/>
              </a:ext>
            </a:extLst>
          </p:cNvPr>
          <p:cNvSpPr>
            <a:spLocks xmlns:a="http://schemas.openxmlformats.org/drawingml/2006/main" noGrp="1"/>
          </p:cNvSpPr>
          <p:nvPr/>
        </p:nvSpPr>
        <p:spPr>
          <a:xfrm xmlns:a="http://schemas.openxmlformats.org/drawingml/2006/main">
            <a:off x="46291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changed during the five years?</a:t>
            </a:r>
          </a:p>
        </p:txBody>
      </p:sp>
      <p:sp>
        <p:nvSpPr>
          <p:cNvPr id="34" name="">
            <a:extLst xmlns:a="http://schemas.openxmlformats.org/drawingml/2006/main">
              <a:ext uri="{FF2B5EF4-FFF2-40B4-BE49-F238E27FC236}">
                <a16:creationId xmlns:a16="http://schemas.microsoft.com/office/drawing/2014/main" id="{96A7F68D-8A0F-45E6-8B9E-89C6FA614230}"/>
              </a:ext>
            </a:extLst>
          </p:cNvPr>
          <p:cNvSpPr>
            <a:spLocks xmlns:a="http://schemas.openxmlformats.org/drawingml/2006/main" noGrp="1"/>
          </p:cNvSpPr>
          <p:nvPr/>
        </p:nvSpPr>
        <p:spPr>
          <a:xfrm xmlns:a="http://schemas.openxmlformats.org/drawingml/2006/main">
            <a:off x="78295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ACCESS</a:t>
            </a:r>
          </a:p>
        </p:txBody>
      </p:sp>
      <p:sp>
        <p:nvSpPr>
          <p:cNvPr id="35" name="">
            <a:extLst xmlns:a="http://schemas.openxmlformats.org/drawingml/2006/main">
              <a:ext uri="{FF2B5EF4-FFF2-40B4-BE49-F238E27FC236}">
                <a16:creationId xmlns:a16="http://schemas.microsoft.com/office/drawing/2014/main" id="{9567767D-B1E0-434A-A8B2-CC55B8B5C0D2}"/>
              </a:ext>
            </a:extLst>
          </p:cNvPr>
          <p:cNvSpPr>
            <a:spLocks xmlns:a="http://schemas.openxmlformats.org/drawingml/2006/main" noGrp="1"/>
          </p:cNvSpPr>
          <p:nvPr/>
        </p:nvSpPr>
        <p:spPr>
          <a:xfrm xmlns:a="http://schemas.openxmlformats.org/drawingml/2006/main">
            <a:off x="78295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36" name="">
            <a:extLst xmlns:a="http://schemas.openxmlformats.org/drawingml/2006/main">
              <a:ext uri="{FF2B5EF4-FFF2-40B4-BE49-F238E27FC236}">
                <a16:creationId xmlns:a16="http://schemas.microsoft.com/office/drawing/2014/main" id="{3991FAC0-DAED-4AD3-A7BB-01D58832A1B2}"/>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37" name="">
            <a:extLst xmlns:a="http://schemas.openxmlformats.org/drawingml/2006/main">
              <a:ext uri="{FF2B5EF4-FFF2-40B4-BE49-F238E27FC236}">
                <a16:creationId xmlns:a16="http://schemas.microsoft.com/office/drawing/2014/main" id="{D3C828D6-4ACD-427F-921A-363296FA9373}"/>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932B46D-82BB-4D4E-898C-45097990B4AE}"/>
              </a:ext>
            </a:extLst>
          </p:cNvPr>
          <p:cNvSpPr>
            <a:spLocks xmlns:a="http://schemas.openxmlformats.org/drawingml/2006/main" noGrp="1"/>
          </p:cNvSpPr>
          <p:nvPr/>
        </p:nvSpPr>
        <p:spPr>
          <a:xfrm xmlns:a="http://schemas.openxmlformats.org/drawingml/2006/main">
            <a:off x="82105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Who may see which records?</a:t>
            </a:r>
          </a:p>
        </p:txBody>
      </p:sp>
      <p:sp>
        <p:nvSpPr>
          <p:cNvPr id="39" name="">
            <a:extLst xmlns:a="http://schemas.openxmlformats.org/drawingml/2006/main">
              <a:ext uri="{FF2B5EF4-FFF2-40B4-BE49-F238E27FC236}">
                <a16:creationId xmlns:a16="http://schemas.microsoft.com/office/drawing/2014/main" id="{FE2AB924-FDD4-4531-9805-350BF2EE3882}"/>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40" name="">
            <a:extLst xmlns:a="http://schemas.openxmlformats.org/drawingml/2006/main">
              <a:ext uri="{FF2B5EF4-FFF2-40B4-BE49-F238E27FC236}">
                <a16:creationId xmlns:a16="http://schemas.microsoft.com/office/drawing/2014/main" id="{28780E6D-1B36-4181-AA79-CD29E0A58656}"/>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C78886A-C931-497E-B91C-DA5DEDB8A4D1}"/>
              </a:ext>
            </a:extLst>
          </p:cNvPr>
          <p:cNvSpPr>
            <a:spLocks xmlns:a="http://schemas.openxmlformats.org/drawingml/2006/main" noGrp="1"/>
          </p:cNvSpPr>
          <p:nvPr/>
        </p:nvSpPr>
        <p:spPr>
          <a:xfrm xmlns:a="http://schemas.openxmlformats.org/drawingml/2006/main">
            <a:off x="82105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should never enter search?</a:t>
            </a:r>
          </a:p>
        </p:txBody>
      </p:sp>
      <p:sp>
        <p:nvSpPr>
          <p:cNvPr id="42" name="">
            <a:extLst xmlns:a="http://schemas.openxmlformats.org/drawingml/2006/main">
              <a:ext uri="{FF2B5EF4-FFF2-40B4-BE49-F238E27FC236}">
                <a16:creationId xmlns:a16="http://schemas.microsoft.com/office/drawing/2014/main" id="{971C434D-3723-4F7B-9BA3-A2DA900E92C7}"/>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43" name="">
            <a:extLst xmlns:a="http://schemas.openxmlformats.org/drawingml/2006/main">
              <a:ext uri="{FF2B5EF4-FFF2-40B4-BE49-F238E27FC236}">
                <a16:creationId xmlns:a16="http://schemas.microsoft.com/office/drawing/2014/main" id="{A2996DC1-AEAF-49A3-9D8E-C8FB1F86B4B4}"/>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8E5B9AD-74D5-4206-AA12-B306A0BA60CE}"/>
              </a:ext>
            </a:extLst>
          </p:cNvPr>
          <p:cNvSpPr>
            <a:spLocks xmlns:a="http://schemas.openxmlformats.org/drawingml/2006/main" noGrp="1"/>
          </p:cNvSpPr>
          <p:nvPr/>
        </p:nvSpPr>
        <p:spPr>
          <a:xfrm xmlns:a="http://schemas.openxmlformats.org/drawingml/2006/main">
            <a:off x="82105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How much Zoom history exists?</a:t>
            </a:r>
          </a:p>
        </p:txBody>
      </p:sp>
      <p:sp>
        <p:nvSpPr>
          <p:cNvPr id="45" name="">
            <a:extLst xmlns:a="http://schemas.openxmlformats.org/drawingml/2006/main">
              <a:ext uri="{FF2B5EF4-FFF2-40B4-BE49-F238E27FC236}">
                <a16:creationId xmlns:a16="http://schemas.microsoft.com/office/drawing/2014/main" id="{5C249CA2-57D6-4623-B4BA-172BD8080C92}"/>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46" name="">
            <a:extLst xmlns:a="http://schemas.openxmlformats.org/drawingml/2006/main">
              <a:ext uri="{FF2B5EF4-FFF2-40B4-BE49-F238E27FC236}">
                <a16:creationId xmlns:a16="http://schemas.microsoft.com/office/drawing/2014/main" id="{81A0B7E7-A2E7-4636-A3D2-004EB0B26298}"/>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CE9F0F7-9A64-4287-A215-267CE4EA47D1}"/>
              </a:ext>
            </a:extLst>
          </p:cNvPr>
          <p:cNvSpPr>
            <a:spLocks xmlns:a="http://schemas.openxmlformats.org/drawingml/2006/main" noGrp="1"/>
          </p:cNvSpPr>
          <p:nvPr/>
        </p:nvSpPr>
        <p:spPr>
          <a:xfrm xmlns:a="http://schemas.openxmlformats.org/drawingml/2006/main">
            <a:off x="82105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When a source deletes something, how quickly must the copy disappear?</a:t>
            </a:r>
          </a:p>
        </p:txBody>
      </p:sp>
      <p:sp>
        <p:nvSpPr>
          <p:cNvPr id="48" name="">
            <a:extLst xmlns:a="http://schemas.openxmlformats.org/drawingml/2006/main">
              <a:ext uri="{FF2B5EF4-FFF2-40B4-BE49-F238E27FC236}">
                <a16:creationId xmlns:a16="http://schemas.microsoft.com/office/drawing/2014/main" id="{000E87D8-4306-4E56-B354-821AA833EAB9}"/>
              </a:ext>
            </a:extLst>
          </p:cNvPr>
          <p:cNvSpPr>
            <a:spLocks xmlns:a="http://schemas.openxmlformats.org/drawingml/2006/main" noGrp="1"/>
          </p:cNvSpPr>
          <p:nvPr/>
        </p:nvSpPr>
        <p:spPr>
          <a:xfrm xmlns:a="http://schemas.openxmlformats.org/drawingml/2006/main">
            <a:off x="666750" y="5467350"/>
            <a:ext cx="10191750" cy="552450"/>
          </a:xfrm>
          <a:prstGeom xmlns:a="http://schemas.openxmlformats.org/drawingml/2006/main" prst="roundRect">
            <a:avLst>
              <a:gd name="adj" fmla="val 27586"/>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6FB92E5-5F90-4634-BA06-9CB85AB5FC93}"/>
              </a:ext>
            </a:extLst>
          </p:cNvPr>
          <p:cNvSpPr>
            <a:spLocks xmlns:a="http://schemas.openxmlformats.org/drawingml/2006/main" noGrp="1"/>
          </p:cNvSpPr>
          <p:nvPr/>
        </p:nvSpPr>
        <p:spPr>
          <a:xfrm xmlns:a="http://schemas.openxmlformats.org/drawingml/2006/main">
            <a:off x="895350" y="5581650"/>
            <a:ext cx="973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Output: priority questions, clear owners, access rules, and a way to measure time saved</a:t>
            </a:r>
          </a:p>
        </p:txBody>
      </p:sp>
    </p:spTree>
    <p:extLst>
      <p:ext uri="{BB962C8B-B14F-4D97-AF65-F5344CB8AC3E}">
        <p14:creationId xmlns:p14="http://schemas.microsoft.com/office/powerpoint/2010/main" val="241910552"/>
      </p:ext>
    </p:extLst>
  </p:cSld>
</p:sld>
</file>

<file path=ppt/slides/slide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903BDE2F-9125-4A18-9A14-50132258E921}"/>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OPTIONAL DEMO</a:t>
            </a:r>
          </a:p>
        </p:txBody>
      </p:sp>
      <p:sp>
        <p:nvSpPr>
          <p:cNvPr id="2" name="">
            <a:extLst xmlns:a="http://schemas.openxmlformats.org/drawingml/2006/main">
              <a:ext uri="{FF2B5EF4-FFF2-40B4-BE49-F238E27FC236}">
                <a16:creationId xmlns:a16="http://schemas.microsoft.com/office/drawing/2014/main" id="{5B2FB1C0-C98F-4DBF-9D49-D7B7052CBCA3}"/>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BD75902A-86A6-4050-90AC-C9C0457CE8C9}"/>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677E3BE6-6D98-4149-A65D-1E6710C441B4}"/>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I used a small demo to test the idea</a:t>
            </a:r>
          </a:p>
        </p:txBody>
      </p:sp>
      <p:sp>
        <p:nvSpPr>
          <p:cNvPr id="5" name="">
            <a:extLst xmlns:a="http://schemas.openxmlformats.org/drawingml/2006/main">
              <a:ext uri="{FF2B5EF4-FFF2-40B4-BE49-F238E27FC236}">
                <a16:creationId xmlns:a16="http://schemas.microsoft.com/office/drawing/2014/main" id="{A083E79B-4DB1-42D0-9B21-BB92C480C517}"/>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case study does not depend on it. The demo uses invented records and no Foundation information.</a:t>
            </a:r>
          </a:p>
        </p:txBody>
      </p:sp>
      <p:sp>
        <p:nvSpPr>
          <p:cNvPr id="6" name="">
            <a:extLst xmlns:a="http://schemas.openxmlformats.org/drawingml/2006/main">
              <a:ext uri="{FF2B5EF4-FFF2-40B4-BE49-F238E27FC236}">
                <a16:creationId xmlns:a16="http://schemas.microsoft.com/office/drawing/2014/main" id="{7C112CBC-43B3-44F3-B170-C515B43B95EB}"/>
              </a:ext>
            </a:extLst>
          </p:cNvPr>
          <p:cNvSpPr>
            <a:spLocks xmlns:a="http://schemas.openxmlformats.org/drawingml/2006/main" noGrp="1"/>
          </p:cNvSpPr>
          <p:nvPr/>
        </p:nvSpPr>
        <p:spPr>
          <a:xfrm xmlns:a="http://schemas.openxmlformats.org/drawingml/2006/main">
            <a:off x="666750" y="1962150"/>
            <a:ext cx="10858500" cy="3733800"/>
          </a:xfrm>
          <a:prstGeom xmlns:a="http://schemas.openxmlformats.org/drawingml/2006/main" prst="roundRect">
            <a:avLst>
              <a:gd name="adj" fmla="val 5102"/>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C5071FC4-A71D-4FA5-A5B6-3CAA37565C6E}"/>
              </a:ext>
            </a:extLst>
          </p:cNvPr>
          <p:cNvSpPr>
            <a:spLocks xmlns:a="http://schemas.openxmlformats.org/drawingml/2006/main" noGrp="1"/>
          </p:cNvSpPr>
          <p:nvPr/>
        </p:nvSpPr>
        <p:spPr>
          <a:xfrm xmlns:a="http://schemas.openxmlformats.org/drawingml/2006/main">
            <a:off x="895350" y="2190750"/>
            <a:ext cx="10401300" cy="476250"/>
          </a:xfrm>
          <a:prstGeom xmlns:a="http://schemas.openxmlformats.org/drawingml/2006/main" prst="roundRect">
            <a:avLst>
              <a:gd name="adj" fmla="val 26000"/>
            </a:avLst>
          </a:prstGeom>
          <a:solidFill xmlns:a="http://schemas.openxmlformats.org/drawingml/2006/main">
            <a:srgbClr val="F7F4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12D5110-D0F0-40D6-A0A5-1B69A8710B07}"/>
              </a:ext>
            </a:extLst>
          </p:cNvPr>
          <p:cNvSpPr>
            <a:spLocks xmlns:a="http://schemas.openxmlformats.org/drawingml/2006/main" noGrp="1"/>
          </p:cNvSpPr>
          <p:nvPr/>
        </p:nvSpPr>
        <p:spPr>
          <a:xfrm xmlns:a="http://schemas.openxmlformats.org/drawingml/2006/main">
            <a:off x="1162050" y="22764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What did we decide about reporting for the AI opportunity cohort?</a:t>
            </a:r>
          </a:p>
        </p:txBody>
      </p:sp>
      <p:sp>
        <p:nvSpPr>
          <p:cNvPr id="9" name="">
            <a:extLst xmlns:a="http://schemas.openxmlformats.org/drawingml/2006/main">
              <a:ext uri="{FF2B5EF4-FFF2-40B4-BE49-F238E27FC236}">
                <a16:creationId xmlns:a16="http://schemas.microsoft.com/office/drawing/2014/main" id="{419427BA-82EE-4120-81D6-D2EA9050CAFB}"/>
              </a:ext>
            </a:extLst>
          </p:cNvPr>
          <p:cNvSpPr>
            <a:spLocks xmlns:a="http://schemas.openxmlformats.org/drawingml/2006/main" noGrp="1"/>
          </p:cNvSpPr>
          <p:nvPr/>
        </p:nvSpPr>
        <p:spPr>
          <a:xfrm xmlns:a="http://schemas.openxmlformats.org/drawingml/2006/main">
            <a:off x="10287000" y="2257425"/>
            <a:ext cx="857250" cy="342900"/>
          </a:xfrm>
          <a:prstGeom xmlns:a="http://schemas.openxmlformats.org/drawingml/2006/main" prst="roundRect">
            <a:avLst>
              <a:gd name="adj" fmla="val 33333"/>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782BF14-2567-4688-9DCD-A7C1637DAA51}"/>
              </a:ext>
            </a:extLst>
          </p:cNvPr>
          <p:cNvSpPr>
            <a:spLocks xmlns:a="http://schemas.openxmlformats.org/drawingml/2006/main" noGrp="1"/>
          </p:cNvSpPr>
          <p:nvPr/>
        </p:nvSpPr>
        <p:spPr>
          <a:xfrm xmlns:a="http://schemas.openxmlformats.org/drawingml/2006/main">
            <a:off x="10496550" y="232410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Ask</a:t>
            </a:r>
          </a:p>
        </p:txBody>
      </p:sp>
      <p:sp>
        <p:nvSpPr>
          <p:cNvPr id="11" name="">
            <a:extLst xmlns:a="http://schemas.openxmlformats.org/drawingml/2006/main">
              <a:ext uri="{FF2B5EF4-FFF2-40B4-BE49-F238E27FC236}">
                <a16:creationId xmlns:a16="http://schemas.microsoft.com/office/drawing/2014/main" id="{09447634-5CE4-44DD-AB86-2EFB58B721AF}"/>
              </a:ext>
            </a:extLst>
          </p:cNvPr>
          <p:cNvSpPr>
            <a:spLocks xmlns:a="http://schemas.openxmlformats.org/drawingml/2006/main" noGrp="1"/>
          </p:cNvSpPr>
          <p:nvPr/>
        </p:nvSpPr>
        <p:spPr>
          <a:xfrm xmlns:a="http://schemas.openxmlformats.org/drawingml/2006/main">
            <a:off x="895350" y="2905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2F8A5D"/>
                </a:solidFill>
                <a:latin typeface="Helvetica Neue"/>
                <a:ea typeface="Helvetica Neue"/>
                <a:cs typeface="Helvetica Neue"/>
              </a:defRPr>
            </a:pPr>
            <a:r>
              <a:rPr sz="750" b="1">
                <a:solidFill>
                  <a:srgbClr val="2F8A5D"/>
                </a:solidFill>
                <a:latin typeface="Helvetica Neue"/>
                <a:ea typeface="Helvetica Neue"/>
                <a:cs typeface="Helvetica Neue"/>
              </a:rPr>
              <a:t>STRONG SUPPORT, WITH ONE OPEN QUESTION</a:t>
            </a:r>
          </a:p>
        </p:txBody>
      </p:sp>
      <p:sp>
        <p:nvSpPr>
          <p:cNvPr id="12" name="">
            <a:extLst xmlns:a="http://schemas.openxmlformats.org/drawingml/2006/main">
              <a:ext uri="{FF2B5EF4-FFF2-40B4-BE49-F238E27FC236}">
                <a16:creationId xmlns:a16="http://schemas.microsoft.com/office/drawing/2014/main" id="{D46A0DD8-51D8-40F9-9876-0DB13AC5F2A5}"/>
              </a:ext>
            </a:extLst>
          </p:cNvPr>
          <p:cNvSpPr>
            <a:spLocks xmlns:a="http://schemas.openxmlformats.org/drawingml/2006/main" noGrp="1"/>
          </p:cNvSpPr>
          <p:nvPr/>
        </p:nvSpPr>
        <p:spPr>
          <a:xfrm xmlns:a="http://schemas.openxmlformats.org/drawingml/2006/main">
            <a:off x="895350" y="3209925"/>
            <a:ext cx="685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85"/>
          </a:bodyPr>
          <a:lstStyle xmlns:a="http://schemas.openxmlformats.org/drawingml/2006/main"/>
          <a:p xmlns:a="http://schemas.openxmlformats.org/drawingml/2006/main">
            <a:pPr>
              <a:defRPr sz="1725" b="1">
                <a:solidFill>
                  <a:srgbClr val="25152B"/>
                </a:solidFill>
                <a:latin typeface="Helvetica Neue"/>
                <a:ea typeface="Helvetica Neue"/>
                <a:cs typeface="Helvetica Neue"/>
              </a:defRPr>
            </a:pPr>
            <a:r>
              <a:rPr sz="1725" b="1">
                <a:solidFill>
                  <a:srgbClr val="25152B"/>
                </a:solidFill>
                <a:latin typeface="Helvetica Neue"/>
                <a:ea typeface="Helvetica Neue"/>
                <a:cs typeface="Helvetica Neue"/>
              </a:rPr>
              <a:t>A lighter monthly signal was proposed, but the official record has not changed</a:t>
            </a:r>
          </a:p>
        </p:txBody>
      </p:sp>
      <p:sp>
        <p:nvSpPr>
          <p:cNvPr id="13" name="">
            <a:extLst xmlns:a="http://schemas.openxmlformats.org/drawingml/2006/main">
              <a:ext uri="{FF2B5EF4-FFF2-40B4-BE49-F238E27FC236}">
                <a16:creationId xmlns:a16="http://schemas.microsoft.com/office/drawing/2014/main" id="{9D19B956-332F-48CD-8371-F7E9C6F80F1E}"/>
              </a:ext>
            </a:extLst>
          </p:cNvPr>
          <p:cNvSpPr>
            <a:spLocks xmlns:a="http://schemas.openxmlformats.org/drawingml/2006/main" noGrp="1"/>
          </p:cNvSpPr>
          <p:nvPr/>
        </p:nvSpPr>
        <p:spPr>
          <a:xfrm xmlns:a="http://schemas.openxmlformats.org/drawingml/2006/main">
            <a:off x="895350" y="3790950"/>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A meeting note and draft memo recommend monthly check-ins. GivingData still shows the older requirement, so the answer calls the change proposed and explains what to confirm.</a:t>
            </a:r>
          </a:p>
        </p:txBody>
      </p:sp>
      <p:sp>
        <p:nvSpPr>
          <p:cNvPr id="14" name="">
            <a:extLst xmlns:a="http://schemas.openxmlformats.org/drawingml/2006/main">
              <a:ext uri="{FF2B5EF4-FFF2-40B4-BE49-F238E27FC236}">
                <a16:creationId xmlns:a16="http://schemas.microsoft.com/office/drawing/2014/main" id="{6AB517C3-4CAD-4B67-8E32-4CF1B908AC2C}"/>
              </a:ext>
            </a:extLst>
          </p:cNvPr>
          <p:cNvSpPr>
            <a:spLocks xmlns:a="http://schemas.openxmlformats.org/drawingml/2006/main" noGrp="1"/>
          </p:cNvSpPr>
          <p:nvPr/>
        </p:nvSpPr>
        <p:spPr>
          <a:xfrm xmlns:a="http://schemas.openxmlformats.org/drawingml/2006/main">
            <a:off x="8953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DD87555-DB08-4F3B-B79E-3A4421A2FE24}"/>
              </a:ext>
            </a:extLst>
          </p:cNvPr>
          <p:cNvSpPr>
            <a:spLocks xmlns:a="http://schemas.openxmlformats.org/drawingml/2006/main" noGrp="1"/>
          </p:cNvSpPr>
          <p:nvPr/>
        </p:nvSpPr>
        <p:spPr>
          <a:xfrm xmlns:a="http://schemas.openxmlformats.org/drawingml/2006/main">
            <a:off x="10477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8D411603-17D7-419C-9291-BF903967BFB0}"/>
              </a:ext>
            </a:extLst>
          </p:cNvPr>
          <p:cNvSpPr>
            <a:spLocks xmlns:a="http://schemas.openxmlformats.org/drawingml/2006/main" noGrp="1"/>
          </p:cNvSpPr>
          <p:nvPr/>
        </p:nvSpPr>
        <p:spPr>
          <a:xfrm xmlns:a="http://schemas.openxmlformats.org/drawingml/2006/main">
            <a:off x="10477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sources linked</a:t>
            </a:r>
          </a:p>
        </p:txBody>
      </p:sp>
      <p:sp>
        <p:nvSpPr>
          <p:cNvPr id="17" name="">
            <a:extLst xmlns:a="http://schemas.openxmlformats.org/drawingml/2006/main">
              <a:ext uri="{FF2B5EF4-FFF2-40B4-BE49-F238E27FC236}">
                <a16:creationId xmlns:a16="http://schemas.microsoft.com/office/drawing/2014/main" id="{101F7DEE-87F3-42AE-AA82-5E25CD2D53CF}"/>
              </a:ext>
            </a:extLst>
          </p:cNvPr>
          <p:cNvSpPr>
            <a:spLocks xmlns:a="http://schemas.openxmlformats.org/drawingml/2006/main" noGrp="1"/>
          </p:cNvSpPr>
          <p:nvPr/>
        </p:nvSpPr>
        <p:spPr>
          <a:xfrm xmlns:a="http://schemas.openxmlformats.org/drawingml/2006/main">
            <a:off x="289560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4BB3959-E197-48E5-ABA0-23900A65FE42}"/>
              </a:ext>
            </a:extLst>
          </p:cNvPr>
          <p:cNvSpPr>
            <a:spLocks xmlns:a="http://schemas.openxmlformats.org/drawingml/2006/main" noGrp="1"/>
          </p:cNvSpPr>
          <p:nvPr/>
        </p:nvSpPr>
        <p:spPr>
          <a:xfrm xmlns:a="http://schemas.openxmlformats.org/drawingml/2006/main">
            <a:off x="304800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B27D361E-5A1D-4419-BD10-66AF09D99C5F}"/>
              </a:ext>
            </a:extLst>
          </p:cNvPr>
          <p:cNvSpPr>
            <a:spLocks xmlns:a="http://schemas.openxmlformats.org/drawingml/2006/main" noGrp="1"/>
          </p:cNvSpPr>
          <p:nvPr/>
        </p:nvSpPr>
        <p:spPr>
          <a:xfrm xmlns:a="http://schemas.openxmlformats.org/drawingml/2006/main">
            <a:off x="304800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systems checked</a:t>
            </a:r>
          </a:p>
        </p:txBody>
      </p:sp>
      <p:sp>
        <p:nvSpPr>
          <p:cNvPr id="20" name="">
            <a:extLst xmlns:a="http://schemas.openxmlformats.org/drawingml/2006/main">
              <a:ext uri="{FF2B5EF4-FFF2-40B4-BE49-F238E27FC236}">
                <a16:creationId xmlns:a16="http://schemas.microsoft.com/office/drawing/2014/main" id="{5BF987EE-DD23-4E3A-860E-5D2263D7BB4B}"/>
              </a:ext>
            </a:extLst>
          </p:cNvPr>
          <p:cNvSpPr>
            <a:spLocks xmlns:a="http://schemas.openxmlformats.org/drawingml/2006/main" noGrp="1"/>
          </p:cNvSpPr>
          <p:nvPr/>
        </p:nvSpPr>
        <p:spPr>
          <a:xfrm xmlns:a="http://schemas.openxmlformats.org/drawingml/2006/main">
            <a:off x="48958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709CF06-48A0-49AE-8C05-B12E08B5DBF8}"/>
              </a:ext>
            </a:extLst>
          </p:cNvPr>
          <p:cNvSpPr>
            <a:spLocks xmlns:a="http://schemas.openxmlformats.org/drawingml/2006/main" noGrp="1"/>
          </p:cNvSpPr>
          <p:nvPr/>
        </p:nvSpPr>
        <p:spPr>
          <a:xfrm xmlns:a="http://schemas.openxmlformats.org/drawingml/2006/main">
            <a:off x="50482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044B877E-F431-4971-BFF0-CD2A2C14B13C}"/>
              </a:ext>
            </a:extLst>
          </p:cNvPr>
          <p:cNvSpPr>
            <a:spLocks xmlns:a="http://schemas.openxmlformats.org/drawingml/2006/main" noGrp="1"/>
          </p:cNvSpPr>
          <p:nvPr/>
        </p:nvSpPr>
        <p:spPr>
          <a:xfrm xmlns:a="http://schemas.openxmlformats.org/drawingml/2006/main">
            <a:off x="50482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conflict found</a:t>
            </a:r>
          </a:p>
        </p:txBody>
      </p:sp>
      <p:sp>
        <p:nvSpPr>
          <p:cNvPr id="23" name="">
            <a:extLst xmlns:a="http://schemas.openxmlformats.org/drawingml/2006/main">
              <a:ext uri="{FF2B5EF4-FFF2-40B4-BE49-F238E27FC236}">
                <a16:creationId xmlns:a16="http://schemas.microsoft.com/office/drawing/2014/main" id="{6FBE0BCA-B4A1-4412-B7A6-BE678AC45BAE}"/>
              </a:ext>
            </a:extLst>
          </p:cNvPr>
          <p:cNvSpPr>
            <a:spLocks xmlns:a="http://schemas.openxmlformats.org/drawingml/2006/main" noGrp="1"/>
          </p:cNvSpPr>
          <p:nvPr/>
        </p:nvSpPr>
        <p:spPr>
          <a:xfrm xmlns:a="http://schemas.openxmlformats.org/drawingml/2006/main">
            <a:off x="7981950" y="2914650"/>
            <a:ext cx="0" cy="228600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4" name="">
            <a:extLst xmlns:a="http://schemas.openxmlformats.org/drawingml/2006/main">
              <a:ext uri="{FF2B5EF4-FFF2-40B4-BE49-F238E27FC236}">
                <a16:creationId xmlns:a16="http://schemas.microsoft.com/office/drawing/2014/main" id="{A1A5FC99-9499-4345-A3A3-3ED60C347E8B}"/>
              </a:ext>
            </a:extLst>
          </p:cNvPr>
          <p:cNvSpPr>
            <a:spLocks xmlns:a="http://schemas.openxmlformats.org/drawingml/2006/main" noGrp="1"/>
          </p:cNvSpPr>
          <p:nvPr/>
        </p:nvSpPr>
        <p:spPr>
          <a:xfrm xmlns:a="http://schemas.openxmlformats.org/drawingml/2006/main">
            <a:off x="8248650" y="29146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EVIDENCE COVERAGE</a:t>
            </a:r>
          </a:p>
        </p:txBody>
      </p:sp>
      <p:sp>
        <p:nvSpPr>
          <p:cNvPr id="25" name="">
            <a:extLst xmlns:a="http://schemas.openxmlformats.org/drawingml/2006/main">
              <a:ext uri="{FF2B5EF4-FFF2-40B4-BE49-F238E27FC236}">
                <a16:creationId xmlns:a16="http://schemas.microsoft.com/office/drawing/2014/main" id="{F4879F83-3DB6-4450-8060-62501EC19516}"/>
              </a:ext>
            </a:extLst>
          </p:cNvPr>
          <p:cNvSpPr>
            <a:spLocks xmlns:a="http://schemas.openxmlformats.org/drawingml/2006/main" noGrp="1"/>
          </p:cNvSpPr>
          <p:nvPr/>
        </p:nvSpPr>
        <p:spPr>
          <a:xfrm xmlns:a="http://schemas.openxmlformats.org/drawingml/2006/main">
            <a:off x="8248650" y="32861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Drive</a:t>
            </a:r>
          </a:p>
        </p:txBody>
      </p:sp>
      <p:sp>
        <p:nvSpPr>
          <p:cNvPr id="26" name="">
            <a:extLst xmlns:a="http://schemas.openxmlformats.org/drawingml/2006/main">
              <a:ext uri="{FF2B5EF4-FFF2-40B4-BE49-F238E27FC236}">
                <a16:creationId xmlns:a16="http://schemas.microsoft.com/office/drawing/2014/main" id="{BBCD5F01-92C5-41B1-A1CF-6E2C11603E35}"/>
              </a:ext>
            </a:extLst>
          </p:cNvPr>
          <p:cNvSpPr>
            <a:spLocks xmlns:a="http://schemas.openxmlformats.org/drawingml/2006/main" noGrp="1"/>
          </p:cNvSpPr>
          <p:nvPr/>
        </p:nvSpPr>
        <p:spPr>
          <a:xfrm xmlns:a="http://schemas.openxmlformats.org/drawingml/2006/main">
            <a:off x="10629900" y="32861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27" name="">
            <a:extLst xmlns:a="http://schemas.openxmlformats.org/drawingml/2006/main">
              <a:ext uri="{FF2B5EF4-FFF2-40B4-BE49-F238E27FC236}">
                <a16:creationId xmlns:a16="http://schemas.microsoft.com/office/drawing/2014/main" id="{C4D2B7AD-F52D-485E-A491-0D9D04261BDA}"/>
              </a:ext>
            </a:extLst>
          </p:cNvPr>
          <p:cNvSpPr>
            <a:spLocks xmlns:a="http://schemas.openxmlformats.org/drawingml/2006/main" noGrp="1"/>
          </p:cNvSpPr>
          <p:nvPr/>
        </p:nvSpPr>
        <p:spPr>
          <a:xfrm xmlns:a="http://schemas.openxmlformats.org/drawingml/2006/main">
            <a:off x="9277350" y="335280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1693FD6-2821-4256-9A67-2E12D4F94E57}"/>
              </a:ext>
            </a:extLst>
          </p:cNvPr>
          <p:cNvSpPr>
            <a:spLocks xmlns:a="http://schemas.openxmlformats.org/drawingml/2006/main" noGrp="1"/>
          </p:cNvSpPr>
          <p:nvPr/>
        </p:nvSpPr>
        <p:spPr>
          <a:xfrm xmlns:a="http://schemas.openxmlformats.org/drawingml/2006/main">
            <a:off x="9277350" y="3352800"/>
            <a:ext cx="704850" cy="66675"/>
          </a:xfrm>
          <a:prstGeom xmlns:a="http://schemas.openxmlformats.org/drawingml/2006/main" prst="roundRect">
            <a:avLst>
              <a:gd name="adj" fmla="val 50000"/>
            </a:avLst>
          </a:prstGeom>
          <a:solidFill xmlns:a="http://schemas.openxmlformats.org/drawingml/2006/main">
            <a:srgbClr val="5790D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5DE76EB-D201-4D41-8E8A-57D3E5406777}"/>
              </a:ext>
            </a:extLst>
          </p:cNvPr>
          <p:cNvSpPr>
            <a:spLocks xmlns:a="http://schemas.openxmlformats.org/drawingml/2006/main" noGrp="1"/>
          </p:cNvSpPr>
          <p:nvPr/>
        </p:nvSpPr>
        <p:spPr>
          <a:xfrm xmlns:a="http://schemas.openxmlformats.org/drawingml/2006/main">
            <a:off x="8248650" y="3695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GivingData</a:t>
            </a:r>
          </a:p>
        </p:txBody>
      </p:sp>
      <p:sp>
        <p:nvSpPr>
          <p:cNvPr id="30" name="">
            <a:extLst xmlns:a="http://schemas.openxmlformats.org/drawingml/2006/main">
              <a:ext uri="{FF2B5EF4-FFF2-40B4-BE49-F238E27FC236}">
                <a16:creationId xmlns:a16="http://schemas.microsoft.com/office/drawing/2014/main" id="{3881EC2E-55B0-49E4-AB60-4CD09F720548}"/>
              </a:ext>
            </a:extLst>
          </p:cNvPr>
          <p:cNvSpPr>
            <a:spLocks xmlns:a="http://schemas.openxmlformats.org/drawingml/2006/main" noGrp="1"/>
          </p:cNvSpPr>
          <p:nvPr/>
        </p:nvSpPr>
        <p:spPr>
          <a:xfrm xmlns:a="http://schemas.openxmlformats.org/drawingml/2006/main">
            <a:off x="10629900" y="36957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1" name="">
            <a:extLst xmlns:a="http://schemas.openxmlformats.org/drawingml/2006/main">
              <a:ext uri="{FF2B5EF4-FFF2-40B4-BE49-F238E27FC236}">
                <a16:creationId xmlns:a16="http://schemas.microsoft.com/office/drawing/2014/main" id="{A3682F0A-F81F-4245-82A4-D39B5B18738E}"/>
              </a:ext>
            </a:extLst>
          </p:cNvPr>
          <p:cNvSpPr>
            <a:spLocks xmlns:a="http://schemas.openxmlformats.org/drawingml/2006/main" noGrp="1"/>
          </p:cNvSpPr>
          <p:nvPr/>
        </p:nvSpPr>
        <p:spPr>
          <a:xfrm xmlns:a="http://schemas.openxmlformats.org/drawingml/2006/main">
            <a:off x="9277350" y="376237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DD2F2D3-F662-450C-98BE-8F267057D21F}"/>
              </a:ext>
            </a:extLst>
          </p:cNvPr>
          <p:cNvSpPr>
            <a:spLocks xmlns:a="http://schemas.openxmlformats.org/drawingml/2006/main" noGrp="1"/>
          </p:cNvSpPr>
          <p:nvPr/>
        </p:nvSpPr>
        <p:spPr>
          <a:xfrm xmlns:a="http://schemas.openxmlformats.org/drawingml/2006/main">
            <a:off x="9277350" y="3762375"/>
            <a:ext cx="704850" cy="66675"/>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8F5C3DF-8515-45C2-B40E-D4BAE131FB67}"/>
              </a:ext>
            </a:extLst>
          </p:cNvPr>
          <p:cNvSpPr>
            <a:spLocks xmlns:a="http://schemas.openxmlformats.org/drawingml/2006/main" noGrp="1"/>
          </p:cNvSpPr>
          <p:nvPr/>
        </p:nvSpPr>
        <p:spPr>
          <a:xfrm xmlns:a="http://schemas.openxmlformats.org/drawingml/2006/main">
            <a:off x="8248650" y="41052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Airtable</a:t>
            </a:r>
          </a:p>
        </p:txBody>
      </p:sp>
      <p:sp>
        <p:nvSpPr>
          <p:cNvPr id="34" name="">
            <a:extLst xmlns:a="http://schemas.openxmlformats.org/drawingml/2006/main">
              <a:ext uri="{FF2B5EF4-FFF2-40B4-BE49-F238E27FC236}">
                <a16:creationId xmlns:a16="http://schemas.microsoft.com/office/drawing/2014/main" id="{38EEE132-EE73-4A5C-A6A8-00DDCC41932F}"/>
              </a:ext>
            </a:extLst>
          </p:cNvPr>
          <p:cNvSpPr>
            <a:spLocks xmlns:a="http://schemas.openxmlformats.org/drawingml/2006/main" noGrp="1"/>
          </p:cNvSpPr>
          <p:nvPr/>
        </p:nvSpPr>
        <p:spPr>
          <a:xfrm xmlns:a="http://schemas.openxmlformats.org/drawingml/2006/main">
            <a:off x="10629900" y="41052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0</a:t>
            </a:r>
          </a:p>
        </p:txBody>
      </p:sp>
      <p:sp>
        <p:nvSpPr>
          <p:cNvPr id="35" name="">
            <a:extLst xmlns:a="http://schemas.openxmlformats.org/drawingml/2006/main">
              <a:ext uri="{FF2B5EF4-FFF2-40B4-BE49-F238E27FC236}">
                <a16:creationId xmlns:a16="http://schemas.microsoft.com/office/drawing/2014/main" id="{DD6C1C37-A63F-4458-B278-39233E0F8401}"/>
              </a:ext>
            </a:extLst>
          </p:cNvPr>
          <p:cNvSpPr>
            <a:spLocks xmlns:a="http://schemas.openxmlformats.org/drawingml/2006/main" noGrp="1"/>
          </p:cNvSpPr>
          <p:nvPr/>
        </p:nvSpPr>
        <p:spPr>
          <a:xfrm xmlns:a="http://schemas.openxmlformats.org/drawingml/2006/main">
            <a:off x="9277350" y="417195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8BCD3FC-50EC-40B7-B03E-7371CE444AE2}"/>
              </a:ext>
            </a:extLst>
          </p:cNvPr>
          <p:cNvSpPr>
            <a:spLocks xmlns:a="http://schemas.openxmlformats.org/drawingml/2006/main" noGrp="1"/>
          </p:cNvSpPr>
          <p:nvPr/>
        </p:nvSpPr>
        <p:spPr>
          <a:xfrm xmlns:a="http://schemas.openxmlformats.org/drawingml/2006/main">
            <a:off x="8248650" y="45148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Zoom Chat</a:t>
            </a:r>
          </a:p>
        </p:txBody>
      </p:sp>
      <p:sp>
        <p:nvSpPr>
          <p:cNvPr id="37" name="">
            <a:extLst xmlns:a="http://schemas.openxmlformats.org/drawingml/2006/main">
              <a:ext uri="{FF2B5EF4-FFF2-40B4-BE49-F238E27FC236}">
                <a16:creationId xmlns:a16="http://schemas.microsoft.com/office/drawing/2014/main" id="{EBBBBEBE-4BAA-4675-A7BD-10C9EB7C06C6}"/>
              </a:ext>
            </a:extLst>
          </p:cNvPr>
          <p:cNvSpPr>
            <a:spLocks xmlns:a="http://schemas.openxmlformats.org/drawingml/2006/main" noGrp="1"/>
          </p:cNvSpPr>
          <p:nvPr/>
        </p:nvSpPr>
        <p:spPr>
          <a:xfrm xmlns:a="http://schemas.openxmlformats.org/drawingml/2006/main">
            <a:off x="10629900" y="45148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8" name="">
            <a:extLst xmlns:a="http://schemas.openxmlformats.org/drawingml/2006/main">
              <a:ext uri="{FF2B5EF4-FFF2-40B4-BE49-F238E27FC236}">
                <a16:creationId xmlns:a16="http://schemas.microsoft.com/office/drawing/2014/main" id="{D0848134-DD65-4EB8-B58D-791DBBE29DDE}"/>
              </a:ext>
            </a:extLst>
          </p:cNvPr>
          <p:cNvSpPr>
            <a:spLocks xmlns:a="http://schemas.openxmlformats.org/drawingml/2006/main" noGrp="1"/>
          </p:cNvSpPr>
          <p:nvPr/>
        </p:nvSpPr>
        <p:spPr>
          <a:xfrm xmlns:a="http://schemas.openxmlformats.org/drawingml/2006/main">
            <a:off x="9277350" y="458152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57A1643-402C-460F-8BB2-8B5BB7C900EC}"/>
              </a:ext>
            </a:extLst>
          </p:cNvPr>
          <p:cNvSpPr>
            <a:spLocks xmlns:a="http://schemas.openxmlformats.org/drawingml/2006/main" noGrp="1"/>
          </p:cNvSpPr>
          <p:nvPr/>
        </p:nvSpPr>
        <p:spPr>
          <a:xfrm xmlns:a="http://schemas.openxmlformats.org/drawingml/2006/main">
            <a:off x="9277350" y="4581525"/>
            <a:ext cx="704850" cy="66675"/>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2901E09-06A3-4A13-988D-968F42F17F38}"/>
              </a:ext>
            </a:extLst>
          </p:cNvPr>
          <p:cNvSpPr>
            <a:spLocks xmlns:a="http://schemas.openxmlformats.org/drawingml/2006/main" noGrp="1"/>
          </p:cNvSpPr>
          <p:nvPr/>
        </p:nvSpPr>
        <p:spPr>
          <a:xfrm xmlns:a="http://schemas.openxmlformats.org/drawingml/2006/main">
            <a:off x="8115300" y="4962525"/>
            <a:ext cx="2971800" cy="457200"/>
          </a:xfrm>
          <a:prstGeom xmlns:a="http://schemas.openxmlformats.org/drawingml/2006/main" prst="roundRect">
            <a:avLst>
              <a:gd name="adj" fmla="val 25000"/>
            </a:avLst>
          </a:prstGeom>
          <a:solidFill xmlns:a="http://schemas.openxmlformats.org/drawingml/2006/main">
            <a:srgbClr val="FFF5D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8A807208-14D3-4096-AFBE-8F7221574A48}"/>
              </a:ext>
            </a:extLst>
          </p:cNvPr>
          <p:cNvSpPr>
            <a:spLocks xmlns:a="http://schemas.openxmlformats.org/drawingml/2006/main" noGrp="1"/>
          </p:cNvSpPr>
          <p:nvPr/>
        </p:nvSpPr>
        <p:spPr>
          <a:xfrm xmlns:a="http://schemas.openxmlformats.org/drawingml/2006/main">
            <a:off x="8267700" y="50482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Next check: confirm owner and effective date</a:t>
            </a:r>
          </a:p>
        </p:txBody>
      </p:sp>
      <p:sp>
        <p:nvSpPr>
          <p:cNvPr id="42" name="">
            <a:extLst xmlns:a="http://schemas.openxmlformats.org/drawingml/2006/main">
              <a:ext uri="{FF2B5EF4-FFF2-40B4-BE49-F238E27FC236}">
                <a16:creationId xmlns:a16="http://schemas.microsoft.com/office/drawing/2014/main" id="{F310A156-486E-484A-B470-0C7860A551C5}"/>
              </a:ext>
            </a:extLst>
          </p:cNvPr>
          <p:cNvSpPr>
            <a:spLocks xmlns:a="http://schemas.openxmlformats.org/drawingml/2006/main" noGrp="1"/>
          </p:cNvSpPr>
          <p:nvPr/>
        </p:nvSpPr>
        <p:spPr>
          <a:xfrm xmlns:a="http://schemas.openxmlformats.org/drawingml/2006/main">
            <a:off x="666750" y="59055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OPTIONAL DEMO  Built to test whether the answer stays honest when records disagree</a:t>
            </a:r>
          </a:p>
        </p:txBody>
      </p:sp>
    </p:spTree>
    <p:extLst>
      <p:ext uri="{BB962C8B-B14F-4D97-AF65-F5344CB8AC3E}">
        <p14:creationId xmlns:p14="http://schemas.microsoft.com/office/powerpoint/2010/main" val="1712043014"/>
      </p:ext>
    </p:extLst>
  </p:cSld>
</p:sld>
</file>

<file path=ppt/slides/slide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4C6B1A59-18D7-4601-8604-D36ECBE3019A}"/>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SYSTEM</a:t>
            </a:r>
          </a:p>
        </p:txBody>
      </p:sp>
      <p:sp>
        <p:nvSpPr>
          <p:cNvPr id="2" name="">
            <a:extLst xmlns:a="http://schemas.openxmlformats.org/drawingml/2006/main">
              <a:ext uri="{FF2B5EF4-FFF2-40B4-BE49-F238E27FC236}">
                <a16:creationId xmlns:a16="http://schemas.microsoft.com/office/drawing/2014/main" id="{07B3551A-69B8-4F50-ADF5-2E5615F10931}"/>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C28EFD90-164A-4212-AF5E-197F0CD98D61}"/>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28BBAB96-94CD-4159-A4B6-755A76D1ED05}"/>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How a question becomes an answer</a:t>
            </a:r>
          </a:p>
        </p:txBody>
      </p:sp>
      <p:sp>
        <p:nvSpPr>
          <p:cNvPr id="5" name="">
            <a:extLst xmlns:a="http://schemas.openxmlformats.org/drawingml/2006/main">
              <a:ext uri="{FF2B5EF4-FFF2-40B4-BE49-F238E27FC236}">
                <a16:creationId xmlns:a16="http://schemas.microsoft.com/office/drawing/2014/main" id="{EC40C8FB-BE87-4130-AE12-6BC1291E1EA6}"/>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system checks the person and their access before it searches.</a:t>
            </a:r>
          </a:p>
        </p:txBody>
      </p:sp>
      <p:sp>
        <p:nvSpPr>
          <p:cNvPr id="6" name="">
            <a:extLst xmlns:a="http://schemas.openxmlformats.org/drawingml/2006/main">
              <a:ext uri="{FF2B5EF4-FFF2-40B4-BE49-F238E27FC236}">
                <a16:creationId xmlns:a16="http://schemas.microsoft.com/office/drawing/2014/main" id="{59A3921B-65A6-444C-B4FF-D1BA4C6B7F68}"/>
              </a:ext>
            </a:extLst>
          </p:cNvPr>
          <p:cNvSpPr>
            <a:spLocks xmlns:a="http://schemas.openxmlformats.org/drawingml/2006/main" noGrp="1"/>
          </p:cNvSpPr>
          <p:nvPr/>
        </p:nvSpPr>
        <p:spPr>
          <a:xfrm xmlns:a="http://schemas.openxmlformats.org/drawingml/2006/main">
            <a:off x="4572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5D2B460B-4CB3-44E4-A1BF-E43771B60B7E}"/>
              </a:ext>
            </a:extLst>
          </p:cNvPr>
          <p:cNvSpPr>
            <a:spLocks xmlns:a="http://schemas.openxmlformats.org/drawingml/2006/main" noGrp="1"/>
          </p:cNvSpPr>
          <p:nvPr/>
        </p:nvSpPr>
        <p:spPr>
          <a:xfrm xmlns:a="http://schemas.openxmlformats.org/drawingml/2006/main">
            <a:off x="6286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E73954D0-AE39-4B11-BDC8-3D4C6AD0F417}"/>
              </a:ext>
            </a:extLst>
          </p:cNvPr>
          <p:cNvSpPr>
            <a:spLocks xmlns:a="http://schemas.openxmlformats.org/drawingml/2006/main" noGrp="1"/>
          </p:cNvSpPr>
          <p:nvPr/>
        </p:nvSpPr>
        <p:spPr>
          <a:xfrm xmlns:a="http://schemas.openxmlformats.org/drawingml/2006/main">
            <a:off x="6286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Sign in</a:t>
            </a:r>
          </a:p>
        </p:txBody>
      </p:sp>
      <p:sp>
        <p:nvSpPr>
          <p:cNvPr id="9" name="">
            <a:extLst xmlns:a="http://schemas.openxmlformats.org/drawingml/2006/main">
              <a:ext uri="{FF2B5EF4-FFF2-40B4-BE49-F238E27FC236}">
                <a16:creationId xmlns:a16="http://schemas.microsoft.com/office/drawing/2014/main" id="{F947AF70-7B46-4DD8-AA0E-C9709FF0A01D}"/>
              </a:ext>
            </a:extLst>
          </p:cNvPr>
          <p:cNvSpPr>
            <a:spLocks xmlns:a="http://schemas.openxmlformats.org/drawingml/2006/main" noGrp="1"/>
          </p:cNvSpPr>
          <p:nvPr/>
        </p:nvSpPr>
        <p:spPr>
          <a:xfrm xmlns:a="http://schemas.openxmlformats.org/drawingml/2006/main">
            <a:off x="6286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Confirm the person</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+Approved account</a:t>
            </a:r>
          </a:p>
        </p:txBody>
      </p:sp>
      <p:sp>
        <p:nvSpPr>
          <p:cNvPr id="10" name="">
            <a:extLst xmlns:a="http://schemas.openxmlformats.org/drawingml/2006/main">
              <a:ext uri="{FF2B5EF4-FFF2-40B4-BE49-F238E27FC236}">
                <a16:creationId xmlns:a16="http://schemas.microsoft.com/office/drawing/2014/main" id="{ED6BD2C3-A736-4B3B-9788-FCA002DC436E}"/>
              </a:ext>
            </a:extLst>
          </p:cNvPr>
          <p:cNvSpPr>
            <a:spLocks xmlns:a="http://schemas.openxmlformats.org/drawingml/2006/main" noGrp="1"/>
          </p:cNvSpPr>
          <p:nvPr/>
        </p:nvSpPr>
        <p:spPr>
          <a:xfrm xmlns:a="http://schemas.openxmlformats.org/drawingml/2006/main">
            <a:off x="21145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37D45882-458B-4702-A6C3-537EA3F1CCA3}"/>
              </a:ext>
            </a:extLst>
          </p:cNvPr>
          <p:cNvSpPr>
            <a:spLocks xmlns:a="http://schemas.openxmlformats.org/drawingml/2006/main" noGrp="1"/>
          </p:cNvSpPr>
          <p:nvPr/>
        </p:nvSpPr>
        <p:spPr>
          <a:xfrm xmlns:a="http://schemas.openxmlformats.org/drawingml/2006/main">
            <a:off x="23336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7E6A7D0-2BAB-4F4C-987C-738954DB9E7C}"/>
              </a:ext>
            </a:extLst>
          </p:cNvPr>
          <p:cNvSpPr>
            <a:spLocks xmlns:a="http://schemas.openxmlformats.org/drawingml/2006/main" noGrp="1"/>
          </p:cNvSpPr>
          <p:nvPr/>
        </p:nvSpPr>
        <p:spPr>
          <a:xfrm xmlns:a="http://schemas.openxmlformats.org/drawingml/2006/main">
            <a:off x="24003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A7D1B9E6-25AB-40A3-ADF9-77784008BBBD}"/>
              </a:ext>
            </a:extLst>
          </p:cNvPr>
          <p:cNvSpPr>
            <a:spLocks xmlns:a="http://schemas.openxmlformats.org/drawingml/2006/main" noGrp="1"/>
          </p:cNvSpPr>
          <p:nvPr/>
        </p:nvSpPr>
        <p:spPr>
          <a:xfrm xmlns:a="http://schemas.openxmlformats.org/drawingml/2006/main">
            <a:off x="25717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11D87184-064E-47CE-B392-A4653F793653}"/>
              </a:ext>
            </a:extLst>
          </p:cNvPr>
          <p:cNvSpPr>
            <a:spLocks xmlns:a="http://schemas.openxmlformats.org/drawingml/2006/main" noGrp="1"/>
          </p:cNvSpPr>
          <p:nvPr/>
        </p:nvSpPr>
        <p:spPr>
          <a:xfrm xmlns:a="http://schemas.openxmlformats.org/drawingml/2006/main">
            <a:off x="25717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Check access</a:t>
            </a:r>
          </a:p>
        </p:txBody>
      </p:sp>
      <p:sp>
        <p:nvSpPr>
          <p:cNvPr id="15" name="">
            <a:extLst xmlns:a="http://schemas.openxmlformats.org/drawingml/2006/main">
              <a:ext uri="{FF2B5EF4-FFF2-40B4-BE49-F238E27FC236}">
                <a16:creationId xmlns:a16="http://schemas.microsoft.com/office/drawing/2014/main" id="{2EFD0765-CECA-459E-822C-7CEE378D7477}"/>
              </a:ext>
            </a:extLst>
          </p:cNvPr>
          <p:cNvSpPr>
            <a:spLocks xmlns:a="http://schemas.openxmlformats.org/drawingml/2006/main" noGrp="1"/>
          </p:cNvSpPr>
          <p:nvPr/>
        </p:nvSpPr>
        <p:spPr>
          <a:xfrm xmlns:a="http://schemas.openxmlformats.org/drawingml/2006/main">
            <a:off x="25717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Remove records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they cannot open</a:t>
            </a:r>
          </a:p>
        </p:txBody>
      </p:sp>
      <p:sp>
        <p:nvSpPr>
          <p:cNvPr id="16" name="">
            <a:extLst xmlns:a="http://schemas.openxmlformats.org/drawingml/2006/main">
              <a:ext uri="{FF2B5EF4-FFF2-40B4-BE49-F238E27FC236}">
                <a16:creationId xmlns:a16="http://schemas.microsoft.com/office/drawing/2014/main" id="{59A55124-3BF0-4DF2-9BA8-EC34ACCC0040}"/>
              </a:ext>
            </a:extLst>
          </p:cNvPr>
          <p:cNvSpPr>
            <a:spLocks xmlns:a="http://schemas.openxmlformats.org/drawingml/2006/main" noGrp="1"/>
          </p:cNvSpPr>
          <p:nvPr/>
        </p:nvSpPr>
        <p:spPr>
          <a:xfrm xmlns:a="http://schemas.openxmlformats.org/drawingml/2006/main">
            <a:off x="40576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7" name="">
            <a:extLst xmlns:a="http://schemas.openxmlformats.org/drawingml/2006/main">
              <a:ext uri="{FF2B5EF4-FFF2-40B4-BE49-F238E27FC236}">
                <a16:creationId xmlns:a16="http://schemas.microsoft.com/office/drawing/2014/main" id="{5237BD5B-D92C-450B-9FE0-37265DDF7819}"/>
              </a:ext>
            </a:extLst>
          </p:cNvPr>
          <p:cNvSpPr>
            <a:spLocks xmlns:a="http://schemas.openxmlformats.org/drawingml/2006/main" noGrp="1"/>
          </p:cNvSpPr>
          <p:nvPr/>
        </p:nvSpPr>
        <p:spPr>
          <a:xfrm xmlns:a="http://schemas.openxmlformats.org/drawingml/2006/main">
            <a:off x="42767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687497B-05D0-437A-B50A-64784DC7AA94}"/>
              </a:ext>
            </a:extLst>
          </p:cNvPr>
          <p:cNvSpPr>
            <a:spLocks xmlns:a="http://schemas.openxmlformats.org/drawingml/2006/main" noGrp="1"/>
          </p:cNvSpPr>
          <p:nvPr/>
        </p:nvSpPr>
        <p:spPr>
          <a:xfrm xmlns:a="http://schemas.openxmlformats.org/drawingml/2006/main">
            <a:off x="43434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6D189599-89BE-4F82-90DC-76DAFB9A80B3}"/>
              </a:ext>
            </a:extLst>
          </p:cNvPr>
          <p:cNvSpPr>
            <a:spLocks xmlns:a="http://schemas.openxmlformats.org/drawingml/2006/main" noGrp="1"/>
          </p:cNvSpPr>
          <p:nvPr/>
        </p:nvSpPr>
        <p:spPr>
          <a:xfrm xmlns:a="http://schemas.openxmlformats.org/drawingml/2006/main">
            <a:off x="45148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3721C269-2ADA-41AB-AA7B-EFB0D8EA3DE0}"/>
              </a:ext>
            </a:extLst>
          </p:cNvPr>
          <p:cNvSpPr>
            <a:spLocks xmlns:a="http://schemas.openxmlformats.org/drawingml/2006/main" noGrp="1"/>
          </p:cNvSpPr>
          <p:nvPr/>
        </p:nvSpPr>
        <p:spPr>
          <a:xfrm xmlns:a="http://schemas.openxmlformats.org/drawingml/2006/main">
            <a:off x="45148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Find evidence</a:t>
            </a:r>
          </a:p>
        </p:txBody>
      </p:sp>
      <p:sp>
        <p:nvSpPr>
          <p:cNvPr id="21" name="">
            <a:extLst xmlns:a="http://schemas.openxmlformats.org/drawingml/2006/main">
              <a:ext uri="{FF2B5EF4-FFF2-40B4-BE49-F238E27FC236}">
                <a16:creationId xmlns:a16="http://schemas.microsoft.com/office/drawing/2014/main" id="{380E02F5-4717-4495-B217-AEDA3C818F4C}"/>
              </a:ext>
            </a:extLst>
          </p:cNvPr>
          <p:cNvSpPr>
            <a:spLocks xmlns:a="http://schemas.openxmlformats.org/drawingml/2006/main" noGrp="1"/>
          </p:cNvSpPr>
          <p:nvPr/>
        </p:nvSpPr>
        <p:spPr>
          <a:xfrm xmlns:a="http://schemas.openxmlformats.org/drawingml/2006/main">
            <a:off x="45148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Search approved</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sources only</a:t>
            </a:r>
          </a:p>
        </p:txBody>
      </p:sp>
      <p:sp>
        <p:nvSpPr>
          <p:cNvPr id="22" name="">
            <a:extLst xmlns:a="http://schemas.openxmlformats.org/drawingml/2006/main">
              <a:ext uri="{FF2B5EF4-FFF2-40B4-BE49-F238E27FC236}">
                <a16:creationId xmlns:a16="http://schemas.microsoft.com/office/drawing/2014/main" id="{E29A4D29-45A7-4C64-A7E4-E6E910D71431}"/>
              </a:ext>
            </a:extLst>
          </p:cNvPr>
          <p:cNvSpPr>
            <a:spLocks xmlns:a="http://schemas.openxmlformats.org/drawingml/2006/main" noGrp="1"/>
          </p:cNvSpPr>
          <p:nvPr/>
        </p:nvSpPr>
        <p:spPr>
          <a:xfrm xmlns:a="http://schemas.openxmlformats.org/drawingml/2006/main">
            <a:off x="60007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3" name="">
            <a:extLst xmlns:a="http://schemas.openxmlformats.org/drawingml/2006/main">
              <a:ext uri="{FF2B5EF4-FFF2-40B4-BE49-F238E27FC236}">
                <a16:creationId xmlns:a16="http://schemas.microsoft.com/office/drawing/2014/main" id="{8B2943C3-0B23-43CC-A34B-E7ADEEFF4BEE}"/>
              </a:ext>
            </a:extLst>
          </p:cNvPr>
          <p:cNvSpPr>
            <a:spLocks xmlns:a="http://schemas.openxmlformats.org/drawingml/2006/main" noGrp="1"/>
          </p:cNvSpPr>
          <p:nvPr/>
        </p:nvSpPr>
        <p:spPr>
          <a:xfrm xmlns:a="http://schemas.openxmlformats.org/drawingml/2006/main">
            <a:off x="62198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8107454-965C-46F4-9338-FF3871B8CA1E}"/>
              </a:ext>
            </a:extLst>
          </p:cNvPr>
          <p:cNvSpPr>
            <a:spLocks xmlns:a="http://schemas.openxmlformats.org/drawingml/2006/main" noGrp="1"/>
          </p:cNvSpPr>
          <p:nvPr/>
        </p:nvSpPr>
        <p:spPr>
          <a:xfrm xmlns:a="http://schemas.openxmlformats.org/drawingml/2006/main">
            <a:off x="62865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5BD57707-3408-4139-9490-78541692C770}"/>
              </a:ext>
            </a:extLst>
          </p:cNvPr>
          <p:cNvSpPr>
            <a:spLocks xmlns:a="http://schemas.openxmlformats.org/drawingml/2006/main" noGrp="1"/>
          </p:cNvSpPr>
          <p:nvPr/>
        </p:nvSpPr>
        <p:spPr>
          <a:xfrm xmlns:a="http://schemas.openxmlformats.org/drawingml/2006/main">
            <a:off x="64579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04</a:t>
            </a:r>
          </a:p>
        </p:txBody>
      </p:sp>
      <p:sp>
        <p:nvSpPr>
          <p:cNvPr id="26" name="">
            <a:extLst xmlns:a="http://schemas.openxmlformats.org/drawingml/2006/main">
              <a:ext uri="{FF2B5EF4-FFF2-40B4-BE49-F238E27FC236}">
                <a16:creationId xmlns:a16="http://schemas.microsoft.com/office/drawing/2014/main" id="{70FB74DF-4820-4EA7-AF08-FCC576787128}"/>
              </a:ext>
            </a:extLst>
          </p:cNvPr>
          <p:cNvSpPr>
            <a:spLocks xmlns:a="http://schemas.openxmlformats.org/drawingml/2006/main" noGrp="1"/>
          </p:cNvSpPr>
          <p:nvPr/>
        </p:nvSpPr>
        <p:spPr>
          <a:xfrm xmlns:a="http://schemas.openxmlformats.org/drawingml/2006/main">
            <a:off x="64579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Explain</a:t>
            </a:r>
          </a:p>
        </p:txBody>
      </p:sp>
      <p:sp>
        <p:nvSpPr>
          <p:cNvPr id="27" name="">
            <a:extLst xmlns:a="http://schemas.openxmlformats.org/drawingml/2006/main">
              <a:ext uri="{FF2B5EF4-FFF2-40B4-BE49-F238E27FC236}">
                <a16:creationId xmlns:a16="http://schemas.microsoft.com/office/drawing/2014/main" id="{D442C760-CD24-45FD-ABC0-B0D4C634935F}"/>
              </a:ext>
            </a:extLst>
          </p:cNvPr>
          <p:cNvSpPr>
            <a:spLocks xmlns:a="http://schemas.openxmlformats.org/drawingml/2006/main" noGrp="1"/>
          </p:cNvSpPr>
          <p:nvPr/>
        </p:nvSpPr>
        <p:spPr>
          <a:xfrm xmlns:a="http://schemas.openxmlformats.org/drawingml/2006/main">
            <a:off x="64579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Plain answer</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+Source links</a:t>
            </a:r>
          </a:p>
        </p:txBody>
      </p:sp>
      <p:sp>
        <p:nvSpPr>
          <p:cNvPr id="28" name="">
            <a:extLst xmlns:a="http://schemas.openxmlformats.org/drawingml/2006/main">
              <a:ext uri="{FF2B5EF4-FFF2-40B4-BE49-F238E27FC236}">
                <a16:creationId xmlns:a16="http://schemas.microsoft.com/office/drawing/2014/main" id="{6A69425B-C3C7-4043-896D-089592155513}"/>
              </a:ext>
            </a:extLst>
          </p:cNvPr>
          <p:cNvSpPr>
            <a:spLocks xmlns:a="http://schemas.openxmlformats.org/drawingml/2006/main" noGrp="1"/>
          </p:cNvSpPr>
          <p:nvPr/>
        </p:nvSpPr>
        <p:spPr>
          <a:xfrm xmlns:a="http://schemas.openxmlformats.org/drawingml/2006/main">
            <a:off x="79438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9" name="">
            <a:extLst xmlns:a="http://schemas.openxmlformats.org/drawingml/2006/main">
              <a:ext uri="{FF2B5EF4-FFF2-40B4-BE49-F238E27FC236}">
                <a16:creationId xmlns:a16="http://schemas.microsoft.com/office/drawing/2014/main" id="{F3FFA5C6-2494-4868-87EA-3549AE010E7C}"/>
              </a:ext>
            </a:extLst>
          </p:cNvPr>
          <p:cNvSpPr>
            <a:spLocks xmlns:a="http://schemas.openxmlformats.org/drawingml/2006/main" noGrp="1"/>
          </p:cNvSpPr>
          <p:nvPr/>
        </p:nvSpPr>
        <p:spPr>
          <a:xfrm xmlns:a="http://schemas.openxmlformats.org/drawingml/2006/main">
            <a:off x="81629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B1B3683-A30C-48BA-ABA9-52DB2AFA4AEA}"/>
              </a:ext>
            </a:extLst>
          </p:cNvPr>
          <p:cNvSpPr>
            <a:spLocks xmlns:a="http://schemas.openxmlformats.org/drawingml/2006/main" noGrp="1"/>
          </p:cNvSpPr>
          <p:nvPr/>
        </p:nvSpPr>
        <p:spPr>
          <a:xfrm xmlns:a="http://schemas.openxmlformats.org/drawingml/2006/main">
            <a:off x="82296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1" name="">
            <a:extLst xmlns:a="http://schemas.openxmlformats.org/drawingml/2006/main">
              <a:ext uri="{FF2B5EF4-FFF2-40B4-BE49-F238E27FC236}">
                <a16:creationId xmlns:a16="http://schemas.microsoft.com/office/drawing/2014/main" id="{0E3D9EC9-EC56-4630-827D-EDA49BD9EF13}"/>
              </a:ext>
            </a:extLst>
          </p:cNvPr>
          <p:cNvSpPr>
            <a:spLocks xmlns:a="http://schemas.openxmlformats.org/drawingml/2006/main" noGrp="1"/>
          </p:cNvSpPr>
          <p:nvPr/>
        </p:nvSpPr>
        <p:spPr>
          <a:xfrm xmlns:a="http://schemas.openxmlformats.org/drawingml/2006/main">
            <a:off x="84010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05</a:t>
            </a:r>
          </a:p>
        </p:txBody>
      </p:sp>
      <p:sp>
        <p:nvSpPr>
          <p:cNvPr id="32" name="">
            <a:extLst xmlns:a="http://schemas.openxmlformats.org/drawingml/2006/main">
              <a:ext uri="{FF2B5EF4-FFF2-40B4-BE49-F238E27FC236}">
                <a16:creationId xmlns:a16="http://schemas.microsoft.com/office/drawing/2014/main" id="{BC4E46CD-F803-4C80-844A-91C0FC11A233}"/>
              </a:ext>
            </a:extLst>
          </p:cNvPr>
          <p:cNvSpPr>
            <a:spLocks xmlns:a="http://schemas.openxmlformats.org/drawingml/2006/main" noGrp="1"/>
          </p:cNvSpPr>
          <p:nvPr/>
        </p:nvSpPr>
        <p:spPr>
          <a:xfrm xmlns:a="http://schemas.openxmlformats.org/drawingml/2006/main">
            <a:off x="84010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Record review</a:t>
            </a:r>
          </a:p>
        </p:txBody>
      </p:sp>
      <p:sp>
        <p:nvSpPr>
          <p:cNvPr id="33" name="">
            <a:extLst xmlns:a="http://schemas.openxmlformats.org/drawingml/2006/main">
              <a:ext uri="{FF2B5EF4-FFF2-40B4-BE49-F238E27FC236}">
                <a16:creationId xmlns:a16="http://schemas.microsoft.com/office/drawing/2014/main" id="{84953103-C28A-4581-B1B2-23DD35DEDE4A}"/>
              </a:ext>
            </a:extLst>
          </p:cNvPr>
          <p:cNvSpPr>
            <a:spLocks xmlns:a="http://schemas.openxmlformats.org/drawingml/2006/main" noGrp="1"/>
          </p:cNvSpPr>
          <p:nvPr/>
        </p:nvSpPr>
        <p:spPr>
          <a:xfrm xmlns:a="http://schemas.openxmlformats.org/drawingml/2006/main">
            <a:off x="84010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Save feedback</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+Review history</a:t>
            </a:r>
          </a:p>
        </p:txBody>
      </p:sp>
      <p:sp>
        <p:nvSpPr>
          <p:cNvPr id="34" name="">
            <a:extLst xmlns:a="http://schemas.openxmlformats.org/drawingml/2006/main">
              <a:ext uri="{FF2B5EF4-FFF2-40B4-BE49-F238E27FC236}">
                <a16:creationId xmlns:a16="http://schemas.microsoft.com/office/drawing/2014/main" id="{AF4BD2EC-9169-4EEF-B81D-A6F1B3E4BFBB}"/>
              </a:ext>
            </a:extLst>
          </p:cNvPr>
          <p:cNvSpPr>
            <a:spLocks xmlns:a="http://schemas.openxmlformats.org/drawingml/2006/main" noGrp="1"/>
          </p:cNvSpPr>
          <p:nvPr/>
        </p:nvSpPr>
        <p:spPr>
          <a:xfrm xmlns:a="http://schemas.openxmlformats.org/drawingml/2006/main">
            <a:off x="98869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35" name="">
            <a:extLst xmlns:a="http://schemas.openxmlformats.org/drawingml/2006/main">
              <a:ext uri="{FF2B5EF4-FFF2-40B4-BE49-F238E27FC236}">
                <a16:creationId xmlns:a16="http://schemas.microsoft.com/office/drawing/2014/main" id="{42882322-DDEF-4DD6-B821-0A1D394EAF69}"/>
              </a:ext>
            </a:extLst>
          </p:cNvPr>
          <p:cNvSpPr>
            <a:spLocks xmlns:a="http://schemas.openxmlformats.org/drawingml/2006/main" noGrp="1"/>
          </p:cNvSpPr>
          <p:nvPr/>
        </p:nvSpPr>
        <p:spPr>
          <a:xfrm xmlns:a="http://schemas.openxmlformats.org/drawingml/2006/main">
            <a:off x="101060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03C2578-F7E2-4D8A-8D27-C03713D21BE1}"/>
              </a:ext>
            </a:extLst>
          </p:cNvPr>
          <p:cNvSpPr>
            <a:spLocks xmlns:a="http://schemas.openxmlformats.org/drawingml/2006/main" noGrp="1"/>
          </p:cNvSpPr>
          <p:nvPr/>
        </p:nvSpPr>
        <p:spPr>
          <a:xfrm xmlns:a="http://schemas.openxmlformats.org/drawingml/2006/main">
            <a:off x="101727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3012EEE8-E5C4-4B70-9D75-2109047E388B}"/>
              </a:ext>
            </a:extLst>
          </p:cNvPr>
          <p:cNvSpPr>
            <a:spLocks xmlns:a="http://schemas.openxmlformats.org/drawingml/2006/main" noGrp="1"/>
          </p:cNvSpPr>
          <p:nvPr/>
        </p:nvSpPr>
        <p:spPr>
          <a:xfrm xmlns:a="http://schemas.openxmlformats.org/drawingml/2006/main">
            <a:off x="103441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06</a:t>
            </a:r>
          </a:p>
        </p:txBody>
      </p:sp>
      <p:sp>
        <p:nvSpPr>
          <p:cNvPr id="38" name="">
            <a:extLst xmlns:a="http://schemas.openxmlformats.org/drawingml/2006/main">
              <a:ext uri="{FF2B5EF4-FFF2-40B4-BE49-F238E27FC236}">
                <a16:creationId xmlns:a16="http://schemas.microsoft.com/office/drawing/2014/main" id="{B97BA72B-19A7-4596-872D-69C596313394}"/>
              </a:ext>
            </a:extLst>
          </p:cNvPr>
          <p:cNvSpPr>
            <a:spLocks xmlns:a="http://schemas.openxmlformats.org/drawingml/2006/main" noGrp="1"/>
          </p:cNvSpPr>
          <p:nvPr/>
        </p:nvSpPr>
        <p:spPr>
          <a:xfrm xmlns:a="http://schemas.openxmlformats.org/drawingml/2006/main">
            <a:off x="103441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Test</a:t>
            </a:r>
          </a:p>
        </p:txBody>
      </p:sp>
      <p:sp>
        <p:nvSpPr>
          <p:cNvPr id="39" name="">
            <a:extLst xmlns:a="http://schemas.openxmlformats.org/drawingml/2006/main">
              <a:ext uri="{FF2B5EF4-FFF2-40B4-BE49-F238E27FC236}">
                <a16:creationId xmlns:a16="http://schemas.microsoft.com/office/drawing/2014/main" id="{16BC2826-40AA-4880-9AC9-21D530D02083}"/>
              </a:ext>
            </a:extLst>
          </p:cNvPr>
          <p:cNvSpPr>
            <a:spLocks xmlns:a="http://schemas.openxmlformats.org/drawingml/2006/main" noGrp="1"/>
          </p:cNvSpPr>
          <p:nvPr/>
        </p:nvSpPr>
        <p:spPr>
          <a:xfrm xmlns:a="http://schemas.openxmlformats.org/drawingml/2006/main">
            <a:off x="103441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Safety checks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+Answer quality</a:t>
            </a:r>
          </a:p>
        </p:txBody>
      </p:sp>
      <p:sp>
        <p:nvSpPr>
          <p:cNvPr id="40" name="">
            <a:extLst xmlns:a="http://schemas.openxmlformats.org/drawingml/2006/main">
              <a:ext uri="{FF2B5EF4-FFF2-40B4-BE49-F238E27FC236}">
                <a16:creationId xmlns:a16="http://schemas.microsoft.com/office/drawing/2014/main" id="{D350146E-B910-4C6B-8B25-9691A18C181A}"/>
              </a:ext>
            </a:extLst>
          </p:cNvPr>
          <p:cNvSpPr>
            <a:spLocks xmlns:a="http://schemas.openxmlformats.org/drawingml/2006/main" noGrp="1"/>
          </p:cNvSpPr>
          <p:nvPr/>
        </p:nvSpPr>
        <p:spPr>
          <a:xfrm xmlns:a="http://schemas.openxmlformats.org/drawingml/2006/main">
            <a:off x="6667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EVERY ANSWER SHOWS</a:t>
            </a:r>
          </a:p>
        </p:txBody>
      </p:sp>
      <p:sp>
        <p:nvSpPr>
          <p:cNvPr id="41" name="">
            <a:extLst xmlns:a="http://schemas.openxmlformats.org/drawingml/2006/main">
              <a:ext uri="{FF2B5EF4-FFF2-40B4-BE49-F238E27FC236}">
                <a16:creationId xmlns:a16="http://schemas.microsoft.com/office/drawing/2014/main" id="{F3606AD5-43D2-4B67-9F89-5718F494C2B6}"/>
              </a:ext>
            </a:extLst>
          </p:cNvPr>
          <p:cNvSpPr>
            <a:spLocks xmlns:a="http://schemas.openxmlformats.org/drawingml/2006/main" noGrp="1"/>
          </p:cNvSpPr>
          <p:nvPr/>
        </p:nvSpPr>
        <p:spPr>
          <a:xfrm xmlns:a="http://schemas.openxmlformats.org/drawingml/2006/main">
            <a:off x="6667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Source links</a:t>
            </a:r>
          </a:p>
        </p:txBody>
      </p:sp>
      <p:sp>
        <p:nvSpPr>
          <p:cNvPr id="42" name="">
            <a:extLst xmlns:a="http://schemas.openxmlformats.org/drawingml/2006/main">
              <a:ext uri="{FF2B5EF4-FFF2-40B4-BE49-F238E27FC236}">
                <a16:creationId xmlns:a16="http://schemas.microsoft.com/office/drawing/2014/main" id="{AF1C23ED-F947-4C14-BBF5-09976092A34C}"/>
              </a:ext>
            </a:extLst>
          </p:cNvPr>
          <p:cNvSpPr>
            <a:spLocks xmlns:a="http://schemas.openxmlformats.org/drawingml/2006/main" noGrp="1"/>
          </p:cNvSpPr>
          <p:nvPr/>
        </p:nvSpPr>
        <p:spPr>
          <a:xfrm xmlns:a="http://schemas.openxmlformats.org/drawingml/2006/main">
            <a:off x="27241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IF RECORDS DISAGREE</a:t>
            </a:r>
          </a:p>
        </p:txBody>
      </p:sp>
      <p:sp>
        <p:nvSpPr>
          <p:cNvPr id="43" name="">
            <a:extLst xmlns:a="http://schemas.openxmlformats.org/drawingml/2006/main">
              <a:ext uri="{FF2B5EF4-FFF2-40B4-BE49-F238E27FC236}">
                <a16:creationId xmlns:a16="http://schemas.microsoft.com/office/drawing/2014/main" id="{32191551-D536-47CA-822E-4FEB35337EEE}"/>
              </a:ext>
            </a:extLst>
          </p:cNvPr>
          <p:cNvSpPr>
            <a:spLocks xmlns:a="http://schemas.openxmlformats.org/drawingml/2006/main" noGrp="1"/>
          </p:cNvSpPr>
          <p:nvPr/>
        </p:nvSpPr>
        <p:spPr>
          <a:xfrm xmlns:a="http://schemas.openxmlformats.org/drawingml/2006/main">
            <a:off x="27241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Both versions</a:t>
            </a:r>
          </a:p>
        </p:txBody>
      </p:sp>
      <p:sp>
        <p:nvSpPr>
          <p:cNvPr id="44" name="">
            <a:extLst xmlns:a="http://schemas.openxmlformats.org/drawingml/2006/main">
              <a:ext uri="{FF2B5EF4-FFF2-40B4-BE49-F238E27FC236}">
                <a16:creationId xmlns:a16="http://schemas.microsoft.com/office/drawing/2014/main" id="{AEC7CD8B-B244-43F2-BB01-B482333E9582}"/>
              </a:ext>
            </a:extLst>
          </p:cNvPr>
          <p:cNvSpPr>
            <a:spLocks xmlns:a="http://schemas.openxmlformats.org/drawingml/2006/main" noGrp="1"/>
          </p:cNvSpPr>
          <p:nvPr/>
        </p:nvSpPr>
        <p:spPr>
          <a:xfrm xmlns:a="http://schemas.openxmlformats.org/drawingml/2006/main">
            <a:off x="47815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IF EVIDENCE IS WEAK</a:t>
            </a:r>
          </a:p>
        </p:txBody>
      </p:sp>
      <p:sp>
        <p:nvSpPr>
          <p:cNvPr id="45" name="">
            <a:extLst xmlns:a="http://schemas.openxmlformats.org/drawingml/2006/main">
              <a:ext uri="{FF2B5EF4-FFF2-40B4-BE49-F238E27FC236}">
                <a16:creationId xmlns:a16="http://schemas.microsoft.com/office/drawing/2014/main" id="{79192A81-2EEC-4D1F-8D12-D0727CF30856}"/>
              </a:ext>
            </a:extLst>
          </p:cNvPr>
          <p:cNvSpPr>
            <a:spLocks xmlns:a="http://schemas.openxmlformats.org/drawingml/2006/main" noGrp="1"/>
          </p:cNvSpPr>
          <p:nvPr/>
        </p:nvSpPr>
        <p:spPr>
          <a:xfrm xmlns:a="http://schemas.openxmlformats.org/drawingml/2006/main">
            <a:off x="47815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No answer</a:t>
            </a:r>
          </a:p>
        </p:txBody>
      </p:sp>
      <p:sp>
        <p:nvSpPr>
          <p:cNvPr id="46" name="">
            <a:extLst xmlns:a="http://schemas.openxmlformats.org/drawingml/2006/main">
              <a:ext uri="{FF2B5EF4-FFF2-40B4-BE49-F238E27FC236}">
                <a16:creationId xmlns:a16="http://schemas.microsoft.com/office/drawing/2014/main" id="{2818B8FF-F3AE-4D7D-A424-70176ADCF49D}"/>
              </a:ext>
            </a:extLst>
          </p:cNvPr>
          <p:cNvSpPr>
            <a:spLocks xmlns:a="http://schemas.openxmlformats.org/drawingml/2006/main" noGrp="1"/>
          </p:cNvSpPr>
          <p:nvPr/>
        </p:nvSpPr>
        <p:spPr>
          <a:xfrm xmlns:a="http://schemas.openxmlformats.org/drawingml/2006/main">
            <a:off x="68389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WHO DECIDES</a:t>
            </a:r>
          </a:p>
        </p:txBody>
      </p:sp>
      <p:sp>
        <p:nvSpPr>
          <p:cNvPr id="47" name="">
            <a:extLst xmlns:a="http://schemas.openxmlformats.org/drawingml/2006/main">
              <a:ext uri="{FF2B5EF4-FFF2-40B4-BE49-F238E27FC236}">
                <a16:creationId xmlns:a16="http://schemas.microsoft.com/office/drawing/2014/main" id="{4A8FF9D9-EED2-4593-BECD-77BC018B7E0F}"/>
              </a:ext>
            </a:extLst>
          </p:cNvPr>
          <p:cNvSpPr>
            <a:spLocks xmlns:a="http://schemas.openxmlformats.org/drawingml/2006/main" noGrp="1"/>
          </p:cNvSpPr>
          <p:nvPr/>
        </p:nvSpPr>
        <p:spPr>
          <a:xfrm xmlns:a="http://schemas.openxmlformats.org/drawingml/2006/main">
            <a:off x="68389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A person</a:t>
            </a:r>
          </a:p>
        </p:txBody>
      </p:sp>
      <p:sp>
        <p:nvSpPr>
          <p:cNvPr id="48" name="">
            <a:extLst xmlns:a="http://schemas.openxmlformats.org/drawingml/2006/main">
              <a:ext uri="{FF2B5EF4-FFF2-40B4-BE49-F238E27FC236}">
                <a16:creationId xmlns:a16="http://schemas.microsoft.com/office/drawing/2014/main" id="{D03FF9AB-3C93-403C-9A1B-7B087E9DC393}"/>
              </a:ext>
            </a:extLst>
          </p:cNvPr>
          <p:cNvSpPr>
            <a:spLocks xmlns:a="http://schemas.openxmlformats.org/drawingml/2006/main" noGrp="1"/>
          </p:cNvSpPr>
          <p:nvPr/>
        </p:nvSpPr>
        <p:spPr>
          <a:xfrm xmlns:a="http://schemas.openxmlformats.org/drawingml/2006/main">
            <a:off x="88963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REAL FOUNDATION DATA</a:t>
            </a:r>
          </a:p>
        </p:txBody>
      </p:sp>
      <p:sp>
        <p:nvSpPr>
          <p:cNvPr id="49" name="">
            <a:extLst xmlns:a="http://schemas.openxmlformats.org/drawingml/2006/main">
              <a:ext uri="{FF2B5EF4-FFF2-40B4-BE49-F238E27FC236}">
                <a16:creationId xmlns:a16="http://schemas.microsoft.com/office/drawing/2014/main" id="{4E0E2D79-88B2-45F9-8033-8D4F08FF5FA8}"/>
              </a:ext>
            </a:extLst>
          </p:cNvPr>
          <p:cNvSpPr>
            <a:spLocks xmlns:a="http://schemas.openxmlformats.org/drawingml/2006/main" noGrp="1"/>
          </p:cNvSpPr>
          <p:nvPr/>
        </p:nvSpPr>
        <p:spPr>
          <a:xfrm xmlns:a="http://schemas.openxmlformats.org/drawingml/2006/main">
            <a:off x="88963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None</a:t>
            </a:r>
          </a:p>
        </p:txBody>
      </p:sp>
      <p:sp>
        <p:nvSpPr>
          <p:cNvPr id="50" name="">
            <a:extLst xmlns:a="http://schemas.openxmlformats.org/drawingml/2006/main">
              <a:ext uri="{FF2B5EF4-FFF2-40B4-BE49-F238E27FC236}">
                <a16:creationId xmlns:a16="http://schemas.microsoft.com/office/drawing/2014/main" id="{B5F19F94-82C6-400E-8FEC-03185779B363}"/>
              </a:ext>
            </a:extLst>
          </p:cNvPr>
          <p:cNvSpPr>
            <a:spLocks xmlns:a="http://schemas.openxmlformats.org/drawingml/2006/main" noGrp="1"/>
          </p:cNvSpPr>
          <p:nvPr/>
        </p:nvSpPr>
        <p:spPr>
          <a:xfrm xmlns:a="http://schemas.openxmlformats.org/drawingml/2006/main">
            <a:off x="666750" y="5429250"/>
            <a:ext cx="10858500" cy="476250"/>
          </a:xfrm>
          <a:prstGeom xmlns:a="http://schemas.openxmlformats.org/drawingml/2006/main" prst="roundRect">
            <a:avLst>
              <a:gd name="adj" fmla="val 28000"/>
            </a:avLst>
          </a:prstGeom>
          <a:solidFill xmlns:a="http://schemas.openxmlformats.org/drawingml/2006/main">
            <a:srgbClr val="F0EBF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889614D6-D9EA-4872-866B-C419A3CBA547}"/>
              </a:ext>
            </a:extLst>
          </p:cNvPr>
          <p:cNvSpPr>
            <a:spLocks xmlns:a="http://schemas.openxmlformats.org/drawingml/2006/main" noGrp="1"/>
          </p:cNvSpPr>
          <p:nvPr/>
        </p:nvSpPr>
        <p:spPr>
          <a:xfrm xmlns:a="http://schemas.openxmlformats.org/drawingml/2006/main">
            <a:off x="876300" y="5524500"/>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7657B3"/>
                </a:solidFill>
                <a:latin typeface="Helvetica Neue"/>
                <a:ea typeface="Helvetica Neue"/>
                <a:cs typeface="Helvetica Neue"/>
              </a:defRPr>
            </a:pPr>
            <a:r>
              <a:rPr sz="1125" b="1">
                <a:solidFill>
                  <a:srgbClr val="7657B3"/>
                </a:solidFill>
                <a:latin typeface="Helvetica Neue"/>
                <a:ea typeface="Helvetica Neue"/>
                <a:cs typeface="Helvetica Neue"/>
              </a:rPr>
              <a:t>A real pilot starts only after the team agrees on access, ownership, and how success will be measured.</a:t>
            </a:r>
          </a:p>
        </p:txBody>
      </p:sp>
    </p:spTree>
    <p:extLst>
      <p:ext uri="{BB962C8B-B14F-4D97-AF65-F5344CB8AC3E}">
        <p14:creationId xmlns:p14="http://schemas.microsoft.com/office/powerpoint/2010/main" val="707279236"/>
      </p:ext>
    </p:extLst>
  </p:cSld>
</p:sld>
</file>

<file path=ppt/slides/slide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7555A2BD-CE7D-4D69-9B0E-143EE459C1AE}"/>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TRUST AND PERMISSIONS</a:t>
            </a:r>
          </a:p>
        </p:txBody>
      </p:sp>
      <p:sp>
        <p:nvSpPr>
          <p:cNvPr id="2" name="">
            <a:extLst xmlns:a="http://schemas.openxmlformats.org/drawingml/2006/main">
              <a:ext uri="{FF2B5EF4-FFF2-40B4-BE49-F238E27FC236}">
                <a16:creationId xmlns:a16="http://schemas.microsoft.com/office/drawing/2014/main" id="{42D52086-69CD-4EDB-B236-57044EF58010}"/>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A73FF058-06F2-4CF9-8756-5A3C509AFFFF}"/>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6E65854B-F2F0-476E-B5CF-9353BEAC1C9F}"/>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How I would protect people and information</a:t>
            </a:r>
          </a:p>
        </p:txBody>
      </p:sp>
      <p:sp>
        <p:nvSpPr>
          <p:cNvPr id="5" name="">
            <a:extLst xmlns:a="http://schemas.openxmlformats.org/drawingml/2006/main">
              <a:ext uri="{FF2B5EF4-FFF2-40B4-BE49-F238E27FC236}">
                <a16:creationId xmlns:a16="http://schemas.microsoft.com/office/drawing/2014/main" id="{74804C00-A1B0-4BB8-B28E-23CDF7297E78}"/>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system must never reveal more than the original source already allows.</a:t>
            </a:r>
          </a:p>
        </p:txBody>
      </p:sp>
      <p:sp>
        <p:nvSpPr>
          <p:cNvPr id="6" name="">
            <a:extLst xmlns:a="http://schemas.openxmlformats.org/drawingml/2006/main">
              <a:ext uri="{FF2B5EF4-FFF2-40B4-BE49-F238E27FC236}">
                <a16:creationId xmlns:a16="http://schemas.microsoft.com/office/drawing/2014/main" id="{28674437-5118-4B59-91E1-D64593E52850}"/>
              </a:ext>
            </a:extLst>
          </p:cNvPr>
          <p:cNvSpPr>
            <a:spLocks xmlns:a="http://schemas.openxmlformats.org/drawingml/2006/main" noGrp="1"/>
          </p:cNvSpPr>
          <p:nvPr/>
        </p:nvSpPr>
        <p:spPr>
          <a:xfrm xmlns:a="http://schemas.openxmlformats.org/drawingml/2006/main">
            <a:off x="5905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1EA75DFC-CA63-48FE-B484-2197B48771F1}"/>
              </a:ext>
            </a:extLst>
          </p:cNvPr>
          <p:cNvSpPr>
            <a:spLocks xmlns:a="http://schemas.openxmlformats.org/drawingml/2006/main" noGrp="1"/>
          </p:cNvSpPr>
          <p:nvPr/>
        </p:nvSpPr>
        <p:spPr>
          <a:xfrm xmlns:a="http://schemas.openxmlformats.org/drawingml/2006/main">
            <a:off x="7429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3538E50C-5405-455B-A155-B80B8CAAFFD4}"/>
              </a:ext>
            </a:extLst>
          </p:cNvPr>
          <p:cNvSpPr>
            <a:spLocks xmlns:a="http://schemas.openxmlformats.org/drawingml/2006/main" noGrp="1"/>
          </p:cNvSpPr>
          <p:nvPr/>
        </p:nvSpPr>
        <p:spPr>
          <a:xfrm xmlns:a="http://schemas.openxmlformats.org/drawingml/2006/main">
            <a:off x="7429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Confirm person</a:t>
            </a:r>
          </a:p>
        </p:txBody>
      </p:sp>
      <p:sp>
        <p:nvSpPr>
          <p:cNvPr id="9" name="">
            <a:extLst xmlns:a="http://schemas.openxmlformats.org/drawingml/2006/main">
              <a:ext uri="{FF2B5EF4-FFF2-40B4-BE49-F238E27FC236}">
                <a16:creationId xmlns:a16="http://schemas.microsoft.com/office/drawing/2014/main" id="{5F165C2B-0EEA-460D-BB7D-B3C8CA2C94D6}"/>
              </a:ext>
            </a:extLst>
          </p:cNvPr>
          <p:cNvSpPr>
            <a:spLocks xmlns:a="http://schemas.openxmlformats.org/drawingml/2006/main" noGrp="1"/>
          </p:cNvSpPr>
          <p:nvPr/>
        </p:nvSpPr>
        <p:spPr>
          <a:xfrm xmlns:a="http://schemas.openxmlformats.org/drawingml/2006/main">
            <a:off x="7429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Approved sign-in</a:t>
            </a:r>
          </a:p>
        </p:txBody>
      </p:sp>
      <p:sp>
        <p:nvSpPr>
          <p:cNvPr id="10" name="">
            <a:extLst xmlns:a="http://schemas.openxmlformats.org/drawingml/2006/main">
              <a:ext uri="{FF2B5EF4-FFF2-40B4-BE49-F238E27FC236}">
                <a16:creationId xmlns:a16="http://schemas.microsoft.com/office/drawing/2014/main" id="{F4D43C85-2CB6-4B62-A100-DB58D5D6106C}"/>
              </a:ext>
            </a:extLst>
          </p:cNvPr>
          <p:cNvSpPr>
            <a:spLocks xmlns:a="http://schemas.openxmlformats.org/drawingml/2006/main" noGrp="1"/>
          </p:cNvSpPr>
          <p:nvPr/>
        </p:nvSpPr>
        <p:spPr>
          <a:xfrm xmlns:a="http://schemas.openxmlformats.org/drawingml/2006/main">
            <a:off x="24003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DB2A7D0A-991A-46B9-8920-640555D2081F}"/>
              </a:ext>
            </a:extLst>
          </p:cNvPr>
          <p:cNvSpPr>
            <a:spLocks xmlns:a="http://schemas.openxmlformats.org/drawingml/2006/main" noGrp="1"/>
          </p:cNvSpPr>
          <p:nvPr/>
        </p:nvSpPr>
        <p:spPr>
          <a:xfrm xmlns:a="http://schemas.openxmlformats.org/drawingml/2006/main">
            <a:off x="281940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2" name="">
            <a:extLst xmlns:a="http://schemas.openxmlformats.org/drawingml/2006/main">
              <a:ext uri="{FF2B5EF4-FFF2-40B4-BE49-F238E27FC236}">
                <a16:creationId xmlns:a16="http://schemas.microsoft.com/office/drawing/2014/main" id="{736CB955-2821-424A-B5EB-BA34DEBD630C}"/>
              </a:ext>
            </a:extLst>
          </p:cNvPr>
          <p:cNvSpPr>
            <a:spLocks xmlns:a="http://schemas.openxmlformats.org/drawingml/2006/main" noGrp="1"/>
          </p:cNvSpPr>
          <p:nvPr/>
        </p:nvSpPr>
        <p:spPr>
          <a:xfrm xmlns:a="http://schemas.openxmlformats.org/drawingml/2006/main">
            <a:off x="29718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DDE09095-0C6B-4CFB-8FBD-16FF0F1A9574}"/>
              </a:ext>
            </a:extLst>
          </p:cNvPr>
          <p:cNvSpPr>
            <a:spLocks xmlns:a="http://schemas.openxmlformats.org/drawingml/2006/main" noGrp="1"/>
          </p:cNvSpPr>
          <p:nvPr/>
        </p:nvSpPr>
        <p:spPr>
          <a:xfrm xmlns:a="http://schemas.openxmlformats.org/drawingml/2006/main">
            <a:off x="29718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Confirm access</a:t>
            </a:r>
          </a:p>
        </p:txBody>
      </p:sp>
      <p:sp>
        <p:nvSpPr>
          <p:cNvPr id="14" name="">
            <a:extLst xmlns:a="http://schemas.openxmlformats.org/drawingml/2006/main">
              <a:ext uri="{FF2B5EF4-FFF2-40B4-BE49-F238E27FC236}">
                <a16:creationId xmlns:a16="http://schemas.microsoft.com/office/drawing/2014/main" id="{08EF92C2-F18C-4716-9254-1CC1A9955A9D}"/>
              </a:ext>
            </a:extLst>
          </p:cNvPr>
          <p:cNvSpPr>
            <a:spLocks xmlns:a="http://schemas.openxmlformats.org/drawingml/2006/main" noGrp="1"/>
          </p:cNvSpPr>
          <p:nvPr/>
        </p:nvSpPr>
        <p:spPr>
          <a:xfrm xmlns:a="http://schemas.openxmlformats.org/drawingml/2006/main">
            <a:off x="29718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What they may see</a:t>
            </a:r>
          </a:p>
        </p:txBody>
      </p:sp>
      <p:sp>
        <p:nvSpPr>
          <p:cNvPr id="15" name="">
            <a:extLst xmlns:a="http://schemas.openxmlformats.org/drawingml/2006/main">
              <a:ext uri="{FF2B5EF4-FFF2-40B4-BE49-F238E27FC236}">
                <a16:creationId xmlns:a16="http://schemas.microsoft.com/office/drawing/2014/main" id="{6CECE1B0-D4C7-43B4-AFC6-A12E5B5D9014}"/>
              </a:ext>
            </a:extLst>
          </p:cNvPr>
          <p:cNvSpPr>
            <a:spLocks xmlns:a="http://schemas.openxmlformats.org/drawingml/2006/main" noGrp="1"/>
          </p:cNvSpPr>
          <p:nvPr/>
        </p:nvSpPr>
        <p:spPr>
          <a:xfrm xmlns:a="http://schemas.openxmlformats.org/drawingml/2006/main">
            <a:off x="46291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6" name="">
            <a:extLst xmlns:a="http://schemas.openxmlformats.org/drawingml/2006/main">
              <a:ext uri="{FF2B5EF4-FFF2-40B4-BE49-F238E27FC236}">
                <a16:creationId xmlns:a16="http://schemas.microsoft.com/office/drawing/2014/main" id="{2B08032A-6A2B-493E-875B-FC56119765EC}"/>
              </a:ext>
            </a:extLst>
          </p:cNvPr>
          <p:cNvSpPr>
            <a:spLocks xmlns:a="http://schemas.openxmlformats.org/drawingml/2006/main" noGrp="1"/>
          </p:cNvSpPr>
          <p:nvPr/>
        </p:nvSpPr>
        <p:spPr>
          <a:xfrm xmlns:a="http://schemas.openxmlformats.org/drawingml/2006/main">
            <a:off x="50482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89FF2B36-6E73-458B-BE7F-DD243A1C1503}"/>
              </a:ext>
            </a:extLst>
          </p:cNvPr>
          <p:cNvSpPr>
            <a:spLocks xmlns:a="http://schemas.openxmlformats.org/drawingml/2006/main" noGrp="1"/>
          </p:cNvSpPr>
          <p:nvPr/>
        </p:nvSpPr>
        <p:spPr>
          <a:xfrm xmlns:a="http://schemas.openxmlformats.org/drawingml/2006/main">
            <a:off x="52006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967B7463-6D69-46C5-814E-87C04CC405BB}"/>
              </a:ext>
            </a:extLst>
          </p:cNvPr>
          <p:cNvSpPr>
            <a:spLocks xmlns:a="http://schemas.openxmlformats.org/drawingml/2006/main" noGrp="1"/>
          </p:cNvSpPr>
          <p:nvPr/>
        </p:nvSpPr>
        <p:spPr>
          <a:xfrm xmlns:a="http://schemas.openxmlformats.org/drawingml/2006/main">
            <a:off x="52006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Search</a:t>
            </a:r>
          </a:p>
        </p:txBody>
      </p:sp>
      <p:sp>
        <p:nvSpPr>
          <p:cNvPr id="19" name="">
            <a:extLst xmlns:a="http://schemas.openxmlformats.org/drawingml/2006/main">
              <a:ext uri="{FF2B5EF4-FFF2-40B4-BE49-F238E27FC236}">
                <a16:creationId xmlns:a16="http://schemas.microsoft.com/office/drawing/2014/main" id="{832BF162-7065-41C5-A9F6-BF27E971B3DB}"/>
              </a:ext>
            </a:extLst>
          </p:cNvPr>
          <p:cNvSpPr>
            <a:spLocks xmlns:a="http://schemas.openxmlformats.org/drawingml/2006/main" noGrp="1"/>
          </p:cNvSpPr>
          <p:nvPr/>
        </p:nvSpPr>
        <p:spPr>
          <a:xfrm xmlns:a="http://schemas.openxmlformats.org/drawingml/2006/main">
            <a:off x="52006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Allowed records only</a:t>
            </a:r>
          </a:p>
        </p:txBody>
      </p:sp>
      <p:sp>
        <p:nvSpPr>
          <p:cNvPr id="20" name="">
            <a:extLst xmlns:a="http://schemas.openxmlformats.org/drawingml/2006/main">
              <a:ext uri="{FF2B5EF4-FFF2-40B4-BE49-F238E27FC236}">
                <a16:creationId xmlns:a16="http://schemas.microsoft.com/office/drawing/2014/main" id="{81F29FBA-6BCC-41CC-A994-917AD6A8C052}"/>
              </a:ext>
            </a:extLst>
          </p:cNvPr>
          <p:cNvSpPr>
            <a:spLocks xmlns:a="http://schemas.openxmlformats.org/drawingml/2006/main" noGrp="1"/>
          </p:cNvSpPr>
          <p:nvPr/>
        </p:nvSpPr>
        <p:spPr>
          <a:xfrm xmlns:a="http://schemas.openxmlformats.org/drawingml/2006/main">
            <a:off x="68580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1" name="">
            <a:extLst xmlns:a="http://schemas.openxmlformats.org/drawingml/2006/main">
              <a:ext uri="{FF2B5EF4-FFF2-40B4-BE49-F238E27FC236}">
                <a16:creationId xmlns:a16="http://schemas.microsoft.com/office/drawing/2014/main" id="{CE0E3103-F95E-49FA-9534-1FC7AFA43448}"/>
              </a:ext>
            </a:extLst>
          </p:cNvPr>
          <p:cNvSpPr>
            <a:spLocks xmlns:a="http://schemas.openxmlformats.org/drawingml/2006/main" noGrp="1"/>
          </p:cNvSpPr>
          <p:nvPr/>
        </p:nvSpPr>
        <p:spPr>
          <a:xfrm xmlns:a="http://schemas.openxmlformats.org/drawingml/2006/main">
            <a:off x="7277100" y="2400300"/>
            <a:ext cx="1809750" cy="1162050"/>
          </a:xfrm>
          <a:prstGeom xmlns:a="http://schemas.openxmlformats.org/drawingml/2006/main" prst="roundRect">
            <a:avLst>
              <a:gd name="adj" fmla="val 13115"/>
            </a:avLst>
          </a:prstGeom>
          <a:solidFill xmlns:a="http://schemas.openxmlformats.org/drawingml/2006/main">
            <a:srgbClr val="F0EBF7"/>
          </a:solidFill>
          <a:ln xmlns:a="http://schemas.openxmlformats.org/drawingml/2006/main" w="9525">
            <a:solidFill>
              <a:srgbClr val="7657B3"/>
            </a:solidFill>
          </a:ln>
        </p:spPr>
      </p:sp>
      <p:sp>
        <p:nvSpPr>
          <p:cNvPr id="22" name="">
            <a:extLst xmlns:a="http://schemas.openxmlformats.org/drawingml/2006/main">
              <a:ext uri="{FF2B5EF4-FFF2-40B4-BE49-F238E27FC236}">
                <a16:creationId xmlns:a16="http://schemas.microsoft.com/office/drawing/2014/main" id="{0A0D1EAD-A305-49AC-9DE8-1720494B5577}"/>
              </a:ext>
            </a:extLst>
          </p:cNvPr>
          <p:cNvSpPr>
            <a:spLocks xmlns:a="http://schemas.openxmlformats.org/drawingml/2006/main" noGrp="1"/>
          </p:cNvSpPr>
          <p:nvPr/>
        </p:nvSpPr>
        <p:spPr>
          <a:xfrm xmlns:a="http://schemas.openxmlformats.org/drawingml/2006/main">
            <a:off x="74295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EBD80C2D-FA8B-466C-B13D-81A4EB5645AA}"/>
              </a:ext>
            </a:extLst>
          </p:cNvPr>
          <p:cNvSpPr>
            <a:spLocks xmlns:a="http://schemas.openxmlformats.org/drawingml/2006/main" noGrp="1"/>
          </p:cNvSpPr>
          <p:nvPr/>
        </p:nvSpPr>
        <p:spPr>
          <a:xfrm xmlns:a="http://schemas.openxmlformats.org/drawingml/2006/main">
            <a:off x="74295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Explain</a:t>
            </a:r>
          </a:p>
        </p:txBody>
      </p:sp>
      <p:sp>
        <p:nvSpPr>
          <p:cNvPr id="24" name="">
            <a:extLst xmlns:a="http://schemas.openxmlformats.org/drawingml/2006/main">
              <a:ext uri="{FF2B5EF4-FFF2-40B4-BE49-F238E27FC236}">
                <a16:creationId xmlns:a16="http://schemas.microsoft.com/office/drawing/2014/main" id="{E01EDB90-64A9-4304-AAF5-7E6272582643}"/>
              </a:ext>
            </a:extLst>
          </p:cNvPr>
          <p:cNvSpPr>
            <a:spLocks xmlns:a="http://schemas.openxmlformats.org/drawingml/2006/main" noGrp="1"/>
          </p:cNvSpPr>
          <p:nvPr/>
        </p:nvSpPr>
        <p:spPr>
          <a:xfrm xmlns:a="http://schemas.openxmlformats.org/drawingml/2006/main">
            <a:off x="74295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Answer with links</a:t>
            </a:r>
          </a:p>
        </p:txBody>
      </p:sp>
      <p:sp>
        <p:nvSpPr>
          <p:cNvPr id="25" name="">
            <a:extLst xmlns:a="http://schemas.openxmlformats.org/drawingml/2006/main">
              <a:ext uri="{FF2B5EF4-FFF2-40B4-BE49-F238E27FC236}">
                <a16:creationId xmlns:a16="http://schemas.microsoft.com/office/drawing/2014/main" id="{66B28434-CBA2-4CC5-BF94-A38022745EE8}"/>
              </a:ext>
            </a:extLst>
          </p:cNvPr>
          <p:cNvSpPr>
            <a:spLocks xmlns:a="http://schemas.openxmlformats.org/drawingml/2006/main" noGrp="1"/>
          </p:cNvSpPr>
          <p:nvPr/>
        </p:nvSpPr>
        <p:spPr>
          <a:xfrm xmlns:a="http://schemas.openxmlformats.org/drawingml/2006/main">
            <a:off x="90868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6" name="">
            <a:extLst xmlns:a="http://schemas.openxmlformats.org/drawingml/2006/main">
              <a:ext uri="{FF2B5EF4-FFF2-40B4-BE49-F238E27FC236}">
                <a16:creationId xmlns:a16="http://schemas.microsoft.com/office/drawing/2014/main" id="{0EEBD4C9-2581-4D93-A1CD-D8AB2A15BB9E}"/>
              </a:ext>
            </a:extLst>
          </p:cNvPr>
          <p:cNvSpPr>
            <a:spLocks xmlns:a="http://schemas.openxmlformats.org/drawingml/2006/main" noGrp="1"/>
          </p:cNvSpPr>
          <p:nvPr/>
        </p:nvSpPr>
        <p:spPr>
          <a:xfrm xmlns:a="http://schemas.openxmlformats.org/drawingml/2006/main">
            <a:off x="95059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27" name="">
            <a:extLst xmlns:a="http://schemas.openxmlformats.org/drawingml/2006/main">
              <a:ext uri="{FF2B5EF4-FFF2-40B4-BE49-F238E27FC236}">
                <a16:creationId xmlns:a16="http://schemas.microsoft.com/office/drawing/2014/main" id="{1DEC81BE-0670-40A3-9397-56F05AE61E00}"/>
              </a:ext>
            </a:extLst>
          </p:cNvPr>
          <p:cNvSpPr>
            <a:spLocks xmlns:a="http://schemas.openxmlformats.org/drawingml/2006/main" noGrp="1"/>
          </p:cNvSpPr>
          <p:nvPr/>
        </p:nvSpPr>
        <p:spPr>
          <a:xfrm xmlns:a="http://schemas.openxmlformats.org/drawingml/2006/main">
            <a:off x="96583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FA085D78-9CCE-422D-9040-F3AFCA245FC1}"/>
              </a:ext>
            </a:extLst>
          </p:cNvPr>
          <p:cNvSpPr>
            <a:spLocks xmlns:a="http://schemas.openxmlformats.org/drawingml/2006/main" noGrp="1"/>
          </p:cNvSpPr>
          <p:nvPr/>
        </p:nvSpPr>
        <p:spPr>
          <a:xfrm xmlns:a="http://schemas.openxmlformats.org/drawingml/2006/main">
            <a:off x="96583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Open source</a:t>
            </a:r>
          </a:p>
        </p:txBody>
      </p:sp>
      <p:sp>
        <p:nvSpPr>
          <p:cNvPr id="29" name="">
            <a:extLst xmlns:a="http://schemas.openxmlformats.org/drawingml/2006/main">
              <a:ext uri="{FF2B5EF4-FFF2-40B4-BE49-F238E27FC236}">
                <a16:creationId xmlns:a16="http://schemas.microsoft.com/office/drawing/2014/main" id="{82C4F0A4-9283-4221-B264-A4D7DD5552D5}"/>
              </a:ext>
            </a:extLst>
          </p:cNvPr>
          <p:cNvSpPr>
            <a:spLocks xmlns:a="http://schemas.openxmlformats.org/drawingml/2006/main" noGrp="1"/>
          </p:cNvSpPr>
          <p:nvPr/>
        </p:nvSpPr>
        <p:spPr>
          <a:xfrm xmlns:a="http://schemas.openxmlformats.org/drawingml/2006/main">
            <a:off x="96583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Check access again</a:t>
            </a:r>
          </a:p>
        </p:txBody>
      </p:sp>
      <p:sp>
        <p:nvSpPr>
          <p:cNvPr id="30" name="">
            <a:extLst xmlns:a="http://schemas.openxmlformats.org/drawingml/2006/main">
              <a:ext uri="{FF2B5EF4-FFF2-40B4-BE49-F238E27FC236}">
                <a16:creationId xmlns:a16="http://schemas.microsoft.com/office/drawing/2014/main" id="{9883E8E7-733E-4421-B6B3-2F6735D320C8}"/>
              </a:ext>
            </a:extLst>
          </p:cNvPr>
          <p:cNvSpPr>
            <a:spLocks xmlns:a="http://schemas.openxmlformats.org/drawingml/2006/main" noGrp="1"/>
          </p:cNvSpPr>
          <p:nvPr/>
        </p:nvSpPr>
        <p:spPr>
          <a:xfrm xmlns:a="http://schemas.openxmlformats.org/drawingml/2006/main">
            <a:off x="666750" y="4057650"/>
            <a:ext cx="5238750" cy="1333500"/>
          </a:xfrm>
          <a:prstGeom xmlns:a="http://schemas.openxmlformats.org/drawingml/2006/main" prst="roundRect">
            <a:avLst>
              <a:gd name="adj" fmla="val 12857"/>
            </a:avLst>
          </a:prstGeom>
          <a:solidFill xmlns:a="http://schemas.openxmlformats.org/drawingml/2006/main">
            <a:srgbClr val="25152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DA98966-90F6-4458-9E40-CF481785E21D}"/>
              </a:ext>
            </a:extLst>
          </p:cNvPr>
          <p:cNvSpPr>
            <a:spLocks xmlns:a="http://schemas.openxmlformats.org/drawingml/2006/main" noGrp="1"/>
          </p:cNvSpPr>
          <p:nvPr/>
        </p:nvSpPr>
        <p:spPr>
          <a:xfrm xmlns:a="http://schemas.openxmlformats.org/drawingml/2006/main">
            <a:off x="895350" y="42767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9A76"/>
                </a:solidFill>
                <a:latin typeface="Helvetica Neue"/>
                <a:ea typeface="Helvetica Neue"/>
                <a:cs typeface="Helvetica Neue"/>
              </a:defRPr>
            </a:pPr>
            <a:r>
              <a:rPr sz="825" b="1">
                <a:solidFill>
                  <a:srgbClr val="FF9A76"/>
                </a:solidFill>
                <a:latin typeface="Helvetica Neue"/>
                <a:ea typeface="Helvetica Neue"/>
                <a:cs typeface="Helvetica Neue"/>
              </a:rPr>
              <a:t>WHAT THE DEMO TESTS</a:t>
            </a:r>
          </a:p>
        </p:txBody>
      </p:sp>
      <p:sp>
        <p:nvSpPr>
          <p:cNvPr id="32" name="">
            <a:extLst xmlns:a="http://schemas.openxmlformats.org/drawingml/2006/main">
              <a:ext uri="{FF2B5EF4-FFF2-40B4-BE49-F238E27FC236}">
                <a16:creationId xmlns:a16="http://schemas.microsoft.com/office/drawing/2014/main" id="{5997165D-31BA-48CB-8EA1-CC1D0CC48397}"/>
              </a:ext>
            </a:extLst>
          </p:cNvPr>
          <p:cNvSpPr>
            <a:spLocks xmlns:a="http://schemas.openxmlformats.org/drawingml/2006/main" noGrp="1"/>
          </p:cNvSpPr>
          <p:nvPr/>
        </p:nvSpPr>
        <p:spPr>
          <a:xfrm xmlns:a="http://schemas.openxmlformats.org/drawingml/2006/main">
            <a:off x="895350" y="46291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Nine safety checks pass</a:t>
            </a:r>
          </a:p>
        </p:txBody>
      </p:sp>
      <p:sp>
        <p:nvSpPr>
          <p:cNvPr id="33" name="">
            <a:extLst xmlns:a="http://schemas.openxmlformats.org/drawingml/2006/main">
              <a:ext uri="{FF2B5EF4-FFF2-40B4-BE49-F238E27FC236}">
                <a16:creationId xmlns:a16="http://schemas.microsoft.com/office/drawing/2014/main" id="{E98E3891-E99B-4FEA-8E49-1D4163B92BD9}"/>
              </a:ext>
            </a:extLst>
          </p:cNvPr>
          <p:cNvSpPr>
            <a:spLocks xmlns:a="http://schemas.openxmlformats.org/drawingml/2006/main" noGrp="1"/>
          </p:cNvSpPr>
          <p:nvPr/>
        </p:nvSpPr>
        <p:spPr>
          <a:xfrm xmlns:a="http://schemas.openxmlformats.org/drawingml/2006/main">
            <a:off x="895350" y="50292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C9BECF"/>
                </a:solidFill>
                <a:latin typeface="Helvetica Neue"/>
                <a:ea typeface="Helvetica Neue"/>
                <a:cs typeface="Helvetica Neue"/>
              </a:defRPr>
            </a:pPr>
            <a:r>
              <a:rPr sz="900" b="0">
                <a:solidFill>
                  <a:srgbClr val="C9BECF"/>
                </a:solidFill>
                <a:latin typeface="Helvetica Neue"/>
                <a:ea typeface="Helvetica Neue"/>
                <a:cs typeface="Helvetica Neue"/>
              </a:rPr>
              <a:t>Access, source links, conflicting records, and unsafe instructions.</a:t>
            </a:r>
          </a:p>
        </p:txBody>
      </p:sp>
      <p:sp>
        <p:nvSpPr>
          <p:cNvPr id="34" name="">
            <a:extLst xmlns:a="http://schemas.openxmlformats.org/drawingml/2006/main">
              <a:ext uri="{FF2B5EF4-FFF2-40B4-BE49-F238E27FC236}">
                <a16:creationId xmlns:a16="http://schemas.microsoft.com/office/drawing/2014/main" id="{E82548C1-8F67-40FC-8F80-242BF75A5C7C}"/>
              </a:ext>
            </a:extLst>
          </p:cNvPr>
          <p:cNvSpPr>
            <a:spLocks xmlns:a="http://schemas.openxmlformats.org/drawingml/2006/main" noGrp="1"/>
          </p:cNvSpPr>
          <p:nvPr/>
        </p:nvSpPr>
        <p:spPr>
          <a:xfrm xmlns:a="http://schemas.openxmlformats.org/drawingml/2006/main">
            <a:off x="6191250" y="4057650"/>
            <a:ext cx="5334000" cy="1333500"/>
          </a:xfrm>
          <a:prstGeom xmlns:a="http://schemas.openxmlformats.org/drawingml/2006/main" prst="roundRect">
            <a:avLst>
              <a:gd name="adj" fmla="val 12857"/>
            </a:avLst>
          </a:prstGeom>
          <a:solidFill xmlns:a="http://schemas.openxmlformats.org/drawingml/2006/main">
            <a:srgbClr val="FFF5D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842D676-18EC-4661-AAF8-21FD6D2345BC}"/>
              </a:ext>
            </a:extLst>
          </p:cNvPr>
          <p:cNvSpPr>
            <a:spLocks xmlns:a="http://schemas.openxmlformats.org/drawingml/2006/main" noGrp="1"/>
          </p:cNvSpPr>
          <p:nvPr/>
        </p:nvSpPr>
        <p:spPr>
          <a:xfrm xmlns:a="http://schemas.openxmlformats.org/drawingml/2006/main">
            <a:off x="6419850" y="42767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REPORTS CAN CONTAIN BAD INSTRUCTIONS</a:t>
            </a:r>
          </a:p>
        </p:txBody>
      </p:sp>
      <p:sp>
        <p:nvSpPr>
          <p:cNvPr id="36" name="">
            <a:extLst xmlns:a="http://schemas.openxmlformats.org/drawingml/2006/main">
              <a:ext uri="{FF2B5EF4-FFF2-40B4-BE49-F238E27FC236}">
                <a16:creationId xmlns:a16="http://schemas.microsoft.com/office/drawing/2014/main" id="{18B194A7-D264-4FE5-87A9-CDDBD4B4571F}"/>
              </a:ext>
            </a:extLst>
          </p:cNvPr>
          <p:cNvSpPr>
            <a:spLocks xmlns:a="http://schemas.openxmlformats.org/drawingml/2006/main" noGrp="1"/>
          </p:cNvSpPr>
          <p:nvPr/>
        </p:nvSpPr>
        <p:spPr>
          <a:xfrm xmlns:a="http://schemas.openxmlformats.org/drawingml/2006/main">
            <a:off x="6419850" y="46291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Treat retrieved text as evidence, not commands</a:t>
            </a:r>
          </a:p>
        </p:txBody>
      </p:sp>
      <p:sp>
        <p:nvSpPr>
          <p:cNvPr id="37" name="">
            <a:extLst xmlns:a="http://schemas.openxmlformats.org/drawingml/2006/main">
              <a:ext uri="{FF2B5EF4-FFF2-40B4-BE49-F238E27FC236}">
                <a16:creationId xmlns:a16="http://schemas.microsoft.com/office/drawing/2014/main" id="{936DE93B-40B7-436A-8256-A97A06CBCA42}"/>
              </a:ext>
            </a:extLst>
          </p:cNvPr>
          <p:cNvSpPr>
            <a:spLocks xmlns:a="http://schemas.openxmlformats.org/drawingml/2006/main" noGrp="1"/>
          </p:cNvSpPr>
          <p:nvPr/>
        </p:nvSpPr>
        <p:spPr>
          <a:xfrm xmlns:a="http://schemas.openxmlformats.org/drawingml/2006/main">
            <a:off x="6419850" y="50292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Keep actions separate, limit what tools can do, and stop when content looks unsafe.</a:t>
            </a:r>
          </a:p>
        </p:txBody>
      </p:sp>
    </p:spTree>
    <p:extLst>
      <p:ext uri="{BB962C8B-B14F-4D97-AF65-F5344CB8AC3E}">
        <p14:creationId xmlns:p14="http://schemas.microsoft.com/office/powerpoint/2010/main" val="144686729"/>
      </p:ext>
    </p:extLst>
  </p:cSld>
</p:sld>
</file>

<file path=ppt/slides/slide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4A2C95D-0EEC-4363-BEA3-CD516ED62A61}"/>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RISKS AND EDGE CASES</a:t>
            </a:r>
          </a:p>
        </p:txBody>
      </p:sp>
      <p:sp>
        <p:nvSpPr>
          <p:cNvPr id="2" name="">
            <a:extLst xmlns:a="http://schemas.openxmlformats.org/drawingml/2006/main">
              <a:ext uri="{FF2B5EF4-FFF2-40B4-BE49-F238E27FC236}">
                <a16:creationId xmlns:a16="http://schemas.microsoft.com/office/drawing/2014/main" id="{ED1321DB-4A5E-48A0-B317-FD5259D58D64}"/>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F58936B4-3D1E-4C53-B38A-2A90B0C31CD3}"/>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3AD419ED-416C-4687-BC64-68924F37DB2D}"/>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How the system can fail</a:t>
            </a:r>
          </a:p>
        </p:txBody>
      </p:sp>
      <p:sp>
        <p:nvSpPr>
          <p:cNvPr id="5" name="">
            <a:extLst xmlns:a="http://schemas.openxmlformats.org/drawingml/2006/main">
              <a:ext uri="{FF2B5EF4-FFF2-40B4-BE49-F238E27FC236}">
                <a16:creationId xmlns:a16="http://schemas.microsoft.com/office/drawing/2014/main" id="{36FC8D69-BFD3-4C15-AE7C-FEF6F6196779}"/>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good answer can say that records conflict, information is missing, or the evidence is too weak.</a:t>
            </a:r>
          </a:p>
        </p:txBody>
      </p:sp>
      <p:sp>
        <p:nvSpPr>
          <p:cNvPr id="6" name="">
            <a:extLst xmlns:a="http://schemas.openxmlformats.org/drawingml/2006/main">
              <a:ext uri="{FF2B5EF4-FFF2-40B4-BE49-F238E27FC236}">
                <a16:creationId xmlns:a16="http://schemas.microsoft.com/office/drawing/2014/main" id="{CDD3A90F-5BA1-4103-ABA4-8B3D2C20EA1D}"/>
              </a:ext>
            </a:extLst>
          </p:cNvPr>
          <p:cNvSpPr>
            <a:spLocks xmlns:a="http://schemas.openxmlformats.org/drawingml/2006/main" noGrp="1"/>
          </p:cNvSpPr>
          <p:nvPr/>
        </p:nvSpPr>
        <p:spPr>
          <a:xfrm xmlns:a="http://schemas.openxmlformats.org/drawingml/2006/main">
            <a:off x="666750" y="2057400"/>
            <a:ext cx="242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FAILURE</a:t>
            </a:r>
          </a:p>
        </p:txBody>
      </p:sp>
      <p:sp>
        <p:nvSpPr>
          <p:cNvPr id="7" name="">
            <a:extLst xmlns:a="http://schemas.openxmlformats.org/drawingml/2006/main">
              <a:ext uri="{FF2B5EF4-FFF2-40B4-BE49-F238E27FC236}">
                <a16:creationId xmlns:a16="http://schemas.microsoft.com/office/drawing/2014/main" id="{DC32187D-CD9B-464F-A3AA-CCC326832F71}"/>
              </a:ext>
            </a:extLst>
          </p:cNvPr>
          <p:cNvSpPr>
            <a:spLocks xmlns:a="http://schemas.openxmlformats.org/drawingml/2006/main" noGrp="1"/>
          </p:cNvSpPr>
          <p:nvPr/>
        </p:nvSpPr>
        <p:spPr>
          <a:xfrm xmlns:a="http://schemas.openxmlformats.org/drawingml/2006/main">
            <a:off x="3409950" y="20574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PREVENTION</a:t>
            </a:r>
          </a:p>
        </p:txBody>
      </p:sp>
      <p:sp>
        <p:nvSpPr>
          <p:cNvPr id="8" name="">
            <a:extLst xmlns:a="http://schemas.openxmlformats.org/drawingml/2006/main">
              <a:ext uri="{FF2B5EF4-FFF2-40B4-BE49-F238E27FC236}">
                <a16:creationId xmlns:a16="http://schemas.microsoft.com/office/drawing/2014/main" id="{763E634F-FCA9-4863-836E-249F0DE24791}"/>
              </a:ext>
            </a:extLst>
          </p:cNvPr>
          <p:cNvSpPr>
            <a:spLocks xmlns:a="http://schemas.openxmlformats.org/drawingml/2006/main" noGrp="1"/>
          </p:cNvSpPr>
          <p:nvPr/>
        </p:nvSpPr>
        <p:spPr>
          <a:xfrm xmlns:a="http://schemas.openxmlformats.org/drawingml/2006/main">
            <a:off x="7239000" y="20574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USER EXPERIENCE</a:t>
            </a:r>
          </a:p>
        </p:txBody>
      </p:sp>
      <p:sp>
        <p:nvSpPr>
          <p:cNvPr id="9" name="">
            <a:extLst xmlns:a="http://schemas.openxmlformats.org/drawingml/2006/main">
              <a:ext uri="{FF2B5EF4-FFF2-40B4-BE49-F238E27FC236}">
                <a16:creationId xmlns:a16="http://schemas.microsoft.com/office/drawing/2014/main" id="{D9B4363E-2A93-4250-970E-E4A32FE43456}"/>
              </a:ext>
            </a:extLst>
          </p:cNvPr>
          <p:cNvSpPr>
            <a:spLocks xmlns:a="http://schemas.openxmlformats.org/drawingml/2006/main" noGrp="1"/>
          </p:cNvSpPr>
          <p:nvPr/>
        </p:nvSpPr>
        <p:spPr>
          <a:xfrm xmlns:a="http://schemas.openxmlformats.org/drawingml/2006/main">
            <a:off x="666750" y="2343150"/>
            <a:ext cx="101917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0" name="">
            <a:extLst xmlns:a="http://schemas.openxmlformats.org/drawingml/2006/main">
              <a:ext uri="{FF2B5EF4-FFF2-40B4-BE49-F238E27FC236}">
                <a16:creationId xmlns:a16="http://schemas.microsoft.com/office/drawing/2014/main" id="{59D20D23-915B-4DE3-B6D3-237017E3ACFC}"/>
              </a:ext>
            </a:extLst>
          </p:cNvPr>
          <p:cNvSpPr>
            <a:spLocks xmlns:a="http://schemas.openxmlformats.org/drawingml/2006/main" noGrp="1"/>
          </p:cNvSpPr>
          <p:nvPr/>
        </p:nvSpPr>
        <p:spPr>
          <a:xfrm xmlns:a="http://schemas.openxmlformats.org/drawingml/2006/main">
            <a:off x="666750" y="24765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29F749-C551-410B-B8F8-675333C3DBCB}"/>
              </a:ext>
            </a:extLst>
          </p:cNvPr>
          <p:cNvSpPr>
            <a:spLocks xmlns:a="http://schemas.openxmlformats.org/drawingml/2006/main" noGrp="1"/>
          </p:cNvSpPr>
          <p:nvPr/>
        </p:nvSpPr>
        <p:spPr>
          <a:xfrm xmlns:a="http://schemas.openxmlformats.org/drawingml/2006/main">
            <a:off x="838200" y="25622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Private information appears</a:t>
            </a:r>
          </a:p>
        </p:txBody>
      </p:sp>
      <p:sp>
        <p:nvSpPr>
          <p:cNvPr id="12" name="">
            <a:extLst xmlns:a="http://schemas.openxmlformats.org/drawingml/2006/main">
              <a:ext uri="{FF2B5EF4-FFF2-40B4-BE49-F238E27FC236}">
                <a16:creationId xmlns:a16="http://schemas.microsoft.com/office/drawing/2014/main" id="{EA1C3C26-727D-472D-B10A-BDC49E584783}"/>
              </a:ext>
            </a:extLst>
          </p:cNvPr>
          <p:cNvSpPr>
            <a:spLocks xmlns:a="http://schemas.openxmlformats.org/drawingml/2006/main" noGrp="1"/>
          </p:cNvSpPr>
          <p:nvPr/>
        </p:nvSpPr>
        <p:spPr>
          <a:xfrm xmlns:a="http://schemas.openxmlformats.org/drawingml/2006/main">
            <a:off x="3409950" y="25622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Check access before searching</a:t>
            </a:r>
          </a:p>
        </p:txBody>
      </p:sp>
      <p:sp>
        <p:nvSpPr>
          <p:cNvPr id="13" name="">
            <a:extLst xmlns:a="http://schemas.openxmlformats.org/drawingml/2006/main">
              <a:ext uri="{FF2B5EF4-FFF2-40B4-BE49-F238E27FC236}">
                <a16:creationId xmlns:a16="http://schemas.microsoft.com/office/drawing/2014/main" id="{13DD14C7-2FBB-417F-BBD8-8DD1AF25F7E6}"/>
              </a:ext>
            </a:extLst>
          </p:cNvPr>
          <p:cNvSpPr>
            <a:spLocks xmlns:a="http://schemas.openxmlformats.org/drawingml/2006/main" noGrp="1"/>
          </p:cNvSpPr>
          <p:nvPr/>
        </p:nvSpPr>
        <p:spPr>
          <a:xfrm xmlns:a="http://schemas.openxmlformats.org/drawingml/2006/main">
            <a:off x="7239000" y="25622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Stop the answer and alert security</a:t>
            </a:r>
          </a:p>
        </p:txBody>
      </p:sp>
      <p:sp>
        <p:nvSpPr>
          <p:cNvPr id="14" name="">
            <a:extLst xmlns:a="http://schemas.openxmlformats.org/drawingml/2006/main">
              <a:ext uri="{FF2B5EF4-FFF2-40B4-BE49-F238E27FC236}">
                <a16:creationId xmlns:a16="http://schemas.microsoft.com/office/drawing/2014/main" id="{113E27EF-9FC7-475D-86E2-98B048694D33}"/>
              </a:ext>
            </a:extLst>
          </p:cNvPr>
          <p:cNvSpPr>
            <a:spLocks xmlns:a="http://schemas.openxmlformats.org/drawingml/2006/main" noGrp="1"/>
          </p:cNvSpPr>
          <p:nvPr/>
        </p:nvSpPr>
        <p:spPr>
          <a:xfrm xmlns:a="http://schemas.openxmlformats.org/drawingml/2006/main">
            <a:off x="838200" y="30765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Forecast shown as a result</a:t>
            </a:r>
          </a:p>
        </p:txBody>
      </p:sp>
      <p:sp>
        <p:nvSpPr>
          <p:cNvPr id="15" name="">
            <a:extLst xmlns:a="http://schemas.openxmlformats.org/drawingml/2006/main">
              <a:ext uri="{FF2B5EF4-FFF2-40B4-BE49-F238E27FC236}">
                <a16:creationId xmlns:a16="http://schemas.microsoft.com/office/drawing/2014/main" id="{F5FFD0FD-1173-404A-8550-FCD87AAFE880}"/>
              </a:ext>
            </a:extLst>
          </p:cNvPr>
          <p:cNvSpPr>
            <a:spLocks xmlns:a="http://schemas.openxmlformats.org/drawingml/2006/main" noGrp="1"/>
          </p:cNvSpPr>
          <p:nvPr/>
        </p:nvSpPr>
        <p:spPr>
          <a:xfrm xmlns:a="http://schemas.openxmlformats.org/drawingml/2006/main">
            <a:off x="3409950" y="3076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Label forecast, result, and date</a:t>
            </a:r>
          </a:p>
        </p:txBody>
      </p:sp>
      <p:sp>
        <p:nvSpPr>
          <p:cNvPr id="16" name="">
            <a:extLst xmlns:a="http://schemas.openxmlformats.org/drawingml/2006/main">
              <a:ext uri="{FF2B5EF4-FFF2-40B4-BE49-F238E27FC236}">
                <a16:creationId xmlns:a16="http://schemas.microsoft.com/office/drawing/2014/main" id="{0D33E24B-3510-44E3-A6CB-FE8682F58D3B}"/>
              </a:ext>
            </a:extLst>
          </p:cNvPr>
          <p:cNvSpPr>
            <a:spLocks xmlns:a="http://schemas.openxmlformats.org/drawingml/2006/main" noGrp="1"/>
          </p:cNvSpPr>
          <p:nvPr/>
        </p:nvSpPr>
        <p:spPr>
          <a:xfrm xmlns:a="http://schemas.openxmlformats.org/drawingml/2006/main">
            <a:off x="7239000" y="30765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Compare them clearly</a:t>
            </a:r>
          </a:p>
        </p:txBody>
      </p:sp>
      <p:sp>
        <p:nvSpPr>
          <p:cNvPr id="17" name="">
            <a:extLst xmlns:a="http://schemas.openxmlformats.org/drawingml/2006/main">
              <a:ext uri="{FF2B5EF4-FFF2-40B4-BE49-F238E27FC236}">
                <a16:creationId xmlns:a16="http://schemas.microsoft.com/office/drawing/2014/main" id="{41C9B2E0-47CD-42FB-9066-39FCE4049DD8}"/>
              </a:ext>
            </a:extLst>
          </p:cNvPr>
          <p:cNvSpPr>
            <a:spLocks xmlns:a="http://schemas.openxmlformats.org/drawingml/2006/main" noGrp="1"/>
          </p:cNvSpPr>
          <p:nvPr/>
        </p:nvSpPr>
        <p:spPr>
          <a:xfrm xmlns:a="http://schemas.openxmlformats.org/drawingml/2006/main">
            <a:off x="666750" y="35052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17F5292-7741-44B6-937F-53EE321AAEC8}"/>
              </a:ext>
            </a:extLst>
          </p:cNvPr>
          <p:cNvSpPr>
            <a:spLocks xmlns:a="http://schemas.openxmlformats.org/drawingml/2006/main" noGrp="1"/>
          </p:cNvSpPr>
          <p:nvPr/>
        </p:nvSpPr>
        <p:spPr>
          <a:xfrm xmlns:a="http://schemas.openxmlformats.org/drawingml/2006/main">
            <a:off x="838200" y="35909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Records disagree</a:t>
            </a:r>
          </a:p>
        </p:txBody>
      </p:sp>
      <p:sp>
        <p:nvSpPr>
          <p:cNvPr id="19" name="">
            <a:extLst xmlns:a="http://schemas.openxmlformats.org/drawingml/2006/main">
              <a:ext uri="{FF2B5EF4-FFF2-40B4-BE49-F238E27FC236}">
                <a16:creationId xmlns:a16="http://schemas.microsoft.com/office/drawing/2014/main" id="{3FB98AE7-FC90-4AE1-BD1F-134C16A98423}"/>
              </a:ext>
            </a:extLst>
          </p:cNvPr>
          <p:cNvSpPr>
            <a:spLocks xmlns:a="http://schemas.openxmlformats.org/drawingml/2006/main" noGrp="1"/>
          </p:cNvSpPr>
          <p:nvPr/>
        </p:nvSpPr>
        <p:spPr>
          <a:xfrm xmlns:a="http://schemas.openxmlformats.org/drawingml/2006/main">
            <a:off x="3409950" y="35909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Decide which system owns each fact</a:t>
            </a:r>
          </a:p>
        </p:txBody>
      </p:sp>
      <p:sp>
        <p:nvSpPr>
          <p:cNvPr id="20" name="">
            <a:extLst xmlns:a="http://schemas.openxmlformats.org/drawingml/2006/main">
              <a:ext uri="{FF2B5EF4-FFF2-40B4-BE49-F238E27FC236}">
                <a16:creationId xmlns:a16="http://schemas.microsoft.com/office/drawing/2014/main" id="{0417C5F1-AB16-47C1-852D-52A5F378962A}"/>
              </a:ext>
            </a:extLst>
          </p:cNvPr>
          <p:cNvSpPr>
            <a:spLocks xmlns:a="http://schemas.openxmlformats.org/drawingml/2006/main" noGrp="1"/>
          </p:cNvSpPr>
          <p:nvPr/>
        </p:nvSpPr>
        <p:spPr>
          <a:xfrm xmlns:a="http://schemas.openxmlformats.org/drawingml/2006/main">
            <a:off x="7239000" y="35909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both, with date and owner</a:t>
            </a:r>
          </a:p>
        </p:txBody>
      </p:sp>
      <p:sp>
        <p:nvSpPr>
          <p:cNvPr id="21" name="">
            <a:extLst xmlns:a="http://schemas.openxmlformats.org/drawingml/2006/main">
              <a:ext uri="{FF2B5EF4-FFF2-40B4-BE49-F238E27FC236}">
                <a16:creationId xmlns:a16="http://schemas.microsoft.com/office/drawing/2014/main" id="{96A2BD2B-EDED-48FB-AB94-3A310D5B053D}"/>
              </a:ext>
            </a:extLst>
          </p:cNvPr>
          <p:cNvSpPr>
            <a:spLocks xmlns:a="http://schemas.openxmlformats.org/drawingml/2006/main" noGrp="1"/>
          </p:cNvSpPr>
          <p:nvPr/>
        </p:nvSpPr>
        <p:spPr>
          <a:xfrm xmlns:a="http://schemas.openxmlformats.org/drawingml/2006/main">
            <a:off x="838200" y="41052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Two organizations get merged</a:t>
            </a:r>
          </a:p>
        </p:txBody>
      </p:sp>
      <p:sp>
        <p:nvSpPr>
          <p:cNvPr id="22" name="">
            <a:extLst xmlns:a="http://schemas.openxmlformats.org/drawingml/2006/main">
              <a:ext uri="{FF2B5EF4-FFF2-40B4-BE49-F238E27FC236}">
                <a16:creationId xmlns:a16="http://schemas.microsoft.com/office/drawing/2014/main" id="{E00038A1-B2B8-4266-B301-FCD68B36F916}"/>
              </a:ext>
            </a:extLst>
          </p:cNvPr>
          <p:cNvSpPr>
            <a:spLocks xmlns:a="http://schemas.openxmlformats.org/drawingml/2006/main" noGrp="1"/>
          </p:cNvSpPr>
          <p:nvPr/>
        </p:nvSpPr>
        <p:spPr>
          <a:xfrm xmlns:a="http://schemas.openxmlformats.org/drawingml/2006/main">
            <a:off x="3409950" y="41052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Use stable IDs and review uncertain matches</a:t>
            </a:r>
          </a:p>
        </p:txBody>
      </p:sp>
      <p:sp>
        <p:nvSpPr>
          <p:cNvPr id="23" name="">
            <a:extLst xmlns:a="http://schemas.openxmlformats.org/drawingml/2006/main">
              <a:ext uri="{FF2B5EF4-FFF2-40B4-BE49-F238E27FC236}">
                <a16:creationId xmlns:a16="http://schemas.microsoft.com/office/drawing/2014/main" id="{047FFDBE-8733-49E6-A3B0-C5629C64ABEB}"/>
              </a:ext>
            </a:extLst>
          </p:cNvPr>
          <p:cNvSpPr>
            <a:spLocks xmlns:a="http://schemas.openxmlformats.org/drawingml/2006/main" noGrp="1"/>
          </p:cNvSpPr>
          <p:nvPr/>
        </p:nvSpPr>
        <p:spPr>
          <a:xfrm xmlns:a="http://schemas.openxmlformats.org/drawingml/2006/main">
            <a:off x="7239000" y="41052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Keep them separate</a:t>
            </a:r>
          </a:p>
        </p:txBody>
      </p:sp>
      <p:sp>
        <p:nvSpPr>
          <p:cNvPr id="24" name="">
            <a:extLst xmlns:a="http://schemas.openxmlformats.org/drawingml/2006/main">
              <a:ext uri="{FF2B5EF4-FFF2-40B4-BE49-F238E27FC236}">
                <a16:creationId xmlns:a16="http://schemas.microsoft.com/office/drawing/2014/main" id="{1F55D7C6-E478-4A00-B759-0B035DC8FFCD}"/>
              </a:ext>
            </a:extLst>
          </p:cNvPr>
          <p:cNvSpPr>
            <a:spLocks xmlns:a="http://schemas.openxmlformats.org/drawingml/2006/main" noGrp="1"/>
          </p:cNvSpPr>
          <p:nvPr/>
        </p:nvSpPr>
        <p:spPr>
          <a:xfrm xmlns:a="http://schemas.openxmlformats.org/drawingml/2006/main">
            <a:off x="666750" y="45339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C9B6A36-D962-4112-A03F-D08F7B391353}"/>
              </a:ext>
            </a:extLst>
          </p:cNvPr>
          <p:cNvSpPr>
            <a:spLocks xmlns:a="http://schemas.openxmlformats.org/drawingml/2006/main" noGrp="1"/>
          </p:cNvSpPr>
          <p:nvPr/>
        </p:nvSpPr>
        <p:spPr>
          <a:xfrm xmlns:a="http://schemas.openxmlformats.org/drawingml/2006/main">
            <a:off x="838200" y="46196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Zoom history is missing</a:t>
            </a:r>
          </a:p>
        </p:txBody>
      </p:sp>
      <p:sp>
        <p:nvSpPr>
          <p:cNvPr id="26" name="">
            <a:extLst xmlns:a="http://schemas.openxmlformats.org/drawingml/2006/main">
              <a:ext uri="{FF2B5EF4-FFF2-40B4-BE49-F238E27FC236}">
                <a16:creationId xmlns:a16="http://schemas.microsoft.com/office/drawing/2014/main" id="{FC715378-3335-45BF-A17D-4D9506008E0B}"/>
              </a:ext>
            </a:extLst>
          </p:cNvPr>
          <p:cNvSpPr>
            <a:spLocks xmlns:a="http://schemas.openxmlformats.org/drawingml/2006/main" noGrp="1"/>
          </p:cNvSpPr>
          <p:nvPr/>
        </p:nvSpPr>
        <p:spPr>
          <a:xfrm xmlns:a="http://schemas.openxmlformats.org/drawingml/2006/main">
            <a:off x="3409950" y="46196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Check retention and coverage</a:t>
            </a:r>
          </a:p>
        </p:txBody>
      </p:sp>
      <p:sp>
        <p:nvSpPr>
          <p:cNvPr id="27" name="">
            <a:extLst xmlns:a="http://schemas.openxmlformats.org/drawingml/2006/main">
              <a:ext uri="{FF2B5EF4-FFF2-40B4-BE49-F238E27FC236}">
                <a16:creationId xmlns:a16="http://schemas.microsoft.com/office/drawing/2014/main" id="{FC418739-58FF-49C0-BF3C-92EB0AF97B4E}"/>
              </a:ext>
            </a:extLst>
          </p:cNvPr>
          <p:cNvSpPr>
            <a:spLocks xmlns:a="http://schemas.openxmlformats.org/drawingml/2006/main" noGrp="1"/>
          </p:cNvSpPr>
          <p:nvPr/>
        </p:nvSpPr>
        <p:spPr>
          <a:xfrm xmlns:a="http://schemas.openxmlformats.org/drawingml/2006/main">
            <a:off x="7239000" y="46196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missing dates and channels</a:t>
            </a:r>
          </a:p>
        </p:txBody>
      </p:sp>
      <p:sp>
        <p:nvSpPr>
          <p:cNvPr id="28" name="">
            <a:extLst xmlns:a="http://schemas.openxmlformats.org/drawingml/2006/main">
              <a:ext uri="{FF2B5EF4-FFF2-40B4-BE49-F238E27FC236}">
                <a16:creationId xmlns:a16="http://schemas.microsoft.com/office/drawing/2014/main" id="{31E7A788-A05B-4900-BA26-5EB67F6D54AD}"/>
              </a:ext>
            </a:extLst>
          </p:cNvPr>
          <p:cNvSpPr>
            <a:spLocks xmlns:a="http://schemas.openxmlformats.org/drawingml/2006/main" noGrp="1"/>
          </p:cNvSpPr>
          <p:nvPr/>
        </p:nvSpPr>
        <p:spPr>
          <a:xfrm xmlns:a="http://schemas.openxmlformats.org/drawingml/2006/main">
            <a:off x="838200" y="51339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There is too little evidence</a:t>
            </a:r>
          </a:p>
        </p:txBody>
      </p:sp>
      <p:sp>
        <p:nvSpPr>
          <p:cNvPr id="29" name="">
            <a:extLst xmlns:a="http://schemas.openxmlformats.org/drawingml/2006/main">
              <a:ext uri="{FF2B5EF4-FFF2-40B4-BE49-F238E27FC236}">
                <a16:creationId xmlns:a16="http://schemas.microsoft.com/office/drawing/2014/main" id="{AC9D987D-F269-46EA-AC14-BC4CF53075E6}"/>
              </a:ext>
            </a:extLst>
          </p:cNvPr>
          <p:cNvSpPr>
            <a:spLocks xmlns:a="http://schemas.openxmlformats.org/drawingml/2006/main" noGrp="1"/>
          </p:cNvSpPr>
          <p:nvPr/>
        </p:nvSpPr>
        <p:spPr>
          <a:xfrm xmlns:a="http://schemas.openxmlformats.org/drawingml/2006/main">
            <a:off x="3409950" y="51339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Require enough support and source links</a:t>
            </a:r>
          </a:p>
        </p:txBody>
      </p:sp>
      <p:sp>
        <p:nvSpPr>
          <p:cNvPr id="30" name="">
            <a:extLst xmlns:a="http://schemas.openxmlformats.org/drawingml/2006/main">
              <a:ext uri="{FF2B5EF4-FFF2-40B4-BE49-F238E27FC236}">
                <a16:creationId xmlns:a16="http://schemas.microsoft.com/office/drawing/2014/main" id="{00719EB6-C3AB-48E2-903F-6FC9B9A9AB4A}"/>
              </a:ext>
            </a:extLst>
          </p:cNvPr>
          <p:cNvSpPr>
            <a:spLocks xmlns:a="http://schemas.openxmlformats.org/drawingml/2006/main" noGrp="1"/>
          </p:cNvSpPr>
          <p:nvPr/>
        </p:nvSpPr>
        <p:spPr>
          <a:xfrm xmlns:a="http://schemas.openxmlformats.org/drawingml/2006/main">
            <a:off x="7239000" y="51339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Say “I do not know”</a:t>
            </a:r>
          </a:p>
        </p:txBody>
      </p:sp>
      <p:sp>
        <p:nvSpPr>
          <p:cNvPr id="31" name="">
            <a:extLst xmlns:a="http://schemas.openxmlformats.org/drawingml/2006/main">
              <a:ext uri="{FF2B5EF4-FFF2-40B4-BE49-F238E27FC236}">
                <a16:creationId xmlns:a16="http://schemas.microsoft.com/office/drawing/2014/main" id="{403D2EC5-C07A-450D-B392-3FF1F566E9EB}"/>
              </a:ext>
            </a:extLst>
          </p:cNvPr>
          <p:cNvSpPr>
            <a:spLocks xmlns:a="http://schemas.openxmlformats.org/drawingml/2006/main" noGrp="1"/>
          </p:cNvSpPr>
          <p:nvPr/>
        </p:nvSpPr>
        <p:spPr>
          <a:xfrm xmlns:a="http://schemas.openxmlformats.org/drawingml/2006/main">
            <a:off x="666750" y="5715000"/>
            <a:ext cx="10191750" cy="381000"/>
          </a:xfrm>
          <a:prstGeom xmlns:a="http://schemas.openxmlformats.org/drawingml/2006/main" prst="roundRect">
            <a:avLst>
              <a:gd name="adj" fmla="val 30000"/>
            </a:avLst>
          </a:prstGeom>
          <a:solidFill xmlns:a="http://schemas.openxmlformats.org/drawingml/2006/main">
            <a:srgbClr val="FFF0E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F0D81DB-41A3-4F56-9A5A-D3CC30A3BFB9}"/>
              </a:ext>
            </a:extLst>
          </p:cNvPr>
          <p:cNvSpPr>
            <a:spLocks xmlns:a="http://schemas.openxmlformats.org/drawingml/2006/main" noGrp="1"/>
          </p:cNvSpPr>
          <p:nvPr/>
        </p:nvSpPr>
        <p:spPr>
          <a:xfrm xmlns:a="http://schemas.openxmlformats.org/drawingml/2006/main">
            <a:off x="876300" y="5781675"/>
            <a:ext cx="9772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Confidence should describe the evidence, not how certain the AI sounds.</a:t>
            </a:r>
          </a:p>
        </p:txBody>
      </p:sp>
    </p:spTree>
    <p:extLst>
      <p:ext uri="{BB962C8B-B14F-4D97-AF65-F5344CB8AC3E}">
        <p14:creationId xmlns:p14="http://schemas.microsoft.com/office/powerpoint/2010/main" val="826448679"/>
      </p:ext>
    </p:extLst>
  </p:cSld>
</p:sld>
</file>

<file path=ppt/slides/slide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DA33CB23-D8D2-49A1-8B60-D394C0C362B8}"/>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TRADEOFFS</a:t>
            </a:r>
          </a:p>
        </p:txBody>
      </p:sp>
      <p:sp>
        <p:nvSpPr>
          <p:cNvPr id="2" name="">
            <a:extLst xmlns:a="http://schemas.openxmlformats.org/drawingml/2006/main">
              <a:ext uri="{FF2B5EF4-FFF2-40B4-BE49-F238E27FC236}">
                <a16:creationId xmlns:a16="http://schemas.microsoft.com/office/drawing/2014/main" id="{60D4E03A-313C-4A4F-93CF-606CB96E2975}"/>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ED9422A-02B6-49DF-A2CB-68B3B5EC102A}"/>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0EF6DD2D-181B-479A-8283-865223D18F4D}"/>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What I would leave out at first</a:t>
            </a:r>
          </a:p>
        </p:txBody>
      </p:sp>
      <p:sp>
        <p:nvSpPr>
          <p:cNvPr id="5" name="">
            <a:extLst xmlns:a="http://schemas.openxmlformats.org/drawingml/2006/main">
              <a:ext uri="{FF2B5EF4-FFF2-40B4-BE49-F238E27FC236}">
                <a16:creationId xmlns:a16="http://schemas.microsoft.com/office/drawing/2014/main" id="{D8236C7B-77B8-4881-BE86-156A935F8882}"/>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first version should answer one important team question safely before taking on more.</a:t>
            </a:r>
          </a:p>
        </p:txBody>
      </p:sp>
      <p:sp>
        <p:nvSpPr>
          <p:cNvPr id="6" name="">
            <a:extLst xmlns:a="http://schemas.openxmlformats.org/drawingml/2006/main">
              <a:ext uri="{FF2B5EF4-FFF2-40B4-BE49-F238E27FC236}">
                <a16:creationId xmlns:a16="http://schemas.microsoft.com/office/drawing/2014/main" id="{C8D75217-8B2B-4BBE-ACCB-7F3B8804B0DE}"/>
              </a:ext>
            </a:extLst>
          </p:cNvPr>
          <p:cNvSpPr>
            <a:spLocks xmlns:a="http://schemas.openxmlformats.org/drawingml/2006/main" noGrp="1"/>
          </p:cNvSpPr>
          <p:nvPr/>
        </p:nvSpPr>
        <p:spPr>
          <a:xfrm xmlns:a="http://schemas.openxmlformats.org/drawingml/2006/main">
            <a:off x="666750" y="20097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IN THE CASE STUDY</a:t>
            </a:r>
          </a:p>
        </p:txBody>
      </p:sp>
      <p:sp>
        <p:nvSpPr>
          <p:cNvPr id="7" name="">
            <a:extLst xmlns:a="http://schemas.openxmlformats.org/drawingml/2006/main">
              <a:ext uri="{FF2B5EF4-FFF2-40B4-BE49-F238E27FC236}">
                <a16:creationId xmlns:a16="http://schemas.microsoft.com/office/drawing/2014/main" id="{F1FDDFB6-1685-4802-B5A8-50DBCA8778E9}"/>
              </a:ext>
            </a:extLst>
          </p:cNvPr>
          <p:cNvSpPr>
            <a:spLocks xmlns:a="http://schemas.openxmlformats.org/drawingml/2006/main" noGrp="1"/>
          </p:cNvSpPr>
          <p:nvPr/>
        </p:nvSpPr>
        <p:spPr>
          <a:xfrm xmlns:a="http://schemas.openxmlformats.org/drawingml/2006/main">
            <a:off x="6381750" y="20097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LEFT OUT AT FIRST</a:t>
            </a:r>
          </a:p>
        </p:txBody>
      </p:sp>
      <p:sp>
        <p:nvSpPr>
          <p:cNvPr id="8" name="">
            <a:extLst xmlns:a="http://schemas.openxmlformats.org/drawingml/2006/main">
              <a:ext uri="{FF2B5EF4-FFF2-40B4-BE49-F238E27FC236}">
                <a16:creationId xmlns:a16="http://schemas.microsoft.com/office/drawing/2014/main" id="{94551100-3E19-4551-9404-444D242D0B0A}"/>
              </a:ext>
            </a:extLst>
          </p:cNvPr>
          <p:cNvSpPr>
            <a:spLocks xmlns:a="http://schemas.openxmlformats.org/drawingml/2006/main" noGrp="1"/>
          </p:cNvSpPr>
          <p:nvPr/>
        </p:nvSpPr>
        <p:spPr>
          <a:xfrm xmlns:a="http://schemas.openxmlformats.org/drawingml/2006/main">
            <a:off x="666750" y="24098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9" name="">
            <a:extLst xmlns:a="http://schemas.openxmlformats.org/drawingml/2006/main">
              <a:ext uri="{FF2B5EF4-FFF2-40B4-BE49-F238E27FC236}">
                <a16:creationId xmlns:a16="http://schemas.microsoft.com/office/drawing/2014/main" id="{0C4B868D-FD26-4887-B156-BC4F588EC6F1}"/>
              </a:ext>
            </a:extLst>
          </p:cNvPr>
          <p:cNvSpPr>
            <a:spLocks xmlns:a="http://schemas.openxmlformats.org/drawingml/2006/main" noGrp="1"/>
          </p:cNvSpPr>
          <p:nvPr/>
        </p:nvSpPr>
        <p:spPr>
          <a:xfrm xmlns:a="http://schemas.openxmlformats.org/drawingml/2006/main">
            <a:off x="838200" y="25431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DF7F0D2-ECFE-4647-942E-86E591A4290C}"/>
              </a:ext>
            </a:extLst>
          </p:cNvPr>
          <p:cNvSpPr>
            <a:spLocks xmlns:a="http://schemas.openxmlformats.org/drawingml/2006/main" noGrp="1"/>
          </p:cNvSpPr>
          <p:nvPr/>
        </p:nvSpPr>
        <p:spPr>
          <a:xfrm xmlns:a="http://schemas.openxmlformats.org/drawingml/2006/main">
            <a:off x="838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DEAD7353-9894-42BE-BDD7-9B4EC0A6A247}"/>
              </a:ext>
            </a:extLst>
          </p:cNvPr>
          <p:cNvSpPr>
            <a:spLocks xmlns:a="http://schemas.openxmlformats.org/drawingml/2006/main" noGrp="1"/>
          </p:cNvSpPr>
          <p:nvPr/>
        </p:nvSpPr>
        <p:spPr>
          <a:xfrm xmlns:a="http://schemas.openxmlformats.org/drawingml/2006/main">
            <a:off x="1123950" y="24860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The most important questions and users</a:t>
            </a:r>
          </a:p>
        </p:txBody>
      </p:sp>
      <p:sp>
        <p:nvSpPr>
          <p:cNvPr id="12" name="">
            <a:extLst xmlns:a="http://schemas.openxmlformats.org/drawingml/2006/main">
              <a:ext uri="{FF2B5EF4-FFF2-40B4-BE49-F238E27FC236}">
                <a16:creationId xmlns:a16="http://schemas.microsoft.com/office/drawing/2014/main" id="{990EDA61-E63D-4E14-B0A5-C3442D1711C6}"/>
              </a:ext>
            </a:extLst>
          </p:cNvPr>
          <p:cNvSpPr>
            <a:spLocks xmlns:a="http://schemas.openxmlformats.org/drawingml/2006/main" noGrp="1"/>
          </p:cNvSpPr>
          <p:nvPr/>
        </p:nvSpPr>
        <p:spPr>
          <a:xfrm xmlns:a="http://schemas.openxmlformats.org/drawingml/2006/main">
            <a:off x="666750" y="29622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972AE261-4FDD-4B5D-829C-950322CCD12B}"/>
              </a:ext>
            </a:extLst>
          </p:cNvPr>
          <p:cNvSpPr>
            <a:spLocks xmlns:a="http://schemas.openxmlformats.org/drawingml/2006/main" noGrp="1"/>
          </p:cNvSpPr>
          <p:nvPr/>
        </p:nvSpPr>
        <p:spPr>
          <a:xfrm xmlns:a="http://schemas.openxmlformats.org/drawingml/2006/main">
            <a:off x="838200" y="30956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4B3D62D-0A6B-430B-BD45-02B64E86F896}"/>
              </a:ext>
            </a:extLst>
          </p:cNvPr>
          <p:cNvSpPr>
            <a:spLocks xmlns:a="http://schemas.openxmlformats.org/drawingml/2006/main" noGrp="1"/>
          </p:cNvSpPr>
          <p:nvPr/>
        </p:nvSpPr>
        <p:spPr>
          <a:xfrm xmlns:a="http://schemas.openxmlformats.org/drawingml/2006/main">
            <a:off x="838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EC3F25D4-448B-410C-B355-56CEBD0C5C89}"/>
              </a:ext>
            </a:extLst>
          </p:cNvPr>
          <p:cNvSpPr>
            <a:spLocks xmlns:a="http://schemas.openxmlformats.org/drawingml/2006/main" noGrp="1"/>
          </p:cNvSpPr>
          <p:nvPr/>
        </p:nvSpPr>
        <p:spPr>
          <a:xfrm xmlns:a="http://schemas.openxmlformats.org/drawingml/2006/main">
            <a:off x="1123950" y="30384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Which system owns each fact</a:t>
            </a:r>
          </a:p>
        </p:txBody>
      </p:sp>
      <p:sp>
        <p:nvSpPr>
          <p:cNvPr id="16" name="">
            <a:extLst xmlns:a="http://schemas.openxmlformats.org/drawingml/2006/main">
              <a:ext uri="{FF2B5EF4-FFF2-40B4-BE49-F238E27FC236}">
                <a16:creationId xmlns:a16="http://schemas.microsoft.com/office/drawing/2014/main" id="{6A6DC629-D058-44AC-A63A-8879550EAEBB}"/>
              </a:ext>
            </a:extLst>
          </p:cNvPr>
          <p:cNvSpPr>
            <a:spLocks xmlns:a="http://schemas.openxmlformats.org/drawingml/2006/main" noGrp="1"/>
          </p:cNvSpPr>
          <p:nvPr/>
        </p:nvSpPr>
        <p:spPr>
          <a:xfrm xmlns:a="http://schemas.openxmlformats.org/drawingml/2006/main">
            <a:off x="666750" y="35147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2847FEAD-4038-4F5D-BC32-32DA1AD21E31}"/>
              </a:ext>
            </a:extLst>
          </p:cNvPr>
          <p:cNvSpPr>
            <a:spLocks xmlns:a="http://schemas.openxmlformats.org/drawingml/2006/main" noGrp="1"/>
          </p:cNvSpPr>
          <p:nvPr/>
        </p:nvSpPr>
        <p:spPr>
          <a:xfrm xmlns:a="http://schemas.openxmlformats.org/drawingml/2006/main">
            <a:off x="838200" y="36480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23AD4E5-19F3-4AD0-8125-DFFBE4C40107}"/>
              </a:ext>
            </a:extLst>
          </p:cNvPr>
          <p:cNvSpPr>
            <a:spLocks xmlns:a="http://schemas.openxmlformats.org/drawingml/2006/main" noGrp="1"/>
          </p:cNvSpPr>
          <p:nvPr/>
        </p:nvSpPr>
        <p:spPr>
          <a:xfrm xmlns:a="http://schemas.openxmlformats.org/drawingml/2006/main">
            <a:off x="838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582C8F8D-96D7-40CB-97DC-35210299F312}"/>
              </a:ext>
            </a:extLst>
          </p:cNvPr>
          <p:cNvSpPr>
            <a:spLocks xmlns:a="http://schemas.openxmlformats.org/drawingml/2006/main" noGrp="1"/>
          </p:cNvSpPr>
          <p:nvPr/>
        </p:nvSpPr>
        <p:spPr>
          <a:xfrm xmlns:a="http://schemas.openxmlformats.org/drawingml/2006/main">
            <a:off x="1123950" y="35909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Who may see which information</a:t>
            </a:r>
          </a:p>
        </p:txBody>
      </p:sp>
      <p:sp>
        <p:nvSpPr>
          <p:cNvPr id="20" name="">
            <a:extLst xmlns:a="http://schemas.openxmlformats.org/drawingml/2006/main">
              <a:ext uri="{FF2B5EF4-FFF2-40B4-BE49-F238E27FC236}">
                <a16:creationId xmlns:a16="http://schemas.microsoft.com/office/drawing/2014/main" id="{06ACBC92-CB51-4A77-A7CD-B7FACB014BED}"/>
              </a:ext>
            </a:extLst>
          </p:cNvPr>
          <p:cNvSpPr>
            <a:spLocks xmlns:a="http://schemas.openxmlformats.org/drawingml/2006/main" noGrp="1"/>
          </p:cNvSpPr>
          <p:nvPr/>
        </p:nvSpPr>
        <p:spPr>
          <a:xfrm xmlns:a="http://schemas.openxmlformats.org/drawingml/2006/main">
            <a:off x="666750" y="40671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1" name="">
            <a:extLst xmlns:a="http://schemas.openxmlformats.org/drawingml/2006/main">
              <a:ext uri="{FF2B5EF4-FFF2-40B4-BE49-F238E27FC236}">
                <a16:creationId xmlns:a16="http://schemas.microsoft.com/office/drawing/2014/main" id="{E60CFC63-32D8-449A-800D-A447C79AD0D1}"/>
              </a:ext>
            </a:extLst>
          </p:cNvPr>
          <p:cNvSpPr>
            <a:spLocks xmlns:a="http://schemas.openxmlformats.org/drawingml/2006/main" noGrp="1"/>
          </p:cNvSpPr>
          <p:nvPr/>
        </p:nvSpPr>
        <p:spPr>
          <a:xfrm xmlns:a="http://schemas.openxmlformats.org/drawingml/2006/main">
            <a:off x="838200" y="42005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29B3C4C-8ED3-405D-A161-9473EFC7BB13}"/>
              </a:ext>
            </a:extLst>
          </p:cNvPr>
          <p:cNvSpPr>
            <a:spLocks xmlns:a="http://schemas.openxmlformats.org/drawingml/2006/main" noGrp="1"/>
          </p:cNvSpPr>
          <p:nvPr/>
        </p:nvSpPr>
        <p:spPr>
          <a:xfrm xmlns:a="http://schemas.openxmlformats.org/drawingml/2006/main">
            <a:off x="838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C5311680-6098-4C08-801F-5953FA827667}"/>
              </a:ext>
            </a:extLst>
          </p:cNvPr>
          <p:cNvSpPr>
            <a:spLocks xmlns:a="http://schemas.openxmlformats.org/drawingml/2006/main" noGrp="1"/>
          </p:cNvSpPr>
          <p:nvPr/>
        </p:nvSpPr>
        <p:spPr>
          <a:xfrm xmlns:a="http://schemas.openxmlformats.org/drawingml/2006/main">
            <a:off x="1123950" y="41433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How answers show gaps and conflicts</a:t>
            </a:r>
          </a:p>
        </p:txBody>
      </p:sp>
      <p:sp>
        <p:nvSpPr>
          <p:cNvPr id="24" name="">
            <a:extLst xmlns:a="http://schemas.openxmlformats.org/drawingml/2006/main">
              <a:ext uri="{FF2B5EF4-FFF2-40B4-BE49-F238E27FC236}">
                <a16:creationId xmlns:a16="http://schemas.microsoft.com/office/drawing/2014/main" id="{970CD479-A365-4C8F-8FF2-A46B2A3BA30D}"/>
              </a:ext>
            </a:extLst>
          </p:cNvPr>
          <p:cNvSpPr>
            <a:spLocks xmlns:a="http://schemas.openxmlformats.org/drawingml/2006/main" noGrp="1"/>
          </p:cNvSpPr>
          <p:nvPr/>
        </p:nvSpPr>
        <p:spPr>
          <a:xfrm xmlns:a="http://schemas.openxmlformats.org/drawingml/2006/main">
            <a:off x="666750" y="46196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900C5FF6-1E92-47A1-B9D0-A85BF14A1623}"/>
              </a:ext>
            </a:extLst>
          </p:cNvPr>
          <p:cNvSpPr>
            <a:spLocks xmlns:a="http://schemas.openxmlformats.org/drawingml/2006/main" noGrp="1"/>
          </p:cNvSpPr>
          <p:nvPr/>
        </p:nvSpPr>
        <p:spPr>
          <a:xfrm xmlns:a="http://schemas.openxmlformats.org/drawingml/2006/main">
            <a:off x="838200" y="47529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3094856-CA13-4FB6-A4E3-D9ABFD5E811F}"/>
              </a:ext>
            </a:extLst>
          </p:cNvPr>
          <p:cNvSpPr>
            <a:spLocks xmlns:a="http://schemas.openxmlformats.org/drawingml/2006/main" noGrp="1"/>
          </p:cNvSpPr>
          <p:nvPr/>
        </p:nvSpPr>
        <p:spPr>
          <a:xfrm xmlns:a="http://schemas.openxmlformats.org/drawingml/2006/main">
            <a:off x="838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1D211B07-60B0-463A-B37C-5B8F36C1D11C}"/>
              </a:ext>
            </a:extLst>
          </p:cNvPr>
          <p:cNvSpPr>
            <a:spLocks xmlns:a="http://schemas.openxmlformats.org/drawingml/2006/main" noGrp="1"/>
          </p:cNvSpPr>
          <p:nvPr/>
        </p:nvSpPr>
        <p:spPr>
          <a:xfrm xmlns:a="http://schemas.openxmlformats.org/drawingml/2006/main">
            <a:off x="1123950" y="46958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Pilot steps and success checks</a:t>
            </a:r>
          </a:p>
        </p:txBody>
      </p:sp>
      <p:sp>
        <p:nvSpPr>
          <p:cNvPr id="28" name="">
            <a:extLst xmlns:a="http://schemas.openxmlformats.org/drawingml/2006/main">
              <a:ext uri="{FF2B5EF4-FFF2-40B4-BE49-F238E27FC236}">
                <a16:creationId xmlns:a16="http://schemas.microsoft.com/office/drawing/2014/main" id="{F781B1C7-2CFC-4989-8927-C2545FFF2159}"/>
              </a:ext>
            </a:extLst>
          </p:cNvPr>
          <p:cNvSpPr>
            <a:spLocks xmlns:a="http://schemas.openxmlformats.org/drawingml/2006/main" noGrp="1"/>
          </p:cNvSpPr>
          <p:nvPr/>
        </p:nvSpPr>
        <p:spPr>
          <a:xfrm xmlns:a="http://schemas.openxmlformats.org/drawingml/2006/main">
            <a:off x="6381750" y="24098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604E8D1E-4EB2-437F-9F79-E30FFE23AD38}"/>
              </a:ext>
            </a:extLst>
          </p:cNvPr>
          <p:cNvSpPr>
            <a:spLocks xmlns:a="http://schemas.openxmlformats.org/drawingml/2006/main" noGrp="1"/>
          </p:cNvSpPr>
          <p:nvPr/>
        </p:nvSpPr>
        <p:spPr>
          <a:xfrm xmlns:a="http://schemas.openxmlformats.org/drawingml/2006/main">
            <a:off x="6553200" y="25431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D8DF0E8-E999-48CE-8095-55B3FD952285}"/>
              </a:ext>
            </a:extLst>
          </p:cNvPr>
          <p:cNvSpPr>
            <a:spLocks xmlns:a="http://schemas.openxmlformats.org/drawingml/2006/main" noGrp="1"/>
          </p:cNvSpPr>
          <p:nvPr/>
        </p:nvSpPr>
        <p:spPr>
          <a:xfrm xmlns:a="http://schemas.openxmlformats.org/drawingml/2006/main">
            <a:off x="6553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37DE14C9-B5CA-488B-B185-C8C12EF41078}"/>
              </a:ext>
            </a:extLst>
          </p:cNvPr>
          <p:cNvSpPr>
            <a:spLocks xmlns:a="http://schemas.openxmlformats.org/drawingml/2006/main" noGrp="1"/>
          </p:cNvSpPr>
          <p:nvPr/>
        </p:nvSpPr>
        <p:spPr>
          <a:xfrm xmlns:a="http://schemas.openxmlformats.org/drawingml/2006/main">
            <a:off x="6838950" y="24860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Connecting to live Foundation systems</a:t>
            </a:r>
          </a:p>
        </p:txBody>
      </p:sp>
      <p:sp>
        <p:nvSpPr>
          <p:cNvPr id="32" name="">
            <a:extLst xmlns:a="http://schemas.openxmlformats.org/drawingml/2006/main">
              <a:ext uri="{FF2B5EF4-FFF2-40B4-BE49-F238E27FC236}">
                <a16:creationId xmlns:a16="http://schemas.microsoft.com/office/drawing/2014/main" id="{669C399B-DEFC-4986-84CB-1FBD4A142E01}"/>
              </a:ext>
            </a:extLst>
          </p:cNvPr>
          <p:cNvSpPr>
            <a:spLocks xmlns:a="http://schemas.openxmlformats.org/drawingml/2006/main" noGrp="1"/>
          </p:cNvSpPr>
          <p:nvPr/>
        </p:nvSpPr>
        <p:spPr>
          <a:xfrm xmlns:a="http://schemas.openxmlformats.org/drawingml/2006/main">
            <a:off x="6381750" y="29622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3" name="">
            <a:extLst xmlns:a="http://schemas.openxmlformats.org/drawingml/2006/main">
              <a:ext uri="{FF2B5EF4-FFF2-40B4-BE49-F238E27FC236}">
                <a16:creationId xmlns:a16="http://schemas.microsoft.com/office/drawing/2014/main" id="{50213999-1EDD-4077-ADF7-65E73A83B3A8}"/>
              </a:ext>
            </a:extLst>
          </p:cNvPr>
          <p:cNvSpPr>
            <a:spLocks xmlns:a="http://schemas.openxmlformats.org/drawingml/2006/main" noGrp="1"/>
          </p:cNvSpPr>
          <p:nvPr/>
        </p:nvSpPr>
        <p:spPr>
          <a:xfrm xmlns:a="http://schemas.openxmlformats.org/drawingml/2006/main">
            <a:off x="6553200" y="30956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C26FF2E-A71B-45EB-86BB-EF616F87FC74}"/>
              </a:ext>
            </a:extLst>
          </p:cNvPr>
          <p:cNvSpPr>
            <a:spLocks xmlns:a="http://schemas.openxmlformats.org/drawingml/2006/main" noGrp="1"/>
          </p:cNvSpPr>
          <p:nvPr/>
        </p:nvSpPr>
        <p:spPr>
          <a:xfrm xmlns:a="http://schemas.openxmlformats.org/drawingml/2006/main">
            <a:off x="6553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5" name="">
            <a:extLst xmlns:a="http://schemas.openxmlformats.org/drawingml/2006/main">
              <a:ext uri="{FF2B5EF4-FFF2-40B4-BE49-F238E27FC236}">
                <a16:creationId xmlns:a16="http://schemas.microsoft.com/office/drawing/2014/main" id="{43CC4A27-101B-4B1D-A765-91A1A69B9EB8}"/>
              </a:ext>
            </a:extLst>
          </p:cNvPr>
          <p:cNvSpPr>
            <a:spLocks xmlns:a="http://schemas.openxmlformats.org/drawingml/2006/main" noGrp="1"/>
          </p:cNvSpPr>
          <p:nvPr/>
        </p:nvSpPr>
        <p:spPr>
          <a:xfrm xmlns:a="http://schemas.openxmlformats.org/drawingml/2006/main">
            <a:off x="6838950" y="30384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Real employee sign-in and hosting</a:t>
            </a:r>
          </a:p>
        </p:txBody>
      </p:sp>
      <p:sp>
        <p:nvSpPr>
          <p:cNvPr id="36" name="">
            <a:extLst xmlns:a="http://schemas.openxmlformats.org/drawingml/2006/main">
              <a:ext uri="{FF2B5EF4-FFF2-40B4-BE49-F238E27FC236}">
                <a16:creationId xmlns:a16="http://schemas.microsoft.com/office/drawing/2014/main" id="{5C1E8B81-8DEB-49EE-BE81-63B883373214}"/>
              </a:ext>
            </a:extLst>
          </p:cNvPr>
          <p:cNvSpPr>
            <a:spLocks xmlns:a="http://schemas.openxmlformats.org/drawingml/2006/main" noGrp="1"/>
          </p:cNvSpPr>
          <p:nvPr/>
        </p:nvSpPr>
        <p:spPr>
          <a:xfrm xmlns:a="http://schemas.openxmlformats.org/drawingml/2006/main">
            <a:off x="6381750" y="35147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FDB00454-90D0-4C85-B3F2-0ACE41E838EA}"/>
              </a:ext>
            </a:extLst>
          </p:cNvPr>
          <p:cNvSpPr>
            <a:spLocks xmlns:a="http://schemas.openxmlformats.org/drawingml/2006/main" noGrp="1"/>
          </p:cNvSpPr>
          <p:nvPr/>
        </p:nvSpPr>
        <p:spPr>
          <a:xfrm xmlns:a="http://schemas.openxmlformats.org/drawingml/2006/main">
            <a:off x="6553200" y="36480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2899EE7-6F42-4E5B-A209-9E1AD4246811}"/>
              </a:ext>
            </a:extLst>
          </p:cNvPr>
          <p:cNvSpPr>
            <a:spLocks xmlns:a="http://schemas.openxmlformats.org/drawingml/2006/main" noGrp="1"/>
          </p:cNvSpPr>
          <p:nvPr/>
        </p:nvSpPr>
        <p:spPr>
          <a:xfrm xmlns:a="http://schemas.openxmlformats.org/drawingml/2006/main">
            <a:off x="6553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9" name="">
            <a:extLst xmlns:a="http://schemas.openxmlformats.org/drawingml/2006/main">
              <a:ext uri="{FF2B5EF4-FFF2-40B4-BE49-F238E27FC236}">
                <a16:creationId xmlns:a16="http://schemas.microsoft.com/office/drawing/2014/main" id="{DF3823B2-64BE-48A7-AC94-4AE04E39B798}"/>
              </a:ext>
            </a:extLst>
          </p:cNvPr>
          <p:cNvSpPr>
            <a:spLocks xmlns:a="http://schemas.openxmlformats.org/drawingml/2006/main" noGrp="1"/>
          </p:cNvSpPr>
          <p:nvPr/>
        </p:nvSpPr>
        <p:spPr>
          <a:xfrm xmlns:a="http://schemas.openxmlformats.org/drawingml/2006/main">
            <a:off x="6838950" y="35909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Scoring proposals or grants</a:t>
            </a:r>
          </a:p>
        </p:txBody>
      </p:sp>
      <p:sp>
        <p:nvSpPr>
          <p:cNvPr id="40" name="">
            <a:extLst xmlns:a="http://schemas.openxmlformats.org/drawingml/2006/main">
              <a:ext uri="{FF2B5EF4-FFF2-40B4-BE49-F238E27FC236}">
                <a16:creationId xmlns:a16="http://schemas.microsoft.com/office/drawing/2014/main" id="{32BFC4E0-66BD-4FB1-B1D4-2D33D21FAA39}"/>
              </a:ext>
            </a:extLst>
          </p:cNvPr>
          <p:cNvSpPr>
            <a:spLocks xmlns:a="http://schemas.openxmlformats.org/drawingml/2006/main" noGrp="1"/>
          </p:cNvSpPr>
          <p:nvPr/>
        </p:nvSpPr>
        <p:spPr>
          <a:xfrm xmlns:a="http://schemas.openxmlformats.org/drawingml/2006/main">
            <a:off x="6381750" y="40671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1" name="">
            <a:extLst xmlns:a="http://schemas.openxmlformats.org/drawingml/2006/main">
              <a:ext uri="{FF2B5EF4-FFF2-40B4-BE49-F238E27FC236}">
                <a16:creationId xmlns:a16="http://schemas.microsoft.com/office/drawing/2014/main" id="{B642118A-A8F6-4287-89E6-681D5F83A570}"/>
              </a:ext>
            </a:extLst>
          </p:cNvPr>
          <p:cNvSpPr>
            <a:spLocks xmlns:a="http://schemas.openxmlformats.org/drawingml/2006/main" noGrp="1"/>
          </p:cNvSpPr>
          <p:nvPr/>
        </p:nvSpPr>
        <p:spPr>
          <a:xfrm xmlns:a="http://schemas.openxmlformats.org/drawingml/2006/main">
            <a:off x="6553200" y="42005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1C4EC86-202D-4FE7-93FB-73659667067B}"/>
              </a:ext>
            </a:extLst>
          </p:cNvPr>
          <p:cNvSpPr>
            <a:spLocks xmlns:a="http://schemas.openxmlformats.org/drawingml/2006/main" noGrp="1"/>
          </p:cNvSpPr>
          <p:nvPr/>
        </p:nvSpPr>
        <p:spPr>
          <a:xfrm xmlns:a="http://schemas.openxmlformats.org/drawingml/2006/main">
            <a:off x="6553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3" name="">
            <a:extLst xmlns:a="http://schemas.openxmlformats.org/drawingml/2006/main">
              <a:ext uri="{FF2B5EF4-FFF2-40B4-BE49-F238E27FC236}">
                <a16:creationId xmlns:a16="http://schemas.microsoft.com/office/drawing/2014/main" id="{D45A5BF6-ECE8-432A-972C-AF296027D2D7}"/>
              </a:ext>
            </a:extLst>
          </p:cNvPr>
          <p:cNvSpPr>
            <a:spLocks xmlns:a="http://schemas.openxmlformats.org/drawingml/2006/main" noGrp="1"/>
          </p:cNvSpPr>
          <p:nvPr/>
        </p:nvSpPr>
        <p:spPr>
          <a:xfrm xmlns:a="http://schemas.openxmlformats.org/drawingml/2006/main">
            <a:off x="6838950" y="4143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Changing source records automatically</a:t>
            </a:r>
          </a:p>
        </p:txBody>
      </p:sp>
      <p:sp>
        <p:nvSpPr>
          <p:cNvPr id="44" name="">
            <a:extLst xmlns:a="http://schemas.openxmlformats.org/drawingml/2006/main">
              <a:ext uri="{FF2B5EF4-FFF2-40B4-BE49-F238E27FC236}">
                <a16:creationId xmlns:a16="http://schemas.microsoft.com/office/drawing/2014/main" id="{D372A580-2BC7-4C96-900A-ABA0D55D46CB}"/>
              </a:ext>
            </a:extLst>
          </p:cNvPr>
          <p:cNvSpPr>
            <a:spLocks xmlns:a="http://schemas.openxmlformats.org/drawingml/2006/main" noGrp="1"/>
          </p:cNvSpPr>
          <p:nvPr/>
        </p:nvSpPr>
        <p:spPr>
          <a:xfrm xmlns:a="http://schemas.openxmlformats.org/drawingml/2006/main">
            <a:off x="6381750" y="46196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5" name="">
            <a:extLst xmlns:a="http://schemas.openxmlformats.org/drawingml/2006/main">
              <a:ext uri="{FF2B5EF4-FFF2-40B4-BE49-F238E27FC236}">
                <a16:creationId xmlns:a16="http://schemas.microsoft.com/office/drawing/2014/main" id="{223318CC-A9E9-4424-8D58-F00B985EA645}"/>
              </a:ext>
            </a:extLst>
          </p:cNvPr>
          <p:cNvSpPr>
            <a:spLocks xmlns:a="http://schemas.openxmlformats.org/drawingml/2006/main" noGrp="1"/>
          </p:cNvSpPr>
          <p:nvPr/>
        </p:nvSpPr>
        <p:spPr>
          <a:xfrm xmlns:a="http://schemas.openxmlformats.org/drawingml/2006/main">
            <a:off x="6553200" y="47529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A8D258C-8906-4F7D-9C8B-499F939BD0C5}"/>
              </a:ext>
            </a:extLst>
          </p:cNvPr>
          <p:cNvSpPr>
            <a:spLocks xmlns:a="http://schemas.openxmlformats.org/drawingml/2006/main" noGrp="1"/>
          </p:cNvSpPr>
          <p:nvPr/>
        </p:nvSpPr>
        <p:spPr>
          <a:xfrm xmlns:a="http://schemas.openxmlformats.org/drawingml/2006/main">
            <a:off x="6553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7" name="">
            <a:extLst xmlns:a="http://schemas.openxmlformats.org/drawingml/2006/main">
              <a:ext uri="{FF2B5EF4-FFF2-40B4-BE49-F238E27FC236}">
                <a16:creationId xmlns:a16="http://schemas.microsoft.com/office/drawing/2014/main" id="{5A08692F-FC94-42D6-84A0-E99559CE5051}"/>
              </a:ext>
            </a:extLst>
          </p:cNvPr>
          <p:cNvSpPr>
            <a:spLocks xmlns:a="http://schemas.openxmlformats.org/drawingml/2006/main" noGrp="1"/>
          </p:cNvSpPr>
          <p:nvPr/>
        </p:nvSpPr>
        <p:spPr>
          <a:xfrm xmlns:a="http://schemas.openxmlformats.org/drawingml/2006/main">
            <a:off x="6838950" y="46958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Selling a product to other foundations</a:t>
            </a:r>
          </a:p>
        </p:txBody>
      </p:sp>
      <p:sp>
        <p:nvSpPr>
          <p:cNvPr id="48" name="">
            <a:extLst xmlns:a="http://schemas.openxmlformats.org/drawingml/2006/main">
              <a:ext uri="{FF2B5EF4-FFF2-40B4-BE49-F238E27FC236}">
                <a16:creationId xmlns:a16="http://schemas.microsoft.com/office/drawing/2014/main" id="{976763AA-CE0B-4CB5-96D7-780A48085E1B}"/>
              </a:ext>
            </a:extLst>
          </p:cNvPr>
          <p:cNvSpPr>
            <a:spLocks xmlns:a="http://schemas.openxmlformats.org/drawingml/2006/main" noGrp="1"/>
          </p:cNvSpPr>
          <p:nvPr/>
        </p:nvSpPr>
        <p:spPr>
          <a:xfrm xmlns:a="http://schemas.openxmlformats.org/drawingml/2006/main">
            <a:off x="666750" y="5467350"/>
            <a:ext cx="10191750" cy="609600"/>
          </a:xfrm>
          <a:prstGeom xmlns:a="http://schemas.openxmlformats.org/drawingml/2006/main" prst="roundRect">
            <a:avLst>
              <a:gd name="adj" fmla="val 25000"/>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9B2E0D6-5201-4ED5-A5D2-7646139A05A4}"/>
              </a:ext>
            </a:extLst>
          </p:cNvPr>
          <p:cNvSpPr>
            <a:spLocks xmlns:a="http://schemas.openxmlformats.org/drawingml/2006/main" noGrp="1"/>
          </p:cNvSpPr>
          <p:nvPr/>
        </p:nvSpPr>
        <p:spPr>
          <a:xfrm xmlns:a="http://schemas.openxmlformats.org/drawingml/2006/main">
            <a:off x="876300" y="5619750"/>
            <a:ext cx="9772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The demo uses invented information to test assumptions. It does not commit the team to this design.</a:t>
            </a:r>
          </a:p>
        </p:txBody>
      </p:sp>
    </p:spTree>
    <p:extLst>
      <p:ext uri="{BB962C8B-B14F-4D97-AF65-F5344CB8AC3E}">
        <p14:creationId xmlns:p14="http://schemas.microsoft.com/office/powerpoint/2010/main" val="393322845"/>
      </p:ext>
    </p:extLst>
  </p:cSld>
</p:sld>
</file>

<file path=ppt/slides/slide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0523BAE-AAE1-4BA6-B126-C5295A37DB0B}"/>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IMPLEMENTATION</a:t>
            </a:r>
          </a:p>
        </p:txBody>
      </p:sp>
      <p:sp>
        <p:nvSpPr>
          <p:cNvPr id="2" name="">
            <a:extLst xmlns:a="http://schemas.openxmlformats.org/drawingml/2006/main">
              <a:ext uri="{FF2B5EF4-FFF2-40B4-BE49-F238E27FC236}">
                <a16:creationId xmlns:a16="http://schemas.microsoft.com/office/drawing/2014/main" id="{3EA4FFC4-EF69-466B-85DE-45C14B0D2DC5}"/>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AE5ECC5-B566-4F87-97D7-2487BAC2F60B}"/>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A318C07B-3690-4373-951D-98E6A9D05672}"/>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How I would move from idea to pilot</a:t>
            </a:r>
          </a:p>
        </p:txBody>
      </p:sp>
      <p:sp>
        <p:nvSpPr>
          <p:cNvPr id="5" name="">
            <a:extLst xmlns:a="http://schemas.openxmlformats.org/drawingml/2006/main">
              <a:ext uri="{FF2B5EF4-FFF2-40B4-BE49-F238E27FC236}">
                <a16:creationId xmlns:a16="http://schemas.microsoft.com/office/drawing/2014/main" id="{97332532-6570-4101-A859-35BE6BEF5B3C}"/>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Each step begins only after the team agrees that the previous one is sound.</a:t>
            </a:r>
          </a:p>
        </p:txBody>
      </p:sp>
      <p:sp>
        <p:nvSpPr>
          <p:cNvPr id="6" name="">
            <a:extLst xmlns:a="http://schemas.openxmlformats.org/drawingml/2006/main">
              <a:ext uri="{FF2B5EF4-FFF2-40B4-BE49-F238E27FC236}">
                <a16:creationId xmlns:a16="http://schemas.microsoft.com/office/drawing/2014/main" id="{643B6BB6-2CF2-4589-81E3-EDDB69F8CACD}"/>
              </a:ext>
            </a:extLst>
          </p:cNvPr>
          <p:cNvSpPr>
            <a:spLocks xmlns:a="http://schemas.openxmlformats.org/drawingml/2006/main" noGrp="1"/>
          </p:cNvSpPr>
          <p:nvPr/>
        </p:nvSpPr>
        <p:spPr>
          <a:xfrm xmlns:a="http://schemas.openxmlformats.org/drawingml/2006/main">
            <a:off x="6667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ED6A2EC9-7718-4984-8977-B5E8AAA0810C}"/>
              </a:ext>
            </a:extLst>
          </p:cNvPr>
          <p:cNvSpPr>
            <a:spLocks xmlns:a="http://schemas.openxmlformats.org/drawingml/2006/main" noGrp="1"/>
          </p:cNvSpPr>
          <p:nvPr/>
        </p:nvSpPr>
        <p:spPr>
          <a:xfrm xmlns:a="http://schemas.openxmlformats.org/drawingml/2006/main">
            <a:off x="8572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66EF281A-5BB9-4444-B4CC-0E5EDDAD01DE}"/>
              </a:ext>
            </a:extLst>
          </p:cNvPr>
          <p:cNvSpPr>
            <a:spLocks xmlns:a="http://schemas.openxmlformats.org/drawingml/2006/main" noGrp="1"/>
          </p:cNvSpPr>
          <p:nvPr/>
        </p:nvSpPr>
        <p:spPr>
          <a:xfrm xmlns:a="http://schemas.openxmlformats.org/drawingml/2006/main">
            <a:off x="8572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LISTEN</a:t>
            </a:r>
          </a:p>
        </p:txBody>
      </p:sp>
      <p:sp>
        <p:nvSpPr>
          <p:cNvPr id="9" name="">
            <a:extLst xmlns:a="http://schemas.openxmlformats.org/drawingml/2006/main">
              <a:ext uri="{FF2B5EF4-FFF2-40B4-BE49-F238E27FC236}">
                <a16:creationId xmlns:a16="http://schemas.microsoft.com/office/drawing/2014/main" id="{A99762AE-F745-483D-B8FD-5E98E5A98EC4}"/>
              </a:ext>
            </a:extLst>
          </p:cNvPr>
          <p:cNvSpPr>
            <a:spLocks xmlns:a="http://schemas.openxmlformats.org/drawingml/2006/main" noGrp="1"/>
          </p:cNvSpPr>
          <p:nvPr/>
        </p:nvSpPr>
        <p:spPr>
          <a:xfrm xmlns:a="http://schemas.openxmlformats.org/drawingml/2006/main">
            <a:off x="8572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TEAM CONFIRMS PRIORITY</a:t>
            </a:r>
          </a:p>
        </p:txBody>
      </p:sp>
      <p:sp>
        <p:nvSpPr>
          <p:cNvPr id="10" name="">
            <a:extLst xmlns:a="http://schemas.openxmlformats.org/drawingml/2006/main">
              <a:ext uri="{FF2B5EF4-FFF2-40B4-BE49-F238E27FC236}">
                <a16:creationId xmlns:a16="http://schemas.microsoft.com/office/drawing/2014/main" id="{357E7199-29A6-4BD1-A6C4-968243F938B3}"/>
              </a:ext>
            </a:extLst>
          </p:cNvPr>
          <p:cNvSpPr>
            <a:spLocks xmlns:a="http://schemas.openxmlformats.org/drawingml/2006/main" noGrp="1"/>
          </p:cNvSpPr>
          <p:nvPr/>
        </p:nvSpPr>
        <p:spPr>
          <a:xfrm xmlns:a="http://schemas.openxmlformats.org/drawingml/2006/main">
            <a:off x="8572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895CA361-96E6-4752-AA42-DF2068C87508}"/>
              </a:ext>
            </a:extLst>
          </p:cNvPr>
          <p:cNvSpPr>
            <a:spLocks xmlns:a="http://schemas.openxmlformats.org/drawingml/2006/main" noGrp="1"/>
          </p:cNvSpPr>
          <p:nvPr/>
        </p:nvSpPr>
        <p:spPr>
          <a:xfrm xmlns:a="http://schemas.openxmlformats.org/drawingml/2006/main">
            <a:off x="8572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Watch the real work, name the owner, define a good answer</a:t>
            </a:r>
          </a:p>
        </p:txBody>
      </p:sp>
      <p:sp>
        <p:nvSpPr>
          <p:cNvPr id="12" name="">
            <a:extLst xmlns:a="http://schemas.openxmlformats.org/drawingml/2006/main">
              <a:ext uri="{FF2B5EF4-FFF2-40B4-BE49-F238E27FC236}">
                <a16:creationId xmlns:a16="http://schemas.microsoft.com/office/drawing/2014/main" id="{04E182ED-2716-4B55-9CD5-0F6EAE6C00F6}"/>
              </a:ext>
            </a:extLst>
          </p:cNvPr>
          <p:cNvSpPr>
            <a:spLocks xmlns:a="http://schemas.openxmlformats.org/drawingml/2006/main" noGrp="1"/>
          </p:cNvSpPr>
          <p:nvPr/>
        </p:nvSpPr>
        <p:spPr>
          <a:xfrm xmlns:a="http://schemas.openxmlformats.org/drawingml/2006/main">
            <a:off x="3295650" y="2190750"/>
            <a:ext cx="2381250" cy="2000250"/>
          </a:xfrm>
          <a:prstGeom xmlns:a="http://schemas.openxmlformats.org/drawingml/2006/main" prst="roundRect">
            <a:avLst>
              <a:gd name="adj" fmla="val 8571"/>
            </a:avLst>
          </a:prstGeom>
          <a:solidFill xmlns:a="http://schemas.openxmlformats.org/drawingml/2006/main">
            <a:srgbClr val="F0EBF7"/>
          </a:solidFill>
          <a:ln xmlns:a="http://schemas.openxmlformats.org/drawingml/2006/main" w="9525">
            <a:solidFill>
              <a:srgbClr val="7657B3"/>
            </a:solidFill>
          </a:ln>
        </p:spPr>
      </p:sp>
      <p:sp>
        <p:nvSpPr>
          <p:cNvPr id="13" name="">
            <a:extLst xmlns:a="http://schemas.openxmlformats.org/drawingml/2006/main">
              <a:ext uri="{FF2B5EF4-FFF2-40B4-BE49-F238E27FC236}">
                <a16:creationId xmlns:a16="http://schemas.microsoft.com/office/drawing/2014/main" id="{56949762-41BB-41BB-809E-50E803EEF5FA}"/>
              </a:ext>
            </a:extLst>
          </p:cNvPr>
          <p:cNvSpPr>
            <a:spLocks xmlns:a="http://schemas.openxmlformats.org/drawingml/2006/main" noGrp="1"/>
          </p:cNvSpPr>
          <p:nvPr/>
        </p:nvSpPr>
        <p:spPr>
          <a:xfrm xmlns:a="http://schemas.openxmlformats.org/drawingml/2006/main">
            <a:off x="34861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7657B3"/>
                </a:solidFill>
                <a:latin typeface="Helvetica Neue"/>
                <a:ea typeface="Helvetica Neue"/>
                <a:cs typeface="Helvetica Neue"/>
              </a:defRPr>
            </a:pPr>
            <a:r>
              <a:rPr sz="1350" b="1">
                <a:solidFill>
                  <a:srgbClr val="7657B3"/>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C5FEF498-66EB-4D82-A6BA-59635EEAFCA8}"/>
              </a:ext>
            </a:extLst>
          </p:cNvPr>
          <p:cNvSpPr>
            <a:spLocks xmlns:a="http://schemas.openxmlformats.org/drawingml/2006/main" noGrp="1"/>
          </p:cNvSpPr>
          <p:nvPr/>
        </p:nvSpPr>
        <p:spPr>
          <a:xfrm xmlns:a="http://schemas.openxmlformats.org/drawingml/2006/main">
            <a:off x="34861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AGREE</a:t>
            </a:r>
          </a:p>
        </p:txBody>
      </p:sp>
      <p:sp>
        <p:nvSpPr>
          <p:cNvPr id="15" name="">
            <a:extLst xmlns:a="http://schemas.openxmlformats.org/drawingml/2006/main">
              <a:ext uri="{FF2B5EF4-FFF2-40B4-BE49-F238E27FC236}">
                <a16:creationId xmlns:a16="http://schemas.microsoft.com/office/drawing/2014/main" id="{7E10325F-0386-4974-8477-465AAF1F3C03}"/>
              </a:ext>
            </a:extLst>
          </p:cNvPr>
          <p:cNvSpPr>
            <a:spLocks xmlns:a="http://schemas.openxmlformats.org/drawingml/2006/main" noGrp="1"/>
          </p:cNvSpPr>
          <p:nvPr/>
        </p:nvSpPr>
        <p:spPr>
          <a:xfrm xmlns:a="http://schemas.openxmlformats.org/drawingml/2006/main">
            <a:off x="34861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ACCESS RULES APPROVED</a:t>
            </a:r>
          </a:p>
        </p:txBody>
      </p:sp>
      <p:sp>
        <p:nvSpPr>
          <p:cNvPr id="16" name="">
            <a:extLst xmlns:a="http://schemas.openxmlformats.org/drawingml/2006/main">
              <a:ext uri="{FF2B5EF4-FFF2-40B4-BE49-F238E27FC236}">
                <a16:creationId xmlns:a16="http://schemas.microsoft.com/office/drawing/2014/main" id="{CCC45B8A-C59C-441F-830F-0983A5C86C43}"/>
              </a:ext>
            </a:extLst>
          </p:cNvPr>
          <p:cNvSpPr>
            <a:spLocks xmlns:a="http://schemas.openxmlformats.org/drawingml/2006/main" noGrp="1"/>
          </p:cNvSpPr>
          <p:nvPr/>
        </p:nvSpPr>
        <p:spPr>
          <a:xfrm xmlns:a="http://schemas.openxmlformats.org/drawingml/2006/main">
            <a:off x="34861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AF0F8D9C-F073-47C2-8710-29DEEC02D308}"/>
              </a:ext>
            </a:extLst>
          </p:cNvPr>
          <p:cNvSpPr>
            <a:spLocks xmlns:a="http://schemas.openxmlformats.org/drawingml/2006/main" noGrp="1"/>
          </p:cNvSpPr>
          <p:nvPr/>
        </p:nvSpPr>
        <p:spPr>
          <a:xfrm xmlns:a="http://schemas.openxmlformats.org/drawingml/2006/main">
            <a:off x="34861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Decide which system owns each fact and what never enters search</a:t>
            </a:r>
          </a:p>
        </p:txBody>
      </p:sp>
      <p:sp>
        <p:nvSpPr>
          <p:cNvPr id="18" name="">
            <a:extLst xmlns:a="http://schemas.openxmlformats.org/drawingml/2006/main">
              <a:ext uri="{FF2B5EF4-FFF2-40B4-BE49-F238E27FC236}">
                <a16:creationId xmlns:a16="http://schemas.microsoft.com/office/drawing/2014/main" id="{D52B95D2-F748-4B7E-BF9F-B51963AB3321}"/>
              </a:ext>
            </a:extLst>
          </p:cNvPr>
          <p:cNvSpPr>
            <a:spLocks xmlns:a="http://schemas.openxmlformats.org/drawingml/2006/main" noGrp="1"/>
          </p:cNvSpPr>
          <p:nvPr/>
        </p:nvSpPr>
        <p:spPr>
          <a:xfrm xmlns:a="http://schemas.openxmlformats.org/drawingml/2006/main">
            <a:off x="59245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C312049F-1321-46C6-B33D-47A2DB59747C}"/>
              </a:ext>
            </a:extLst>
          </p:cNvPr>
          <p:cNvSpPr>
            <a:spLocks xmlns:a="http://schemas.openxmlformats.org/drawingml/2006/main" noGrp="1"/>
          </p:cNvSpPr>
          <p:nvPr/>
        </p:nvSpPr>
        <p:spPr>
          <a:xfrm xmlns:a="http://schemas.openxmlformats.org/drawingml/2006/main">
            <a:off x="61150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8F0F3D3A-EDE0-4F24-9D54-10617DC0097E}"/>
              </a:ext>
            </a:extLst>
          </p:cNvPr>
          <p:cNvSpPr>
            <a:spLocks xmlns:a="http://schemas.openxmlformats.org/drawingml/2006/main" noGrp="1"/>
          </p:cNvSpPr>
          <p:nvPr/>
        </p:nvSpPr>
        <p:spPr>
          <a:xfrm xmlns:a="http://schemas.openxmlformats.org/drawingml/2006/main">
            <a:off x="61150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TEST</a:t>
            </a:r>
          </a:p>
        </p:txBody>
      </p:sp>
      <p:sp>
        <p:nvSpPr>
          <p:cNvPr id="21" name="">
            <a:extLst xmlns:a="http://schemas.openxmlformats.org/drawingml/2006/main">
              <a:ext uri="{FF2B5EF4-FFF2-40B4-BE49-F238E27FC236}">
                <a16:creationId xmlns:a16="http://schemas.microsoft.com/office/drawing/2014/main" id="{0EF207C9-753E-40C7-9E97-4375D1F30082}"/>
              </a:ext>
            </a:extLst>
          </p:cNvPr>
          <p:cNvSpPr>
            <a:spLocks xmlns:a="http://schemas.openxmlformats.org/drawingml/2006/main" noGrp="1"/>
          </p:cNvSpPr>
          <p:nvPr/>
        </p:nvSpPr>
        <p:spPr>
          <a:xfrm xmlns:a="http://schemas.openxmlformats.org/drawingml/2006/main">
            <a:off x="61150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FICTIONAL TESTS PASS</a:t>
            </a:r>
          </a:p>
        </p:txBody>
      </p:sp>
      <p:sp>
        <p:nvSpPr>
          <p:cNvPr id="22" name="">
            <a:extLst xmlns:a="http://schemas.openxmlformats.org/drawingml/2006/main">
              <a:ext uri="{FF2B5EF4-FFF2-40B4-BE49-F238E27FC236}">
                <a16:creationId xmlns:a16="http://schemas.microsoft.com/office/drawing/2014/main" id="{ECE51CD3-41C3-4E70-A85F-D1C7EA7896FB}"/>
              </a:ext>
            </a:extLst>
          </p:cNvPr>
          <p:cNvSpPr>
            <a:spLocks xmlns:a="http://schemas.openxmlformats.org/drawingml/2006/main" noGrp="1"/>
          </p:cNvSpPr>
          <p:nvPr/>
        </p:nvSpPr>
        <p:spPr>
          <a:xfrm xmlns:a="http://schemas.openxmlformats.org/drawingml/2006/main">
            <a:off x="61150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02E0AF36-7F5B-419C-B732-1E406B90D69A}"/>
              </a:ext>
            </a:extLst>
          </p:cNvPr>
          <p:cNvSpPr>
            <a:spLocks xmlns:a="http://schemas.openxmlformats.org/drawingml/2006/main" noGrp="1"/>
          </p:cNvSpPr>
          <p:nvPr/>
        </p:nvSpPr>
        <p:spPr>
          <a:xfrm xmlns:a="http://schemas.openxmlformats.org/drawingml/2006/main">
            <a:off x="61150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Try one small source pair and check sources, gaps, and refusals</a:t>
            </a:r>
          </a:p>
        </p:txBody>
      </p:sp>
      <p:sp>
        <p:nvSpPr>
          <p:cNvPr id="24" name="">
            <a:extLst xmlns:a="http://schemas.openxmlformats.org/drawingml/2006/main">
              <a:ext uri="{FF2B5EF4-FFF2-40B4-BE49-F238E27FC236}">
                <a16:creationId xmlns:a16="http://schemas.microsoft.com/office/drawing/2014/main" id="{8F700AEA-05E7-4E31-A1C6-963240AB6D63}"/>
              </a:ext>
            </a:extLst>
          </p:cNvPr>
          <p:cNvSpPr>
            <a:spLocks xmlns:a="http://schemas.openxmlformats.org/drawingml/2006/main" noGrp="1"/>
          </p:cNvSpPr>
          <p:nvPr/>
        </p:nvSpPr>
        <p:spPr>
          <a:xfrm xmlns:a="http://schemas.openxmlformats.org/drawingml/2006/main">
            <a:off x="85534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5C1E22C5-7CE9-4E82-81EE-64158B8DA24A}"/>
              </a:ext>
            </a:extLst>
          </p:cNvPr>
          <p:cNvSpPr>
            <a:spLocks xmlns:a="http://schemas.openxmlformats.org/drawingml/2006/main" noGrp="1"/>
          </p:cNvSpPr>
          <p:nvPr/>
        </p:nvSpPr>
        <p:spPr>
          <a:xfrm xmlns:a="http://schemas.openxmlformats.org/drawingml/2006/main">
            <a:off x="87439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4</a:t>
            </a:r>
          </a:p>
        </p:txBody>
      </p:sp>
      <p:sp>
        <p:nvSpPr>
          <p:cNvPr id="26" name="">
            <a:extLst xmlns:a="http://schemas.openxmlformats.org/drawingml/2006/main">
              <a:ext uri="{FF2B5EF4-FFF2-40B4-BE49-F238E27FC236}">
                <a16:creationId xmlns:a16="http://schemas.microsoft.com/office/drawing/2014/main" id="{8E16A73E-52BB-48CB-B1B3-E86DC4B24BE1}"/>
              </a:ext>
            </a:extLst>
          </p:cNvPr>
          <p:cNvSpPr>
            <a:spLocks xmlns:a="http://schemas.openxmlformats.org/drawingml/2006/main" noGrp="1"/>
          </p:cNvSpPr>
          <p:nvPr/>
        </p:nvSpPr>
        <p:spPr>
          <a:xfrm xmlns:a="http://schemas.openxmlformats.org/drawingml/2006/main">
            <a:off x="87439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DECIDE</a:t>
            </a:r>
          </a:p>
        </p:txBody>
      </p:sp>
      <p:sp>
        <p:nvSpPr>
          <p:cNvPr id="27" name="">
            <a:extLst xmlns:a="http://schemas.openxmlformats.org/drawingml/2006/main">
              <a:ext uri="{FF2B5EF4-FFF2-40B4-BE49-F238E27FC236}">
                <a16:creationId xmlns:a16="http://schemas.microsoft.com/office/drawing/2014/main" id="{924DE641-EE55-4743-B504-818AB74E79BB}"/>
              </a:ext>
            </a:extLst>
          </p:cNvPr>
          <p:cNvSpPr>
            <a:spLocks xmlns:a="http://schemas.openxmlformats.org/drawingml/2006/main" noGrp="1"/>
          </p:cNvSpPr>
          <p:nvPr/>
        </p:nvSpPr>
        <p:spPr>
          <a:xfrm xmlns:a="http://schemas.openxmlformats.org/drawingml/2006/main">
            <a:off x="87439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USERS REVIEW RESULTS</a:t>
            </a:r>
          </a:p>
        </p:txBody>
      </p:sp>
      <p:sp>
        <p:nvSpPr>
          <p:cNvPr id="28" name="">
            <a:extLst xmlns:a="http://schemas.openxmlformats.org/drawingml/2006/main">
              <a:ext uri="{FF2B5EF4-FFF2-40B4-BE49-F238E27FC236}">
                <a16:creationId xmlns:a16="http://schemas.microsoft.com/office/drawing/2014/main" id="{5A3AFFC5-081F-4AC5-B333-F6B66CC578FE}"/>
              </a:ext>
            </a:extLst>
          </p:cNvPr>
          <p:cNvSpPr>
            <a:spLocks xmlns:a="http://schemas.openxmlformats.org/drawingml/2006/main" noGrp="1"/>
          </p:cNvSpPr>
          <p:nvPr/>
        </p:nvSpPr>
        <p:spPr>
          <a:xfrm xmlns:a="http://schemas.openxmlformats.org/drawingml/2006/main">
            <a:off x="87439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FE2B6450-8BDC-47F1-A1B0-2DA8D41C822C}"/>
              </a:ext>
            </a:extLst>
          </p:cNvPr>
          <p:cNvSpPr>
            <a:spLocks xmlns:a="http://schemas.openxmlformats.org/drawingml/2006/main" noGrp="1"/>
          </p:cNvSpPr>
          <p:nvPr/>
        </p:nvSpPr>
        <p:spPr>
          <a:xfrm xmlns:a="http://schemas.openxmlformats.org/drawingml/2006/main">
            <a:off x="87439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271"/>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Compare accuracy, time saved, and trust. Then continue, revise, or stop</a:t>
            </a:r>
          </a:p>
        </p:txBody>
      </p:sp>
      <p:sp>
        <p:nvSpPr>
          <p:cNvPr id="30" name="">
            <a:extLst xmlns:a="http://schemas.openxmlformats.org/drawingml/2006/main">
              <a:ext uri="{FF2B5EF4-FFF2-40B4-BE49-F238E27FC236}">
                <a16:creationId xmlns:a16="http://schemas.microsoft.com/office/drawing/2014/main" id="{17C0DFA6-2A39-4F1C-85E3-D8C785D7D1F1}"/>
              </a:ext>
            </a:extLst>
          </p:cNvPr>
          <p:cNvSpPr>
            <a:spLocks xmlns:a="http://schemas.openxmlformats.org/drawingml/2006/main" noGrp="1"/>
          </p:cNvSpPr>
          <p:nvPr/>
        </p:nvSpPr>
        <p:spPr>
          <a:xfrm xmlns:a="http://schemas.openxmlformats.org/drawingml/2006/main">
            <a:off x="666750" y="4619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Working with the team</a:t>
            </a:r>
          </a:p>
        </p:txBody>
      </p:sp>
      <p:sp>
        <p:nvSpPr>
          <p:cNvPr id="31" name="">
            <a:extLst xmlns:a="http://schemas.openxmlformats.org/drawingml/2006/main">
              <a:ext uri="{FF2B5EF4-FFF2-40B4-BE49-F238E27FC236}">
                <a16:creationId xmlns:a16="http://schemas.microsoft.com/office/drawing/2014/main" id="{4CC853C9-A61E-443D-9AB5-59B9E7119970}"/>
              </a:ext>
            </a:extLst>
          </p:cNvPr>
          <p:cNvSpPr>
            <a:spLocks xmlns:a="http://schemas.openxmlformats.org/drawingml/2006/main" noGrp="1"/>
          </p:cNvSpPr>
          <p:nvPr/>
        </p:nvSpPr>
        <p:spPr>
          <a:xfrm xmlns:a="http://schemas.openxmlformats.org/drawingml/2006/main">
            <a:off x="666750" y="4924425"/>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defRPr sz="1800" b="1">
                <a:solidFill>
                  <a:srgbClr val="25152B"/>
                </a:solidFill>
                <a:latin typeface="Helvetica Neue"/>
                <a:ea typeface="Helvetica Neue"/>
                <a:cs typeface="Helvetica Neue"/>
              </a:defRPr>
            </a:pPr>
            <a:r>
              <a:rPr sz="1800" b="1">
                <a:solidFill>
                  <a:srgbClr val="25152B"/>
                </a:solidFill>
                <a:latin typeface="Helvetica Neue"/>
                <a:ea typeface="Helvetica Neue"/>
                <a:cs typeface="Helvetica Neue"/>
              </a:rPr>
              <a:t>The people closest to the work set the rules. I bring a clear process, build only what we agree to test, and show the evidence.</a:t>
            </a:r>
          </a:p>
        </p:txBody>
      </p:sp>
      <p:sp>
        <p:nvSpPr>
          <p:cNvPr id="32" name="">
            <a:extLst xmlns:a="http://schemas.openxmlformats.org/drawingml/2006/main">
              <a:ext uri="{FF2B5EF4-FFF2-40B4-BE49-F238E27FC236}">
                <a16:creationId xmlns:a16="http://schemas.microsoft.com/office/drawing/2014/main" id="{810664D1-DC60-4B7D-ADFA-F40AB0EB89F5}"/>
              </a:ext>
            </a:extLst>
          </p:cNvPr>
          <p:cNvSpPr>
            <a:spLocks xmlns:a="http://schemas.openxmlformats.org/drawingml/2006/main" noGrp="1"/>
          </p:cNvSpPr>
          <p:nvPr/>
        </p:nvSpPr>
        <p:spPr>
          <a:xfrm xmlns:a="http://schemas.openxmlformats.org/drawingml/2006/main">
            <a:off x="666750" y="55721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This adds momentum without replacing the team’s judgment or the work already underway.</a:t>
            </a:r>
          </a:p>
        </p:txBody>
      </p:sp>
    </p:spTree>
    <p:extLst>
      <p:ext uri="{BB962C8B-B14F-4D97-AF65-F5344CB8AC3E}">
        <p14:creationId xmlns:p14="http://schemas.microsoft.com/office/powerpoint/2010/main" val="18550255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2026-09-09T11:45:19.1170000Z</dcterms:created>
  <dcterms:modified xsi:type="dcterms:W3CDTF">2026-09-09T11:45:19.1170000Z</dcterms:modified>
</coreProperties>
</file>